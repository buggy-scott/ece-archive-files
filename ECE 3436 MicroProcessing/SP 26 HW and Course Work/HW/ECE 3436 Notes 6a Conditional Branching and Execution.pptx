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373" r:id="rId3"/>
    <p:sldId id="260" r:id="rId4"/>
    <p:sldId id="366" r:id="rId5"/>
    <p:sldId id="372" r:id="rId6"/>
    <p:sldId id="367" r:id="rId7"/>
    <p:sldId id="368" r:id="rId8"/>
    <p:sldId id="369" r:id="rId9"/>
    <p:sldId id="370" r:id="rId10"/>
    <p:sldId id="371" r:id="rId11"/>
    <p:sldId id="313" r:id="rId12"/>
    <p:sldId id="360" r:id="rId13"/>
    <p:sldId id="362" r:id="rId14"/>
    <p:sldId id="363" r:id="rId15"/>
    <p:sldId id="364" r:id="rId16"/>
    <p:sldId id="365" r:id="rId1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79" autoAdjust="0"/>
    <p:restoredTop sz="78692" autoAdjust="0"/>
  </p:normalViewPr>
  <p:slideViewPr>
    <p:cSldViewPr snapToGrid="0">
      <p:cViewPr varScale="1">
        <p:scale>
          <a:sx n="128" d="100"/>
          <a:sy n="128" d="100"/>
        </p:scale>
        <p:origin x="10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AAC67-9EFC-4764-AEA9-7B0E6270BFD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F15EE-D758-4B17-9108-4577B4B43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1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3FD33-3694-3BBE-356C-F9DAFFCB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48EEB-BECE-DC75-A4BB-6DC1AD9F8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6F5B3-269A-6D02-8557-B54FCF5C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C3786-5584-3869-052C-641E5DF68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76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1458-8344-CFE2-1E3A-3D1FF1C0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34065-697E-1B1B-235D-FC18239AF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19852-6C7E-0BBD-C349-DEDF986F7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CE023-59A8-CA3C-1A87-3AF8DD5D6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31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gcroft\Documents\Logos\UHnoYATP oneli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53" y="6492875"/>
            <a:ext cx="324612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01980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6172200"/>
            <a:ext cx="11684000" cy="76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914400" y="1760566"/>
            <a:ext cx="10363200" cy="1668439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41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181600"/>
          </a:xfrm>
          <a:prstGeom prst="rect">
            <a:avLst/>
          </a:prstGeom>
        </p:spPr>
        <p:txBody>
          <a:bodyPr/>
          <a:lstStyle>
            <a:lvl1pPr marL="342891" indent="-342891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22665" y="6535899"/>
            <a:ext cx="845069" cy="29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ea typeface="Gulim" panose="020B0600000101010101" pitchFamily="34" charset="-127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4799" y="237251"/>
            <a:ext cx="1148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Slide Title</a:t>
            </a: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lang="en-US" altLang="ko-KR" sz="3200"/>
          </a:p>
        </p:txBody>
      </p:sp>
      <p:sp>
        <p:nvSpPr>
          <p:cNvPr id="8" name="Rectangle 7"/>
          <p:cNvSpPr/>
          <p:nvPr/>
        </p:nvSpPr>
        <p:spPr>
          <a:xfrm>
            <a:off x="304800" y="755537"/>
            <a:ext cx="115824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7" name="Picture 4" descr="C:\Users\Xin\Desktop\UH_ECE.png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465" y="6315075"/>
            <a:ext cx="38100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76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eng4@central.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05080"/>
            <a:ext cx="10363200" cy="2536639"/>
          </a:xfrm>
        </p:spPr>
        <p:txBody>
          <a:bodyPr>
            <a:normAutofit fontScale="9000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ECE 3436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Microprocessor Systems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Notes 6a: Conditional Branching and Execution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Ph.D. Jianfeng Zheng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Dept. ECE, Univ. of Houston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Email: </a:t>
            </a:r>
            <a:r>
              <a:rPr lang="en-US" sz="2000" b="0" dirty="0">
                <a:solidFill>
                  <a:srgbClr val="0070C0"/>
                </a:solidFill>
                <a:hlinkClick r:id="rId3"/>
              </a:rPr>
              <a:t>jzheng4@central.uh.edu</a:t>
            </a:r>
            <a:endParaRPr lang="en-US" sz="2000" b="0" dirty="0">
              <a:solidFill>
                <a:srgbClr val="0070C0"/>
              </a:solidFill>
            </a:endParaRPr>
          </a:p>
          <a:p>
            <a:r>
              <a:rPr lang="en-US" altLang="zh-CN" sz="2000" b="0" dirty="0">
                <a:solidFill>
                  <a:srgbClr val="0070C0"/>
                </a:solidFill>
              </a:rPr>
              <a:t>Feb 26</a:t>
            </a:r>
            <a:r>
              <a:rPr lang="en-US" sz="2000" b="0">
                <a:solidFill>
                  <a:srgbClr val="0070C0"/>
                </a:solidFill>
              </a:rPr>
              <a:t>, 2026</a:t>
            </a:r>
            <a:endParaRPr lang="en-US" sz="2000" b="0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50EA8-C668-2709-CA47-CBC7A8D8E96A}"/>
              </a:ext>
            </a:extLst>
          </p:cNvPr>
          <p:cNvSpPr txBox="1"/>
          <p:nvPr/>
        </p:nvSpPr>
        <p:spPr>
          <a:xfrm>
            <a:off x="88135" y="548640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Adapted from notes by </a:t>
            </a:r>
            <a:r>
              <a:rPr lang="en-US" b="1" i="0" dirty="0">
                <a:solidFill>
                  <a:srgbClr val="222222"/>
                </a:solidFill>
                <a:effectLst/>
                <a:latin typeface="Milo Medium"/>
              </a:rPr>
              <a:t>Dr. Diana De La Rosa-Pohl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2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in ECE 3436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zh-CN" sz="2600" dirty="0">
                <a:sym typeface="Wingdings" panose="05000000000000000000" pitchFamily="2" charset="2"/>
              </a:rPr>
              <a:t>Exam #2 will be on </a:t>
            </a:r>
            <a:r>
              <a:rPr lang="en-US" altLang="zh-CN" sz="2600" b="1" dirty="0">
                <a:solidFill>
                  <a:srgbClr val="FF0000"/>
                </a:solidFill>
                <a:sym typeface="Wingdings" panose="05000000000000000000" pitchFamily="2" charset="2"/>
              </a:rPr>
              <a:t>Mar 12, Thursday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zh-CN" sz="2400" dirty="0">
                <a:sym typeface="Wingdings" panose="05000000000000000000" pitchFamily="2" charset="2"/>
              </a:rPr>
              <a:t>Exam #2 Review on Mar 10, Tuesday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altLang="zh-CN" sz="24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zh-CN" sz="2600" dirty="0">
                <a:sym typeface="Wingdings" panose="05000000000000000000" pitchFamily="2" charset="2"/>
              </a:rPr>
              <a:t>Next week will be lab and quiz week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zh-CN" sz="2400" dirty="0">
                <a:sym typeface="Wingdings" panose="05000000000000000000" pitchFamily="2" charset="2"/>
              </a:rPr>
              <a:t>Mar 3, Tuesday, Quiz 5 on RAM and ROM, Lab #3 on RAM/ROM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zh-CN" sz="2400" dirty="0">
                <a:sym typeface="Wingdings" panose="05000000000000000000" pitchFamily="2" charset="2"/>
              </a:rPr>
              <a:t>Mar 5, Thursday, Quiz 6 on Conditional branching and execution, Lab #2 on ASCII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altLang="zh-CN" sz="24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zh-CN" sz="2600" dirty="0">
                <a:sym typeface="Wingdings" panose="05000000000000000000" pitchFamily="2" charset="2"/>
              </a:rPr>
              <a:t>Homework 5 and 6 will be published today thru Canvas.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zh-CN" sz="2600" dirty="0">
                <a:sym typeface="Wingdings" panose="05000000000000000000" pitchFamily="2" charset="2"/>
              </a:rPr>
              <a:t>Examples of Quiz 5, 6 and Exam #2 will be shared thru Teams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altLang="zh-CN" sz="2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zh-CN" sz="24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600" dirty="0">
              <a:sym typeface="Wingdings" panose="05000000000000000000" pitchFamily="2" charset="2"/>
            </a:endParaRPr>
          </a:p>
          <a:p>
            <a:pPr marL="457188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92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in ECE 3436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ym typeface="Wingdings" panose="05000000000000000000" pitchFamily="2" charset="2"/>
              </a:rPr>
              <a:t>Conditional Branching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Execute an unconditional branch instruction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Execute branch instructions based on status of the condition flags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Conditional Execution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Execute instructions based on status of the condition flags</a:t>
            </a:r>
          </a:p>
          <a:p>
            <a:pPr marL="457188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406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9FCD-73F3-A280-0E06-C89FB12F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CA18-1EBA-BDBE-017B-6F405D54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Unconditional Branch (the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/>
              <a:t> instruction)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E3A22E-55CD-378B-6DE2-40EB2E3FB784}"/>
              </a:ext>
            </a:extLst>
          </p:cNvPr>
          <p:cNvSpPr txBox="1">
            <a:spLocks/>
          </p:cNvSpPr>
          <p:nvPr/>
        </p:nvSpPr>
        <p:spPr>
          <a:xfrm>
            <a:off x="304798" y="1049211"/>
            <a:ext cx="5023340" cy="2889744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Jumps to a label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No questions asked</a:t>
            </a: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7E43-34CF-43BC-9689-C6452975AFF3}"/>
              </a:ext>
            </a:extLst>
          </p:cNvPr>
          <p:cNvSpPr txBox="1">
            <a:spLocks/>
          </p:cNvSpPr>
          <p:nvPr/>
        </p:nvSpPr>
        <p:spPr>
          <a:xfrm>
            <a:off x="4501662" y="1957743"/>
            <a:ext cx="7467602" cy="49295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Example</a:t>
            </a: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</a:p>
          <a:p>
            <a:pPr marL="0" indent="0">
              <a:buNone/>
            </a:pP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MOV	</a:t>
            </a:r>
            <a:r>
              <a:rPr lang="en-US" sz="22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2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	Bottom	</a:t>
            </a:r>
            <a:endParaRPr lang="en-US" sz="22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MOV 	</a:t>
            </a:r>
            <a:r>
              <a:rPr lang="en-US" sz="22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2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;this will not execute</a:t>
            </a:r>
          </a:p>
          <a:p>
            <a:pPr marL="0" indent="0">
              <a:buNone/>
            </a:pP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NOP</a:t>
            </a:r>
          </a:p>
          <a:p>
            <a:pPr marL="0" indent="0">
              <a:buNone/>
            </a:pPr>
            <a:endParaRPr lang="en-US" sz="2200" kern="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Bottom</a:t>
            </a:r>
          </a:p>
          <a:p>
            <a:pPr marL="0" indent="0">
              <a:buNone/>
            </a:pP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MOV  	</a:t>
            </a:r>
            <a:r>
              <a:rPr lang="en-US" sz="22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2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2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07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Branch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3B3E6A-F244-19F3-2970-23432A913AB4}"/>
              </a:ext>
            </a:extLst>
          </p:cNvPr>
          <p:cNvSpPr txBox="1">
            <a:spLocks/>
          </p:cNvSpPr>
          <p:nvPr/>
        </p:nvSpPr>
        <p:spPr>
          <a:xfrm>
            <a:off x="304798" y="1049211"/>
            <a:ext cx="5023340" cy="2889744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C Code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if (x==10)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y=y+1;}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x = 2;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7694501-0268-5F8F-1A67-29070D7A8C8C}"/>
              </a:ext>
            </a:extLst>
          </p:cNvPr>
          <p:cNvSpPr txBox="1">
            <a:spLocks/>
          </p:cNvSpPr>
          <p:nvPr/>
        </p:nvSpPr>
        <p:spPr>
          <a:xfrm>
            <a:off x="4554415" y="1049209"/>
            <a:ext cx="7332787" cy="557153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Assembly Language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LDR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=VARX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LDR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  	; x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R0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;; add code</a:t>
            </a:r>
          </a:p>
          <a:p>
            <a:pPr marL="0" indent="0">
              <a:buNone/>
            </a:pPr>
            <a:endParaRPr lang="en-US" sz="2000" kern="0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Addition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LDR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R3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=VARY  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LDR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[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R3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	; yR2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ADD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sz="20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1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; y=y+1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STR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[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R3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NEXT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MOV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sz="20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[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R1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	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endParaRPr lang="en-US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09B19-D20E-A3E3-6471-98FDAC39F951}"/>
              </a:ext>
            </a:extLst>
          </p:cNvPr>
          <p:cNvSpPr txBox="1"/>
          <p:nvPr/>
        </p:nvSpPr>
        <p:spPr>
          <a:xfrm>
            <a:off x="8463516" y="2371060"/>
            <a:ext cx="2397050" cy="64633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How to control Branching?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68E988-6317-DC3E-EF91-020B1C5E3A3C}"/>
              </a:ext>
            </a:extLst>
          </p:cNvPr>
          <p:cNvCxnSpPr>
            <a:cxnSpLocks/>
          </p:cNvCxnSpPr>
          <p:nvPr/>
        </p:nvCxnSpPr>
        <p:spPr bwMode="auto">
          <a:xfrm flipH="1">
            <a:off x="6096000" y="2694225"/>
            <a:ext cx="2367516" cy="421115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2F7931-7D70-C7AE-D4C2-E6A0AC3BC4EC}"/>
              </a:ext>
            </a:extLst>
          </p:cNvPr>
          <p:cNvCxnSpPr>
            <a:cxnSpLocks/>
            <a:stCxn id="7" idx="2"/>
          </p:cNvCxnSpPr>
          <p:nvPr/>
        </p:nvCxnSpPr>
        <p:spPr bwMode="auto">
          <a:xfrm flipH="1">
            <a:off x="5422605" y="3017391"/>
            <a:ext cx="4239436" cy="1905483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17362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64688-13A7-8ADA-8180-476ED032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E7D05-97C3-E4F8-FD35-0CB7B6D31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 of the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/>
              <a:t> instruction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B226F2-1999-FC21-2901-75610B4B274B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8276494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SYNTAX</a:t>
            </a: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  <a:r>
              <a:rPr lang="en-US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</a:p>
          <a:p>
            <a:pPr marL="0" indent="0">
              <a:buNone/>
            </a:pPr>
            <a:endParaRPr lang="en-US" b="1" i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Branching W/ the </a:t>
            </a:r>
            <a:r>
              <a:rPr lang="en-US" kern="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Z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flag: 	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Branching W/ the </a:t>
            </a:r>
            <a:r>
              <a:rPr lang="en-US" kern="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C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flag: 	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BCS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BCC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Branching W/ the </a:t>
            </a:r>
            <a:r>
              <a:rPr lang="en-US" kern="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N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flag: 	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BPL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Branching W/ the </a:t>
            </a:r>
            <a:r>
              <a:rPr lang="en-US" kern="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V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flag: 	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BVS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BVC</a:t>
            </a:r>
          </a:p>
        </p:txBody>
      </p:sp>
    </p:spTree>
    <p:extLst>
      <p:ext uri="{BB962C8B-B14F-4D97-AF65-F5344CB8AC3E}">
        <p14:creationId xmlns:p14="http://schemas.microsoft.com/office/powerpoint/2010/main" val="277276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5A67-90F2-1C45-4BEB-152A1EFE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6636-9374-3FB8-87CA-87D5B4E1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condition code suffixes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898455-2B83-DB2C-A069-359AE4D57A20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794740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b="1" kern="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BHI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	Branch if higher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BHS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	Branch if higher or 			same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	Branch if lower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BLS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	Branch if lower or 			same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A42F-F1F0-C2CC-15D0-CA4E3922F1DE}"/>
              </a:ext>
            </a:extLst>
          </p:cNvPr>
          <p:cNvSpPr txBox="1">
            <a:spLocks/>
          </p:cNvSpPr>
          <p:nvPr/>
        </p:nvSpPr>
        <p:spPr>
          <a:xfrm>
            <a:off x="5416062" y="1049209"/>
            <a:ext cx="6125309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Signed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b="1" kern="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BGE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	Branch if signed greater than 		or equal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BGT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	Branch if signed greater than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BLE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	Branch if signed less than or 		equal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BLT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	Branch if signed less than</a:t>
            </a:r>
          </a:p>
        </p:txBody>
      </p:sp>
    </p:spTree>
    <p:extLst>
      <p:ext uri="{BB962C8B-B14F-4D97-AF65-F5344CB8AC3E}">
        <p14:creationId xmlns:p14="http://schemas.microsoft.com/office/powerpoint/2010/main" val="54932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7EC37-F67A-2CE2-BBEF-A535013D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343F-7857-A768-897E-A42735DF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Field (Conditional Code)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6975CE-A3EC-F9BE-DB31-160D123ADCD2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905293"/>
          <a:ext cx="10317126" cy="5293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516">
                  <a:extLst>
                    <a:ext uri="{9D8B030D-6E8A-4147-A177-3AD203B41FA5}">
                      <a16:colId xmlns:a16="http://schemas.microsoft.com/office/drawing/2014/main" val="313287053"/>
                    </a:ext>
                  </a:extLst>
                </a:gridCol>
                <a:gridCol w="5436408">
                  <a:extLst>
                    <a:ext uri="{9D8B030D-6E8A-4147-A177-3AD203B41FA5}">
                      <a16:colId xmlns:a16="http://schemas.microsoft.com/office/drawing/2014/main" val="849690749"/>
                    </a:ext>
                  </a:extLst>
                </a:gridCol>
                <a:gridCol w="2780202">
                  <a:extLst>
                    <a:ext uri="{9D8B030D-6E8A-4147-A177-3AD203B41FA5}">
                      <a16:colId xmlns:a16="http://schemas.microsoft.com/office/drawing/2014/main" val="341356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 (for 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CMP</a:t>
                      </a:r>
                      <a:r>
                        <a:rPr lang="en-US" sz="2400" dirty="0"/>
                        <a:t> or 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FLAGS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8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Z==1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13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Z==0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2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CS/HS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Carry Set/Unsigned higher or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C==1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71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CC/LO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Carry Clear/Unsigned 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C==0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8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Negative (Minus)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N==1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39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Positive or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N==0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327502"/>
                  </a:ext>
                </a:extLst>
              </a:tr>
              <a:tr h="477692">
                <a:tc>
                  <a:txBody>
                    <a:bodyPr/>
                    <a:lstStyle/>
                    <a:p>
                      <a:r>
                        <a:rPr lang="en-US" sz="2000" dirty="0"/>
                        <a:t>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V==1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 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V==0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44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Unsigned 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(C==1)&amp;&amp;(Z==0)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86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Unsigned lower or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(C==0)||(Z==1)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87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Signed greater than or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N==V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Signed 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N!=V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74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332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8D82-E139-332D-9046-9C285FA5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C47E-E439-1957-2BCD-04BDFFBF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Field (Conditional Code)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1B96F5-CB79-D14F-6340-04D9506C7AD8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905293"/>
          <a:ext cx="1031712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516">
                  <a:extLst>
                    <a:ext uri="{9D8B030D-6E8A-4147-A177-3AD203B41FA5}">
                      <a16:colId xmlns:a16="http://schemas.microsoft.com/office/drawing/2014/main" val="313287053"/>
                    </a:ext>
                  </a:extLst>
                </a:gridCol>
                <a:gridCol w="5436408">
                  <a:extLst>
                    <a:ext uri="{9D8B030D-6E8A-4147-A177-3AD203B41FA5}">
                      <a16:colId xmlns:a16="http://schemas.microsoft.com/office/drawing/2014/main" val="849690749"/>
                    </a:ext>
                  </a:extLst>
                </a:gridCol>
                <a:gridCol w="2780202">
                  <a:extLst>
                    <a:ext uri="{9D8B030D-6E8A-4147-A177-3AD203B41FA5}">
                      <a16:colId xmlns:a16="http://schemas.microsoft.com/office/drawing/2014/main" val="341356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 (for 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CMP</a:t>
                      </a:r>
                      <a:r>
                        <a:rPr lang="en-US" sz="2400" dirty="0"/>
                        <a:t> or 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FLAGS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8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Signed 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(Z==0)&amp;&amp;(N==V)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13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Signed less than or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(Z==1)||(N!=V)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2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Carry Set/Unsigned higher or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716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39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E5D24-5647-059F-B731-9876BB37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4AC0-BF78-2880-E3B7-7EA67B1F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F81BCE-0576-6BDB-1DF6-D2FD5945BB3C}"/>
              </a:ext>
            </a:extLst>
          </p:cNvPr>
          <p:cNvSpPr txBox="1">
            <a:spLocks/>
          </p:cNvSpPr>
          <p:nvPr/>
        </p:nvSpPr>
        <p:spPr>
          <a:xfrm>
            <a:off x="304798" y="1049211"/>
            <a:ext cx="5023340" cy="2889744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C Code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if (x==10)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y=y+1;}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x = 2;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FA141-286A-3A8A-659D-54CB482325D1}"/>
              </a:ext>
            </a:extLst>
          </p:cNvPr>
          <p:cNvSpPr txBox="1">
            <a:spLocks/>
          </p:cNvSpPr>
          <p:nvPr/>
        </p:nvSpPr>
        <p:spPr>
          <a:xfrm>
            <a:off x="4554415" y="1049209"/>
            <a:ext cx="7332787" cy="557153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Assembly Language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LDR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=VARX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LDR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  	; x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R0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CMP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sz="20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10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	; R0-10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BEQ	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Addition	; z==1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B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NEXT		; z!=1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Addition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LDR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R3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=VARY  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LDR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[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R3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	; yR2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ADD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sz="20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1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; y=y+1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STR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[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R3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NEXT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MOV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sz="20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[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R1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	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endParaRPr lang="en-US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9181D-76CC-1B57-3E3E-1370698C3C8A}"/>
              </a:ext>
            </a:extLst>
          </p:cNvPr>
          <p:cNvSpPr txBox="1"/>
          <p:nvPr/>
        </p:nvSpPr>
        <p:spPr>
          <a:xfrm>
            <a:off x="9962707" y="2782669"/>
            <a:ext cx="1822892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Do NOT forget 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BAEC90-2EF0-F0C8-DFD3-31904762CA98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9229060" y="2967335"/>
            <a:ext cx="733647" cy="13850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697292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849E-D4CD-5BD4-A2A7-ACBEAAC6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E851-3EF9-7C69-7FCF-BAB50B6B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 (Conditional Execution)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3E6A2-D51D-1833-7605-9BBAB82A7963}"/>
              </a:ext>
            </a:extLst>
          </p:cNvPr>
          <p:cNvSpPr txBox="1"/>
          <p:nvPr/>
        </p:nvSpPr>
        <p:spPr>
          <a:xfrm>
            <a:off x="7534382" y="4679818"/>
            <a:ext cx="43528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Flexible Second Operand (</a:t>
            </a:r>
            <a:r>
              <a:rPr lang="en-US" sz="2400" b="1" i="1" dirty="0"/>
              <a:t>Operand2</a:t>
            </a:r>
            <a:r>
              <a:rPr lang="en-US" sz="2400" b="1" dirty="0"/>
              <a:t>) </a:t>
            </a:r>
            <a:r>
              <a:rPr lang="en-US" sz="2400" dirty="0"/>
              <a:t>can be a: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Constant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Register with optional shift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BA812B-D76A-5806-D2EF-3B46028F7D36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10058401" cy="557153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MOV SYNTAX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{S}{</a:t>
            </a:r>
            <a:r>
              <a:rPr lang="en-US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  <a:r>
              <a:rPr lang="en-US" b="1" i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Operand2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    where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    </a:t>
            </a:r>
            <a:r>
              <a:rPr lang="en-US" b="1" kern="0" dirty="0">
                <a:latin typeface="+mj-lt"/>
                <a:cs typeface="Courier New" panose="02070309020205020404" pitchFamily="49" charset="0"/>
              </a:rPr>
              <a:t>S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	is an optional suffix. If S is specified, the condition flags are 	updated on the result of the operation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    </a:t>
            </a:r>
            <a:r>
              <a:rPr lang="en-US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</a:p>
          <a:p>
            <a:pPr marL="0" indent="0">
              <a:buNone/>
            </a:pPr>
            <a:r>
              <a:rPr lang="en-US" i="1" kern="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is an optional condition code</a:t>
            </a:r>
          </a:p>
          <a:p>
            <a:pPr marL="0" indent="0">
              <a:buNone/>
            </a:pPr>
            <a:r>
              <a:rPr lang="en-US" i="1" kern="0" dirty="0">
                <a:latin typeface="+mj-lt"/>
                <a:cs typeface="Courier New" panose="02070309020205020404" pitchFamily="49" charset="0"/>
              </a:rPr>
              <a:t>    </a:t>
            </a:r>
            <a:r>
              <a:rPr lang="en-US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</a:p>
          <a:p>
            <a:pPr marL="0" indent="0">
              <a:buNone/>
            </a:pPr>
            <a:r>
              <a:rPr lang="en-US" i="1" kern="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is the destination register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    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Operand2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	is a flexible second operand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1F473-5ACD-37BE-5749-611B65054C78}"/>
              </a:ext>
            </a:extLst>
          </p:cNvPr>
          <p:cNvSpPr txBox="1"/>
          <p:nvPr/>
        </p:nvSpPr>
        <p:spPr>
          <a:xfrm>
            <a:off x="6447759" y="1347185"/>
            <a:ext cx="4677441" cy="8309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b="1" kern="0" dirty="0">
                <a:latin typeface="+mj-lt"/>
                <a:cs typeface="Courier New" panose="02070309020205020404" pitchFamily="49" charset="0"/>
              </a:rPr>
              <a:t>EX:</a:t>
            </a:r>
            <a:endParaRPr lang="en-US" sz="2400" b="1" kern="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MOV</a:t>
            </a:r>
            <a:r>
              <a:rPr lang="en-US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EQ  </a:t>
            </a:r>
            <a:r>
              <a:rPr lang="en-US" sz="2400" b="1" i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#</a:t>
            </a:r>
            <a:r>
              <a:rPr lang="en-US" sz="24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0x1234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6712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2F71-4BD1-1FBD-E981-5FCDC1DFE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6B41-7AE6-880A-FBAA-C9A070A8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Field (Conditional Code)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FA521F-D90C-3811-1BE5-D384E8560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672213"/>
              </p:ext>
            </p:extLst>
          </p:nvPr>
        </p:nvGraphicFramePr>
        <p:xfrm>
          <a:off x="304800" y="905293"/>
          <a:ext cx="10317126" cy="5293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516">
                  <a:extLst>
                    <a:ext uri="{9D8B030D-6E8A-4147-A177-3AD203B41FA5}">
                      <a16:colId xmlns:a16="http://schemas.microsoft.com/office/drawing/2014/main" val="313287053"/>
                    </a:ext>
                  </a:extLst>
                </a:gridCol>
                <a:gridCol w="5436408">
                  <a:extLst>
                    <a:ext uri="{9D8B030D-6E8A-4147-A177-3AD203B41FA5}">
                      <a16:colId xmlns:a16="http://schemas.microsoft.com/office/drawing/2014/main" val="849690749"/>
                    </a:ext>
                  </a:extLst>
                </a:gridCol>
                <a:gridCol w="2780202">
                  <a:extLst>
                    <a:ext uri="{9D8B030D-6E8A-4147-A177-3AD203B41FA5}">
                      <a16:colId xmlns:a16="http://schemas.microsoft.com/office/drawing/2014/main" val="341356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 (for 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CMP</a:t>
                      </a:r>
                      <a:r>
                        <a:rPr lang="en-US" sz="2400" dirty="0"/>
                        <a:t> or 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FLAGS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8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Z==1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13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Z==0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2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CS/HS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Carry Set/Unsigned higher or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C==1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71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CC/LO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Carry Clear/Unsigned 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C==0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8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Negative (Minus)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N==1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39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Positive or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N==0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327502"/>
                  </a:ext>
                </a:extLst>
              </a:tr>
              <a:tr h="477692">
                <a:tc>
                  <a:txBody>
                    <a:bodyPr/>
                    <a:lstStyle/>
                    <a:p>
                      <a:r>
                        <a:rPr lang="en-US" sz="2000" dirty="0"/>
                        <a:t>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V==1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 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V==0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44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Unsigned 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(C==1)&amp;&amp;(Z==0)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86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Unsigned lower or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(C==0)||(Z==1)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87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Signed greater than or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N==V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Signed 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N!=V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74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684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455A-55CB-9338-E28E-50888BE6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02FE-3056-52B0-C4BC-392DD1AB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Field (Conditional Code)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FA3769-4148-CCC8-91AA-EDD618600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192486"/>
              </p:ext>
            </p:extLst>
          </p:nvPr>
        </p:nvGraphicFramePr>
        <p:xfrm>
          <a:off x="304800" y="905293"/>
          <a:ext cx="1031712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516">
                  <a:extLst>
                    <a:ext uri="{9D8B030D-6E8A-4147-A177-3AD203B41FA5}">
                      <a16:colId xmlns:a16="http://schemas.microsoft.com/office/drawing/2014/main" val="313287053"/>
                    </a:ext>
                  </a:extLst>
                </a:gridCol>
                <a:gridCol w="5436408">
                  <a:extLst>
                    <a:ext uri="{9D8B030D-6E8A-4147-A177-3AD203B41FA5}">
                      <a16:colId xmlns:a16="http://schemas.microsoft.com/office/drawing/2014/main" val="849690749"/>
                    </a:ext>
                  </a:extLst>
                </a:gridCol>
                <a:gridCol w="2780202">
                  <a:extLst>
                    <a:ext uri="{9D8B030D-6E8A-4147-A177-3AD203B41FA5}">
                      <a16:colId xmlns:a16="http://schemas.microsoft.com/office/drawing/2014/main" val="341356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 (for 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CMP</a:t>
                      </a:r>
                      <a:r>
                        <a:rPr lang="en-US" sz="2400" dirty="0"/>
                        <a:t> or 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FLAGS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8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Signed 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(Z==0)&amp;&amp;(N==V)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13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Signed less than or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(Z==1)||(N!=V)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2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Carry Set/Unsigned higher or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716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275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D380-D560-5E1C-A465-A6349344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638B-C2ED-112D-082C-91C93822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582953-2504-E41E-830F-E357AEA1675A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11480800" cy="557153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Assume that an instruction was just executed that set the flags …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1. Add 2 to R3 if the result was zero.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2. Move the value 0 into R0 if the result was NOT zero.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3. Subtract 5 from R6 if the result was negative.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4. Multiply R3 times R1 if the previous result caused a carry. </a:t>
            </a:r>
          </a:p>
        </p:txBody>
      </p:sp>
    </p:spTree>
    <p:extLst>
      <p:ext uri="{BB962C8B-B14F-4D97-AF65-F5344CB8AC3E}">
        <p14:creationId xmlns:p14="http://schemas.microsoft.com/office/powerpoint/2010/main" val="2594740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0BB03-B746-6AF9-C8BA-DC4B0696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C433-1A58-5E5B-33BA-200689E5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4DDC12-C4B7-699D-B45C-812A369BAAC7}"/>
              </a:ext>
            </a:extLst>
          </p:cNvPr>
          <p:cNvSpPr txBox="1">
            <a:spLocks/>
          </p:cNvSpPr>
          <p:nvPr/>
        </p:nvSpPr>
        <p:spPr>
          <a:xfrm>
            <a:off x="304798" y="1049211"/>
            <a:ext cx="5023340" cy="2889744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C Code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if (x==10)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y=5;}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FF009-0166-23AA-9AC7-E9A5585CF2EA}"/>
              </a:ext>
            </a:extLst>
          </p:cNvPr>
          <p:cNvSpPr txBox="1">
            <a:spLocks/>
          </p:cNvSpPr>
          <p:nvPr/>
        </p:nvSpPr>
        <p:spPr>
          <a:xfrm>
            <a:off x="4554415" y="1049209"/>
            <a:ext cx="7332787" cy="557153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Assembly Language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=VARX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 ; x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R0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CMP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10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; R0-10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MOVEQ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5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; R2=5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LDREQ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=VARY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STREQ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[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</a:t>
            </a:r>
            <a:endParaRPr lang="en-US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347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133D3-6AAD-FBC2-F3F6-91FF866E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2E13-2ACC-0063-F2A9-7C37B161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3CFB5-EDAC-4F2B-40D0-A2A3F5F54DA7}"/>
              </a:ext>
            </a:extLst>
          </p:cNvPr>
          <p:cNvSpPr txBox="1">
            <a:spLocks/>
          </p:cNvSpPr>
          <p:nvPr/>
        </p:nvSpPr>
        <p:spPr>
          <a:xfrm>
            <a:off x="304798" y="1049211"/>
            <a:ext cx="5023340" cy="2889744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C Code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if (x&lt;y)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x=x+3;}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EC75-61F2-55C8-BAC2-77DD2A0C5342}"/>
              </a:ext>
            </a:extLst>
          </p:cNvPr>
          <p:cNvSpPr txBox="1">
            <a:spLocks/>
          </p:cNvSpPr>
          <p:nvPr/>
        </p:nvSpPr>
        <p:spPr>
          <a:xfrm>
            <a:off x="4554415" y="1049209"/>
            <a:ext cx="7332787" cy="557153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Assembly Language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=VARX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 ; x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R2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=VARY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 ; y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R2</a:t>
            </a:r>
          </a:p>
          <a:p>
            <a:pPr marL="0" indent="0">
              <a:buNone/>
            </a:pPr>
            <a:endParaRPr lang="en-US" kern="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CMP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R4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;R2-R4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ADDLT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3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STRLT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[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</a:t>
            </a: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37925"/>
      </p:ext>
    </p:extLst>
  </p:cSld>
  <p:clrMapOvr>
    <a:masterClrMapping/>
  </p:clrMapOvr>
</p:sld>
</file>

<file path=ppt/theme/theme1.xml><?xml version="1.0" encoding="utf-8"?>
<a:theme xmlns:a="http://schemas.openxmlformats.org/drawingml/2006/main" name="UH ECOM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S.potx" id="{CE41128D-6EB0-4D0A-BE39-61CAA54AB745}" vid="{38FD15AE-3AD1-4AD1-AA2E-47F4A362D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2FB37E47E1D843BC52574BCDE96A0F" ma:contentTypeVersion="3" ma:contentTypeDescription="Create a new document." ma:contentTypeScope="" ma:versionID="876989e2c60c7ad05a5017c76f23c2ec">
  <xsd:schema xmlns:xsd="http://www.w3.org/2001/XMLSchema" xmlns:xs="http://www.w3.org/2001/XMLSchema" xmlns:p="http://schemas.microsoft.com/office/2006/metadata/properties" xmlns:ns2="e099cec4-e547-44fa-ac68-43ad6ea61fbb" targetNamespace="http://schemas.microsoft.com/office/2006/metadata/properties" ma:root="true" ma:fieldsID="66e5c7ed2332263e707c3b4990332721" ns2:_="">
    <xsd:import namespace="e099cec4-e547-44fa-ac68-43ad6ea61f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9cec4-e547-44fa-ac68-43ad6ea61f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53B6A5-C15B-491C-9294-618BB1C7BBB8}"/>
</file>

<file path=customXml/itemProps2.xml><?xml version="1.0" encoding="utf-8"?>
<ds:datastoreItem xmlns:ds="http://schemas.openxmlformats.org/officeDocument/2006/customXml" ds:itemID="{DC87EB6D-C1DA-40CD-A1F4-39D90489EEEC}"/>
</file>

<file path=customXml/itemProps3.xml><?xml version="1.0" encoding="utf-8"?>
<ds:datastoreItem xmlns:ds="http://schemas.openxmlformats.org/officeDocument/2006/customXml" ds:itemID="{966EA294-A90C-4D64-9E11-0F22B49191D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4554</TotalTime>
  <Words>1238</Words>
  <Application>Microsoft Office PowerPoint</Application>
  <PresentationFormat>Widescreen</PresentationFormat>
  <Paragraphs>270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Milo Medium</vt:lpstr>
      <vt:lpstr>Arial</vt:lpstr>
      <vt:lpstr>Calibri</vt:lpstr>
      <vt:lpstr>Courier New</vt:lpstr>
      <vt:lpstr>Wingdings</vt:lpstr>
      <vt:lpstr>UH ECOMS</vt:lpstr>
      <vt:lpstr>ECE 3436 Microprocessor Systems  Notes 6a: Conditional Branching and Execution </vt:lpstr>
      <vt:lpstr>Today’s agenda in ECE 3436</vt:lpstr>
      <vt:lpstr>Today’s agenda in ECE 3436</vt:lpstr>
      <vt:lpstr>Unconditional Branch (the B instruction)</vt:lpstr>
      <vt:lpstr>Conditional Branch</vt:lpstr>
      <vt:lpstr>General form of the B instruction</vt:lpstr>
      <vt:lpstr>More condition code suffixes</vt:lpstr>
      <vt:lpstr>Condition Field (Conditional Code)</vt:lpstr>
      <vt:lpstr>Condition Field (Conditional Code)</vt:lpstr>
      <vt:lpstr>Example</vt:lpstr>
      <vt:lpstr>Conditional Instruction (Conditional Execution)</vt:lpstr>
      <vt:lpstr>Condition Field (Conditional Code)</vt:lpstr>
      <vt:lpstr>Condition Field (Conditional Code)</vt:lpstr>
      <vt:lpstr>Try it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RF-induced Heating Comparison between TEM and Birdcage Coils for Circular External Fixator</dc:title>
  <dc:creator>Jianfeng</dc:creator>
  <cp:lastModifiedBy>Zheng, Jianfeng</cp:lastModifiedBy>
  <cp:revision>1273</cp:revision>
  <dcterms:created xsi:type="dcterms:W3CDTF">2017-07-10T15:25:03Z</dcterms:created>
  <dcterms:modified xsi:type="dcterms:W3CDTF">2026-02-26T21:39:31Z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0x010100B62FB37E47E1D843BC52574BCDE96A0F</vt:lpwstr>
  </property>
</Properties>
</file>