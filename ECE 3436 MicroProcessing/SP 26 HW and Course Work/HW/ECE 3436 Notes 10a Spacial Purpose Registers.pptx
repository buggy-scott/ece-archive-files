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6" r:id="rId2"/>
    <p:sldId id="260" r:id="rId3"/>
    <p:sldId id="377" r:id="rId4"/>
    <p:sldId id="277" r:id="rId5"/>
    <p:sldId id="278" r:id="rId6"/>
    <p:sldId id="372" r:id="rId7"/>
    <p:sldId id="397" r:id="rId8"/>
    <p:sldId id="398" r:id="rId9"/>
    <p:sldId id="368" r:id="rId10"/>
    <p:sldId id="378" r:id="rId11"/>
    <p:sldId id="373" r:id="rId12"/>
    <p:sldId id="374" r:id="rId13"/>
    <p:sldId id="375" r:id="rId14"/>
    <p:sldId id="376" r:id="rId15"/>
    <p:sldId id="399" r:id="rId16"/>
    <p:sldId id="400" r:id="rId17"/>
    <p:sldId id="401" r:id="rId18"/>
    <p:sldId id="402" r:id="rId19"/>
    <p:sldId id="379" r:id="rId20"/>
    <p:sldId id="380" r:id="rId21"/>
    <p:sldId id="381" r:id="rId22"/>
    <p:sldId id="382" r:id="rId23"/>
    <p:sldId id="383" r:id="rId24"/>
    <p:sldId id="384" r:id="rId25"/>
    <p:sldId id="385" r:id="rId26"/>
    <p:sldId id="386" r:id="rId27"/>
    <p:sldId id="387" r:id="rId28"/>
    <p:sldId id="388" r:id="rId29"/>
    <p:sldId id="390" r:id="rId30"/>
    <p:sldId id="389" r:id="rId31"/>
    <p:sldId id="391" r:id="rId32"/>
    <p:sldId id="392" r:id="rId33"/>
    <p:sldId id="393" r:id="rId34"/>
    <p:sldId id="394" r:id="rId35"/>
    <p:sldId id="395" r:id="rId36"/>
    <p:sldId id="396" r:id="rId3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10" autoAdjust="0"/>
    <p:restoredTop sz="89437" autoAdjust="0"/>
  </p:normalViewPr>
  <p:slideViewPr>
    <p:cSldViewPr snapToGrid="0">
      <p:cViewPr varScale="1">
        <p:scale>
          <a:sx n="146" d="100"/>
          <a:sy n="146" d="100"/>
        </p:scale>
        <p:origin x="104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AAC67-9EFC-4764-AEA9-7B0E6270BFD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F15EE-D758-4B17-9108-4577B4B43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30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16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528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759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11458-8344-CFE2-1E3A-3D1FF1C02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34065-697E-1B1B-235D-FC18239AF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19852-6C7E-0BBD-C349-DEDF986F7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CE023-59A8-CA3C-1A87-3AF8DD5D6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31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7341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11458-8344-CFE2-1E3A-3D1FF1C02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34065-697E-1B1B-235D-FC18239AF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19852-6C7E-0BBD-C349-DEDF986F7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CE023-59A8-CA3C-1A87-3AF8DD5D6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8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11458-8344-CFE2-1E3A-3D1FF1C02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34065-697E-1B1B-235D-FC18239AF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19852-6C7E-0BBD-C349-DEDF986F7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CE023-59A8-CA3C-1A87-3AF8DD5D6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0068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152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526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203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537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1021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392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2414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15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9896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860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212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5217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561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57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1155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778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6386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6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mgcroft\Documents\Logos\UHnoYATP onelin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753" y="6492875"/>
            <a:ext cx="324612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019800"/>
            <a:ext cx="12192000" cy="762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6172200"/>
            <a:ext cx="11684000" cy="76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914400" y="1760566"/>
            <a:ext cx="10363200" cy="1668439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828800" y="3733800"/>
            <a:ext cx="8534400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01416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5181600"/>
          </a:xfrm>
          <a:prstGeom prst="rect">
            <a:avLst/>
          </a:prstGeom>
        </p:spPr>
        <p:txBody>
          <a:bodyPr/>
          <a:lstStyle>
            <a:lvl1pPr marL="342891" indent="-342891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291EE8-F41F-4F63-9694-F132A631B5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39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91EE8-F41F-4F63-9694-F132A631B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5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22665" y="6535899"/>
            <a:ext cx="845069" cy="295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solidFill>
                  <a:srgbClr val="C00000"/>
                </a:solidFill>
                <a:ea typeface="Gulim" panose="020B0600000101010101" pitchFamily="34" charset="-127"/>
                <a:cs typeface="Arial" panose="020B0604020202020204" pitchFamily="34" charset="0"/>
              </a:defRPr>
            </a:lvl1pPr>
          </a:lstStyle>
          <a:p>
            <a:fld id="{49291EE8-F41F-4F63-9694-F132A631B501}" type="slidenum">
              <a:rPr lang="en-US" smtClean="0"/>
              <a:t>‹#›</a:t>
            </a:fld>
            <a:endParaRPr lang="en-US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04799" y="237251"/>
            <a:ext cx="1148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Slide Title</a:t>
            </a:r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609600" y="1066800"/>
            <a:ext cx="10972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  <a:defRPr/>
            </a:pPr>
            <a:endParaRPr lang="en-US" altLang="ko-KR" sz="3200"/>
          </a:p>
        </p:txBody>
      </p:sp>
      <p:sp>
        <p:nvSpPr>
          <p:cNvPr id="8" name="Rectangle 7"/>
          <p:cNvSpPr/>
          <p:nvPr/>
        </p:nvSpPr>
        <p:spPr>
          <a:xfrm>
            <a:off x="304800" y="755537"/>
            <a:ext cx="11582400" cy="762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7" name="Picture 4" descr="C:\Users\Xin\Desktop\UH_ECE.png"/>
          <p:cNvPicPr>
            <a:picLocks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0465" y="6315075"/>
            <a:ext cx="38100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76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zheng4@central.uh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705080"/>
            <a:ext cx="10363200" cy="2536639"/>
          </a:xfrm>
        </p:spPr>
        <p:txBody>
          <a:bodyPr>
            <a:normAutofit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>
                <a:solidFill>
                  <a:srgbClr val="0070C0"/>
                </a:solidFill>
              </a:rPr>
              <a:t>ECE 3436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Microprocessor Systems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Notes 10</a:t>
            </a:r>
            <a:r>
              <a:rPr lang="en-US" altLang="zh-CN" dirty="0"/>
              <a:t>a</a:t>
            </a:r>
            <a:r>
              <a:rPr lang="en-US" dirty="0"/>
              <a:t>: Special Purpose Registers</a:t>
            </a:r>
            <a:br>
              <a:rPr lang="en-US" sz="2400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429000"/>
            <a:ext cx="8534400" cy="17526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Ph.D. Jianfeng Zheng</a:t>
            </a:r>
          </a:p>
          <a:p>
            <a:r>
              <a:rPr lang="en-US" sz="2000" b="0" dirty="0">
                <a:solidFill>
                  <a:srgbClr val="0070C0"/>
                </a:solidFill>
              </a:rPr>
              <a:t>Dept. ECE, Univ. of Houston</a:t>
            </a:r>
          </a:p>
          <a:p>
            <a:r>
              <a:rPr lang="en-US" sz="2000" b="0" dirty="0">
                <a:solidFill>
                  <a:srgbClr val="0070C0"/>
                </a:solidFill>
              </a:rPr>
              <a:t>Email: </a:t>
            </a:r>
            <a:r>
              <a:rPr lang="en-US" sz="2000" b="0" dirty="0">
                <a:solidFill>
                  <a:srgbClr val="0070C0"/>
                </a:solidFill>
                <a:hlinkClick r:id="rId3"/>
              </a:rPr>
              <a:t>jzheng4@central.uh.edu</a:t>
            </a:r>
            <a:endParaRPr lang="en-US" sz="2000" b="0" dirty="0">
              <a:solidFill>
                <a:srgbClr val="0070C0"/>
              </a:solidFill>
            </a:endParaRPr>
          </a:p>
          <a:p>
            <a:r>
              <a:rPr lang="en-US" altLang="zh-CN" sz="2000" b="0" dirty="0">
                <a:solidFill>
                  <a:srgbClr val="0070C0"/>
                </a:solidFill>
              </a:rPr>
              <a:t>Mar 24</a:t>
            </a:r>
            <a:r>
              <a:rPr lang="en-US" sz="2000" b="0" dirty="0">
                <a:solidFill>
                  <a:srgbClr val="0070C0"/>
                </a:solidFill>
              </a:rPr>
              <a:t>,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50EA8-C668-2709-CA47-CBC7A8D8E96A}"/>
              </a:ext>
            </a:extLst>
          </p:cNvPr>
          <p:cNvSpPr txBox="1"/>
          <p:nvPr/>
        </p:nvSpPr>
        <p:spPr>
          <a:xfrm>
            <a:off x="88135" y="5486400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Adapted from notes by </a:t>
            </a:r>
            <a:r>
              <a:rPr lang="en-US" b="1" i="0" dirty="0">
                <a:solidFill>
                  <a:srgbClr val="222222"/>
                </a:solidFill>
                <a:effectLst/>
                <a:latin typeface="Milo Medium"/>
              </a:rPr>
              <a:t>Dr. Diana De La Rosa-Pohl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827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 in ECE 3436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DF626-9A92-1FA8-DAC2-8CBEA8D4E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423323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600" dirty="0">
                <a:sym typeface="Wingdings" panose="05000000000000000000" pitchFamily="2" charset="2"/>
              </a:rPr>
              <a:t>Describe how the </a:t>
            </a:r>
            <a:r>
              <a:rPr lang="en-US" sz="2600" b="1" dirty="0">
                <a:solidFill>
                  <a:srgbClr val="C00000"/>
                </a:solidFill>
                <a:sym typeface="Wingdings" panose="05000000000000000000" pitchFamily="2" charset="2"/>
              </a:rPr>
              <a:t>Program Counter</a:t>
            </a:r>
            <a:r>
              <a:rPr lang="en-US" sz="2600" dirty="0">
                <a:sym typeface="Wingdings" panose="05000000000000000000" pitchFamily="2" charset="2"/>
              </a:rPr>
              <a:t> (PC) register is used in program execution.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>
                <a:sym typeface="Wingdings" panose="05000000000000000000" pitchFamily="2" charset="2"/>
              </a:rPr>
              <a:t>Describe how the </a:t>
            </a:r>
            <a:r>
              <a:rPr lang="en-US" sz="2600" b="1" dirty="0">
                <a:solidFill>
                  <a:srgbClr val="C00000"/>
                </a:solidFill>
                <a:sym typeface="Wingdings" panose="05000000000000000000" pitchFamily="2" charset="2"/>
              </a:rPr>
              <a:t>Link Register</a:t>
            </a:r>
            <a:r>
              <a:rPr lang="en-US" sz="2600" dirty="0">
                <a:sym typeface="Wingdings" panose="05000000000000000000" pitchFamily="2" charset="2"/>
              </a:rPr>
              <a:t> (LR) is used with branches.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dirty="0">
                <a:sym typeface="Wingdings" panose="05000000000000000000" pitchFamily="2" charset="2"/>
              </a:rPr>
              <a:t>Describe how the </a:t>
            </a:r>
            <a:r>
              <a:rPr lang="en-US" sz="2600" b="1" dirty="0">
                <a:solidFill>
                  <a:srgbClr val="C00000"/>
                </a:solidFill>
                <a:sym typeface="Wingdings" panose="05000000000000000000" pitchFamily="2" charset="2"/>
              </a:rPr>
              <a:t>Stack Pointer </a:t>
            </a:r>
            <a:r>
              <a:rPr lang="en-US" sz="2600" dirty="0">
                <a:sym typeface="Wingdings" panose="05000000000000000000" pitchFamily="2" charset="2"/>
              </a:rPr>
              <a:t>(SP) register is used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sym typeface="Wingdings" panose="05000000000000000000" pitchFamily="2" charset="2"/>
              </a:rPr>
              <a:t>Describe how/where the Stack is initialized.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sym typeface="Wingdings" panose="05000000000000000000" pitchFamily="2" charset="2"/>
              </a:rPr>
              <a:t>Describe how the Stack Pointer (SP) works with the Stack memory space.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PUSH</a:t>
            </a:r>
            <a:r>
              <a:rPr lang="en-US" sz="2400" dirty="0">
                <a:sym typeface="Wingdings" panose="05000000000000000000" pitchFamily="2" charset="2"/>
              </a:rPr>
              <a:t> data to the stack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POP</a:t>
            </a:r>
            <a:r>
              <a:rPr lang="en-US" sz="2400" dirty="0">
                <a:sym typeface="Wingdings" panose="05000000000000000000" pitchFamily="2" charset="2"/>
              </a:rPr>
              <a:t> data from the stack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6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01406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49FCD-73F3-A280-0E06-C89FB12FD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2CA18-1EBA-BDBE-017B-6F405D54F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TM4C123 High-level Block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401EF3-3D46-7E18-EBE0-5583CC2D0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1134349"/>
            <a:ext cx="3347298" cy="5486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4C5231-DEC1-B063-AC4E-93FCB4E3AB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887"/>
          <a:stretch/>
        </p:blipFill>
        <p:spPr>
          <a:xfrm>
            <a:off x="4928975" y="1662116"/>
            <a:ext cx="6958226" cy="44528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4FAC0D-6F49-B754-3934-3410CE21E8B6}"/>
              </a:ext>
            </a:extLst>
          </p:cNvPr>
          <p:cNvSpPr txBox="1"/>
          <p:nvPr/>
        </p:nvSpPr>
        <p:spPr>
          <a:xfrm>
            <a:off x="8697163" y="1367865"/>
            <a:ext cx="1907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We are back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CDA7E0BF-5225-C750-0062-5ED8D0806A21}"/>
              </a:ext>
            </a:extLst>
          </p:cNvPr>
          <p:cNvSpPr/>
          <p:nvPr/>
        </p:nvSpPr>
        <p:spPr bwMode="auto">
          <a:xfrm rot="2551156">
            <a:off x="8598011" y="1853480"/>
            <a:ext cx="198304" cy="1046603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0288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Memory layout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9A5FE1-E7B8-758B-9DB6-8BF6A6F56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868951"/>
            <a:ext cx="10972800" cy="512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851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Special Purpose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9DFF4-A07B-9880-8F08-C15A844B7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064" y="1143000"/>
            <a:ext cx="4800868" cy="423323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32 bit wide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Special Purpose Register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sym typeface="Wingdings" panose="05000000000000000000" pitchFamily="2" charset="2"/>
              </a:rPr>
              <a:t>R13: Stack Pointer (SP)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sym typeface="Wingdings" panose="05000000000000000000" pitchFamily="2" charset="2"/>
              </a:rPr>
              <a:t>R14: Link Register (LR)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sym typeface="Wingdings" panose="05000000000000000000" pitchFamily="2" charset="2"/>
              </a:rPr>
              <a:t>R15: Program Counter (PC)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dirty="0"/>
          </a:p>
          <a:p>
            <a:pPr marL="914388" lvl="1" indent="-457200">
              <a:buAutoNum type="arabicPeriod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ABE215-6477-38C8-65B5-0A7028718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932" y="949261"/>
            <a:ext cx="3650023" cy="512017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1A0619-49B9-7737-FE80-21B6B6B81ABC}"/>
              </a:ext>
            </a:extLst>
          </p:cNvPr>
          <p:cNvSpPr/>
          <p:nvPr/>
        </p:nvSpPr>
        <p:spPr bwMode="auto">
          <a:xfrm>
            <a:off x="4885926" y="4992311"/>
            <a:ext cx="4262034" cy="127086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C4D632-79C7-E2E7-A4E0-300561718123}"/>
              </a:ext>
            </a:extLst>
          </p:cNvPr>
          <p:cNvSpPr txBox="1"/>
          <p:nvPr/>
        </p:nvSpPr>
        <p:spPr>
          <a:xfrm>
            <a:off x="9330852" y="3603640"/>
            <a:ext cx="1873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We are here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8C0FBC15-BCA7-D0E1-F30F-ED3844380403}"/>
              </a:ext>
            </a:extLst>
          </p:cNvPr>
          <p:cNvSpPr/>
          <p:nvPr/>
        </p:nvSpPr>
        <p:spPr bwMode="auto">
          <a:xfrm rot="2551156">
            <a:off x="9112119" y="4020461"/>
            <a:ext cx="377690" cy="1046603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9185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B4D3-DB57-C34D-6502-314E9326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164DA-1388-22BE-218E-E72C5BED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Program Counter (PC)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65ABD-17AE-FE67-3062-9832B8074666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4251704" cy="2753533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Program Counter (PC)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latin typeface="+mj-lt"/>
                <a:cs typeface="Courier New" panose="02070309020205020404" pitchFamily="49" charset="0"/>
              </a:rPr>
              <a:t>Current location in the program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2400" kern="0" dirty="0">
              <a:latin typeface="+mj-lt"/>
              <a:cs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latin typeface="+mj-lt"/>
                <a:cs typeface="Courier New" panose="02070309020205020404" pitchFamily="49" charset="0"/>
              </a:rPr>
              <a:t>What is “location”</a:t>
            </a:r>
            <a:endParaRPr lang="en-US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3DDE6F-E85C-BBBF-3AC1-F5B2D8E8A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397" y="929050"/>
            <a:ext cx="6284668" cy="54864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07AF16-3A23-5ABF-2DF4-842EA46E9D49}"/>
              </a:ext>
            </a:extLst>
          </p:cNvPr>
          <p:cNvCxnSpPr>
            <a:cxnSpLocks/>
          </p:cNvCxnSpPr>
          <p:nvPr/>
        </p:nvCxnSpPr>
        <p:spPr bwMode="auto">
          <a:xfrm flipV="1">
            <a:off x="4659086" y="3018971"/>
            <a:ext cx="1320800" cy="644628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lg" len="lg"/>
            <a:tailEnd type="arrow" w="lg" len="lg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FCAE23-BA77-A3B8-50ED-3D02D3F1859B}"/>
              </a:ext>
            </a:extLst>
          </p:cNvPr>
          <p:cNvCxnSpPr>
            <a:cxnSpLocks/>
          </p:cNvCxnSpPr>
          <p:nvPr/>
        </p:nvCxnSpPr>
        <p:spPr bwMode="auto">
          <a:xfrm flipV="1">
            <a:off x="4556503" y="1739410"/>
            <a:ext cx="2135074" cy="168959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lg" len="lg"/>
            <a:tailEnd type="arrow" w="lg" len="lg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4FD1EA-43B5-5D30-BA0C-99BEF7774948}"/>
              </a:ext>
            </a:extLst>
          </p:cNvPr>
          <p:cNvCxnSpPr>
            <a:cxnSpLocks/>
          </p:cNvCxnSpPr>
          <p:nvPr/>
        </p:nvCxnSpPr>
        <p:spPr bwMode="auto">
          <a:xfrm flipV="1">
            <a:off x="4659086" y="3429000"/>
            <a:ext cx="2365828" cy="373743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lg" len="lg"/>
            <a:tailEnd type="arrow" w="lg" len="lg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BBD5D84-743B-987D-C6AD-6A07D632FD8E}"/>
              </a:ext>
            </a:extLst>
          </p:cNvPr>
          <p:cNvCxnSpPr>
            <a:cxnSpLocks/>
          </p:cNvCxnSpPr>
          <p:nvPr/>
        </p:nvCxnSpPr>
        <p:spPr bwMode="auto">
          <a:xfrm>
            <a:off x="4659086" y="3906850"/>
            <a:ext cx="1567543" cy="1044962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lg" len="lg"/>
            <a:tailEnd type="arrow" w="lg" len="lg"/>
          </a:ln>
          <a:effectLst/>
        </p:spPr>
      </p:cxn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A4EFF11-B120-3624-9F91-C641CFE3D688}"/>
              </a:ext>
            </a:extLst>
          </p:cNvPr>
          <p:cNvSpPr txBox="1">
            <a:spLocks/>
          </p:cNvSpPr>
          <p:nvPr/>
        </p:nvSpPr>
        <p:spPr>
          <a:xfrm>
            <a:off x="3018150" y="3638657"/>
            <a:ext cx="2009247" cy="96108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latin typeface="Consolas" panose="020B0609020204030204" pitchFamily="49" charset="0"/>
                <a:cs typeface="Courier New" panose="02070309020205020404" pitchFamily="49" charset="0"/>
              </a:rPr>
              <a:t>Location</a:t>
            </a:r>
            <a:endParaRPr lang="en-US" sz="2400" b="1" kern="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623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B4D3-DB57-C34D-6502-314E9326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164DA-1388-22BE-218E-E72C5BED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(Thumb-2)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117DB4-173E-57FB-372B-CC99A9F71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955222"/>
            <a:ext cx="793282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697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B4D3-DB57-C34D-6502-314E9326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164DA-1388-22BE-218E-E72C5BED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(Thumb-2)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5C4EEE-E75C-9A6A-9647-A65A963F1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949552"/>
            <a:ext cx="8267700" cy="2143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D0701A-74D4-A3E5-C2BD-67264B80E77B}"/>
              </a:ext>
            </a:extLst>
          </p:cNvPr>
          <p:cNvSpPr txBox="1"/>
          <p:nvPr/>
        </p:nvSpPr>
        <p:spPr>
          <a:xfrm>
            <a:off x="3385456" y="411726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#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85CC18-B6A3-988D-B44E-938F499CB6F7}"/>
              </a:ext>
            </a:extLst>
          </p:cNvPr>
          <p:cNvSpPr txBox="1"/>
          <p:nvPr/>
        </p:nvSpPr>
        <p:spPr>
          <a:xfrm>
            <a:off x="587828" y="3145422"/>
            <a:ext cx="5007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0D5EF-4AED-C17C-508D-E764F9CC2A52}"/>
              </a:ext>
            </a:extLst>
          </p:cNvPr>
          <p:cNvSpPr txBox="1"/>
          <p:nvPr/>
        </p:nvSpPr>
        <p:spPr>
          <a:xfrm>
            <a:off x="1611085" y="3145422"/>
            <a:ext cx="5007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B5E764-D192-A43B-A4D5-6CE5628EF90A}"/>
              </a:ext>
            </a:extLst>
          </p:cNvPr>
          <p:cNvSpPr txBox="1"/>
          <p:nvPr/>
        </p:nvSpPr>
        <p:spPr>
          <a:xfrm>
            <a:off x="2634342" y="3145422"/>
            <a:ext cx="5007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1EA0E4-7BD7-25F6-6429-EBB4A256151C}"/>
              </a:ext>
            </a:extLst>
          </p:cNvPr>
          <p:cNvSpPr txBox="1"/>
          <p:nvPr/>
        </p:nvSpPr>
        <p:spPr>
          <a:xfrm>
            <a:off x="3657599" y="3145422"/>
            <a:ext cx="5007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57B414-C249-08EC-30D3-8B5AA118C742}"/>
              </a:ext>
            </a:extLst>
          </p:cNvPr>
          <p:cNvSpPr txBox="1"/>
          <p:nvPr/>
        </p:nvSpPr>
        <p:spPr>
          <a:xfrm>
            <a:off x="4942113" y="3145422"/>
            <a:ext cx="5007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306A82-4238-D6AF-1C11-3A30CAA8C14A}"/>
              </a:ext>
            </a:extLst>
          </p:cNvPr>
          <p:cNvSpPr txBox="1"/>
          <p:nvPr/>
        </p:nvSpPr>
        <p:spPr>
          <a:xfrm>
            <a:off x="5932713" y="3145422"/>
            <a:ext cx="5007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AE806D-19E1-416E-1035-F238FFCA0B8F}"/>
              </a:ext>
            </a:extLst>
          </p:cNvPr>
          <p:cNvSpPr txBox="1"/>
          <p:nvPr/>
        </p:nvSpPr>
        <p:spPr>
          <a:xfrm>
            <a:off x="7038702" y="3141190"/>
            <a:ext cx="13824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0    1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6B5DC25-E077-7EBF-48DB-6A1249CD5EA0}"/>
              </a:ext>
            </a:extLst>
          </p:cNvPr>
          <p:cNvSpPr/>
          <p:nvPr/>
        </p:nvSpPr>
        <p:spPr bwMode="auto">
          <a:xfrm>
            <a:off x="313927" y="2014901"/>
            <a:ext cx="1149322" cy="38825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BD070B8-61E2-B2D6-8E82-8CF2F6385B2A}"/>
              </a:ext>
            </a:extLst>
          </p:cNvPr>
          <p:cNvSpPr/>
          <p:nvPr/>
        </p:nvSpPr>
        <p:spPr bwMode="auto">
          <a:xfrm>
            <a:off x="1472377" y="2014901"/>
            <a:ext cx="995052" cy="38825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6D86207-FB47-C09F-87FD-2898D2EDFE6E}"/>
              </a:ext>
            </a:extLst>
          </p:cNvPr>
          <p:cNvSpPr/>
          <p:nvPr/>
        </p:nvSpPr>
        <p:spPr bwMode="auto">
          <a:xfrm>
            <a:off x="2476557" y="2015945"/>
            <a:ext cx="995052" cy="38825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9E80648-9A26-E9E3-0C31-3766E801D99F}"/>
              </a:ext>
            </a:extLst>
          </p:cNvPr>
          <p:cNvSpPr/>
          <p:nvPr/>
        </p:nvSpPr>
        <p:spPr bwMode="auto">
          <a:xfrm>
            <a:off x="3480737" y="2015945"/>
            <a:ext cx="1004180" cy="38825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9A6B39D-B5AD-B5F3-AD7A-E10CF5DA2D9B}"/>
              </a:ext>
            </a:extLst>
          </p:cNvPr>
          <p:cNvSpPr/>
          <p:nvPr/>
        </p:nvSpPr>
        <p:spPr bwMode="auto">
          <a:xfrm>
            <a:off x="4484916" y="2014901"/>
            <a:ext cx="957939" cy="388257"/>
          </a:xfrm>
          <a:prstGeom prst="roundRect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5A64007-D82F-8641-D822-B2E215E5EE09}"/>
              </a:ext>
            </a:extLst>
          </p:cNvPr>
          <p:cNvSpPr/>
          <p:nvPr/>
        </p:nvSpPr>
        <p:spPr bwMode="auto">
          <a:xfrm>
            <a:off x="5451984" y="2014901"/>
            <a:ext cx="995052" cy="388257"/>
          </a:xfrm>
          <a:prstGeom prst="roundRect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26E5C33-92C6-ED7B-1DF6-58C84AA957CB}"/>
              </a:ext>
            </a:extLst>
          </p:cNvPr>
          <p:cNvSpPr/>
          <p:nvPr/>
        </p:nvSpPr>
        <p:spPr bwMode="auto">
          <a:xfrm>
            <a:off x="6456164" y="2015945"/>
            <a:ext cx="995052" cy="388257"/>
          </a:xfrm>
          <a:prstGeom prst="roundRect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0B7010-7DDE-66E3-308A-BD1FFA10C139}"/>
              </a:ext>
            </a:extLst>
          </p:cNvPr>
          <p:cNvSpPr/>
          <p:nvPr/>
        </p:nvSpPr>
        <p:spPr bwMode="auto">
          <a:xfrm>
            <a:off x="7460344" y="2015945"/>
            <a:ext cx="1004180" cy="388257"/>
          </a:xfrm>
          <a:prstGeom prst="roundRect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3817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65A67-90F2-1C45-4BEB-152A1EFE4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26636-9374-3FB8-87CA-87D5B4E17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 in action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6898455-2B83-DB2C-A069-359AE4D57A20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4794740" cy="524608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C00000"/>
                </a:solidFill>
              </a:rPr>
              <a:t>Open class demon project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ClassDemo_PC.zip file 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A42F-F1F0-C2CC-15D0-CA4E3922F1DE}"/>
              </a:ext>
            </a:extLst>
          </p:cNvPr>
          <p:cNvSpPr txBox="1">
            <a:spLocks/>
          </p:cNvSpPr>
          <p:nvPr/>
        </p:nvSpPr>
        <p:spPr>
          <a:xfrm>
            <a:off x="5416062" y="1049209"/>
            <a:ext cx="6125309" cy="524608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C00000"/>
                </a:solidFill>
              </a:rPr>
              <a:t>OR</a:t>
            </a:r>
          </a:p>
          <a:p>
            <a:pPr marL="0" indent="0">
              <a:buNone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Enter the following instructions after the  start label in a blank project</a:t>
            </a:r>
          </a:p>
          <a:p>
            <a:pPr marL="0" indent="0">
              <a:buNone/>
            </a:pPr>
            <a:r>
              <a:rPr lang="en-US" sz="2200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MOV</a:t>
            </a: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#</a:t>
            </a:r>
            <a:r>
              <a:rPr lang="en-US" sz="22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buNone/>
            </a:pP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#</a:t>
            </a:r>
            <a:r>
              <a:rPr lang="en-US" sz="22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None/>
            </a:pP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</a:t>
            </a: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#</a:t>
            </a:r>
            <a:r>
              <a:rPr lang="en-US" sz="22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marL="0" indent="0">
              <a:buNone/>
            </a:pP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2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2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</a:t>
            </a:r>
          </a:p>
          <a:p>
            <a:pPr marL="0" indent="0">
              <a:buNone/>
            </a:pP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skip</a:t>
            </a:r>
          </a:p>
          <a:p>
            <a:pPr marL="0" indent="0">
              <a:buNone/>
            </a:pP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LSL</a:t>
            </a: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#</a:t>
            </a:r>
            <a:r>
              <a:rPr lang="en-US" sz="22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0x2</a:t>
            </a:r>
          </a:p>
          <a:p>
            <a:pPr marL="0" indent="0">
              <a:buNone/>
            </a:pP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skip</a:t>
            </a:r>
          </a:p>
          <a:p>
            <a:pPr marL="0" indent="0">
              <a:buNone/>
            </a:pP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LSR</a:t>
            </a: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b="1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#</a:t>
            </a:r>
            <a:r>
              <a:rPr lang="en-US" sz="22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0x1</a:t>
            </a:r>
          </a:p>
          <a:p>
            <a:pPr marL="0" indent="0">
              <a:buNone/>
            </a:pPr>
            <a:endParaRPr lang="en-US" sz="22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2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NOP</a:t>
            </a:r>
          </a:p>
        </p:txBody>
      </p:sp>
    </p:spTree>
    <p:extLst>
      <p:ext uri="{BB962C8B-B14F-4D97-AF65-F5344CB8AC3E}">
        <p14:creationId xmlns:p14="http://schemas.microsoft.com/office/powerpoint/2010/main" val="5493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Special Purpose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9DFF4-A07B-9880-8F08-C15A844B7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064" y="1143000"/>
            <a:ext cx="4800868" cy="423323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32 bit wide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Special Purpose Register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sym typeface="Wingdings" panose="05000000000000000000" pitchFamily="2" charset="2"/>
              </a:rPr>
              <a:t>R13: Stack Pointer (SP)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sym typeface="Wingdings" panose="05000000000000000000" pitchFamily="2" charset="2"/>
              </a:rPr>
              <a:t>R14: Link Register (LR)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sym typeface="Wingdings" panose="05000000000000000000" pitchFamily="2" charset="2"/>
              </a:rPr>
              <a:t>R15: Program Counter (PC)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dirty="0"/>
          </a:p>
          <a:p>
            <a:pPr marL="914388" lvl="1" indent="-457200">
              <a:buAutoNum type="arabicPeriod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ABE215-6477-38C8-65B5-0A7028718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932" y="949261"/>
            <a:ext cx="3650023" cy="512017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1A0619-49B9-7737-FE80-21B6B6B81ABC}"/>
              </a:ext>
            </a:extLst>
          </p:cNvPr>
          <p:cNvSpPr/>
          <p:nvPr/>
        </p:nvSpPr>
        <p:spPr bwMode="auto">
          <a:xfrm>
            <a:off x="4885926" y="4992311"/>
            <a:ext cx="4262034" cy="127086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C4D632-79C7-E2E7-A4E0-300561718123}"/>
              </a:ext>
            </a:extLst>
          </p:cNvPr>
          <p:cNvSpPr txBox="1"/>
          <p:nvPr/>
        </p:nvSpPr>
        <p:spPr>
          <a:xfrm>
            <a:off x="9330852" y="3603640"/>
            <a:ext cx="1873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We are here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8C0FBC15-BCA7-D0E1-F30F-ED3844380403}"/>
              </a:ext>
            </a:extLst>
          </p:cNvPr>
          <p:cNvSpPr/>
          <p:nvPr/>
        </p:nvSpPr>
        <p:spPr bwMode="auto">
          <a:xfrm rot="2551156">
            <a:off x="9112119" y="4020461"/>
            <a:ext cx="377690" cy="1046603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4862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65A67-90F2-1C45-4BEB-152A1EFE4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26636-9374-3FB8-87CA-87D5B4E17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already know how to use branch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6898455-2B83-DB2C-A069-359AE4D57A20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4794740" cy="524608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C00000"/>
                </a:solidFill>
              </a:rPr>
              <a:t>C Code</a:t>
            </a:r>
          </a:p>
          <a:p>
            <a:pPr marL="0" indent="0">
              <a:buNone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  </a:t>
            </a:r>
            <a:r>
              <a:rPr lang="en-US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varZ</a:t>
            </a: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varX</a:t>
            </a: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varY</a:t>
            </a:r>
            <a:endParaRPr lang="en-US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A42F-F1F0-C2CC-15D0-CA4E3922F1DE}"/>
              </a:ext>
            </a:extLst>
          </p:cNvPr>
          <p:cNvSpPr txBox="1">
            <a:spLocks/>
          </p:cNvSpPr>
          <p:nvPr/>
        </p:nvSpPr>
        <p:spPr>
          <a:xfrm>
            <a:off x="5416062" y="1049209"/>
            <a:ext cx="6125309" cy="524608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C00000"/>
                </a:solidFill>
              </a:rPr>
              <a:t>Assembly Code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LDR		R1, =</a:t>
            </a:r>
            <a:r>
              <a:rPr lang="en-US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varX</a:t>
            </a:r>
            <a:endParaRPr lang="en-US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LDR		R0, [R1]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LDR		R1, =vary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LDR		R2, [R1]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ADD		R0, R0, R2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LDR		R1, =</a:t>
            </a:r>
            <a:r>
              <a:rPr lang="en-US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varZ</a:t>
            </a:r>
            <a:endParaRPr lang="en-US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STR		R0, [R1]</a:t>
            </a:r>
          </a:p>
        </p:txBody>
      </p:sp>
    </p:spTree>
    <p:extLst>
      <p:ext uri="{BB962C8B-B14F-4D97-AF65-F5344CB8AC3E}">
        <p14:creationId xmlns:p14="http://schemas.microsoft.com/office/powerpoint/2010/main" val="2714646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65A67-90F2-1C45-4BEB-152A1EFE4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26636-9374-3FB8-87CA-87D5B4E17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Subroutines!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6898455-2B83-DB2C-A069-359AE4D57A20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4794740" cy="524608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C00000"/>
                </a:solidFill>
              </a:rPr>
              <a:t>C Code</a:t>
            </a:r>
          </a:p>
          <a:p>
            <a:pPr marL="0" indent="0">
              <a:buNone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  </a:t>
            </a:r>
            <a:r>
              <a:rPr lang="en-US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varZ</a:t>
            </a: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= sum(</a:t>
            </a:r>
            <a:r>
              <a:rPr lang="en-US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varX</a:t>
            </a: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vary)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A42F-F1F0-C2CC-15D0-CA4E3922F1DE}"/>
              </a:ext>
            </a:extLst>
          </p:cNvPr>
          <p:cNvSpPr txBox="1">
            <a:spLocks/>
          </p:cNvSpPr>
          <p:nvPr/>
        </p:nvSpPr>
        <p:spPr>
          <a:xfrm>
            <a:off x="5416062" y="1049209"/>
            <a:ext cx="6125309" cy="524608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C00000"/>
                </a:solidFill>
              </a:rPr>
              <a:t>Assembly Code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LDR		R1, =</a:t>
            </a:r>
            <a:r>
              <a:rPr lang="en-US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varX</a:t>
            </a:r>
            <a:endParaRPr lang="en-US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LDR		R0, [R1]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LDR		R1, =vary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LDR		R2, [R1]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ADD		R0, R0, R2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LDR		R1, =</a:t>
            </a:r>
            <a:r>
              <a:rPr lang="en-US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varZ</a:t>
            </a:r>
            <a:endParaRPr lang="en-US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STR		R0, [R1]</a:t>
            </a:r>
          </a:p>
        </p:txBody>
      </p:sp>
    </p:spTree>
    <p:extLst>
      <p:ext uri="{BB962C8B-B14F-4D97-AF65-F5344CB8AC3E}">
        <p14:creationId xmlns:p14="http://schemas.microsoft.com/office/powerpoint/2010/main" val="2737988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B4D3-DB57-C34D-6502-314E9326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164DA-1388-22BE-218E-E72C5BED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Link Register (LR) In Action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CA4DD9-7BC1-4948-8A71-F6BB18FBC2C8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4794740" cy="524608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C00000"/>
                </a:solidFill>
              </a:rPr>
              <a:t>Open class demon project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ClassDemo_LR.zip file 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Enter the following instructions after </a:t>
            </a:r>
            <a:r>
              <a:rPr lang="en-US" kern="0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start</a:t>
            </a:r>
            <a:r>
              <a:rPr lang="en-US" kern="0" dirty="0">
                <a:latin typeface="+mj-lt"/>
                <a:cs typeface="Courier New" panose="02070309020205020404" pitchFamily="49" charset="0"/>
              </a:rPr>
              <a:t> label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3BCDA6-F0AB-AD39-C53F-5B53A006F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539" y="694451"/>
            <a:ext cx="621499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268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B4D3-DB57-C34D-6502-314E9326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164DA-1388-22BE-218E-E72C5BED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Branching With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65ABD-17AE-FE67-3062-9832B8074666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4604826" cy="524608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Causes a branch to “label” and copies the address of the instruction into LR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BX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Branch to an address contained in a register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2400" kern="0" dirty="0">
              <a:latin typeface="+mj-lt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C4D73F-D77D-F90C-78C8-4E719631E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730" y="841127"/>
            <a:ext cx="6673867" cy="29260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53B5D0-DF38-6A73-CA2F-ECC47FAA2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516" y="3582274"/>
            <a:ext cx="587692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722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B4D3-DB57-C34D-6502-314E9326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164DA-1388-22BE-218E-E72C5BED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65ABD-17AE-FE67-3062-9832B8074666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3293807" cy="524608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Holds your spot while you jump to a subroutine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2400" kern="0" dirty="0">
              <a:latin typeface="+mj-lt"/>
              <a:cs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591C64-F828-F62F-B320-627A44469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732" y="929050"/>
            <a:ext cx="8027469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43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B4D3-DB57-C34D-6502-314E9326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164DA-1388-22BE-218E-E72C5BED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2E6E8F-14FC-7C00-7435-C33D9418C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972314"/>
              </p:ext>
            </p:extLst>
          </p:nvPr>
        </p:nvGraphicFramePr>
        <p:xfrm>
          <a:off x="1442065" y="3058160"/>
          <a:ext cx="8127999" cy="74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39390684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7319399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887366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1772537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1051395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09960436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0566760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6437246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7693307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28A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345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533043"/>
                  </a:ext>
                </a:extLst>
              </a:tr>
            </a:tbl>
          </a:graphicData>
        </a:graphic>
      </p:graphicFrame>
      <p:sp>
        <p:nvSpPr>
          <p:cNvPr id="5" name="Arrow: Down 4">
            <a:extLst>
              <a:ext uri="{FF2B5EF4-FFF2-40B4-BE49-F238E27FC236}">
                <a16:creationId xmlns:a16="http://schemas.microsoft.com/office/drawing/2014/main" id="{3F0C86F1-C6C2-3B83-D345-CA5367DFD034}"/>
              </a:ext>
            </a:extLst>
          </p:cNvPr>
          <p:cNvSpPr/>
          <p:nvPr/>
        </p:nvSpPr>
        <p:spPr bwMode="auto">
          <a:xfrm>
            <a:off x="5128374" y="1749210"/>
            <a:ext cx="240039" cy="1046603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C1426E64-6983-3D03-AA49-E8613FEE6B94}"/>
              </a:ext>
            </a:extLst>
          </p:cNvPr>
          <p:cNvSpPr/>
          <p:nvPr/>
        </p:nvSpPr>
        <p:spPr bwMode="auto">
          <a:xfrm>
            <a:off x="6045199" y="1749210"/>
            <a:ext cx="240039" cy="1046603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919647-AADE-970B-3D7F-DA2F2933CCC0}"/>
              </a:ext>
            </a:extLst>
          </p:cNvPr>
          <p:cNvSpPr txBox="1"/>
          <p:nvPr/>
        </p:nvSpPr>
        <p:spPr>
          <a:xfrm>
            <a:off x="4910393" y="1156371"/>
            <a:ext cx="675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B918D0-5ACB-1B6E-961E-2E2E31BB1B19}"/>
              </a:ext>
            </a:extLst>
          </p:cNvPr>
          <p:cNvSpPr txBox="1"/>
          <p:nvPr/>
        </p:nvSpPr>
        <p:spPr>
          <a:xfrm>
            <a:off x="5827218" y="1150523"/>
            <a:ext cx="675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08CAC71-C9E8-EE3B-AC7E-9E762936112A}"/>
              </a:ext>
            </a:extLst>
          </p:cNvPr>
          <p:cNvSpPr/>
          <p:nvPr/>
        </p:nvSpPr>
        <p:spPr bwMode="auto">
          <a:xfrm>
            <a:off x="1046957" y="2791327"/>
            <a:ext cx="4081417" cy="127086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7BDC1F00-9E84-4BAE-C1A3-B5E1A8D80E20}"/>
              </a:ext>
            </a:extLst>
          </p:cNvPr>
          <p:cNvSpPr/>
          <p:nvPr/>
        </p:nvSpPr>
        <p:spPr bwMode="auto">
          <a:xfrm rot="10800000">
            <a:off x="3220400" y="4188876"/>
            <a:ext cx="240039" cy="1046603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DEF886-0AC9-6E45-27F7-43FCCB937D10}"/>
              </a:ext>
            </a:extLst>
          </p:cNvPr>
          <p:cNvSpPr txBox="1"/>
          <p:nvPr/>
        </p:nvSpPr>
        <p:spPr>
          <a:xfrm>
            <a:off x="1745802" y="5271479"/>
            <a:ext cx="4081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Current instruction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43B39-67C9-4B74-A023-B12023AB090B}"/>
              </a:ext>
            </a:extLst>
          </p:cNvPr>
          <p:cNvSpPr txBox="1"/>
          <p:nvPr/>
        </p:nvSpPr>
        <p:spPr>
          <a:xfrm>
            <a:off x="6844179" y="1156039"/>
            <a:ext cx="4690324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ARM uses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bit 0</a:t>
            </a:r>
            <a:r>
              <a:rPr lang="en-US" b="1" dirty="0">
                <a:latin typeface="Consolas" panose="020B0609020204030204" pitchFamily="49" charset="0"/>
              </a:rPr>
              <a:t> of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LR</a:t>
            </a:r>
            <a:r>
              <a:rPr lang="en-US" b="1" dirty="0">
                <a:latin typeface="Consolas" panose="020B0609020204030204" pitchFamily="49" charset="0"/>
              </a:rPr>
              <a:t> register to encode execution state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nsolas" panose="020B0609020204030204" pitchFamily="49" charset="0"/>
              </a:rPr>
              <a:t> bit[0] = 0 → ARM mode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nsolas" panose="020B0609020204030204" pitchFamily="49" charset="0"/>
              </a:rPr>
              <a:t> bit[0] = 1 → Thumb mode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803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B4D3-DB57-C34D-6502-314E9326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164DA-1388-22BE-218E-E72C5BED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D207B0-C70B-742D-05EA-455594E0C6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111"/>
          <a:stretch/>
        </p:blipFill>
        <p:spPr>
          <a:xfrm>
            <a:off x="192553" y="1198978"/>
            <a:ext cx="5791201" cy="5219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018B62-AD31-19D1-42F6-79B5E3163E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4834" b="4813"/>
          <a:stretch/>
        </p:blipFill>
        <p:spPr>
          <a:xfrm>
            <a:off x="6045199" y="1198978"/>
            <a:ext cx="5954248" cy="542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080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B4D3-DB57-C34D-6502-314E9326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164DA-1388-22BE-218E-E72C5BED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F018B62-AD31-19D1-42F6-79B5E3163E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834"/>
          <a:stretch/>
        </p:blipFill>
        <p:spPr>
          <a:xfrm>
            <a:off x="90951" y="924799"/>
            <a:ext cx="5954248" cy="5695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9E4962-22A4-5E77-1AAD-35E2FDD83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674" y="924799"/>
            <a:ext cx="5495925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704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Special Purpose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9DFF4-A07B-9880-8F08-C15A844B7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064" y="1143000"/>
            <a:ext cx="4800868" cy="423323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32 bit wide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Special Purpose Register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sym typeface="Wingdings" panose="05000000000000000000" pitchFamily="2" charset="2"/>
              </a:rPr>
              <a:t>R13: Stack Pointer (SP)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sym typeface="Wingdings" panose="05000000000000000000" pitchFamily="2" charset="2"/>
              </a:rPr>
              <a:t>R14: Link Register (LR)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sym typeface="Wingdings" panose="05000000000000000000" pitchFamily="2" charset="2"/>
              </a:rPr>
              <a:t>R15: Program Counter (PC)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dirty="0"/>
          </a:p>
          <a:p>
            <a:pPr marL="914388" lvl="1" indent="-457200">
              <a:buAutoNum type="arabicPeriod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ABE215-6477-38C8-65B5-0A7028718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932" y="949261"/>
            <a:ext cx="3650023" cy="512017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1A0619-49B9-7737-FE80-21B6B6B81ABC}"/>
              </a:ext>
            </a:extLst>
          </p:cNvPr>
          <p:cNvSpPr/>
          <p:nvPr/>
        </p:nvSpPr>
        <p:spPr bwMode="auto">
          <a:xfrm>
            <a:off x="4885926" y="4992311"/>
            <a:ext cx="4262034" cy="127086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C4D632-79C7-E2E7-A4E0-300561718123}"/>
              </a:ext>
            </a:extLst>
          </p:cNvPr>
          <p:cNvSpPr txBox="1"/>
          <p:nvPr/>
        </p:nvSpPr>
        <p:spPr>
          <a:xfrm>
            <a:off x="9330852" y="3603640"/>
            <a:ext cx="1873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We are here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8C0FBC15-BCA7-D0E1-F30F-ED3844380403}"/>
              </a:ext>
            </a:extLst>
          </p:cNvPr>
          <p:cNvSpPr/>
          <p:nvPr/>
        </p:nvSpPr>
        <p:spPr bwMode="auto">
          <a:xfrm rot="2551156">
            <a:off x="9112119" y="4020461"/>
            <a:ext cx="377690" cy="1046603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5313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94E6B0-B1BD-21E8-7A95-FAA0B820F2DC}"/>
              </a:ext>
            </a:extLst>
          </p:cNvPr>
          <p:cNvSpPr/>
          <p:nvPr/>
        </p:nvSpPr>
        <p:spPr bwMode="auto">
          <a:xfrm>
            <a:off x="6096000" y="986970"/>
            <a:ext cx="5123543" cy="3048001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333D23-A074-2253-6CF4-6709DC2E539E}"/>
              </a:ext>
            </a:extLst>
          </p:cNvPr>
          <p:cNvSpPr/>
          <p:nvPr/>
        </p:nvSpPr>
        <p:spPr bwMode="auto">
          <a:xfrm>
            <a:off x="159657" y="986972"/>
            <a:ext cx="2931886" cy="304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Reading From RAM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8C0FBC15-BCA7-D0E1-F30F-ED3844380403}"/>
              </a:ext>
            </a:extLst>
          </p:cNvPr>
          <p:cNvSpPr/>
          <p:nvPr/>
        </p:nvSpPr>
        <p:spPr bwMode="auto">
          <a:xfrm rot="5400000" flipH="1">
            <a:off x="4404926" y="543539"/>
            <a:ext cx="377690" cy="3004459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840705B-7E28-0525-28BE-23AC0C83D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52968"/>
              </p:ext>
            </p:extLst>
          </p:nvPr>
        </p:nvGraphicFramePr>
        <p:xfrm>
          <a:off x="304799" y="1203960"/>
          <a:ext cx="25908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301792379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983834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57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06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708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5372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11C672C-FAA5-32C4-BE3B-58339DAA7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225673"/>
              </p:ext>
            </p:extLst>
          </p:nvPr>
        </p:nvGraphicFramePr>
        <p:xfrm>
          <a:off x="6259271" y="1203960"/>
          <a:ext cx="4571285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45205">
                  <a:extLst>
                    <a:ext uri="{9D8B030D-6E8A-4147-A177-3AD203B41FA5}">
                      <a16:colId xmlns:a16="http://schemas.microsoft.com/office/drawing/2014/main" val="76814152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569182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28883815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7938839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4251530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910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738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547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0x2000000C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06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70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766211"/>
                  </a:ext>
                </a:extLst>
              </a:tr>
            </a:tbl>
          </a:graphicData>
        </a:graphic>
      </p:graphicFrame>
      <p:sp>
        <p:nvSpPr>
          <p:cNvPr id="12" name="Arrow: Down 11">
            <a:extLst>
              <a:ext uri="{FF2B5EF4-FFF2-40B4-BE49-F238E27FC236}">
                <a16:creationId xmlns:a16="http://schemas.microsoft.com/office/drawing/2014/main" id="{3D65FD78-ABD8-909B-8E4D-A859599302DC}"/>
              </a:ext>
            </a:extLst>
          </p:cNvPr>
          <p:cNvSpPr/>
          <p:nvPr/>
        </p:nvSpPr>
        <p:spPr bwMode="auto">
          <a:xfrm rot="16200000">
            <a:off x="4404927" y="-25277"/>
            <a:ext cx="377690" cy="3004457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166277C-CE76-2946-D12D-AFA4509B0EED}"/>
              </a:ext>
            </a:extLst>
          </p:cNvPr>
          <p:cNvSpPr/>
          <p:nvPr/>
        </p:nvSpPr>
        <p:spPr bwMode="auto">
          <a:xfrm rot="16200000">
            <a:off x="4404926" y="1460203"/>
            <a:ext cx="377690" cy="3004459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DC6E58-0E8D-E389-65FC-C74CD8671FE6}"/>
              </a:ext>
            </a:extLst>
          </p:cNvPr>
          <p:cNvSpPr txBox="1"/>
          <p:nvPr/>
        </p:nvSpPr>
        <p:spPr>
          <a:xfrm>
            <a:off x="429846" y="3573305"/>
            <a:ext cx="2340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ARM Processor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6BBFA-33E1-47D6-DF67-734222B6F5F9}"/>
              </a:ext>
            </a:extLst>
          </p:cNvPr>
          <p:cNvSpPr txBox="1"/>
          <p:nvPr/>
        </p:nvSpPr>
        <p:spPr>
          <a:xfrm>
            <a:off x="7656425" y="3573306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Memory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72737D-76EF-E4EF-E8FE-EF66B425CB8D}"/>
              </a:ext>
            </a:extLst>
          </p:cNvPr>
          <p:cNvSpPr txBox="1"/>
          <p:nvPr/>
        </p:nvSpPr>
        <p:spPr>
          <a:xfrm>
            <a:off x="3735616" y="1021516"/>
            <a:ext cx="1609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Address bus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B3E2AE-E7CC-AF7E-9615-00BA203609A4}"/>
              </a:ext>
            </a:extLst>
          </p:cNvPr>
          <p:cNvSpPr txBox="1"/>
          <p:nvPr/>
        </p:nvSpPr>
        <p:spPr>
          <a:xfrm>
            <a:off x="3763032" y="160669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 bus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385B22-1144-930F-5BF3-DCDBBC754358}"/>
              </a:ext>
            </a:extLst>
          </p:cNvPr>
          <p:cNvSpPr txBox="1"/>
          <p:nvPr/>
        </p:nvSpPr>
        <p:spPr>
          <a:xfrm>
            <a:off x="3791025" y="2487265"/>
            <a:ext cx="1882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Control signals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9451C5-365C-D224-F87B-163290659E75}"/>
              </a:ext>
            </a:extLst>
          </p:cNvPr>
          <p:cNvSpPr txBox="1">
            <a:spLocks/>
          </p:cNvSpPr>
          <p:nvPr/>
        </p:nvSpPr>
        <p:spPr>
          <a:xfrm>
            <a:off x="1477829" y="4220037"/>
            <a:ext cx="6125309" cy="199052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LDR		R1, =0x20000000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LDR		R0, [R1]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LDR	H	R0, [R1]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LDR	B	R0, [R1]</a:t>
            </a:r>
          </a:p>
        </p:txBody>
      </p:sp>
    </p:spTree>
    <p:extLst>
      <p:ext uri="{BB962C8B-B14F-4D97-AF65-F5344CB8AC3E}">
        <p14:creationId xmlns:p14="http://schemas.microsoft.com/office/powerpoint/2010/main" val="724465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94E6B0-B1BD-21E8-7A95-FAA0B820F2DC}"/>
              </a:ext>
            </a:extLst>
          </p:cNvPr>
          <p:cNvSpPr/>
          <p:nvPr/>
        </p:nvSpPr>
        <p:spPr bwMode="auto">
          <a:xfrm>
            <a:off x="6096000" y="986970"/>
            <a:ext cx="5123543" cy="3048001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333D23-A074-2253-6CF4-6709DC2E539E}"/>
              </a:ext>
            </a:extLst>
          </p:cNvPr>
          <p:cNvSpPr/>
          <p:nvPr/>
        </p:nvSpPr>
        <p:spPr bwMode="auto">
          <a:xfrm>
            <a:off x="159657" y="986972"/>
            <a:ext cx="2931886" cy="304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A Byte To RAM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8C0FBC15-BCA7-D0E1-F30F-ED3844380403}"/>
              </a:ext>
            </a:extLst>
          </p:cNvPr>
          <p:cNvSpPr/>
          <p:nvPr/>
        </p:nvSpPr>
        <p:spPr bwMode="auto">
          <a:xfrm rot="16200000">
            <a:off x="4404926" y="543539"/>
            <a:ext cx="377690" cy="3004459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840705B-7E28-0525-28BE-23AC0C83DEF1}"/>
              </a:ext>
            </a:extLst>
          </p:cNvPr>
          <p:cNvGraphicFramePr>
            <a:graphicFrameLocks noGrp="1"/>
          </p:cNvGraphicFramePr>
          <p:nvPr/>
        </p:nvGraphicFramePr>
        <p:xfrm>
          <a:off x="304799" y="1203960"/>
          <a:ext cx="25908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301792379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983834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57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06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708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5372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11C672C-FAA5-32C4-BE3B-58339DAA7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53630"/>
              </p:ext>
            </p:extLst>
          </p:nvPr>
        </p:nvGraphicFramePr>
        <p:xfrm>
          <a:off x="6259271" y="1203960"/>
          <a:ext cx="4571285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45205">
                  <a:extLst>
                    <a:ext uri="{9D8B030D-6E8A-4147-A177-3AD203B41FA5}">
                      <a16:colId xmlns:a16="http://schemas.microsoft.com/office/drawing/2014/main" val="76814152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569182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28883815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7938839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4251530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910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738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547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0x2000000C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06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70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766211"/>
                  </a:ext>
                </a:extLst>
              </a:tr>
            </a:tbl>
          </a:graphicData>
        </a:graphic>
      </p:graphicFrame>
      <p:sp>
        <p:nvSpPr>
          <p:cNvPr id="12" name="Arrow: Down 11">
            <a:extLst>
              <a:ext uri="{FF2B5EF4-FFF2-40B4-BE49-F238E27FC236}">
                <a16:creationId xmlns:a16="http://schemas.microsoft.com/office/drawing/2014/main" id="{3D65FD78-ABD8-909B-8E4D-A859599302DC}"/>
              </a:ext>
            </a:extLst>
          </p:cNvPr>
          <p:cNvSpPr/>
          <p:nvPr/>
        </p:nvSpPr>
        <p:spPr bwMode="auto">
          <a:xfrm rot="16200000">
            <a:off x="4404927" y="-25277"/>
            <a:ext cx="377690" cy="3004457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166277C-CE76-2946-D12D-AFA4509B0EED}"/>
              </a:ext>
            </a:extLst>
          </p:cNvPr>
          <p:cNvSpPr/>
          <p:nvPr/>
        </p:nvSpPr>
        <p:spPr bwMode="auto">
          <a:xfrm rot="16200000">
            <a:off x="4404926" y="1460203"/>
            <a:ext cx="377690" cy="3004459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DC6E58-0E8D-E389-65FC-C74CD8671FE6}"/>
              </a:ext>
            </a:extLst>
          </p:cNvPr>
          <p:cNvSpPr txBox="1"/>
          <p:nvPr/>
        </p:nvSpPr>
        <p:spPr>
          <a:xfrm>
            <a:off x="429846" y="3573305"/>
            <a:ext cx="2340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ARM Processor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6BBFA-33E1-47D6-DF67-734222B6F5F9}"/>
              </a:ext>
            </a:extLst>
          </p:cNvPr>
          <p:cNvSpPr txBox="1"/>
          <p:nvPr/>
        </p:nvSpPr>
        <p:spPr>
          <a:xfrm>
            <a:off x="7656425" y="3573306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Memory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72737D-76EF-E4EF-E8FE-EF66B425CB8D}"/>
              </a:ext>
            </a:extLst>
          </p:cNvPr>
          <p:cNvSpPr txBox="1"/>
          <p:nvPr/>
        </p:nvSpPr>
        <p:spPr>
          <a:xfrm>
            <a:off x="3735616" y="1021516"/>
            <a:ext cx="1609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Address bus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B3E2AE-E7CC-AF7E-9615-00BA203609A4}"/>
              </a:ext>
            </a:extLst>
          </p:cNvPr>
          <p:cNvSpPr txBox="1"/>
          <p:nvPr/>
        </p:nvSpPr>
        <p:spPr>
          <a:xfrm>
            <a:off x="3763032" y="160669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 bus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385B22-1144-930F-5BF3-DCDBBC754358}"/>
              </a:ext>
            </a:extLst>
          </p:cNvPr>
          <p:cNvSpPr txBox="1"/>
          <p:nvPr/>
        </p:nvSpPr>
        <p:spPr>
          <a:xfrm>
            <a:off x="3791025" y="2487265"/>
            <a:ext cx="1882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Control signals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9451C5-365C-D224-F87B-163290659E75}"/>
              </a:ext>
            </a:extLst>
          </p:cNvPr>
          <p:cNvSpPr txBox="1">
            <a:spLocks/>
          </p:cNvSpPr>
          <p:nvPr/>
        </p:nvSpPr>
        <p:spPr>
          <a:xfrm>
            <a:off x="1477829" y="4220037"/>
            <a:ext cx="6125309" cy="199052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LDR		R1, =0x20000000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MOV32	R0, #0xDDCCBBAA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STRB	R0, [R1]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353871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94E6B0-B1BD-21E8-7A95-FAA0B820F2DC}"/>
              </a:ext>
            </a:extLst>
          </p:cNvPr>
          <p:cNvSpPr/>
          <p:nvPr/>
        </p:nvSpPr>
        <p:spPr bwMode="auto">
          <a:xfrm>
            <a:off x="6096000" y="986970"/>
            <a:ext cx="5123543" cy="3048001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333D23-A074-2253-6CF4-6709DC2E539E}"/>
              </a:ext>
            </a:extLst>
          </p:cNvPr>
          <p:cNvSpPr/>
          <p:nvPr/>
        </p:nvSpPr>
        <p:spPr bwMode="auto">
          <a:xfrm>
            <a:off x="159657" y="986972"/>
            <a:ext cx="2931886" cy="304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A Byte To RAM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8C0FBC15-BCA7-D0E1-F30F-ED3844380403}"/>
              </a:ext>
            </a:extLst>
          </p:cNvPr>
          <p:cNvSpPr/>
          <p:nvPr/>
        </p:nvSpPr>
        <p:spPr bwMode="auto">
          <a:xfrm rot="16200000">
            <a:off x="4404926" y="543539"/>
            <a:ext cx="377690" cy="3004459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840705B-7E28-0525-28BE-23AC0C83DEF1}"/>
              </a:ext>
            </a:extLst>
          </p:cNvPr>
          <p:cNvGraphicFramePr>
            <a:graphicFrameLocks noGrp="1"/>
          </p:cNvGraphicFramePr>
          <p:nvPr/>
        </p:nvGraphicFramePr>
        <p:xfrm>
          <a:off x="304799" y="1203960"/>
          <a:ext cx="25908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301792379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983834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57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06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708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5372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11C672C-FAA5-32C4-BE3B-58339DAA7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138735"/>
              </p:ext>
            </p:extLst>
          </p:nvPr>
        </p:nvGraphicFramePr>
        <p:xfrm>
          <a:off x="6259271" y="1203960"/>
          <a:ext cx="4571285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45205">
                  <a:extLst>
                    <a:ext uri="{9D8B030D-6E8A-4147-A177-3AD203B41FA5}">
                      <a16:colId xmlns:a16="http://schemas.microsoft.com/office/drawing/2014/main" val="76814152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569182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28883815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7938839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4251530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910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738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547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0x2000000C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06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70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766211"/>
                  </a:ext>
                </a:extLst>
              </a:tr>
            </a:tbl>
          </a:graphicData>
        </a:graphic>
      </p:graphicFrame>
      <p:sp>
        <p:nvSpPr>
          <p:cNvPr id="12" name="Arrow: Down 11">
            <a:extLst>
              <a:ext uri="{FF2B5EF4-FFF2-40B4-BE49-F238E27FC236}">
                <a16:creationId xmlns:a16="http://schemas.microsoft.com/office/drawing/2014/main" id="{3D65FD78-ABD8-909B-8E4D-A859599302DC}"/>
              </a:ext>
            </a:extLst>
          </p:cNvPr>
          <p:cNvSpPr/>
          <p:nvPr/>
        </p:nvSpPr>
        <p:spPr bwMode="auto">
          <a:xfrm rot="16200000">
            <a:off x="4404927" y="-25277"/>
            <a:ext cx="377690" cy="3004457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166277C-CE76-2946-D12D-AFA4509B0EED}"/>
              </a:ext>
            </a:extLst>
          </p:cNvPr>
          <p:cNvSpPr/>
          <p:nvPr/>
        </p:nvSpPr>
        <p:spPr bwMode="auto">
          <a:xfrm rot="16200000">
            <a:off x="4404926" y="1460203"/>
            <a:ext cx="377690" cy="3004459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DC6E58-0E8D-E389-65FC-C74CD8671FE6}"/>
              </a:ext>
            </a:extLst>
          </p:cNvPr>
          <p:cNvSpPr txBox="1"/>
          <p:nvPr/>
        </p:nvSpPr>
        <p:spPr>
          <a:xfrm>
            <a:off x="429846" y="3573305"/>
            <a:ext cx="2340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ARM Processor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6BBFA-33E1-47D6-DF67-734222B6F5F9}"/>
              </a:ext>
            </a:extLst>
          </p:cNvPr>
          <p:cNvSpPr txBox="1"/>
          <p:nvPr/>
        </p:nvSpPr>
        <p:spPr>
          <a:xfrm>
            <a:off x="7656425" y="3573306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Memory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72737D-76EF-E4EF-E8FE-EF66B425CB8D}"/>
              </a:ext>
            </a:extLst>
          </p:cNvPr>
          <p:cNvSpPr txBox="1"/>
          <p:nvPr/>
        </p:nvSpPr>
        <p:spPr>
          <a:xfrm>
            <a:off x="3735616" y="1021516"/>
            <a:ext cx="1609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Address bus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B3E2AE-E7CC-AF7E-9615-00BA203609A4}"/>
              </a:ext>
            </a:extLst>
          </p:cNvPr>
          <p:cNvSpPr txBox="1"/>
          <p:nvPr/>
        </p:nvSpPr>
        <p:spPr>
          <a:xfrm>
            <a:off x="3763032" y="160669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 bus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385B22-1144-930F-5BF3-DCDBBC754358}"/>
              </a:ext>
            </a:extLst>
          </p:cNvPr>
          <p:cNvSpPr txBox="1"/>
          <p:nvPr/>
        </p:nvSpPr>
        <p:spPr>
          <a:xfrm>
            <a:off x="3791025" y="2487265"/>
            <a:ext cx="1882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Control signals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9451C5-365C-D224-F87B-163290659E75}"/>
              </a:ext>
            </a:extLst>
          </p:cNvPr>
          <p:cNvSpPr txBox="1">
            <a:spLocks/>
          </p:cNvSpPr>
          <p:nvPr/>
        </p:nvSpPr>
        <p:spPr>
          <a:xfrm>
            <a:off x="1477829" y="4220037"/>
            <a:ext cx="6125309" cy="199052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LDR		R1, =0x20000000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MOV32	R0, #0xDDCCBBAA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STR		R0, [R1]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79829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94E6B0-B1BD-21E8-7A95-FAA0B820F2DC}"/>
              </a:ext>
            </a:extLst>
          </p:cNvPr>
          <p:cNvSpPr/>
          <p:nvPr/>
        </p:nvSpPr>
        <p:spPr bwMode="auto">
          <a:xfrm>
            <a:off x="6096000" y="986970"/>
            <a:ext cx="5123543" cy="5181601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Memory MAP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6BBFA-33E1-47D6-DF67-734222B6F5F9}"/>
              </a:ext>
            </a:extLst>
          </p:cNvPr>
          <p:cNvSpPr txBox="1"/>
          <p:nvPr/>
        </p:nvSpPr>
        <p:spPr>
          <a:xfrm>
            <a:off x="7656425" y="5576274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C17DC-C6A3-4CDB-EF8F-1FF0D2916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064" y="1143000"/>
            <a:ext cx="4800868" cy="423323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Stack is R/W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 It is in RAM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Starting value of OUR Stack Pointer = 0x20000400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What is it?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How to calculate?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Stack Pointer value 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R13</a:t>
            </a:r>
            <a:endParaRPr lang="en-US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dirty="0"/>
          </a:p>
          <a:p>
            <a:pPr marL="914388" lvl="1" indent="-457200">
              <a:buAutoNum type="arabicPeriod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445994-BFDF-CE21-2E9D-6D48465FBD7D}"/>
              </a:ext>
            </a:extLst>
          </p:cNvPr>
          <p:cNvSpPr/>
          <p:nvPr/>
        </p:nvSpPr>
        <p:spPr bwMode="auto">
          <a:xfrm>
            <a:off x="6248400" y="1139370"/>
            <a:ext cx="2705175" cy="732973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8FB277-F610-D487-0EDF-64575C6A6DF2}"/>
              </a:ext>
            </a:extLst>
          </p:cNvPr>
          <p:cNvSpPr txBox="1"/>
          <p:nvPr/>
        </p:nvSpPr>
        <p:spPr>
          <a:xfrm>
            <a:off x="6359275" y="1275023"/>
            <a:ext cx="2545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256K Flash ROM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50B660-5F35-A147-43F2-B4BA62135B09}"/>
              </a:ext>
            </a:extLst>
          </p:cNvPr>
          <p:cNvSpPr/>
          <p:nvPr/>
        </p:nvSpPr>
        <p:spPr bwMode="auto">
          <a:xfrm>
            <a:off x="6248400" y="2179930"/>
            <a:ext cx="2705175" cy="732973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69DCEF-DB1D-8506-6CF7-CA2B6424F0EC}"/>
              </a:ext>
            </a:extLst>
          </p:cNvPr>
          <p:cNvSpPr txBox="1"/>
          <p:nvPr/>
        </p:nvSpPr>
        <p:spPr>
          <a:xfrm>
            <a:off x="6359275" y="2315583"/>
            <a:ext cx="1502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32K RAM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A9B41A-1172-4AC4-2A65-FDF224E35D69}"/>
              </a:ext>
            </a:extLst>
          </p:cNvPr>
          <p:cNvSpPr/>
          <p:nvPr/>
        </p:nvSpPr>
        <p:spPr bwMode="auto">
          <a:xfrm>
            <a:off x="6303837" y="3357822"/>
            <a:ext cx="2705175" cy="732973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74699D-7C75-64EC-97DF-7488447C48FD}"/>
              </a:ext>
            </a:extLst>
          </p:cNvPr>
          <p:cNvSpPr txBox="1"/>
          <p:nvPr/>
        </p:nvSpPr>
        <p:spPr>
          <a:xfrm>
            <a:off x="6414712" y="3493475"/>
            <a:ext cx="13628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I/O ports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F42678-5185-0014-47B0-5BF67D03A863}"/>
              </a:ext>
            </a:extLst>
          </p:cNvPr>
          <p:cNvSpPr/>
          <p:nvPr/>
        </p:nvSpPr>
        <p:spPr bwMode="auto">
          <a:xfrm>
            <a:off x="6303837" y="4398382"/>
            <a:ext cx="2705175" cy="732973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42666A-3B4B-2CCA-85EA-92117365944D}"/>
              </a:ext>
            </a:extLst>
          </p:cNvPr>
          <p:cNvSpPr txBox="1"/>
          <p:nvPr/>
        </p:nvSpPr>
        <p:spPr>
          <a:xfrm>
            <a:off x="6414712" y="4359865"/>
            <a:ext cx="17908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Internal I/O </a:t>
            </a:r>
          </a:p>
          <a:p>
            <a:r>
              <a:rPr lang="en-US" sz="2400" dirty="0"/>
              <a:t>PPB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2C7CAA-584E-228C-5455-B5D6DBB02D1F}"/>
              </a:ext>
            </a:extLst>
          </p:cNvPr>
          <p:cNvSpPr txBox="1"/>
          <p:nvPr/>
        </p:nvSpPr>
        <p:spPr>
          <a:xfrm>
            <a:off x="9105974" y="986970"/>
            <a:ext cx="17395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0x00000000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86E016-4C32-ED97-D2FC-0944CF2F5829}"/>
              </a:ext>
            </a:extLst>
          </p:cNvPr>
          <p:cNvSpPr txBox="1"/>
          <p:nvPr/>
        </p:nvSpPr>
        <p:spPr>
          <a:xfrm>
            <a:off x="9105974" y="1505855"/>
            <a:ext cx="18036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0x0003FFFF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CDD17B-3663-7108-C80A-836AAE489D04}"/>
              </a:ext>
            </a:extLst>
          </p:cNvPr>
          <p:cNvSpPr txBox="1"/>
          <p:nvPr/>
        </p:nvSpPr>
        <p:spPr>
          <a:xfrm>
            <a:off x="9105974" y="2065768"/>
            <a:ext cx="17395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0x20000000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27E798-1BD0-13D7-1D8D-963A80CD24B7}"/>
              </a:ext>
            </a:extLst>
          </p:cNvPr>
          <p:cNvSpPr txBox="1"/>
          <p:nvPr/>
        </p:nvSpPr>
        <p:spPr>
          <a:xfrm>
            <a:off x="9105974" y="2570139"/>
            <a:ext cx="17876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0x20007FFF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C3DA55-E1CD-0FF2-8ADC-EA06C56F3B3D}"/>
              </a:ext>
            </a:extLst>
          </p:cNvPr>
          <p:cNvSpPr txBox="1"/>
          <p:nvPr/>
        </p:nvSpPr>
        <p:spPr>
          <a:xfrm>
            <a:off x="9105974" y="3181911"/>
            <a:ext cx="17395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0x40000000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FECDE0-571E-CFCE-2E86-9BE84E50D3FD}"/>
              </a:ext>
            </a:extLst>
          </p:cNvPr>
          <p:cNvSpPr txBox="1"/>
          <p:nvPr/>
        </p:nvSpPr>
        <p:spPr>
          <a:xfrm>
            <a:off x="9105974" y="3686282"/>
            <a:ext cx="18197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0x400FFFFF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37D8B8-CFC7-AFC0-05EF-1482E5160DE3}"/>
              </a:ext>
            </a:extLst>
          </p:cNvPr>
          <p:cNvSpPr txBox="1"/>
          <p:nvPr/>
        </p:nvSpPr>
        <p:spPr>
          <a:xfrm>
            <a:off x="9105974" y="4306078"/>
            <a:ext cx="17700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0xE0000000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26C824-67E4-DB88-F73E-1DD941168294}"/>
              </a:ext>
            </a:extLst>
          </p:cNvPr>
          <p:cNvSpPr txBox="1"/>
          <p:nvPr/>
        </p:nvSpPr>
        <p:spPr>
          <a:xfrm>
            <a:off x="9105974" y="4810449"/>
            <a:ext cx="18181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0xE0041FFF</a:t>
            </a:r>
          </a:p>
        </p:txBody>
      </p:sp>
    </p:spTree>
    <p:extLst>
      <p:ext uri="{BB962C8B-B14F-4D97-AF65-F5344CB8AC3E}">
        <p14:creationId xmlns:p14="http://schemas.microsoft.com/office/powerpoint/2010/main" val="34413193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94E6B0-B1BD-21E8-7A95-FAA0B820F2DC}"/>
              </a:ext>
            </a:extLst>
          </p:cNvPr>
          <p:cNvSpPr/>
          <p:nvPr/>
        </p:nvSpPr>
        <p:spPr bwMode="auto">
          <a:xfrm>
            <a:off x="6096000" y="986970"/>
            <a:ext cx="5123543" cy="3048001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333D23-A074-2253-6CF4-6709DC2E539E}"/>
              </a:ext>
            </a:extLst>
          </p:cNvPr>
          <p:cNvSpPr/>
          <p:nvPr/>
        </p:nvSpPr>
        <p:spPr bwMode="auto">
          <a:xfrm>
            <a:off x="159657" y="986972"/>
            <a:ext cx="2931886" cy="304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To Stack </a:t>
            </a:r>
            <a:r>
              <a:rPr lang="en-US" dirty="0">
                <a:sym typeface="Wingdings" panose="05000000000000000000" pitchFamily="2" charset="2"/>
              </a:rPr>
              <a:t> PUSH</a:t>
            </a:r>
            <a:endParaRPr lang="en-US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8C0FBC15-BCA7-D0E1-F30F-ED3844380403}"/>
              </a:ext>
            </a:extLst>
          </p:cNvPr>
          <p:cNvSpPr/>
          <p:nvPr/>
        </p:nvSpPr>
        <p:spPr bwMode="auto">
          <a:xfrm rot="16200000">
            <a:off x="4404926" y="543539"/>
            <a:ext cx="377690" cy="3004459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840705B-7E28-0525-28BE-23AC0C83D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192816"/>
              </p:ext>
            </p:extLst>
          </p:nvPr>
        </p:nvGraphicFramePr>
        <p:xfrm>
          <a:off x="304799" y="1203960"/>
          <a:ext cx="25908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301792379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983834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AAAA.AAAA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57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BBBB.BBBB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06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CCCC.CCCC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708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5372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11C672C-FAA5-32C4-BE3B-58339DAA7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703680"/>
              </p:ext>
            </p:extLst>
          </p:nvPr>
        </p:nvGraphicFramePr>
        <p:xfrm>
          <a:off x="6259271" y="1203960"/>
          <a:ext cx="4571285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45205">
                  <a:extLst>
                    <a:ext uri="{9D8B030D-6E8A-4147-A177-3AD203B41FA5}">
                      <a16:colId xmlns:a16="http://schemas.microsoft.com/office/drawing/2014/main" val="76814152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569182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28883815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7938839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4251530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910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738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547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0x200003F8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06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70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766211"/>
                  </a:ext>
                </a:extLst>
              </a:tr>
            </a:tbl>
          </a:graphicData>
        </a:graphic>
      </p:graphicFrame>
      <p:sp>
        <p:nvSpPr>
          <p:cNvPr id="12" name="Arrow: Down 11">
            <a:extLst>
              <a:ext uri="{FF2B5EF4-FFF2-40B4-BE49-F238E27FC236}">
                <a16:creationId xmlns:a16="http://schemas.microsoft.com/office/drawing/2014/main" id="{3D65FD78-ABD8-909B-8E4D-A859599302DC}"/>
              </a:ext>
            </a:extLst>
          </p:cNvPr>
          <p:cNvSpPr/>
          <p:nvPr/>
        </p:nvSpPr>
        <p:spPr bwMode="auto">
          <a:xfrm rot="16200000">
            <a:off x="4404927" y="-25277"/>
            <a:ext cx="377690" cy="3004457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166277C-CE76-2946-D12D-AFA4509B0EED}"/>
              </a:ext>
            </a:extLst>
          </p:cNvPr>
          <p:cNvSpPr/>
          <p:nvPr/>
        </p:nvSpPr>
        <p:spPr bwMode="auto">
          <a:xfrm rot="16200000">
            <a:off x="4404926" y="1460203"/>
            <a:ext cx="377690" cy="3004459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DC6E58-0E8D-E389-65FC-C74CD8671FE6}"/>
              </a:ext>
            </a:extLst>
          </p:cNvPr>
          <p:cNvSpPr txBox="1"/>
          <p:nvPr/>
        </p:nvSpPr>
        <p:spPr>
          <a:xfrm>
            <a:off x="429846" y="3573305"/>
            <a:ext cx="2340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ARM Processor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6BBFA-33E1-47D6-DF67-734222B6F5F9}"/>
              </a:ext>
            </a:extLst>
          </p:cNvPr>
          <p:cNvSpPr txBox="1"/>
          <p:nvPr/>
        </p:nvSpPr>
        <p:spPr>
          <a:xfrm>
            <a:off x="7656425" y="3573306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Memory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72737D-76EF-E4EF-E8FE-EF66B425CB8D}"/>
              </a:ext>
            </a:extLst>
          </p:cNvPr>
          <p:cNvSpPr txBox="1"/>
          <p:nvPr/>
        </p:nvSpPr>
        <p:spPr>
          <a:xfrm>
            <a:off x="3735616" y="1021516"/>
            <a:ext cx="1609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Address bus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B3E2AE-E7CC-AF7E-9615-00BA203609A4}"/>
              </a:ext>
            </a:extLst>
          </p:cNvPr>
          <p:cNvSpPr txBox="1"/>
          <p:nvPr/>
        </p:nvSpPr>
        <p:spPr>
          <a:xfrm>
            <a:off x="3763032" y="160669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 bus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385B22-1144-930F-5BF3-DCDBBC754358}"/>
              </a:ext>
            </a:extLst>
          </p:cNvPr>
          <p:cNvSpPr txBox="1"/>
          <p:nvPr/>
        </p:nvSpPr>
        <p:spPr>
          <a:xfrm>
            <a:off x="3791025" y="2487265"/>
            <a:ext cx="1882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Control signals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9451C5-365C-D224-F87B-163290659E75}"/>
              </a:ext>
            </a:extLst>
          </p:cNvPr>
          <p:cNvSpPr txBox="1">
            <a:spLocks/>
          </p:cNvSpPr>
          <p:nvPr/>
        </p:nvSpPr>
        <p:spPr>
          <a:xfrm>
            <a:off x="1477829" y="4220037"/>
            <a:ext cx="10452914" cy="199052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;SP = 0x2000.0400 (empty stack)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PUSH	{R0} ;SP=0x2000.03FC after PUSH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PUSH	{R1} ;SP=0x2000.03F8 after PUSH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PUSH	{R1} ;SP=0x2000.03F4 after PUSH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608567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94E6B0-B1BD-21E8-7A95-FAA0B820F2DC}"/>
              </a:ext>
            </a:extLst>
          </p:cNvPr>
          <p:cNvSpPr/>
          <p:nvPr/>
        </p:nvSpPr>
        <p:spPr bwMode="auto">
          <a:xfrm>
            <a:off x="6096000" y="986970"/>
            <a:ext cx="5123543" cy="3048001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333D23-A074-2253-6CF4-6709DC2E539E}"/>
              </a:ext>
            </a:extLst>
          </p:cNvPr>
          <p:cNvSpPr/>
          <p:nvPr/>
        </p:nvSpPr>
        <p:spPr bwMode="auto">
          <a:xfrm>
            <a:off x="159657" y="986972"/>
            <a:ext cx="2931886" cy="304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Write To Stack </a:t>
            </a:r>
            <a:r>
              <a:rPr lang="en-US" dirty="0">
                <a:sym typeface="Wingdings" panose="05000000000000000000" pitchFamily="2" charset="2"/>
              </a:rPr>
              <a:t> PUSH</a:t>
            </a:r>
            <a:endParaRPr lang="en-US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8C0FBC15-BCA7-D0E1-F30F-ED3844380403}"/>
              </a:ext>
            </a:extLst>
          </p:cNvPr>
          <p:cNvSpPr/>
          <p:nvPr/>
        </p:nvSpPr>
        <p:spPr bwMode="auto">
          <a:xfrm rot="16200000">
            <a:off x="4404926" y="543539"/>
            <a:ext cx="377690" cy="3004459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840705B-7E28-0525-28BE-23AC0C83D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76087"/>
              </p:ext>
            </p:extLst>
          </p:nvPr>
        </p:nvGraphicFramePr>
        <p:xfrm>
          <a:off x="304799" y="1203960"/>
          <a:ext cx="25908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301792379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983834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AAAA.BBBB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57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BBBB.CCCC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06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CCCC.DDDD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708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5372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11C672C-FAA5-32C4-BE3B-58339DAA7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389141"/>
              </p:ext>
            </p:extLst>
          </p:nvPr>
        </p:nvGraphicFramePr>
        <p:xfrm>
          <a:off x="6259271" y="1203960"/>
          <a:ext cx="4571285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45205">
                  <a:extLst>
                    <a:ext uri="{9D8B030D-6E8A-4147-A177-3AD203B41FA5}">
                      <a16:colId xmlns:a16="http://schemas.microsoft.com/office/drawing/2014/main" val="76814152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569182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28883815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7938839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4251530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910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738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547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0x200003F8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06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70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766211"/>
                  </a:ext>
                </a:extLst>
              </a:tr>
            </a:tbl>
          </a:graphicData>
        </a:graphic>
      </p:graphicFrame>
      <p:sp>
        <p:nvSpPr>
          <p:cNvPr id="12" name="Arrow: Down 11">
            <a:extLst>
              <a:ext uri="{FF2B5EF4-FFF2-40B4-BE49-F238E27FC236}">
                <a16:creationId xmlns:a16="http://schemas.microsoft.com/office/drawing/2014/main" id="{3D65FD78-ABD8-909B-8E4D-A859599302DC}"/>
              </a:ext>
            </a:extLst>
          </p:cNvPr>
          <p:cNvSpPr/>
          <p:nvPr/>
        </p:nvSpPr>
        <p:spPr bwMode="auto">
          <a:xfrm rot="16200000">
            <a:off x="4404927" y="-25277"/>
            <a:ext cx="377690" cy="3004457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166277C-CE76-2946-D12D-AFA4509B0EED}"/>
              </a:ext>
            </a:extLst>
          </p:cNvPr>
          <p:cNvSpPr/>
          <p:nvPr/>
        </p:nvSpPr>
        <p:spPr bwMode="auto">
          <a:xfrm rot="16200000">
            <a:off x="4404926" y="1460203"/>
            <a:ext cx="377690" cy="3004459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DC6E58-0E8D-E389-65FC-C74CD8671FE6}"/>
              </a:ext>
            </a:extLst>
          </p:cNvPr>
          <p:cNvSpPr txBox="1"/>
          <p:nvPr/>
        </p:nvSpPr>
        <p:spPr>
          <a:xfrm>
            <a:off x="429846" y="3573305"/>
            <a:ext cx="2340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ARM Processor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6BBFA-33E1-47D6-DF67-734222B6F5F9}"/>
              </a:ext>
            </a:extLst>
          </p:cNvPr>
          <p:cNvSpPr txBox="1"/>
          <p:nvPr/>
        </p:nvSpPr>
        <p:spPr>
          <a:xfrm>
            <a:off x="7656425" y="3573306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Memory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72737D-76EF-E4EF-E8FE-EF66B425CB8D}"/>
              </a:ext>
            </a:extLst>
          </p:cNvPr>
          <p:cNvSpPr txBox="1"/>
          <p:nvPr/>
        </p:nvSpPr>
        <p:spPr>
          <a:xfrm>
            <a:off x="3735616" y="1021516"/>
            <a:ext cx="1609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Address bus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B3E2AE-E7CC-AF7E-9615-00BA203609A4}"/>
              </a:ext>
            </a:extLst>
          </p:cNvPr>
          <p:cNvSpPr txBox="1"/>
          <p:nvPr/>
        </p:nvSpPr>
        <p:spPr>
          <a:xfrm>
            <a:off x="3763032" y="160669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 bus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385B22-1144-930F-5BF3-DCDBBC754358}"/>
              </a:ext>
            </a:extLst>
          </p:cNvPr>
          <p:cNvSpPr txBox="1"/>
          <p:nvPr/>
        </p:nvSpPr>
        <p:spPr>
          <a:xfrm>
            <a:off x="3791025" y="2487265"/>
            <a:ext cx="1882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Control signals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9451C5-365C-D224-F87B-163290659E75}"/>
              </a:ext>
            </a:extLst>
          </p:cNvPr>
          <p:cNvSpPr txBox="1">
            <a:spLocks/>
          </p:cNvSpPr>
          <p:nvPr/>
        </p:nvSpPr>
        <p:spPr>
          <a:xfrm>
            <a:off x="1477829" y="4220037"/>
            <a:ext cx="10452914" cy="199052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;SP = 0x2000.0400 (empty stack)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PUSH	{R0} ;SP=0x2000.03FC after PUSH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PUSH	{R1} ;SP=0x2000.03F8 after PUSH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PUSH	{R2} ;SP=0x2000.03F4 after PUSH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110851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94E6B0-B1BD-21E8-7A95-FAA0B820F2DC}"/>
              </a:ext>
            </a:extLst>
          </p:cNvPr>
          <p:cNvSpPr/>
          <p:nvPr/>
        </p:nvSpPr>
        <p:spPr bwMode="auto">
          <a:xfrm>
            <a:off x="6096000" y="986970"/>
            <a:ext cx="5123543" cy="3048001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333D23-A074-2253-6CF4-6709DC2E539E}"/>
              </a:ext>
            </a:extLst>
          </p:cNvPr>
          <p:cNvSpPr/>
          <p:nvPr/>
        </p:nvSpPr>
        <p:spPr bwMode="auto">
          <a:xfrm>
            <a:off x="159657" y="986972"/>
            <a:ext cx="2931886" cy="304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Read From Stack </a:t>
            </a:r>
            <a:r>
              <a:rPr lang="en-US" dirty="0">
                <a:sym typeface="Wingdings" panose="05000000000000000000" pitchFamily="2" charset="2"/>
              </a:rPr>
              <a:t> POP</a:t>
            </a:r>
            <a:endParaRPr lang="en-US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8C0FBC15-BCA7-D0E1-F30F-ED3844380403}"/>
              </a:ext>
            </a:extLst>
          </p:cNvPr>
          <p:cNvSpPr/>
          <p:nvPr/>
        </p:nvSpPr>
        <p:spPr bwMode="auto">
          <a:xfrm rot="16200000">
            <a:off x="4404926" y="543539"/>
            <a:ext cx="377690" cy="3004459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840705B-7E28-0525-28BE-23AC0C83D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310848"/>
              </p:ext>
            </p:extLst>
          </p:nvPr>
        </p:nvGraphicFramePr>
        <p:xfrm>
          <a:off x="304799" y="1203960"/>
          <a:ext cx="25908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301792379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983834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57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06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708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5372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11C672C-FAA5-32C4-BE3B-58339DAA7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968269"/>
              </p:ext>
            </p:extLst>
          </p:nvPr>
        </p:nvGraphicFramePr>
        <p:xfrm>
          <a:off x="6259271" y="1203960"/>
          <a:ext cx="4571285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45205">
                  <a:extLst>
                    <a:ext uri="{9D8B030D-6E8A-4147-A177-3AD203B41FA5}">
                      <a16:colId xmlns:a16="http://schemas.microsoft.com/office/drawing/2014/main" val="76814152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569182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28883815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7938839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4251530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910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738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547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0x200003F8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06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70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766211"/>
                  </a:ext>
                </a:extLst>
              </a:tr>
            </a:tbl>
          </a:graphicData>
        </a:graphic>
      </p:graphicFrame>
      <p:sp>
        <p:nvSpPr>
          <p:cNvPr id="12" name="Arrow: Down 11">
            <a:extLst>
              <a:ext uri="{FF2B5EF4-FFF2-40B4-BE49-F238E27FC236}">
                <a16:creationId xmlns:a16="http://schemas.microsoft.com/office/drawing/2014/main" id="{3D65FD78-ABD8-909B-8E4D-A859599302DC}"/>
              </a:ext>
            </a:extLst>
          </p:cNvPr>
          <p:cNvSpPr/>
          <p:nvPr/>
        </p:nvSpPr>
        <p:spPr bwMode="auto">
          <a:xfrm rot="16200000">
            <a:off x="4404927" y="-25277"/>
            <a:ext cx="377690" cy="3004457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166277C-CE76-2946-D12D-AFA4509B0EED}"/>
              </a:ext>
            </a:extLst>
          </p:cNvPr>
          <p:cNvSpPr/>
          <p:nvPr/>
        </p:nvSpPr>
        <p:spPr bwMode="auto">
          <a:xfrm rot="16200000">
            <a:off x="4404926" y="1460203"/>
            <a:ext cx="377690" cy="3004459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DC6E58-0E8D-E389-65FC-C74CD8671FE6}"/>
              </a:ext>
            </a:extLst>
          </p:cNvPr>
          <p:cNvSpPr txBox="1"/>
          <p:nvPr/>
        </p:nvSpPr>
        <p:spPr>
          <a:xfrm>
            <a:off x="429846" y="3573305"/>
            <a:ext cx="2340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ARM Processor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6BBFA-33E1-47D6-DF67-734222B6F5F9}"/>
              </a:ext>
            </a:extLst>
          </p:cNvPr>
          <p:cNvSpPr txBox="1"/>
          <p:nvPr/>
        </p:nvSpPr>
        <p:spPr>
          <a:xfrm>
            <a:off x="7656425" y="3573306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Memory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72737D-76EF-E4EF-E8FE-EF66B425CB8D}"/>
              </a:ext>
            </a:extLst>
          </p:cNvPr>
          <p:cNvSpPr txBox="1"/>
          <p:nvPr/>
        </p:nvSpPr>
        <p:spPr>
          <a:xfrm>
            <a:off x="3735616" y="1021516"/>
            <a:ext cx="1609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Address bus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B3E2AE-E7CC-AF7E-9615-00BA203609A4}"/>
              </a:ext>
            </a:extLst>
          </p:cNvPr>
          <p:cNvSpPr txBox="1"/>
          <p:nvPr/>
        </p:nvSpPr>
        <p:spPr>
          <a:xfrm>
            <a:off x="3763032" y="160669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Data bus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385B22-1144-930F-5BF3-DCDBBC754358}"/>
              </a:ext>
            </a:extLst>
          </p:cNvPr>
          <p:cNvSpPr txBox="1"/>
          <p:nvPr/>
        </p:nvSpPr>
        <p:spPr>
          <a:xfrm>
            <a:off x="3791025" y="2487265"/>
            <a:ext cx="1882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Control signals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9451C5-365C-D224-F87B-163290659E75}"/>
              </a:ext>
            </a:extLst>
          </p:cNvPr>
          <p:cNvSpPr txBox="1">
            <a:spLocks/>
          </p:cNvSpPr>
          <p:nvPr/>
        </p:nvSpPr>
        <p:spPr>
          <a:xfrm>
            <a:off x="1477829" y="4220037"/>
            <a:ext cx="10452914" cy="199052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;SP = 0x2000.03F4 (current pointer)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POP		{R2} ;SP=0x2000.03F8 after POP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POP		{R1} ;SP=0x2000.03FC after POP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POP		{R0} ;SP=0x2000.0400 after POP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896956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Stack FAQ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CAF77-7637-A2F1-BEE2-FE2E54378B36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10726058" cy="524608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What is STACK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latin typeface="+mj-lt"/>
                <a:cs typeface="Courier New" panose="02070309020205020404" pitchFamily="49" charset="0"/>
              </a:rPr>
              <a:t>Read/Write memory. It is specifically reserved for </a:t>
            </a:r>
            <a:r>
              <a:rPr lang="en-US" sz="2400" b="1" kern="0" dirty="0">
                <a:latin typeface="+mj-lt"/>
                <a:cs typeface="Courier New" panose="02070309020205020404" pitchFamily="49" charset="0"/>
              </a:rPr>
              <a:t>very</a:t>
            </a:r>
            <a:r>
              <a:rPr lang="en-US" sz="2400" kern="0" dirty="0">
                <a:latin typeface="+mj-lt"/>
                <a:cs typeface="Courier New" panose="02070309020205020404" pitchFamily="49" charset="0"/>
              </a:rPr>
              <a:t> short-term data storage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2400" kern="0" dirty="0">
              <a:latin typeface="+mj-lt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600" kern="0" dirty="0">
                <a:latin typeface="+mj-lt"/>
                <a:cs typeface="Courier New" panose="02070309020205020404" pitchFamily="49" charset="0"/>
              </a:rPr>
              <a:t>Where is it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latin typeface="+mj-lt"/>
                <a:cs typeface="Courier New" panose="02070309020205020404" pitchFamily="49" charset="0"/>
              </a:rPr>
              <a:t>RAM, given it is read/write memory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600" kern="0" dirty="0">
              <a:latin typeface="+mj-lt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600" kern="0" dirty="0">
                <a:latin typeface="+mj-lt"/>
                <a:cs typeface="Courier New" panose="02070309020205020404" pitchFamily="49" charset="0"/>
              </a:rPr>
              <a:t>How is it created?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latin typeface="+mj-lt"/>
                <a:cs typeface="Courier New" panose="02070309020205020404" pitchFamily="49" charset="0"/>
              </a:rPr>
              <a:t>Using directives, as configured in the </a:t>
            </a:r>
            <a:r>
              <a:rPr lang="en-US" sz="2400" kern="0" dirty="0" err="1">
                <a:solidFill>
                  <a:srgbClr val="0000FF"/>
                </a:solidFill>
                <a:latin typeface="+mj-lt"/>
                <a:cs typeface="Courier New" panose="02070309020205020404" pitchFamily="49" charset="0"/>
              </a:rPr>
              <a:t>Startup.s</a:t>
            </a:r>
            <a:r>
              <a:rPr lang="en-US" sz="2400" kern="0" dirty="0">
                <a:latin typeface="+mj-lt"/>
                <a:cs typeface="Courier New" panose="02070309020205020404" pitchFamily="49" charset="0"/>
              </a:rPr>
              <a:t> file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</a:t>
            </a:r>
            <a:r>
              <a:rPr lang="en-US" sz="2400" kern="0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400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</a:t>
            </a:r>
            <a:r>
              <a:rPr lang="en-US" sz="2400" kern="0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400" b="1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SPACE</a:t>
            </a:r>
            <a:r>
              <a:rPr lang="en-US" sz="2400" kern="0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400" kern="0" dirty="0">
                <a:solidFill>
                  <a:srgbClr val="0000FF"/>
                </a:solidFill>
                <a:latin typeface="+mj-lt"/>
                <a:cs typeface="Courier New" panose="02070309020205020404" pitchFamily="49" charset="0"/>
              </a:rPr>
              <a:t>__</a:t>
            </a:r>
            <a:r>
              <a:rPr lang="en-US" sz="2400" kern="0" dirty="0" err="1">
                <a:solidFill>
                  <a:srgbClr val="0000FF"/>
                </a:solidFill>
                <a:latin typeface="+mj-lt"/>
                <a:cs typeface="Courier New" panose="02070309020205020404" pitchFamily="49" charset="0"/>
              </a:rPr>
              <a:t>initial_sp</a:t>
            </a:r>
            <a:endParaRPr lang="en-US" sz="2400" kern="0" dirty="0">
              <a:solidFill>
                <a:srgbClr val="0000FF"/>
              </a:solidFill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4404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Stack FAQ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CAF77-7637-A2F1-BEE2-FE2E54378B36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10726058" cy="524608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How is it used?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Since you have very few registers, the stack can work as an extension of the register bank. But unlike registers, it is located off of the Microprocessor core (in RAM)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The stack is used with subroutines to save the state of the register bank so that subroutines can freely use the registers in their calculations.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How do you access the stack?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Through the PUSH and POP instructions.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Why is the stack so weird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Last In, First Out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latin typeface="+mj-lt"/>
                <a:cs typeface="Courier New" panose="02070309020205020404" pitchFamily="49" charset="0"/>
              </a:rPr>
              <a:t>It stores data backwards.</a:t>
            </a:r>
          </a:p>
        </p:txBody>
      </p:sp>
    </p:spTree>
    <p:extLst>
      <p:ext uri="{BB962C8B-B14F-4D97-AF65-F5344CB8AC3E}">
        <p14:creationId xmlns:p14="http://schemas.microsoft.com/office/powerpoint/2010/main" val="5979297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94E6B0-B1BD-21E8-7A95-FAA0B820F2DC}"/>
              </a:ext>
            </a:extLst>
          </p:cNvPr>
          <p:cNvSpPr/>
          <p:nvPr/>
        </p:nvSpPr>
        <p:spPr bwMode="auto">
          <a:xfrm>
            <a:off x="6096000" y="986970"/>
            <a:ext cx="5123543" cy="3048001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333D23-A074-2253-6CF4-6709DC2E539E}"/>
              </a:ext>
            </a:extLst>
          </p:cNvPr>
          <p:cNvSpPr/>
          <p:nvPr/>
        </p:nvSpPr>
        <p:spPr bwMode="auto">
          <a:xfrm>
            <a:off x="159657" y="986972"/>
            <a:ext cx="2931886" cy="304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Stack: Before Push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840705B-7E28-0525-28BE-23AC0C83DEF1}"/>
              </a:ext>
            </a:extLst>
          </p:cNvPr>
          <p:cNvGraphicFramePr>
            <a:graphicFrameLocks noGrp="1"/>
          </p:cNvGraphicFramePr>
          <p:nvPr/>
        </p:nvGraphicFramePr>
        <p:xfrm>
          <a:off x="304799" y="1203960"/>
          <a:ext cx="25908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301792379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983834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0x00112233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57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0x44556677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06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0xAABBCCDD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708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0x12345678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5372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11C672C-FAA5-32C4-BE3B-58339DAA798E}"/>
              </a:ext>
            </a:extLst>
          </p:cNvPr>
          <p:cNvGraphicFramePr>
            <a:graphicFrameLocks noGrp="1"/>
          </p:cNvGraphicFramePr>
          <p:nvPr/>
        </p:nvGraphicFramePr>
        <p:xfrm>
          <a:off x="6259271" y="1203960"/>
          <a:ext cx="4571285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45205">
                  <a:extLst>
                    <a:ext uri="{9D8B030D-6E8A-4147-A177-3AD203B41FA5}">
                      <a16:colId xmlns:a16="http://schemas.microsoft.com/office/drawing/2014/main" val="76814152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569182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28883815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7938839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4251530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910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738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547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0x200003F8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06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70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76621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BDC6E58-0E8D-E389-65FC-C74CD8671FE6}"/>
              </a:ext>
            </a:extLst>
          </p:cNvPr>
          <p:cNvSpPr txBox="1"/>
          <p:nvPr/>
        </p:nvSpPr>
        <p:spPr>
          <a:xfrm>
            <a:off x="429846" y="3573305"/>
            <a:ext cx="2340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ARM Processor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6BBFA-33E1-47D6-DF67-734222B6F5F9}"/>
              </a:ext>
            </a:extLst>
          </p:cNvPr>
          <p:cNvSpPr txBox="1"/>
          <p:nvPr/>
        </p:nvSpPr>
        <p:spPr>
          <a:xfrm>
            <a:off x="7656425" y="3573306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Memory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9451C5-365C-D224-F87B-163290659E75}"/>
              </a:ext>
            </a:extLst>
          </p:cNvPr>
          <p:cNvSpPr txBox="1">
            <a:spLocks/>
          </p:cNvSpPr>
          <p:nvPr/>
        </p:nvSpPr>
        <p:spPr>
          <a:xfrm>
            <a:off x="304799" y="4251959"/>
            <a:ext cx="4151087" cy="199052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 Code PUSH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PUSH   {R0}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PUSH   {R1}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PUSH   {R2}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B35E5-40FE-5F5E-33F3-CC282339D21B}"/>
              </a:ext>
            </a:extLst>
          </p:cNvPr>
          <p:cNvSpPr txBox="1">
            <a:spLocks/>
          </p:cNvSpPr>
          <p:nvPr/>
        </p:nvSpPr>
        <p:spPr>
          <a:xfrm>
            <a:off x="5593442" y="4010609"/>
            <a:ext cx="5626101" cy="48715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;SP = 0x2000.0400 at reset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27FD7DBF-DF42-D861-3FC6-1739C8DDD453}"/>
              </a:ext>
            </a:extLst>
          </p:cNvPr>
          <p:cNvSpPr/>
          <p:nvPr/>
        </p:nvSpPr>
        <p:spPr bwMode="auto">
          <a:xfrm>
            <a:off x="3208149" y="1172771"/>
            <a:ext cx="2691907" cy="487150"/>
          </a:xfrm>
          <a:prstGeom prst="leftRightArrow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8D8F539-8320-F279-CF6A-B4467A73A47A}"/>
              </a:ext>
            </a:extLst>
          </p:cNvPr>
          <p:cNvCxnSpPr/>
          <p:nvPr/>
        </p:nvCxnSpPr>
        <p:spPr bwMode="auto">
          <a:xfrm>
            <a:off x="5091732" y="3243082"/>
            <a:ext cx="1167539" cy="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lg" len="lg"/>
            <a:tailEnd type="arrow" w="lg" len="lg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AE9666-A7BE-3210-C76F-0121FFDEA1D6}"/>
              </a:ext>
            </a:extLst>
          </p:cNvPr>
          <p:cNvCxnSpPr/>
          <p:nvPr/>
        </p:nvCxnSpPr>
        <p:spPr bwMode="auto">
          <a:xfrm>
            <a:off x="5091732" y="2887482"/>
            <a:ext cx="1167539" cy="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/>
            </a:solidFill>
            <a:prstDash val="sysDot"/>
            <a:round/>
            <a:headEnd type="none" w="lg" len="lg"/>
            <a:tailEnd type="arrow" w="lg" len="lg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A1C572D-5BA7-235F-AEA5-AC15BFF57450}"/>
              </a:ext>
            </a:extLst>
          </p:cNvPr>
          <p:cNvCxnSpPr/>
          <p:nvPr/>
        </p:nvCxnSpPr>
        <p:spPr bwMode="auto">
          <a:xfrm>
            <a:off x="5091732" y="2531882"/>
            <a:ext cx="1167539" cy="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/>
            </a:solidFill>
            <a:prstDash val="sysDot"/>
            <a:round/>
            <a:headEnd type="none" w="lg" len="lg"/>
            <a:tailEnd type="arrow" w="lg" len="lg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8B49B0D-9325-37BC-E78B-7ED4272EC8AE}"/>
              </a:ext>
            </a:extLst>
          </p:cNvPr>
          <p:cNvCxnSpPr/>
          <p:nvPr/>
        </p:nvCxnSpPr>
        <p:spPr bwMode="auto">
          <a:xfrm>
            <a:off x="5091732" y="2103710"/>
            <a:ext cx="1167539" cy="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/>
            </a:solidFill>
            <a:prstDash val="sysDot"/>
            <a:round/>
            <a:headEnd type="none" w="lg" len="lg"/>
            <a:tailEnd type="arrow" w="lg" len="lg"/>
          </a:ln>
          <a:effectLst/>
        </p:spPr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D50DF9F-F548-15E9-FC93-26E09EAB899D}"/>
              </a:ext>
            </a:extLst>
          </p:cNvPr>
          <p:cNvSpPr txBox="1">
            <a:spLocks/>
          </p:cNvSpPr>
          <p:nvPr/>
        </p:nvSpPr>
        <p:spPr>
          <a:xfrm>
            <a:off x="3517898" y="4251959"/>
            <a:ext cx="4151087" cy="199052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 Code POP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POP   {R2}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POP   {R1}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POP   {R0}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516255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94E6B0-B1BD-21E8-7A95-FAA0B820F2DC}"/>
              </a:ext>
            </a:extLst>
          </p:cNvPr>
          <p:cNvSpPr/>
          <p:nvPr/>
        </p:nvSpPr>
        <p:spPr bwMode="auto">
          <a:xfrm>
            <a:off x="6096000" y="986970"/>
            <a:ext cx="5123543" cy="3048001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333D23-A074-2253-6CF4-6709DC2E539E}"/>
              </a:ext>
            </a:extLst>
          </p:cNvPr>
          <p:cNvSpPr/>
          <p:nvPr/>
        </p:nvSpPr>
        <p:spPr bwMode="auto">
          <a:xfrm>
            <a:off x="159657" y="986972"/>
            <a:ext cx="2931886" cy="304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Stack: After Push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840705B-7E28-0525-28BE-23AC0C83D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83513"/>
              </p:ext>
            </p:extLst>
          </p:nvPr>
        </p:nvGraphicFramePr>
        <p:xfrm>
          <a:off x="304799" y="1203960"/>
          <a:ext cx="25908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301792379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983834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0x00112233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57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0x44556677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06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0xAABBCCDD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708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0x12345678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5372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11C672C-FAA5-32C4-BE3B-58339DAA7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298466"/>
              </p:ext>
            </p:extLst>
          </p:nvPr>
        </p:nvGraphicFramePr>
        <p:xfrm>
          <a:off x="6259271" y="1203960"/>
          <a:ext cx="4571285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45205">
                  <a:extLst>
                    <a:ext uri="{9D8B030D-6E8A-4147-A177-3AD203B41FA5}">
                      <a16:colId xmlns:a16="http://schemas.microsoft.com/office/drawing/2014/main" val="76814152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569182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28883815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7938839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4251530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910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738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547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0x200003F8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06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70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76621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BDC6E58-0E8D-E389-65FC-C74CD8671FE6}"/>
              </a:ext>
            </a:extLst>
          </p:cNvPr>
          <p:cNvSpPr txBox="1"/>
          <p:nvPr/>
        </p:nvSpPr>
        <p:spPr>
          <a:xfrm>
            <a:off x="429846" y="3573305"/>
            <a:ext cx="2340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ARM Processor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6BBFA-33E1-47D6-DF67-734222B6F5F9}"/>
              </a:ext>
            </a:extLst>
          </p:cNvPr>
          <p:cNvSpPr txBox="1"/>
          <p:nvPr/>
        </p:nvSpPr>
        <p:spPr>
          <a:xfrm>
            <a:off x="7656425" y="3573306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Memory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9451C5-365C-D224-F87B-163290659E75}"/>
              </a:ext>
            </a:extLst>
          </p:cNvPr>
          <p:cNvSpPr txBox="1">
            <a:spLocks/>
          </p:cNvSpPr>
          <p:nvPr/>
        </p:nvSpPr>
        <p:spPr>
          <a:xfrm>
            <a:off x="304799" y="4251959"/>
            <a:ext cx="4151087" cy="199052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 Code PUSH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PUSH   {R0}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PUSH   {R1}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PUSH   {R2}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B35E5-40FE-5F5E-33F3-CC282339D21B}"/>
              </a:ext>
            </a:extLst>
          </p:cNvPr>
          <p:cNvSpPr txBox="1">
            <a:spLocks/>
          </p:cNvSpPr>
          <p:nvPr/>
        </p:nvSpPr>
        <p:spPr>
          <a:xfrm>
            <a:off x="5593442" y="4010609"/>
            <a:ext cx="5988958" cy="48715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;SP = 0x2000.03F4 after PUSH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27FD7DBF-DF42-D861-3FC6-1739C8DDD453}"/>
              </a:ext>
            </a:extLst>
          </p:cNvPr>
          <p:cNvSpPr/>
          <p:nvPr/>
        </p:nvSpPr>
        <p:spPr bwMode="auto">
          <a:xfrm>
            <a:off x="3208149" y="1172771"/>
            <a:ext cx="2691907" cy="487150"/>
          </a:xfrm>
          <a:prstGeom prst="leftRightArrow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8B49B0D-9325-37BC-E78B-7ED4272EC8AE}"/>
              </a:ext>
            </a:extLst>
          </p:cNvPr>
          <p:cNvCxnSpPr/>
          <p:nvPr/>
        </p:nvCxnSpPr>
        <p:spPr bwMode="auto">
          <a:xfrm>
            <a:off x="5091732" y="2103710"/>
            <a:ext cx="1167539" cy="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lg" len="lg"/>
            <a:tailEnd type="arrow" w="lg" len="lg"/>
          </a:ln>
          <a:effectLst/>
        </p:spPr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D50DF9F-F548-15E9-FC93-26E09EAB899D}"/>
              </a:ext>
            </a:extLst>
          </p:cNvPr>
          <p:cNvSpPr txBox="1">
            <a:spLocks/>
          </p:cNvSpPr>
          <p:nvPr/>
        </p:nvSpPr>
        <p:spPr>
          <a:xfrm>
            <a:off x="3517898" y="4251959"/>
            <a:ext cx="4151087" cy="199052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 Code POP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POP   {R2}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POP   {R1}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POP   {R0}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5103466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94E6B0-B1BD-21E8-7A95-FAA0B820F2DC}"/>
              </a:ext>
            </a:extLst>
          </p:cNvPr>
          <p:cNvSpPr/>
          <p:nvPr/>
        </p:nvSpPr>
        <p:spPr bwMode="auto">
          <a:xfrm>
            <a:off x="6096000" y="986970"/>
            <a:ext cx="5123543" cy="3048001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333D23-A074-2253-6CF4-6709DC2E539E}"/>
              </a:ext>
            </a:extLst>
          </p:cNvPr>
          <p:cNvSpPr/>
          <p:nvPr/>
        </p:nvSpPr>
        <p:spPr bwMode="auto">
          <a:xfrm>
            <a:off x="159657" y="986972"/>
            <a:ext cx="2931886" cy="304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Stack: Before POP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840705B-7E28-0525-28BE-23AC0C83D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131512"/>
              </p:ext>
            </p:extLst>
          </p:nvPr>
        </p:nvGraphicFramePr>
        <p:xfrm>
          <a:off x="304799" y="1203960"/>
          <a:ext cx="25908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301792379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983834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57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06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708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0x12345678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5372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11C672C-FAA5-32C4-BE3B-58339DAA798E}"/>
              </a:ext>
            </a:extLst>
          </p:cNvPr>
          <p:cNvGraphicFramePr>
            <a:graphicFrameLocks noGrp="1"/>
          </p:cNvGraphicFramePr>
          <p:nvPr/>
        </p:nvGraphicFramePr>
        <p:xfrm>
          <a:off x="6259271" y="1203960"/>
          <a:ext cx="4571285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45205">
                  <a:extLst>
                    <a:ext uri="{9D8B030D-6E8A-4147-A177-3AD203B41FA5}">
                      <a16:colId xmlns:a16="http://schemas.microsoft.com/office/drawing/2014/main" val="76814152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569182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28883815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7938839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4251530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910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738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547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0x200003F8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06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70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76621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BDC6E58-0E8D-E389-65FC-C74CD8671FE6}"/>
              </a:ext>
            </a:extLst>
          </p:cNvPr>
          <p:cNvSpPr txBox="1"/>
          <p:nvPr/>
        </p:nvSpPr>
        <p:spPr>
          <a:xfrm>
            <a:off x="429846" y="3573305"/>
            <a:ext cx="2340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ARM Processor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6BBFA-33E1-47D6-DF67-734222B6F5F9}"/>
              </a:ext>
            </a:extLst>
          </p:cNvPr>
          <p:cNvSpPr txBox="1"/>
          <p:nvPr/>
        </p:nvSpPr>
        <p:spPr>
          <a:xfrm>
            <a:off x="7656425" y="3573306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Memory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9451C5-365C-D224-F87B-163290659E75}"/>
              </a:ext>
            </a:extLst>
          </p:cNvPr>
          <p:cNvSpPr txBox="1">
            <a:spLocks/>
          </p:cNvSpPr>
          <p:nvPr/>
        </p:nvSpPr>
        <p:spPr>
          <a:xfrm>
            <a:off x="304799" y="4251959"/>
            <a:ext cx="4151087" cy="199052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 Code PUSH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PUSH   {R0}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PUSH   {R1}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PUSH   {R2}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B35E5-40FE-5F5E-33F3-CC282339D21B}"/>
              </a:ext>
            </a:extLst>
          </p:cNvPr>
          <p:cNvSpPr txBox="1">
            <a:spLocks/>
          </p:cNvSpPr>
          <p:nvPr/>
        </p:nvSpPr>
        <p:spPr>
          <a:xfrm>
            <a:off x="5593442" y="4010609"/>
            <a:ext cx="5988958" cy="48715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;SP = 0x2000.03F4 before POP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27FD7DBF-DF42-D861-3FC6-1739C8DDD453}"/>
              </a:ext>
            </a:extLst>
          </p:cNvPr>
          <p:cNvSpPr/>
          <p:nvPr/>
        </p:nvSpPr>
        <p:spPr bwMode="auto">
          <a:xfrm>
            <a:off x="3208149" y="1172771"/>
            <a:ext cx="2691907" cy="487150"/>
          </a:xfrm>
          <a:prstGeom prst="leftRightArrow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8B49B0D-9325-37BC-E78B-7ED4272EC8AE}"/>
              </a:ext>
            </a:extLst>
          </p:cNvPr>
          <p:cNvCxnSpPr/>
          <p:nvPr/>
        </p:nvCxnSpPr>
        <p:spPr bwMode="auto">
          <a:xfrm>
            <a:off x="5091732" y="2103710"/>
            <a:ext cx="1167539" cy="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lg" len="lg"/>
            <a:tailEnd type="arrow" w="lg" len="lg"/>
          </a:ln>
          <a:effectLst/>
        </p:spPr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D50DF9F-F548-15E9-FC93-26E09EAB899D}"/>
              </a:ext>
            </a:extLst>
          </p:cNvPr>
          <p:cNvSpPr txBox="1">
            <a:spLocks/>
          </p:cNvSpPr>
          <p:nvPr/>
        </p:nvSpPr>
        <p:spPr>
          <a:xfrm>
            <a:off x="3517898" y="4251959"/>
            <a:ext cx="4151087" cy="199052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 Code POP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POP   {R2}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POP   {R1}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POP   {R0}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D96680-2FF6-9EAB-D39B-A870191186AF}"/>
              </a:ext>
            </a:extLst>
          </p:cNvPr>
          <p:cNvCxnSpPr/>
          <p:nvPr/>
        </p:nvCxnSpPr>
        <p:spPr bwMode="auto">
          <a:xfrm>
            <a:off x="5091732" y="3243082"/>
            <a:ext cx="1167539" cy="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/>
            </a:solidFill>
            <a:prstDash val="sysDot"/>
            <a:round/>
            <a:headEnd type="none" w="lg" len="lg"/>
            <a:tailEnd type="arrow" w="lg" len="lg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6B2E82E-41E7-37C0-C50D-07CA883A4944}"/>
              </a:ext>
            </a:extLst>
          </p:cNvPr>
          <p:cNvCxnSpPr/>
          <p:nvPr/>
        </p:nvCxnSpPr>
        <p:spPr bwMode="auto">
          <a:xfrm>
            <a:off x="5091732" y="2887482"/>
            <a:ext cx="1167539" cy="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/>
            </a:solidFill>
            <a:prstDash val="sysDot"/>
            <a:round/>
            <a:headEnd type="none" w="lg" len="lg"/>
            <a:tailEnd type="arrow" w="lg" len="lg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378075C-5310-F5FF-C993-E0FA7A5BE54B}"/>
              </a:ext>
            </a:extLst>
          </p:cNvPr>
          <p:cNvCxnSpPr/>
          <p:nvPr/>
        </p:nvCxnSpPr>
        <p:spPr bwMode="auto">
          <a:xfrm>
            <a:off x="5091732" y="2531882"/>
            <a:ext cx="1167539" cy="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/>
            </a:solidFill>
            <a:prstDash val="sysDot"/>
            <a:round/>
            <a:headEnd type="none" w="lg" len="lg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8998516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94E6B0-B1BD-21E8-7A95-FAA0B820F2DC}"/>
              </a:ext>
            </a:extLst>
          </p:cNvPr>
          <p:cNvSpPr/>
          <p:nvPr/>
        </p:nvSpPr>
        <p:spPr bwMode="auto">
          <a:xfrm>
            <a:off x="6096000" y="986970"/>
            <a:ext cx="5123543" cy="3048001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333D23-A074-2253-6CF4-6709DC2E539E}"/>
              </a:ext>
            </a:extLst>
          </p:cNvPr>
          <p:cNvSpPr/>
          <p:nvPr/>
        </p:nvSpPr>
        <p:spPr bwMode="auto">
          <a:xfrm>
            <a:off x="159657" y="986972"/>
            <a:ext cx="2931886" cy="304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Stack: After POP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840705B-7E28-0525-28BE-23AC0C83D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531888"/>
              </p:ext>
            </p:extLst>
          </p:nvPr>
        </p:nvGraphicFramePr>
        <p:xfrm>
          <a:off x="304799" y="1203960"/>
          <a:ext cx="25908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301792379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983834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0x00112233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57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0x44556677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06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0xAABBCCDD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708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0x12345678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5372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11C672C-FAA5-32C4-BE3B-58339DAA798E}"/>
              </a:ext>
            </a:extLst>
          </p:cNvPr>
          <p:cNvGraphicFramePr>
            <a:graphicFrameLocks noGrp="1"/>
          </p:cNvGraphicFramePr>
          <p:nvPr/>
        </p:nvGraphicFramePr>
        <p:xfrm>
          <a:off x="6259271" y="1203960"/>
          <a:ext cx="4571285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45205">
                  <a:extLst>
                    <a:ext uri="{9D8B030D-6E8A-4147-A177-3AD203B41FA5}">
                      <a16:colId xmlns:a16="http://schemas.microsoft.com/office/drawing/2014/main" val="76814152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569182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28883815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7938839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4251530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910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738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547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0x200003F8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06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70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76621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BDC6E58-0E8D-E389-65FC-C74CD8671FE6}"/>
              </a:ext>
            </a:extLst>
          </p:cNvPr>
          <p:cNvSpPr txBox="1"/>
          <p:nvPr/>
        </p:nvSpPr>
        <p:spPr>
          <a:xfrm>
            <a:off x="429846" y="3573305"/>
            <a:ext cx="2340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ARM Processor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6BBFA-33E1-47D6-DF67-734222B6F5F9}"/>
              </a:ext>
            </a:extLst>
          </p:cNvPr>
          <p:cNvSpPr txBox="1"/>
          <p:nvPr/>
        </p:nvSpPr>
        <p:spPr>
          <a:xfrm>
            <a:off x="7656425" y="3573306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Memory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9451C5-365C-D224-F87B-163290659E75}"/>
              </a:ext>
            </a:extLst>
          </p:cNvPr>
          <p:cNvSpPr txBox="1">
            <a:spLocks/>
          </p:cNvSpPr>
          <p:nvPr/>
        </p:nvSpPr>
        <p:spPr>
          <a:xfrm>
            <a:off x="304799" y="4251959"/>
            <a:ext cx="4151087" cy="199052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 Code PUSH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PUSH   {R0}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PUSH   {R1}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PUSH   {R2}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B35E5-40FE-5F5E-33F3-CC282339D21B}"/>
              </a:ext>
            </a:extLst>
          </p:cNvPr>
          <p:cNvSpPr txBox="1">
            <a:spLocks/>
          </p:cNvSpPr>
          <p:nvPr/>
        </p:nvSpPr>
        <p:spPr>
          <a:xfrm>
            <a:off x="5593442" y="4010609"/>
            <a:ext cx="5988958" cy="48715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;SP = 0x2000.0400 after POP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27FD7DBF-DF42-D861-3FC6-1739C8DDD453}"/>
              </a:ext>
            </a:extLst>
          </p:cNvPr>
          <p:cNvSpPr/>
          <p:nvPr/>
        </p:nvSpPr>
        <p:spPr bwMode="auto">
          <a:xfrm>
            <a:off x="3208149" y="1172771"/>
            <a:ext cx="2691907" cy="487150"/>
          </a:xfrm>
          <a:prstGeom prst="leftRightArrow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D50DF9F-F548-15E9-FC93-26E09EAB899D}"/>
              </a:ext>
            </a:extLst>
          </p:cNvPr>
          <p:cNvSpPr txBox="1">
            <a:spLocks/>
          </p:cNvSpPr>
          <p:nvPr/>
        </p:nvSpPr>
        <p:spPr>
          <a:xfrm>
            <a:off x="3517898" y="4251959"/>
            <a:ext cx="4151087" cy="199052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 Code POP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POP   {R2}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POP   {R1}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POP   {R0}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D96680-2FF6-9EAB-D39B-A870191186AF}"/>
              </a:ext>
            </a:extLst>
          </p:cNvPr>
          <p:cNvCxnSpPr/>
          <p:nvPr/>
        </p:nvCxnSpPr>
        <p:spPr bwMode="auto">
          <a:xfrm>
            <a:off x="5091732" y="3243082"/>
            <a:ext cx="1167539" cy="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lg" len="lg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6923690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94E6B0-B1BD-21E8-7A95-FAA0B820F2DC}"/>
              </a:ext>
            </a:extLst>
          </p:cNvPr>
          <p:cNvSpPr/>
          <p:nvPr/>
        </p:nvSpPr>
        <p:spPr bwMode="auto">
          <a:xfrm>
            <a:off x="6096000" y="986970"/>
            <a:ext cx="5123543" cy="3048001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333D23-A074-2253-6CF4-6709DC2E539E}"/>
              </a:ext>
            </a:extLst>
          </p:cNvPr>
          <p:cNvSpPr/>
          <p:nvPr/>
        </p:nvSpPr>
        <p:spPr bwMode="auto">
          <a:xfrm>
            <a:off x="159657" y="986972"/>
            <a:ext cx="2931886" cy="304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Stack: PUSH/POP Multiple Registers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840705B-7E28-0525-28BE-23AC0C83D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411515"/>
              </p:ext>
            </p:extLst>
          </p:nvPr>
        </p:nvGraphicFramePr>
        <p:xfrm>
          <a:off x="304799" y="1203960"/>
          <a:ext cx="2590800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301792379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983834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0x00112233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57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0x44556677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06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0xAABBCCDD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708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0x12345678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53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1296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11C672C-FAA5-32C4-BE3B-58339DAA7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772879"/>
              </p:ext>
            </p:extLst>
          </p:nvPr>
        </p:nvGraphicFramePr>
        <p:xfrm>
          <a:off x="6259271" y="1203960"/>
          <a:ext cx="4571285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45205">
                  <a:extLst>
                    <a:ext uri="{9D8B030D-6E8A-4147-A177-3AD203B41FA5}">
                      <a16:colId xmlns:a16="http://schemas.microsoft.com/office/drawing/2014/main" val="76814152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569182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28883815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7938839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4251530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910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738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547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0x200003F8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06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70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76621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BDC6E58-0E8D-E389-65FC-C74CD8671FE6}"/>
              </a:ext>
            </a:extLst>
          </p:cNvPr>
          <p:cNvSpPr txBox="1"/>
          <p:nvPr/>
        </p:nvSpPr>
        <p:spPr>
          <a:xfrm>
            <a:off x="429846" y="3573305"/>
            <a:ext cx="2340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ARM Processor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6BBFA-33E1-47D6-DF67-734222B6F5F9}"/>
              </a:ext>
            </a:extLst>
          </p:cNvPr>
          <p:cNvSpPr txBox="1"/>
          <p:nvPr/>
        </p:nvSpPr>
        <p:spPr>
          <a:xfrm>
            <a:off x="7656425" y="3573306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Memory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9451C5-365C-D224-F87B-163290659E75}"/>
              </a:ext>
            </a:extLst>
          </p:cNvPr>
          <p:cNvSpPr txBox="1">
            <a:spLocks/>
          </p:cNvSpPr>
          <p:nvPr/>
        </p:nvSpPr>
        <p:spPr>
          <a:xfrm>
            <a:off x="304799" y="4251959"/>
            <a:ext cx="5288643" cy="199052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 Code PUSH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PUSH   {R0-R1, R3, R2}</a:t>
            </a:r>
          </a:p>
          <a:p>
            <a:pPr marL="0" indent="0">
              <a:buNone/>
            </a:pPr>
            <a:endParaRPr lang="en-US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27FD7DBF-DF42-D861-3FC6-1739C8DDD453}"/>
              </a:ext>
            </a:extLst>
          </p:cNvPr>
          <p:cNvSpPr/>
          <p:nvPr/>
        </p:nvSpPr>
        <p:spPr bwMode="auto">
          <a:xfrm>
            <a:off x="3208149" y="1172771"/>
            <a:ext cx="2691907" cy="487150"/>
          </a:xfrm>
          <a:prstGeom prst="leftRightArrow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D96680-2FF6-9EAB-D39B-A870191186AF}"/>
              </a:ext>
            </a:extLst>
          </p:cNvPr>
          <p:cNvCxnSpPr/>
          <p:nvPr/>
        </p:nvCxnSpPr>
        <p:spPr bwMode="auto">
          <a:xfrm>
            <a:off x="5091732" y="3243082"/>
            <a:ext cx="1167539" cy="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lg" len="lg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0387197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94E6B0-B1BD-21E8-7A95-FAA0B820F2DC}"/>
              </a:ext>
            </a:extLst>
          </p:cNvPr>
          <p:cNvSpPr/>
          <p:nvPr/>
        </p:nvSpPr>
        <p:spPr bwMode="auto">
          <a:xfrm>
            <a:off x="6096000" y="986970"/>
            <a:ext cx="5123543" cy="3048001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333D23-A074-2253-6CF4-6709DC2E539E}"/>
              </a:ext>
            </a:extLst>
          </p:cNvPr>
          <p:cNvSpPr/>
          <p:nvPr/>
        </p:nvSpPr>
        <p:spPr bwMode="auto">
          <a:xfrm>
            <a:off x="159657" y="986972"/>
            <a:ext cx="2931886" cy="304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Stack: PUSH/POP Multiple Registers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840705B-7E28-0525-28BE-23AC0C83DEF1}"/>
              </a:ext>
            </a:extLst>
          </p:cNvPr>
          <p:cNvGraphicFramePr>
            <a:graphicFrameLocks noGrp="1"/>
          </p:cNvGraphicFramePr>
          <p:nvPr/>
        </p:nvGraphicFramePr>
        <p:xfrm>
          <a:off x="304799" y="1203960"/>
          <a:ext cx="2590800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301792379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983834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0x00112233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57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0x44556677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06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0xAABBCCDD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708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0x12345678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53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1296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11C672C-FAA5-32C4-BE3B-58339DAA7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842633"/>
              </p:ext>
            </p:extLst>
          </p:nvPr>
        </p:nvGraphicFramePr>
        <p:xfrm>
          <a:off x="6259271" y="1203960"/>
          <a:ext cx="4571285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45205">
                  <a:extLst>
                    <a:ext uri="{9D8B030D-6E8A-4147-A177-3AD203B41FA5}">
                      <a16:colId xmlns:a16="http://schemas.microsoft.com/office/drawing/2014/main" val="76814152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569182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28883815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7938839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4251530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910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738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547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0x200003F8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06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70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76621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BDC6E58-0E8D-E389-65FC-C74CD8671FE6}"/>
              </a:ext>
            </a:extLst>
          </p:cNvPr>
          <p:cNvSpPr txBox="1"/>
          <p:nvPr/>
        </p:nvSpPr>
        <p:spPr>
          <a:xfrm>
            <a:off x="429846" y="3573305"/>
            <a:ext cx="2340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ARM Processor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6BBFA-33E1-47D6-DF67-734222B6F5F9}"/>
              </a:ext>
            </a:extLst>
          </p:cNvPr>
          <p:cNvSpPr txBox="1"/>
          <p:nvPr/>
        </p:nvSpPr>
        <p:spPr>
          <a:xfrm>
            <a:off x="7656425" y="3573306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Memory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9451C5-365C-D224-F87B-163290659E75}"/>
              </a:ext>
            </a:extLst>
          </p:cNvPr>
          <p:cNvSpPr txBox="1">
            <a:spLocks/>
          </p:cNvSpPr>
          <p:nvPr/>
        </p:nvSpPr>
        <p:spPr>
          <a:xfrm>
            <a:off x="304799" y="4251959"/>
            <a:ext cx="5288643" cy="199052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 Code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PUSH   {R0-R1, R3, R2}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… …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POP   {R1, R3, R2, R0}</a:t>
            </a:r>
          </a:p>
          <a:p>
            <a:pPr marL="0" indent="0">
              <a:buNone/>
            </a:pPr>
            <a:endParaRPr lang="en-US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27FD7DBF-DF42-D861-3FC6-1739C8DDD453}"/>
              </a:ext>
            </a:extLst>
          </p:cNvPr>
          <p:cNvSpPr/>
          <p:nvPr/>
        </p:nvSpPr>
        <p:spPr bwMode="auto">
          <a:xfrm>
            <a:off x="3208149" y="1172771"/>
            <a:ext cx="2691907" cy="487150"/>
          </a:xfrm>
          <a:prstGeom prst="leftRightArrow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D96680-2FF6-9EAB-D39B-A870191186AF}"/>
              </a:ext>
            </a:extLst>
          </p:cNvPr>
          <p:cNvCxnSpPr/>
          <p:nvPr/>
        </p:nvCxnSpPr>
        <p:spPr bwMode="auto">
          <a:xfrm>
            <a:off x="5091732" y="1806168"/>
            <a:ext cx="1167539" cy="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lg" len="lg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42263075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94E6B0-B1BD-21E8-7A95-FAA0B820F2DC}"/>
              </a:ext>
            </a:extLst>
          </p:cNvPr>
          <p:cNvSpPr/>
          <p:nvPr/>
        </p:nvSpPr>
        <p:spPr bwMode="auto">
          <a:xfrm>
            <a:off x="6096000" y="986970"/>
            <a:ext cx="5123543" cy="3048001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333D23-A074-2253-6CF4-6709DC2E539E}"/>
              </a:ext>
            </a:extLst>
          </p:cNvPr>
          <p:cNvSpPr/>
          <p:nvPr/>
        </p:nvSpPr>
        <p:spPr bwMode="auto">
          <a:xfrm>
            <a:off x="159657" y="986972"/>
            <a:ext cx="2931886" cy="304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Stack: PUSH/POP Multiple Registers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840705B-7E28-0525-28BE-23AC0C83DEF1}"/>
              </a:ext>
            </a:extLst>
          </p:cNvPr>
          <p:cNvGraphicFramePr>
            <a:graphicFrameLocks noGrp="1"/>
          </p:cNvGraphicFramePr>
          <p:nvPr/>
        </p:nvGraphicFramePr>
        <p:xfrm>
          <a:off x="304799" y="1203960"/>
          <a:ext cx="2590800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301792379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983834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0x00112233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57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0x44556677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06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0xAABBCCDD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708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0x12345678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53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1296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11C672C-FAA5-32C4-BE3B-58339DAA798E}"/>
              </a:ext>
            </a:extLst>
          </p:cNvPr>
          <p:cNvGraphicFramePr>
            <a:graphicFrameLocks noGrp="1"/>
          </p:cNvGraphicFramePr>
          <p:nvPr/>
        </p:nvGraphicFramePr>
        <p:xfrm>
          <a:off x="6259271" y="1203960"/>
          <a:ext cx="4571285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45205">
                  <a:extLst>
                    <a:ext uri="{9D8B030D-6E8A-4147-A177-3AD203B41FA5}">
                      <a16:colId xmlns:a16="http://schemas.microsoft.com/office/drawing/2014/main" val="76814152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569182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28883815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7938839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4251530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910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738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547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0x200003F8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06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0x200003FC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70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0x20000400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76621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BDC6E58-0E8D-E389-65FC-C74CD8671FE6}"/>
              </a:ext>
            </a:extLst>
          </p:cNvPr>
          <p:cNvSpPr txBox="1"/>
          <p:nvPr/>
        </p:nvSpPr>
        <p:spPr>
          <a:xfrm>
            <a:off x="429846" y="3573305"/>
            <a:ext cx="2340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ARM Processor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6BBFA-33E1-47D6-DF67-734222B6F5F9}"/>
              </a:ext>
            </a:extLst>
          </p:cNvPr>
          <p:cNvSpPr txBox="1"/>
          <p:nvPr/>
        </p:nvSpPr>
        <p:spPr>
          <a:xfrm>
            <a:off x="7656425" y="3573306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Memory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9451C5-365C-D224-F87B-163290659E75}"/>
              </a:ext>
            </a:extLst>
          </p:cNvPr>
          <p:cNvSpPr txBox="1">
            <a:spLocks/>
          </p:cNvSpPr>
          <p:nvPr/>
        </p:nvSpPr>
        <p:spPr>
          <a:xfrm>
            <a:off x="304799" y="4251959"/>
            <a:ext cx="5288643" cy="199052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 Code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PUSH   {R0-R1, R3, R2}</a:t>
            </a:r>
          </a:p>
          <a:p>
            <a:pPr marL="0" indent="0"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… …</a:t>
            </a: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POP   {R1, R3, R2, R0}</a:t>
            </a:r>
          </a:p>
          <a:p>
            <a:pPr marL="0" indent="0">
              <a:buNone/>
            </a:pPr>
            <a:endParaRPr lang="en-US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27FD7DBF-DF42-D861-3FC6-1739C8DDD453}"/>
              </a:ext>
            </a:extLst>
          </p:cNvPr>
          <p:cNvSpPr/>
          <p:nvPr/>
        </p:nvSpPr>
        <p:spPr bwMode="auto">
          <a:xfrm>
            <a:off x="3208149" y="1172771"/>
            <a:ext cx="2691907" cy="487150"/>
          </a:xfrm>
          <a:prstGeom prst="leftRightArrow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D96680-2FF6-9EAB-D39B-A870191186AF}"/>
              </a:ext>
            </a:extLst>
          </p:cNvPr>
          <p:cNvCxnSpPr/>
          <p:nvPr/>
        </p:nvCxnSpPr>
        <p:spPr bwMode="auto">
          <a:xfrm>
            <a:off x="5009672" y="2880225"/>
            <a:ext cx="1167539" cy="0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lg" len="lg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932045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Stack Pointer (SP) Practice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37F9B8-A2F1-361F-14F0-BC253E81ADB9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4794740" cy="524608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C00000"/>
                </a:solidFill>
              </a:rPr>
              <a:t>Open class demon project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0000FF"/>
                </a:solidFill>
                <a:latin typeface="+mj-lt"/>
                <a:cs typeface="Courier New" panose="02070309020205020404" pitchFamily="49" charset="0"/>
              </a:rPr>
              <a:t>ClassDemo_PushPop.zip</a:t>
            </a:r>
            <a:r>
              <a:rPr lang="en-US" kern="0" dirty="0">
                <a:latin typeface="+mj-lt"/>
                <a:cs typeface="Courier New" panose="02070309020205020404" pitchFamily="49" charset="0"/>
              </a:rPr>
              <a:t> file 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064970"/>
      </p:ext>
    </p:extLst>
  </p:cSld>
  <p:clrMapOvr>
    <a:masterClrMapping/>
  </p:clrMapOvr>
</p:sld>
</file>

<file path=ppt/theme/theme1.xml><?xml version="1.0" encoding="utf-8"?>
<a:theme xmlns:a="http://schemas.openxmlformats.org/drawingml/2006/main" name="UH ECOM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339725" marR="0" indent="-339725" algn="l" defTabSz="4572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339725" marR="0" indent="-339725" algn="l" defTabSz="4572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PS.potx" id="{CE41128D-6EB0-4D0A-BE39-61CAA54AB745}" vid="{38FD15AE-3AD1-4AD1-AA2E-47F4A362D9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2FB37E47E1D843BC52574BCDE96A0F" ma:contentTypeVersion="3" ma:contentTypeDescription="Create a new document." ma:contentTypeScope="" ma:versionID="876989e2c60c7ad05a5017c76f23c2ec">
  <xsd:schema xmlns:xsd="http://www.w3.org/2001/XMLSchema" xmlns:xs="http://www.w3.org/2001/XMLSchema" xmlns:p="http://schemas.microsoft.com/office/2006/metadata/properties" xmlns:ns2="e099cec4-e547-44fa-ac68-43ad6ea61fbb" targetNamespace="http://schemas.microsoft.com/office/2006/metadata/properties" ma:root="true" ma:fieldsID="66e5c7ed2332263e707c3b4990332721" ns2:_="">
    <xsd:import namespace="e099cec4-e547-44fa-ac68-43ad6ea61f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99cec4-e547-44fa-ac68-43ad6ea61f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DC7785B-1FAD-485F-96A0-7741D6BA6506}"/>
</file>

<file path=customXml/itemProps2.xml><?xml version="1.0" encoding="utf-8"?>
<ds:datastoreItem xmlns:ds="http://schemas.openxmlformats.org/officeDocument/2006/customXml" ds:itemID="{25107334-E7BD-4812-8321-C50A01E055C1}"/>
</file>

<file path=customXml/itemProps3.xml><?xml version="1.0" encoding="utf-8"?>
<ds:datastoreItem xmlns:ds="http://schemas.openxmlformats.org/officeDocument/2006/customXml" ds:itemID="{7EF7C5FD-AB3A-4565-889B-80B3AFC1715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4781</TotalTime>
  <Words>1767</Words>
  <Application>Microsoft Office PowerPoint</Application>
  <PresentationFormat>Widescreen</PresentationFormat>
  <Paragraphs>625</Paragraphs>
  <Slides>36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Milo Medium</vt:lpstr>
      <vt:lpstr>Arial</vt:lpstr>
      <vt:lpstr>Calibri</vt:lpstr>
      <vt:lpstr>Consolas</vt:lpstr>
      <vt:lpstr>Courier New</vt:lpstr>
      <vt:lpstr>Wingdings</vt:lpstr>
      <vt:lpstr>UH ECOMS</vt:lpstr>
      <vt:lpstr>ECE 3436 Microprocessor Systems  Notes 10a: Special Purpose Registers </vt:lpstr>
      <vt:lpstr>Today’s agenda in ECE 3436</vt:lpstr>
      <vt:lpstr>TM4C123 High-level Block Diagram</vt:lpstr>
      <vt:lpstr>Memory layout</vt:lpstr>
      <vt:lpstr>Special Purpose Register</vt:lpstr>
      <vt:lpstr>The Program Counter (PC)</vt:lpstr>
      <vt:lpstr>Encoding (Thumb-2)</vt:lpstr>
      <vt:lpstr>Encoding (Thumb-2)</vt:lpstr>
      <vt:lpstr>PC in action</vt:lpstr>
      <vt:lpstr>Special Purpose Register</vt:lpstr>
      <vt:lpstr>We already know how to use branch</vt:lpstr>
      <vt:lpstr>Subroutines!</vt:lpstr>
      <vt:lpstr>The Link Register (LR) In Action</vt:lpstr>
      <vt:lpstr>Branching With Link</vt:lpstr>
      <vt:lpstr>Link Register</vt:lpstr>
      <vt:lpstr>ROM</vt:lpstr>
      <vt:lpstr>LR</vt:lpstr>
      <vt:lpstr>LR</vt:lpstr>
      <vt:lpstr>Special Purpose Register</vt:lpstr>
      <vt:lpstr>Reading From RAM</vt:lpstr>
      <vt:lpstr>Write A Byte To RAM</vt:lpstr>
      <vt:lpstr>Write A Byte To RAM</vt:lpstr>
      <vt:lpstr>Memory MAP</vt:lpstr>
      <vt:lpstr>Write To Stack  PUSH</vt:lpstr>
      <vt:lpstr>Write To Stack  PUSH</vt:lpstr>
      <vt:lpstr>Read From Stack  POP</vt:lpstr>
      <vt:lpstr>The Stack FAQ</vt:lpstr>
      <vt:lpstr>The Stack FAQ</vt:lpstr>
      <vt:lpstr>The Stack: Before Push</vt:lpstr>
      <vt:lpstr>The Stack: After Push</vt:lpstr>
      <vt:lpstr>The Stack: Before POP</vt:lpstr>
      <vt:lpstr>The Stack: After POP</vt:lpstr>
      <vt:lpstr>The Stack: PUSH/POP Multiple Registers</vt:lpstr>
      <vt:lpstr>The Stack: PUSH/POP Multiple Registers</vt:lpstr>
      <vt:lpstr>The Stack: PUSH/POP Multiple Registers</vt:lpstr>
      <vt:lpstr>Stack Pointer (SP) 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RF-induced Heating Comparison between TEM and Birdcage Coils for Circular External Fixator</dc:title>
  <dc:creator>Jianfeng</dc:creator>
  <cp:lastModifiedBy>Zheng, Jianfeng</cp:lastModifiedBy>
  <cp:revision>1342</cp:revision>
  <dcterms:created xsi:type="dcterms:W3CDTF">2017-07-10T15:25:03Z</dcterms:created>
  <dcterms:modified xsi:type="dcterms:W3CDTF">2026-03-24T20:41:43Z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0x010100B62FB37E47E1D843BC52574BCDE96A0F</vt:lpwstr>
  </property>
</Properties>
</file>