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60" r:id="rId3"/>
    <p:sldId id="313" r:id="rId4"/>
    <p:sldId id="315" r:id="rId5"/>
    <p:sldId id="336" r:id="rId6"/>
    <p:sldId id="337" r:id="rId7"/>
    <p:sldId id="338" r:id="rId8"/>
    <p:sldId id="339" r:id="rId9"/>
    <p:sldId id="319" r:id="rId10"/>
    <p:sldId id="312" r:id="rId11"/>
    <p:sldId id="320" r:id="rId12"/>
    <p:sldId id="325" r:id="rId13"/>
    <p:sldId id="327" r:id="rId14"/>
    <p:sldId id="340" r:id="rId15"/>
    <p:sldId id="335" r:id="rId16"/>
    <p:sldId id="334" r:id="rId1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78692" autoAdjust="0"/>
  </p:normalViewPr>
  <p:slideViewPr>
    <p:cSldViewPr snapToGrid="0">
      <p:cViewPr varScale="1">
        <p:scale>
          <a:sx n="128" d="100"/>
          <a:sy n="128" d="100"/>
        </p:scale>
        <p:origin x="117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AAC67-9EFC-4764-AEA9-7B0E6270BF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F15EE-D758-4B17-9108-4577B4B43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16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203F4-B9F4-F4E5-CB71-793892DB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F5ED0-4453-6A4C-7936-585D5751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3122E-5420-D296-D7EB-5C474F97E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C4AB1-F3D4-6717-5EED-959869F5F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80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B2744-4ED8-FE3A-902A-C754D3FE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9ED7A-1ACC-DD64-80D6-CE432FB7A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60FF7-1708-22B7-13C6-061332740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9FD9A-AE09-6AA5-9777-23BA7CAB2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44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ACAD8-90A5-1AC8-EE0A-DDEC8FE2D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BD3A9-A334-1740-C8F8-F9C632099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47BDC-EF6D-51BD-1A49-9ED16AA07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75393-539B-7424-ADD2-D7EFA7482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94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7DCD9-8545-7E98-7CB4-FEFD9D32B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9F480-D65A-7723-B4E4-1E272E10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DB71C-422A-A5B4-D9EE-3E2C9D229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3A801-58D9-7671-4C8D-588C86BC5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57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19A6B-595B-16F6-1E2F-3A262ED7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D0B82-52E9-3036-3469-B72F0F956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E3F41-5DCD-1A08-9A99-53DBE11BF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6E3FB-64C4-0D53-0531-C7533EDD9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79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gcroft\Documents\Logos\UHnoYATP onelin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753" y="6492875"/>
            <a:ext cx="324612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01980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6172200"/>
            <a:ext cx="11684000" cy="76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914400" y="1760566"/>
            <a:ext cx="10363200" cy="1668439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828800" y="3733800"/>
            <a:ext cx="85344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41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5181600"/>
          </a:xfrm>
          <a:prstGeom prst="rect">
            <a:avLst/>
          </a:prstGeom>
        </p:spPr>
        <p:txBody>
          <a:bodyPr/>
          <a:lstStyle>
            <a:lvl1pPr marL="342891" indent="-342891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3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22665" y="6535899"/>
            <a:ext cx="845069" cy="295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ea typeface="Gulim" panose="020B0600000101010101" pitchFamily="34" charset="-127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04799" y="237251"/>
            <a:ext cx="1148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Slide Title</a:t>
            </a: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endParaRPr lang="en-US" altLang="ko-KR" sz="3200"/>
          </a:p>
        </p:txBody>
      </p:sp>
      <p:sp>
        <p:nvSpPr>
          <p:cNvPr id="8" name="Rectangle 7"/>
          <p:cNvSpPr/>
          <p:nvPr/>
        </p:nvSpPr>
        <p:spPr>
          <a:xfrm>
            <a:off x="304800" y="755537"/>
            <a:ext cx="115824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7" name="Picture 4" descr="C:\Users\Xin\Desktop\UH_ECE.png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465" y="6315075"/>
            <a:ext cx="38100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76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zheng4@central.u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05080"/>
            <a:ext cx="10363200" cy="253663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olidFill>
                  <a:srgbClr val="0070C0"/>
                </a:solidFill>
              </a:rPr>
              <a:t>ECE 3436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Microprocessor Systems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Notes 5</a:t>
            </a:r>
            <a:r>
              <a:rPr lang="en-US" altLang="zh-CN" dirty="0"/>
              <a:t>b</a:t>
            </a:r>
            <a:r>
              <a:rPr lang="en-US" dirty="0"/>
              <a:t>: Test and Compare Operations</a:t>
            </a:r>
            <a:br>
              <a:rPr lang="en-US" sz="24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29000"/>
            <a:ext cx="853440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Ph.D. Jianfeng Zheng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Dept. ECE, Univ. of Houston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Email: </a:t>
            </a:r>
            <a:r>
              <a:rPr lang="en-US" sz="2000" b="0" dirty="0">
                <a:solidFill>
                  <a:srgbClr val="0070C0"/>
                </a:solidFill>
                <a:hlinkClick r:id="rId3"/>
              </a:rPr>
              <a:t>jzheng4@central.uh.edu</a:t>
            </a:r>
            <a:endParaRPr lang="en-US" sz="2000" b="0" dirty="0">
              <a:solidFill>
                <a:srgbClr val="0070C0"/>
              </a:solidFill>
            </a:endParaRPr>
          </a:p>
          <a:p>
            <a:r>
              <a:rPr lang="en-US" altLang="zh-CN" sz="2000" b="0" dirty="0">
                <a:solidFill>
                  <a:srgbClr val="0070C0"/>
                </a:solidFill>
              </a:rPr>
              <a:t>Feb 19</a:t>
            </a:r>
            <a:r>
              <a:rPr lang="en-US" sz="2000" b="0" dirty="0">
                <a:solidFill>
                  <a:srgbClr val="0070C0"/>
                </a:solidFill>
              </a:rPr>
              <a:t>,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50EA8-C668-2709-CA47-CBC7A8D8E96A}"/>
              </a:ext>
            </a:extLst>
          </p:cNvPr>
          <p:cNvSpPr txBox="1"/>
          <p:nvPr/>
        </p:nvSpPr>
        <p:spPr>
          <a:xfrm>
            <a:off x="88135" y="5486400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Adapted from notes by </a:t>
            </a:r>
            <a:r>
              <a:rPr lang="en-US" b="1" i="0" dirty="0">
                <a:solidFill>
                  <a:srgbClr val="222222"/>
                </a:solidFill>
                <a:effectLst/>
                <a:latin typeface="Milo Medium"/>
              </a:rPr>
              <a:t>Dr. Diana De La Rosa-Pohl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27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in ECE 3436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F626-9A92-1FA8-DAC2-8CBEA8D4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Perform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Test</a:t>
            </a:r>
            <a:r>
              <a:rPr lang="en-US" dirty="0">
                <a:sym typeface="Wingdings" panose="05000000000000000000" pitchFamily="2" charset="2"/>
              </a:rPr>
              <a:t> operations on register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Perform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Compare</a:t>
            </a:r>
            <a:r>
              <a:rPr lang="en-US" dirty="0">
                <a:sym typeface="Wingdings" panose="05000000000000000000" pitchFamily="2" charset="2"/>
              </a:rPr>
              <a:t> operations on register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zh-CN" dirty="0">
                <a:sym typeface="Wingdings" panose="05000000000000000000" pitchFamily="2" charset="2"/>
              </a:rPr>
              <a:t>Flexible operand2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40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849E-D4CD-5BD4-A2A7-ACBEAAC6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E851-3EF9-7C69-7FCF-BAB50B6B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Operations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F76F63C-AB26-601B-6287-99F7610D56A6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5791200" cy="512650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TEQ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Test equivalent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Test if 2 values are equal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FF0000"/>
                </a:solidFill>
              </a:rPr>
              <a:t>Z=1</a:t>
            </a:r>
            <a:r>
              <a:rPr lang="en-US" kern="0" dirty="0"/>
              <a:t> if equal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Uses bitwise </a:t>
            </a:r>
            <a:r>
              <a:rPr lang="en-US" kern="0" dirty="0">
                <a:solidFill>
                  <a:srgbClr val="0000FF"/>
                </a:solidFill>
              </a:rPr>
              <a:t>EORS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Update </a:t>
            </a:r>
            <a:r>
              <a:rPr lang="en-US" kern="0" dirty="0">
                <a:solidFill>
                  <a:srgbClr val="FF0000"/>
                </a:solidFill>
              </a:rPr>
              <a:t>N</a:t>
            </a:r>
            <a:r>
              <a:rPr lang="en-US" kern="0" dirty="0"/>
              <a:t> and </a:t>
            </a:r>
            <a:r>
              <a:rPr lang="en-US" kern="0" dirty="0">
                <a:solidFill>
                  <a:srgbClr val="FF0000"/>
                </a:solidFill>
              </a:rPr>
              <a:t>Z</a:t>
            </a:r>
            <a:r>
              <a:rPr lang="en-US" kern="0" dirty="0"/>
              <a:t> condition flags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Does </a:t>
            </a:r>
            <a:r>
              <a:rPr lang="en-US" kern="0" dirty="0">
                <a:solidFill>
                  <a:srgbClr val="FF0000"/>
                </a:solidFill>
              </a:rPr>
              <a:t>NOT</a:t>
            </a:r>
            <a:r>
              <a:rPr lang="en-US" kern="0" dirty="0"/>
              <a:t> store the result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  R0, #5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TEQ  R0, #5 </a:t>
            </a:r>
            <a:r>
              <a:rPr lang="en-US" sz="2000" kern="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0x0000</a:t>
            </a:r>
            <a:endParaRPr lang="en-US" sz="2000" kern="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TEQ  R0, #5 </a:t>
            </a:r>
            <a:r>
              <a:rPr lang="en-US" sz="2000" kern="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0x0006</a:t>
            </a:r>
            <a:endParaRPr lang="en-US" sz="2000" kern="0" dirty="0">
              <a:solidFill>
                <a:schemeClr val="bg2">
                  <a:lumMod val="25000"/>
                </a:schemeClr>
              </a:solidFill>
            </a:endParaRPr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7EFE2A6-B0F9-38B4-DBD3-96725477BA06}"/>
              </a:ext>
            </a:extLst>
          </p:cNvPr>
          <p:cNvSpPr txBox="1">
            <a:spLocks/>
          </p:cNvSpPr>
          <p:nvPr/>
        </p:nvSpPr>
        <p:spPr>
          <a:xfrm>
            <a:off x="6096001" y="1049210"/>
            <a:ext cx="5791200" cy="512650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TST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Test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Test bits in Rn where mask is 1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Rd bits are 1 when both Rn bit and mask bit are 1, all others = 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Uses bitwise </a:t>
            </a:r>
            <a:r>
              <a:rPr lang="en-US" kern="0" dirty="0">
                <a:solidFill>
                  <a:srgbClr val="0000FF"/>
                </a:solidFill>
              </a:rPr>
              <a:t>ANDS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Update </a:t>
            </a:r>
            <a:r>
              <a:rPr lang="en-US" kern="0" dirty="0">
                <a:solidFill>
                  <a:srgbClr val="FF0000"/>
                </a:solidFill>
              </a:rPr>
              <a:t>N</a:t>
            </a:r>
            <a:r>
              <a:rPr lang="en-US" kern="0" dirty="0"/>
              <a:t> and </a:t>
            </a:r>
            <a:r>
              <a:rPr lang="en-US" kern="0" dirty="0">
                <a:solidFill>
                  <a:srgbClr val="FF0000"/>
                </a:solidFill>
              </a:rPr>
              <a:t>Z</a:t>
            </a:r>
            <a:r>
              <a:rPr lang="en-US" kern="0" dirty="0"/>
              <a:t> condition flags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Does </a:t>
            </a:r>
            <a:r>
              <a:rPr lang="en-US" kern="0" dirty="0">
                <a:solidFill>
                  <a:srgbClr val="FF0000"/>
                </a:solidFill>
              </a:rPr>
              <a:t>NOT</a:t>
            </a:r>
            <a:r>
              <a:rPr lang="en-US" kern="0" dirty="0"/>
              <a:t> store the result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  R0, #5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TST  R0, #5 </a:t>
            </a:r>
            <a:r>
              <a:rPr lang="en-US" sz="2000" kern="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0x0005</a:t>
            </a:r>
            <a:endParaRPr lang="en-US" sz="2000" kern="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TST  R0, #3 </a:t>
            </a:r>
            <a:r>
              <a:rPr lang="en-US" sz="2000" kern="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0x0001</a:t>
            </a:r>
            <a:endParaRPr lang="en-US" sz="2000" kern="0" dirty="0">
              <a:solidFill>
                <a:schemeClr val="bg2">
                  <a:lumMod val="25000"/>
                </a:schemeClr>
              </a:solidFill>
            </a:endParaRPr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35671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5D90D-EC9B-10C0-9BD6-25993E05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D1207-0AF4-A42A-97CB-C34075C47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22C32-3752-EAFE-FA57-DF7C2DA0B843}"/>
              </a:ext>
            </a:extLst>
          </p:cNvPr>
          <p:cNvSpPr txBox="1"/>
          <p:nvPr/>
        </p:nvSpPr>
        <p:spPr>
          <a:xfrm>
            <a:off x="462669" y="1204364"/>
            <a:ext cx="7280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11BD91-6D84-CE47-09BE-260BD24298CE}"/>
              </a:ext>
            </a:extLst>
          </p:cNvPr>
          <p:cNvSpPr txBox="1">
            <a:spLocks/>
          </p:cNvSpPr>
          <p:nvPr/>
        </p:nvSpPr>
        <p:spPr>
          <a:xfrm>
            <a:off x="1792065" y="2923987"/>
            <a:ext cx="2744765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b="1" kern="0" dirty="0"/>
              <a:t>0111 0111</a:t>
            </a:r>
          </a:p>
          <a:p>
            <a:pPr marL="0" indent="0">
              <a:buNone/>
            </a:pPr>
            <a:r>
              <a:rPr lang="en-US" sz="2800" b="1" u="sng" kern="0" dirty="0"/>
              <a:t>1111 0000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CCBA1-1570-D1BB-2D48-5B10D06D821A}"/>
              </a:ext>
            </a:extLst>
          </p:cNvPr>
          <p:cNvSpPr txBox="1">
            <a:spLocks/>
          </p:cNvSpPr>
          <p:nvPr/>
        </p:nvSpPr>
        <p:spPr>
          <a:xfrm>
            <a:off x="462669" y="1726989"/>
            <a:ext cx="5403559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(EORS instructions w/o saving result)</a:t>
            </a:r>
          </a:p>
          <a:p>
            <a:pPr marL="0" indent="0">
              <a:buNone/>
            </a:pPr>
            <a:r>
              <a:rPr lang="en-US" kern="0" dirty="0"/>
              <a:t>(N &amp; Z flags affected)</a:t>
            </a:r>
            <a:endParaRPr lang="en-US" u="sng" kern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2F1C96-FA1C-D089-7635-0E9E8288D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79434"/>
              </p:ext>
            </p:extLst>
          </p:nvPr>
        </p:nvGraphicFramePr>
        <p:xfrm>
          <a:off x="6325774" y="1204364"/>
          <a:ext cx="49109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54">
                  <a:extLst>
                    <a:ext uri="{9D8B030D-6E8A-4147-A177-3AD203B41FA5}">
                      <a16:colId xmlns:a16="http://schemas.microsoft.com/office/drawing/2014/main" val="2011699515"/>
                    </a:ext>
                  </a:extLst>
                </a:gridCol>
                <a:gridCol w="3541711">
                  <a:extLst>
                    <a:ext uri="{9D8B030D-6E8A-4147-A177-3AD203B41FA5}">
                      <a16:colId xmlns:a16="http://schemas.microsoft.com/office/drawing/2014/main" val="2236340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97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2_0000…0101 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78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2_0000…1101 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0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2_0000…0111 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33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2_0000…1111 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18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65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1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08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436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706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AD45-22C7-6F05-15C9-D929B14C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5D49-FD02-2362-3C8C-DC7D2938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3078C-6BA9-FF93-5CA5-221D1D728F90}"/>
              </a:ext>
            </a:extLst>
          </p:cNvPr>
          <p:cNvSpPr txBox="1"/>
          <p:nvPr/>
        </p:nvSpPr>
        <p:spPr>
          <a:xfrm>
            <a:off x="462669" y="1204364"/>
            <a:ext cx="7280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TST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60DAD1-B0D7-0D95-D5A9-62AEC022DF8B}"/>
              </a:ext>
            </a:extLst>
          </p:cNvPr>
          <p:cNvSpPr txBox="1">
            <a:spLocks/>
          </p:cNvSpPr>
          <p:nvPr/>
        </p:nvSpPr>
        <p:spPr>
          <a:xfrm>
            <a:off x="1792065" y="2923987"/>
            <a:ext cx="2744765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b="1" kern="0" dirty="0"/>
              <a:t>0111 0111</a:t>
            </a:r>
          </a:p>
          <a:p>
            <a:pPr marL="0" indent="0">
              <a:buNone/>
            </a:pPr>
            <a:r>
              <a:rPr lang="en-US" sz="2800" b="1" u="sng" kern="0" dirty="0"/>
              <a:t>1111 0000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FA34C-FDFA-63A2-92E4-9B723C68D648}"/>
              </a:ext>
            </a:extLst>
          </p:cNvPr>
          <p:cNvSpPr txBox="1">
            <a:spLocks/>
          </p:cNvSpPr>
          <p:nvPr/>
        </p:nvSpPr>
        <p:spPr>
          <a:xfrm>
            <a:off x="462669" y="1726989"/>
            <a:ext cx="5403559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(ANDS instructions w/o saving result)</a:t>
            </a:r>
          </a:p>
          <a:p>
            <a:pPr marL="0" indent="0">
              <a:buNone/>
            </a:pPr>
            <a:r>
              <a:rPr lang="en-US" kern="0" dirty="0"/>
              <a:t>(N &amp; Z flags affected)</a:t>
            </a:r>
            <a:endParaRPr lang="en-US" u="sng" kern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B90CDA-4899-1D46-8C95-03AE58EF95BE}"/>
              </a:ext>
            </a:extLst>
          </p:cNvPr>
          <p:cNvGraphicFramePr>
            <a:graphicFrameLocks noGrp="1"/>
          </p:cNvGraphicFramePr>
          <p:nvPr/>
        </p:nvGraphicFramePr>
        <p:xfrm>
          <a:off x="6325774" y="1204364"/>
          <a:ext cx="49109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54">
                  <a:extLst>
                    <a:ext uri="{9D8B030D-6E8A-4147-A177-3AD203B41FA5}">
                      <a16:colId xmlns:a16="http://schemas.microsoft.com/office/drawing/2014/main" val="2011699515"/>
                    </a:ext>
                  </a:extLst>
                </a:gridCol>
                <a:gridCol w="3541711">
                  <a:extLst>
                    <a:ext uri="{9D8B030D-6E8A-4147-A177-3AD203B41FA5}">
                      <a16:colId xmlns:a16="http://schemas.microsoft.com/office/drawing/2014/main" val="2236340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97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2_0000…0101 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78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2_0000…1101 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0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2_0000…0111 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33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2_0000…1111 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18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65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1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08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436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35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73D85-69CA-BE62-D410-389F5E6D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FD82-E6B0-0EA2-CF3A-001654D7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operations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38A54CF-E87F-AC08-A441-818F44870FE0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5791200" cy="512650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Compare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Compare 2 values for equivalence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FF0000"/>
                </a:solidFill>
              </a:rPr>
              <a:t>Z=1</a:t>
            </a:r>
            <a:r>
              <a:rPr lang="en-US" kern="0" dirty="0"/>
              <a:t> if equal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</a:rPr>
              <a:t>SUBS</a:t>
            </a:r>
            <a:r>
              <a:rPr lang="en-US" kern="0" dirty="0"/>
              <a:t> operand2 from operand1</a:t>
            </a:r>
            <a:endParaRPr lang="en-US" kern="0" dirty="0">
              <a:solidFill>
                <a:srgbClr val="0000FF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Update </a:t>
            </a:r>
            <a:r>
              <a:rPr lang="en-US" kern="0" dirty="0">
                <a:solidFill>
                  <a:srgbClr val="FF0000"/>
                </a:solidFill>
              </a:rPr>
              <a:t>N, Z, C &amp; V </a:t>
            </a:r>
            <a:r>
              <a:rPr lang="en-US" kern="0" dirty="0"/>
              <a:t>condition flags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Does </a:t>
            </a:r>
            <a:r>
              <a:rPr lang="en-US" kern="0" dirty="0">
                <a:solidFill>
                  <a:srgbClr val="FF0000"/>
                </a:solidFill>
              </a:rPr>
              <a:t>NOT</a:t>
            </a:r>
            <a:r>
              <a:rPr lang="en-US" kern="0" dirty="0"/>
              <a:t> store the result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  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  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000" kern="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  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kern="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0x0000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  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kern="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0x0002</a:t>
            </a:r>
          </a:p>
          <a:p>
            <a:pPr marL="0" indent="0">
              <a:buNone/>
            </a:pPr>
            <a:r>
              <a:rPr lang="en-US" sz="2000" kern="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2DF145-DB65-A253-E2B3-B542BB302D9C}"/>
              </a:ext>
            </a:extLst>
          </p:cNvPr>
          <p:cNvSpPr txBox="1">
            <a:spLocks/>
          </p:cNvSpPr>
          <p:nvPr/>
        </p:nvSpPr>
        <p:spPr>
          <a:xfrm>
            <a:off x="6096001" y="1049210"/>
            <a:ext cx="5791200" cy="512650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Compare Negative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Compare 2 values for equivalence but opposite signs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</a:rPr>
              <a:t>ADDS</a:t>
            </a:r>
            <a:r>
              <a:rPr lang="en-US" kern="0" dirty="0"/>
              <a:t> operand 2 and operand 1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FF0000"/>
                </a:solidFill>
              </a:rPr>
              <a:t>Z=1</a:t>
            </a:r>
            <a:r>
              <a:rPr lang="en-US" kern="0" dirty="0"/>
              <a:t> if equal but opposite signs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Update </a:t>
            </a:r>
            <a:r>
              <a:rPr lang="en-US" kern="0" dirty="0">
                <a:solidFill>
                  <a:srgbClr val="FF0000"/>
                </a:solidFill>
              </a:rPr>
              <a:t>N, Z, C &amp; V </a:t>
            </a:r>
            <a:r>
              <a:rPr lang="en-US" kern="0" dirty="0"/>
              <a:t>condition flags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Does </a:t>
            </a:r>
            <a:r>
              <a:rPr lang="en-US" kern="0" dirty="0">
                <a:solidFill>
                  <a:srgbClr val="FF0000"/>
                </a:solidFill>
              </a:rPr>
              <a:t>NOT</a:t>
            </a:r>
            <a:r>
              <a:rPr lang="en-US" kern="0" dirty="0"/>
              <a:t> store the result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  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  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000" kern="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 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CMN  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kern="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0x0002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/>
              <a:t> </a:t>
            </a:r>
            <a:r>
              <a:rPr lang="en-US" sz="2000" ker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CMN  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0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kern="0" dirty="0">
                <a:solidFill>
                  <a:schemeClr val="bg2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0x0000</a:t>
            </a:r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20514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ECC2B-7634-FBC4-2188-747BC1D4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F66DC-6A60-7542-FDCF-5543D1463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55AD0-E1CB-8679-EE49-216085D9B97D}"/>
              </a:ext>
            </a:extLst>
          </p:cNvPr>
          <p:cNvSpPr txBox="1"/>
          <p:nvPr/>
        </p:nvSpPr>
        <p:spPr>
          <a:xfrm>
            <a:off x="462669" y="1204364"/>
            <a:ext cx="7280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39A3F3-0E94-A930-FDA5-024FD1862C86}"/>
              </a:ext>
            </a:extLst>
          </p:cNvPr>
          <p:cNvSpPr txBox="1">
            <a:spLocks/>
          </p:cNvSpPr>
          <p:nvPr/>
        </p:nvSpPr>
        <p:spPr>
          <a:xfrm>
            <a:off x="1792065" y="2923987"/>
            <a:ext cx="2744765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b="1" kern="0" dirty="0"/>
              <a:t>0000 0001</a:t>
            </a:r>
          </a:p>
          <a:p>
            <a:pPr marL="0" indent="0">
              <a:buNone/>
            </a:pPr>
            <a:r>
              <a:rPr lang="en-US" sz="2800" b="1" u="sng" kern="0" dirty="0"/>
              <a:t>1111 1111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7DFFC-9101-2725-6486-E943F8806DF2}"/>
              </a:ext>
            </a:extLst>
          </p:cNvPr>
          <p:cNvSpPr txBox="1">
            <a:spLocks/>
          </p:cNvSpPr>
          <p:nvPr/>
        </p:nvSpPr>
        <p:spPr>
          <a:xfrm>
            <a:off x="462669" y="1726989"/>
            <a:ext cx="5403559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(SUBS instruction w/o saving result)</a:t>
            </a:r>
          </a:p>
          <a:p>
            <a:pPr marL="0" indent="0">
              <a:buNone/>
            </a:pPr>
            <a:r>
              <a:rPr lang="en-US" kern="0" dirty="0"/>
              <a:t>(N, Z, C &amp; V flags affected)</a:t>
            </a:r>
            <a:endParaRPr lang="en-US" u="sng" kern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EAB0B6-FC70-0D49-C3F9-783547D5D626}"/>
              </a:ext>
            </a:extLst>
          </p:cNvPr>
          <p:cNvGraphicFramePr>
            <a:graphicFrameLocks noGrp="1"/>
          </p:cNvGraphicFramePr>
          <p:nvPr/>
        </p:nvGraphicFramePr>
        <p:xfrm>
          <a:off x="6325774" y="1204364"/>
          <a:ext cx="49109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54">
                  <a:extLst>
                    <a:ext uri="{9D8B030D-6E8A-4147-A177-3AD203B41FA5}">
                      <a16:colId xmlns:a16="http://schemas.microsoft.com/office/drawing/2014/main" val="2011699515"/>
                    </a:ext>
                  </a:extLst>
                </a:gridCol>
                <a:gridCol w="3541711">
                  <a:extLst>
                    <a:ext uri="{9D8B030D-6E8A-4147-A177-3AD203B41FA5}">
                      <a16:colId xmlns:a16="http://schemas.microsoft.com/office/drawing/2014/main" val="2236340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97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2_0000…0101 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78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2_0000…1101 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0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2_0000…0111 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33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2_0000…1111 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18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65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1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08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43646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5976D7-E1C6-B99B-A7D4-CDD00389ABC1}"/>
              </a:ext>
            </a:extLst>
          </p:cNvPr>
          <p:cNvSpPr txBox="1">
            <a:spLocks/>
          </p:cNvSpPr>
          <p:nvPr/>
        </p:nvSpPr>
        <p:spPr>
          <a:xfrm>
            <a:off x="462669" y="4927389"/>
            <a:ext cx="5403559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N=Z=C=V=0</a:t>
            </a:r>
            <a:endParaRPr lang="en-US" u="sng" kern="0" dirty="0"/>
          </a:p>
        </p:txBody>
      </p:sp>
    </p:spTree>
    <p:extLst>
      <p:ext uri="{BB962C8B-B14F-4D97-AF65-F5344CB8AC3E}">
        <p14:creationId xmlns:p14="http://schemas.microsoft.com/office/powerpoint/2010/main" val="3059896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86BA-BD09-183C-7889-D492C2CB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DC55-5C88-3A6C-75FF-26FCAA53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06D29-9335-46F2-4968-8A30EB37DCDA}"/>
              </a:ext>
            </a:extLst>
          </p:cNvPr>
          <p:cNvSpPr txBox="1"/>
          <p:nvPr/>
        </p:nvSpPr>
        <p:spPr>
          <a:xfrm>
            <a:off x="462669" y="1204364"/>
            <a:ext cx="7280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C988BD-8530-DAE0-4019-0C0ACA3B9E83}"/>
              </a:ext>
            </a:extLst>
          </p:cNvPr>
          <p:cNvSpPr txBox="1">
            <a:spLocks/>
          </p:cNvSpPr>
          <p:nvPr/>
        </p:nvSpPr>
        <p:spPr>
          <a:xfrm>
            <a:off x="1792065" y="2923987"/>
            <a:ext cx="2744765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b="1" kern="0" dirty="0"/>
              <a:t>0000 0001</a:t>
            </a:r>
          </a:p>
          <a:p>
            <a:pPr marL="0" indent="0">
              <a:buNone/>
            </a:pPr>
            <a:r>
              <a:rPr lang="en-US" sz="2800" b="1" u="sng" kern="0" dirty="0"/>
              <a:t>1111 1111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85C83-EE18-E6B0-F5CA-4E4641A4A8B4}"/>
              </a:ext>
            </a:extLst>
          </p:cNvPr>
          <p:cNvSpPr txBox="1">
            <a:spLocks/>
          </p:cNvSpPr>
          <p:nvPr/>
        </p:nvSpPr>
        <p:spPr>
          <a:xfrm>
            <a:off x="462669" y="1726989"/>
            <a:ext cx="5403559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(ADDS instruction w/o saving result)</a:t>
            </a:r>
          </a:p>
          <a:p>
            <a:pPr marL="0" indent="0">
              <a:buNone/>
            </a:pPr>
            <a:r>
              <a:rPr lang="en-US" kern="0" dirty="0"/>
              <a:t>(N, Z, C &amp; V flags affected)</a:t>
            </a:r>
            <a:endParaRPr lang="en-US" u="sng" kern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F847EB-37A8-DC7F-5096-4B42D53054D3}"/>
              </a:ext>
            </a:extLst>
          </p:cNvPr>
          <p:cNvGraphicFramePr>
            <a:graphicFrameLocks noGrp="1"/>
          </p:cNvGraphicFramePr>
          <p:nvPr/>
        </p:nvGraphicFramePr>
        <p:xfrm>
          <a:off x="6325774" y="1204364"/>
          <a:ext cx="49109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54">
                  <a:extLst>
                    <a:ext uri="{9D8B030D-6E8A-4147-A177-3AD203B41FA5}">
                      <a16:colId xmlns:a16="http://schemas.microsoft.com/office/drawing/2014/main" val="2011699515"/>
                    </a:ext>
                  </a:extLst>
                </a:gridCol>
                <a:gridCol w="3541711">
                  <a:extLst>
                    <a:ext uri="{9D8B030D-6E8A-4147-A177-3AD203B41FA5}">
                      <a16:colId xmlns:a16="http://schemas.microsoft.com/office/drawing/2014/main" val="2236340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97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2_0000…0101 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78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2_0000…1101 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0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2_0000…0111 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33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2_0000…1111 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18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65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1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08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436465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8F5ACC-33DB-34B2-0499-4667FB340E36}"/>
              </a:ext>
            </a:extLst>
          </p:cNvPr>
          <p:cNvSpPr txBox="1">
            <a:spLocks/>
          </p:cNvSpPr>
          <p:nvPr/>
        </p:nvSpPr>
        <p:spPr>
          <a:xfrm>
            <a:off x="462669" y="4927389"/>
            <a:ext cx="5403559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N=0, Z= 1, C= 1, V=0</a:t>
            </a:r>
            <a:endParaRPr lang="en-US" u="sng" kern="0" dirty="0"/>
          </a:p>
        </p:txBody>
      </p:sp>
    </p:spTree>
    <p:extLst>
      <p:ext uri="{BB962C8B-B14F-4D97-AF65-F5344CB8AC3E}">
        <p14:creationId xmlns:p14="http://schemas.microsoft.com/office/powerpoint/2010/main" val="330538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37FC-7F58-D0C5-8B92-BF886A9D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BA57-D1A7-25B5-1227-47BEFD61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Flags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5FA2475-FC04-90CD-1D81-1969CED28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911249"/>
            <a:ext cx="11582400" cy="3735179"/>
          </a:xfrm>
        </p:spPr>
        <p:txBody>
          <a:bodyPr/>
          <a:lstStyle/>
          <a:p>
            <a:r>
              <a:rPr lang="en-US" altLang="zh-CN" dirty="0"/>
              <a:t>FLAGS</a:t>
            </a:r>
          </a:p>
          <a:p>
            <a:pPr lvl="1"/>
            <a:r>
              <a:rPr lang="en-US" altLang="zh-CN" b="1" dirty="0"/>
              <a:t>N, bit[31]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0070C0"/>
                </a:solidFill>
              </a:rPr>
              <a:t>Negative</a:t>
            </a:r>
            <a:r>
              <a:rPr lang="en-US" altLang="zh-CN" dirty="0"/>
              <a:t> condition code flag. If the result is regarded as a two’s complement signed integer, then N==1 if the result is negative and N==0 if it is positive or zero.</a:t>
            </a:r>
          </a:p>
          <a:p>
            <a:pPr lvl="1"/>
            <a:r>
              <a:rPr lang="en-US" altLang="zh-CN" b="1" dirty="0"/>
              <a:t>Z, bit[30]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0070C0"/>
                </a:solidFill>
              </a:rPr>
              <a:t>Zero</a:t>
            </a:r>
            <a:r>
              <a:rPr lang="en-US" altLang="zh-CN" dirty="0"/>
              <a:t> condition code flag. Set to 1 if the result of the instruction is zero, and to 0 otherwise.</a:t>
            </a:r>
          </a:p>
          <a:p>
            <a:pPr lvl="1"/>
            <a:r>
              <a:rPr lang="en-US" altLang="zh-CN" b="1" dirty="0"/>
              <a:t>C, bit[29] 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Carry</a:t>
            </a:r>
            <a:r>
              <a:rPr lang="en-US" altLang="zh-CN" dirty="0"/>
              <a:t> condition code flag. Set to 1 if the instruction results in a carry condition.</a:t>
            </a:r>
          </a:p>
          <a:p>
            <a:pPr lvl="1"/>
            <a:r>
              <a:rPr lang="en-US" altLang="zh-CN" b="1" dirty="0"/>
              <a:t>V, bit[28]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0070C0"/>
                </a:solidFill>
              </a:rPr>
              <a:t>Overflow</a:t>
            </a:r>
            <a:r>
              <a:rPr lang="en-US" altLang="zh-CN" dirty="0"/>
              <a:t> condition code flag. Set to 1 if the instruction results in an overflow condition. 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D9A08-C559-23D4-37B8-FD51B9372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736872"/>
            <a:ext cx="10058400" cy="136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98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D8D2A-C5B9-EEF9-DDDF-80B9501B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6D10-FC18-7F28-3CB9-07764166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Flags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20D3B-2C05-4A48-22E9-EBB6B158D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935186"/>
            <a:ext cx="11582400" cy="2389414"/>
          </a:xfrm>
        </p:spPr>
        <p:txBody>
          <a:bodyPr/>
          <a:lstStyle/>
          <a:p>
            <a:r>
              <a:rPr lang="en-US" dirty="0"/>
              <a:t>C flag</a:t>
            </a:r>
          </a:p>
          <a:p>
            <a:pPr lvl="1"/>
            <a:r>
              <a:rPr lang="en-US" dirty="0"/>
              <a:t>Set (1) after an unsigned addition if the answer is wrong</a:t>
            </a:r>
          </a:p>
          <a:p>
            <a:pPr lvl="1"/>
            <a:r>
              <a:rPr lang="en-US" dirty="0"/>
              <a:t>Clear (0) after an unsigned subtraction if the answer is wrong</a:t>
            </a:r>
          </a:p>
          <a:p>
            <a:r>
              <a:rPr lang="en-US" dirty="0"/>
              <a:t>V flag</a:t>
            </a:r>
          </a:p>
          <a:p>
            <a:pPr lvl="1"/>
            <a:r>
              <a:rPr lang="en-US" dirty="0"/>
              <a:t>Set (1) after a signed addition or subtraction if the answer is wrong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C210FF-95B6-28AD-3C7B-D140BB959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964148"/>
              </p:ext>
            </p:extLst>
          </p:nvPr>
        </p:nvGraphicFramePr>
        <p:xfrm>
          <a:off x="952500" y="1019418"/>
          <a:ext cx="10286999" cy="21640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18366">
                  <a:extLst>
                    <a:ext uri="{9D8B030D-6E8A-4147-A177-3AD203B41FA5}">
                      <a16:colId xmlns:a16="http://schemas.microsoft.com/office/drawing/2014/main" val="658815527"/>
                    </a:ext>
                  </a:extLst>
                </a:gridCol>
                <a:gridCol w="3430531">
                  <a:extLst>
                    <a:ext uri="{9D8B030D-6E8A-4147-A177-3AD203B41FA5}">
                      <a16:colId xmlns:a16="http://schemas.microsoft.com/office/drawing/2014/main" val="3898281224"/>
                    </a:ext>
                  </a:extLst>
                </a:gridCol>
                <a:gridCol w="4838102">
                  <a:extLst>
                    <a:ext uri="{9D8B030D-6E8A-4147-A177-3AD203B41FA5}">
                      <a16:colId xmlns:a16="http://schemas.microsoft.com/office/drawing/2014/main" val="1931048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 if set 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880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Result is 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09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Result is 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02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overflow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Signed overflow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642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Unsigned addition overflow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193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377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A775-8C0F-0CDE-ECC5-07E3D4EC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0EAC24-1CFB-5B38-7B4E-20120876CA18}"/>
              </a:ext>
            </a:extLst>
          </p:cNvPr>
          <p:cNvSpPr/>
          <p:nvPr/>
        </p:nvSpPr>
        <p:spPr bwMode="auto">
          <a:xfrm>
            <a:off x="5725633" y="1011819"/>
            <a:ext cx="3646968" cy="26688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4C7D1-94EC-9301-7786-F70091E1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flag and V flag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5116D-3D68-BDB6-ADC9-135DF3FB4530}"/>
              </a:ext>
            </a:extLst>
          </p:cNvPr>
          <p:cNvSpPr txBox="1"/>
          <p:nvPr/>
        </p:nvSpPr>
        <p:spPr>
          <a:xfrm>
            <a:off x="5859445" y="1054433"/>
            <a:ext cx="31935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Define:</a:t>
            </a:r>
          </a:p>
          <a:p>
            <a:r>
              <a:rPr lang="en-US" sz="2400" dirty="0"/>
              <a:t>Co: Carry out at MSB </a:t>
            </a:r>
          </a:p>
          <a:p>
            <a:r>
              <a:rPr lang="en-US" sz="2400" dirty="0"/>
              <a:t>Ci: Carry in at 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26D32-7BC8-92F5-951C-7AF943903BFE}"/>
              </a:ext>
            </a:extLst>
          </p:cNvPr>
          <p:cNvSpPr txBox="1"/>
          <p:nvPr/>
        </p:nvSpPr>
        <p:spPr>
          <a:xfrm>
            <a:off x="5859445" y="2486519"/>
            <a:ext cx="25523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Then:</a:t>
            </a:r>
          </a:p>
          <a:p>
            <a:r>
              <a:rPr lang="en-US" sz="2400" dirty="0"/>
              <a:t>C = Co</a:t>
            </a:r>
          </a:p>
          <a:p>
            <a:r>
              <a:rPr lang="en-US" sz="2400" dirty="0"/>
              <a:t>V = XOR (Ci, Co)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26D596-0412-F448-00C7-53532C4C46CE}"/>
                  </a:ext>
                </a:extLst>
              </p:cNvPr>
              <p:cNvSpPr txBox="1"/>
              <p:nvPr/>
            </p:nvSpPr>
            <p:spPr>
              <a:xfrm>
                <a:off x="9634013" y="1011819"/>
                <a:ext cx="1933575" cy="5482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𝑋𝑂𝑅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26D596-0412-F448-00C7-53532C4C4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4013" y="1011819"/>
                <a:ext cx="1933575" cy="548227"/>
              </a:xfrm>
              <a:prstGeom prst="rect">
                <a:avLst/>
              </a:prstGeom>
              <a:blipFill>
                <a:blip r:embed="rId3"/>
                <a:stretch>
                  <a:fillRect l="-1258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CF08361-DA99-264F-0D45-552981004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012" y="1560046"/>
            <a:ext cx="1933575" cy="2609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CE5C-9CBE-A5A5-DBAA-E5190D15F811}"/>
              </a:ext>
            </a:extLst>
          </p:cNvPr>
          <p:cNvSpPr txBox="1">
            <a:spLocks/>
          </p:cNvSpPr>
          <p:nvPr/>
        </p:nvSpPr>
        <p:spPr>
          <a:xfrm>
            <a:off x="1582228" y="1631246"/>
            <a:ext cx="4031763" cy="168945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b="1" kern="0" dirty="0"/>
              <a:t>	0 1 0 0  0 0 0 1</a:t>
            </a:r>
          </a:p>
          <a:p>
            <a:pPr marL="0" indent="0">
              <a:buNone/>
            </a:pPr>
            <a:r>
              <a:rPr lang="en-US" sz="2800" b="1" kern="0" dirty="0"/>
              <a:t>+	</a:t>
            </a:r>
            <a:r>
              <a:rPr lang="en-US" sz="2800" b="1" u="sng" kern="0" dirty="0"/>
              <a:t>1 1 0 1  0 0 1 1</a:t>
            </a:r>
          </a:p>
          <a:p>
            <a:pPr marL="0" indent="0">
              <a:buNone/>
            </a:pPr>
            <a:r>
              <a:rPr lang="en-US" sz="2800" b="1" kern="0" dirty="0"/>
              <a:t>       1 0 0 0 1  0 1 0 0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A5EFFF-3E54-A22E-1877-152768305C24}"/>
              </a:ext>
            </a:extLst>
          </p:cNvPr>
          <p:cNvCxnSpPr>
            <a:cxnSpLocks/>
          </p:cNvCxnSpPr>
          <p:nvPr/>
        </p:nvCxnSpPr>
        <p:spPr bwMode="auto">
          <a:xfrm flipH="1">
            <a:off x="2695353" y="1302489"/>
            <a:ext cx="276447" cy="353383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2FD3F9-4F7D-E1A5-D273-7E9FCCF152B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357008" y="1313122"/>
            <a:ext cx="226703" cy="328757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6C40F8-0926-8045-C510-605827A3DA36}"/>
              </a:ext>
            </a:extLst>
          </p:cNvPr>
          <p:cNvSpPr txBox="1"/>
          <p:nvPr/>
        </p:nvSpPr>
        <p:spPr>
          <a:xfrm>
            <a:off x="2971800" y="114256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Ci, carry 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50B1CD-6378-7807-D51F-25EB49CCF01A}"/>
              </a:ext>
            </a:extLst>
          </p:cNvPr>
          <p:cNvSpPr txBox="1"/>
          <p:nvPr/>
        </p:nvSpPr>
        <p:spPr>
          <a:xfrm>
            <a:off x="1046398" y="1021806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Co, carry out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BEEB0FC-63C2-AF0E-AAE7-B9D985B6EEB1}"/>
              </a:ext>
            </a:extLst>
          </p:cNvPr>
          <p:cNvSpPr txBox="1">
            <a:spLocks/>
          </p:cNvSpPr>
          <p:nvPr/>
        </p:nvSpPr>
        <p:spPr>
          <a:xfrm>
            <a:off x="304799" y="3680680"/>
            <a:ext cx="5403559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In the shown example, Ci = 1, Co =1, we get C = 1 and V = 0. </a:t>
            </a:r>
            <a:endParaRPr lang="en-US" u="sng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0B32E72C-F711-0576-7F46-2C4372E26A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379" y="4976859"/>
                <a:ext cx="9071222" cy="1136038"/>
              </a:xfrm>
              <a:prstGeom prst="rect">
                <a:avLst/>
              </a:prstGeom>
            </p:spPr>
            <p:txBody>
              <a:bodyPr/>
              <a:lstStyle>
                <a:lvl1pPr marL="342891" indent="-34289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742932" indent="-28574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2971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16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349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537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726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8914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103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r>
                  <a:rPr lang="en-US" kern="0" dirty="0"/>
                  <a:t>For </a:t>
                </a:r>
                <a:r>
                  <a:rPr lang="en-US" kern="0" dirty="0">
                    <a:solidFill>
                      <a:srgbClr val="0000FF"/>
                    </a:solidFill>
                  </a:rPr>
                  <a:t>SUBS</a:t>
                </a:r>
                <a:r>
                  <a:rPr lang="en-US" kern="0" dirty="0"/>
                  <a:t> </a:t>
                </a:r>
                <a:r>
                  <a:rPr lang="en-US" kern="0" dirty="0">
                    <a:solidFill>
                      <a:srgbClr val="00B050"/>
                    </a:solidFill>
                  </a:rPr>
                  <a:t>R0</a:t>
                </a:r>
                <a:r>
                  <a:rPr lang="en-US" kern="0" dirty="0"/>
                  <a:t>, </a:t>
                </a:r>
                <a:r>
                  <a:rPr lang="en-US" kern="0" dirty="0">
                    <a:solidFill>
                      <a:srgbClr val="00B050"/>
                    </a:solidFill>
                  </a:rPr>
                  <a:t>R1</a:t>
                </a:r>
                <a:r>
                  <a:rPr lang="en-US" kern="0" dirty="0"/>
                  <a:t>, </a:t>
                </a:r>
                <a:r>
                  <a:rPr lang="en-US" kern="0" dirty="0">
                    <a:solidFill>
                      <a:srgbClr val="00B050"/>
                    </a:solidFill>
                  </a:rPr>
                  <a:t>R2</a:t>
                </a:r>
                <a:r>
                  <a:rPr lang="en-US" kern="0" dirty="0"/>
                  <a:t>, it almost equals to </a:t>
                </a:r>
                <a:r>
                  <a:rPr lang="en-US" kern="0" dirty="0">
                    <a:solidFill>
                      <a:srgbClr val="0000FF"/>
                    </a:solidFill>
                  </a:rPr>
                  <a:t>ADDS</a:t>
                </a:r>
                <a:r>
                  <a:rPr lang="en-US" kern="0" dirty="0"/>
                  <a:t> </a:t>
                </a:r>
                <a:r>
                  <a:rPr lang="en-US" kern="0" dirty="0">
                    <a:solidFill>
                      <a:srgbClr val="00B050"/>
                    </a:solidFill>
                  </a:rPr>
                  <a:t>R0</a:t>
                </a:r>
                <a:r>
                  <a:rPr lang="en-US" kern="0" dirty="0"/>
                  <a:t>, </a:t>
                </a:r>
                <a:r>
                  <a:rPr lang="en-US" kern="0" dirty="0">
                    <a:solidFill>
                      <a:srgbClr val="00B050"/>
                    </a:solidFill>
                  </a:rPr>
                  <a:t>R1</a:t>
                </a:r>
                <a:r>
                  <a:rPr lang="en-US" kern="0" dirty="0"/>
                  <a:t>, “</a:t>
                </a:r>
                <a:r>
                  <a:rPr lang="en-US" kern="0" dirty="0">
                    <a:sym typeface="Symbol" panose="05050102010706020507" pitchFamily="18" charset="2"/>
                  </a:rPr>
                  <a:t>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</m:oMath>
                </a14:m>
                <a:r>
                  <a:rPr lang="en-US" kern="0" dirty="0">
                    <a:solidFill>
                      <a:srgbClr val="00B050"/>
                    </a:solidFill>
                  </a:rPr>
                  <a:t>R2</a:t>
                </a:r>
                <a:r>
                  <a:rPr lang="en-US" kern="0" dirty="0"/>
                  <a:t>”</a:t>
                </a:r>
                <a:endParaRPr lang="en-US" u="sng" kern="0" dirty="0"/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0B32E72C-F711-0576-7F46-2C4372E26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79" y="4976859"/>
                <a:ext cx="9071222" cy="1136038"/>
              </a:xfrm>
              <a:prstGeom prst="rect">
                <a:avLst/>
              </a:prstGeom>
              <a:blipFill>
                <a:blip r:embed="rId5"/>
                <a:stretch>
                  <a:fillRect l="-1007" t="-4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172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770D5-3BD3-E6B0-7A8B-E0A1A4747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6E25-A623-89A4-BEDF-AEE1917E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Operations w/carry bit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13FE45-F77E-63E5-DB75-67CC948A6F68}"/>
              </a:ext>
            </a:extLst>
          </p:cNvPr>
          <p:cNvGraphicFramePr>
            <a:graphicFrameLocks noGrp="1"/>
          </p:cNvGraphicFramePr>
          <p:nvPr/>
        </p:nvGraphicFramePr>
        <p:xfrm>
          <a:off x="3804923" y="998660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5B8E73-81A4-4DDC-FF02-802B9F33BBF1}"/>
              </a:ext>
            </a:extLst>
          </p:cNvPr>
          <p:cNvGraphicFramePr>
            <a:graphicFrameLocks noGrp="1"/>
          </p:cNvGraphicFramePr>
          <p:nvPr/>
        </p:nvGraphicFramePr>
        <p:xfrm>
          <a:off x="9848167" y="998660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192CB6-DB5D-90BE-A39E-F26126CC831F}"/>
              </a:ext>
            </a:extLst>
          </p:cNvPr>
          <p:cNvSpPr txBox="1">
            <a:spLocks/>
          </p:cNvSpPr>
          <p:nvPr/>
        </p:nvSpPr>
        <p:spPr>
          <a:xfrm>
            <a:off x="10727260" y="1366670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1n32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1A78F2-8061-06D1-2EFB-AE62BC5F2340}"/>
              </a:ext>
            </a:extLst>
          </p:cNvPr>
          <p:cNvSpPr txBox="1">
            <a:spLocks/>
          </p:cNvSpPr>
          <p:nvPr/>
        </p:nvSpPr>
        <p:spPr>
          <a:xfrm>
            <a:off x="260977" y="1366670"/>
            <a:ext cx="2860045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Logical Shift Right</a:t>
            </a:r>
          </a:p>
          <a:p>
            <a:pPr marL="0" indent="0">
              <a:buNone/>
            </a:pPr>
            <a:r>
              <a:rPr lang="en-US" kern="0" dirty="0"/>
              <a:t>LSR</a:t>
            </a:r>
          </a:p>
          <a:p>
            <a:pPr marL="0" indent="0">
              <a:buNone/>
            </a:pPr>
            <a:endParaRPr lang="en-US" kern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CF9C0-E4E9-D741-4F92-54418100D615}"/>
              </a:ext>
            </a:extLst>
          </p:cNvPr>
          <p:cNvSpPr txBox="1"/>
          <p:nvPr/>
        </p:nvSpPr>
        <p:spPr>
          <a:xfrm>
            <a:off x="3260969" y="1560744"/>
            <a:ext cx="575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F7C2EA-0329-C2B0-7033-F86388A6279C}"/>
              </a:ext>
            </a:extLst>
          </p:cNvPr>
          <p:cNvCxnSpPr>
            <a:cxnSpLocks/>
          </p:cNvCxnSpPr>
          <p:nvPr/>
        </p:nvCxnSpPr>
        <p:spPr bwMode="auto">
          <a:xfrm>
            <a:off x="3667125" y="1791576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F9C1C5-0056-03BF-B795-77BB471A2110}"/>
              </a:ext>
            </a:extLst>
          </p:cNvPr>
          <p:cNvCxnSpPr>
            <a:cxnSpLocks/>
          </p:cNvCxnSpPr>
          <p:nvPr/>
        </p:nvCxnSpPr>
        <p:spPr bwMode="auto">
          <a:xfrm>
            <a:off x="4152900" y="1792452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6B639E-42F0-8A71-E38A-0512F59CB97F}"/>
              </a:ext>
            </a:extLst>
          </p:cNvPr>
          <p:cNvCxnSpPr>
            <a:cxnSpLocks/>
          </p:cNvCxnSpPr>
          <p:nvPr/>
        </p:nvCxnSpPr>
        <p:spPr bwMode="auto">
          <a:xfrm>
            <a:off x="4638675" y="1791576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60E701-06DA-B61E-1BCE-FF7F7930B0F5}"/>
              </a:ext>
            </a:extLst>
          </p:cNvPr>
          <p:cNvCxnSpPr>
            <a:cxnSpLocks/>
          </p:cNvCxnSpPr>
          <p:nvPr/>
        </p:nvCxnSpPr>
        <p:spPr bwMode="auto">
          <a:xfrm>
            <a:off x="5133975" y="1790700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D57C7D-1029-0C8D-78E7-6ED1875A78A9}"/>
              </a:ext>
            </a:extLst>
          </p:cNvPr>
          <p:cNvCxnSpPr>
            <a:cxnSpLocks/>
          </p:cNvCxnSpPr>
          <p:nvPr/>
        </p:nvCxnSpPr>
        <p:spPr bwMode="auto">
          <a:xfrm>
            <a:off x="5619750" y="1791576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E277C0-9D5F-A9A0-E4AC-20574B698B33}"/>
              </a:ext>
            </a:extLst>
          </p:cNvPr>
          <p:cNvCxnSpPr>
            <a:cxnSpLocks/>
          </p:cNvCxnSpPr>
          <p:nvPr/>
        </p:nvCxnSpPr>
        <p:spPr bwMode="auto">
          <a:xfrm>
            <a:off x="6105525" y="1790700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7A3F498-9A32-5F52-5946-65D3112F13AE}"/>
              </a:ext>
            </a:extLst>
          </p:cNvPr>
          <p:cNvCxnSpPr>
            <a:cxnSpLocks/>
          </p:cNvCxnSpPr>
          <p:nvPr/>
        </p:nvCxnSpPr>
        <p:spPr bwMode="auto">
          <a:xfrm>
            <a:off x="6600825" y="1790700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0F75CE2-2476-DD0E-0EA0-1E3E63A931F8}"/>
              </a:ext>
            </a:extLst>
          </p:cNvPr>
          <p:cNvCxnSpPr>
            <a:cxnSpLocks/>
          </p:cNvCxnSpPr>
          <p:nvPr/>
        </p:nvCxnSpPr>
        <p:spPr bwMode="auto">
          <a:xfrm>
            <a:off x="8067675" y="1791576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9841567-5420-F192-A5C7-4AB5F5E95B27}"/>
              </a:ext>
            </a:extLst>
          </p:cNvPr>
          <p:cNvCxnSpPr>
            <a:cxnSpLocks/>
          </p:cNvCxnSpPr>
          <p:nvPr/>
        </p:nvCxnSpPr>
        <p:spPr bwMode="auto">
          <a:xfrm>
            <a:off x="8553450" y="1790700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545C5E-D9A6-0F9D-2B0D-2DB7A32BB903}"/>
              </a:ext>
            </a:extLst>
          </p:cNvPr>
          <p:cNvCxnSpPr>
            <a:cxnSpLocks/>
          </p:cNvCxnSpPr>
          <p:nvPr/>
        </p:nvCxnSpPr>
        <p:spPr bwMode="auto">
          <a:xfrm>
            <a:off x="9022349" y="1790700"/>
            <a:ext cx="107010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5007743-5E37-08AF-E4D5-0E080641363E}"/>
              </a:ext>
            </a:extLst>
          </p:cNvPr>
          <p:cNvGraphicFramePr>
            <a:graphicFrameLocks noGrp="1"/>
          </p:cNvGraphicFramePr>
          <p:nvPr/>
        </p:nvGraphicFramePr>
        <p:xfrm>
          <a:off x="3804923" y="2551421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D0B12446-3A2E-58FF-0F50-DEA4A99C4B14}"/>
              </a:ext>
            </a:extLst>
          </p:cNvPr>
          <p:cNvGraphicFramePr>
            <a:graphicFrameLocks noGrp="1"/>
          </p:cNvGraphicFramePr>
          <p:nvPr/>
        </p:nvGraphicFramePr>
        <p:xfrm>
          <a:off x="9848167" y="2551421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911273D3-9119-6CE4-EFDA-533157C4F2E4}"/>
              </a:ext>
            </a:extLst>
          </p:cNvPr>
          <p:cNvSpPr txBox="1">
            <a:spLocks/>
          </p:cNvSpPr>
          <p:nvPr/>
        </p:nvSpPr>
        <p:spPr>
          <a:xfrm>
            <a:off x="10727260" y="2919431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1n32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BC91AAA8-0782-5304-6BDB-4E4B667DFFCE}"/>
              </a:ext>
            </a:extLst>
          </p:cNvPr>
          <p:cNvSpPr txBox="1">
            <a:spLocks/>
          </p:cNvSpPr>
          <p:nvPr/>
        </p:nvSpPr>
        <p:spPr>
          <a:xfrm>
            <a:off x="260977" y="2919431"/>
            <a:ext cx="3142159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Arithmetic Shift Right</a:t>
            </a:r>
          </a:p>
          <a:p>
            <a:pPr marL="0" indent="0">
              <a:buNone/>
            </a:pPr>
            <a:r>
              <a:rPr lang="en-US" kern="0" dirty="0"/>
              <a:t>ASR</a:t>
            </a:r>
          </a:p>
          <a:p>
            <a:pPr marL="0" indent="0">
              <a:buNone/>
            </a:pPr>
            <a:endParaRPr lang="en-US" kern="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737C8A1-D0F7-2C8E-C06F-1068B694B055}"/>
              </a:ext>
            </a:extLst>
          </p:cNvPr>
          <p:cNvCxnSpPr>
            <a:cxnSpLocks/>
          </p:cNvCxnSpPr>
          <p:nvPr/>
        </p:nvCxnSpPr>
        <p:spPr bwMode="auto">
          <a:xfrm>
            <a:off x="3667125" y="33443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6D40CC3-2425-FB18-F570-DF42BDE63075}"/>
              </a:ext>
            </a:extLst>
          </p:cNvPr>
          <p:cNvCxnSpPr>
            <a:cxnSpLocks/>
          </p:cNvCxnSpPr>
          <p:nvPr/>
        </p:nvCxnSpPr>
        <p:spPr bwMode="auto">
          <a:xfrm>
            <a:off x="4152900" y="33452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0496642-E2AC-F4CE-4C40-CFE49797B87A}"/>
              </a:ext>
            </a:extLst>
          </p:cNvPr>
          <p:cNvCxnSpPr>
            <a:cxnSpLocks/>
          </p:cNvCxnSpPr>
          <p:nvPr/>
        </p:nvCxnSpPr>
        <p:spPr bwMode="auto">
          <a:xfrm>
            <a:off x="4638675" y="33443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D30EBC-0B8E-D499-AF67-D33DB86E107A}"/>
              </a:ext>
            </a:extLst>
          </p:cNvPr>
          <p:cNvCxnSpPr>
            <a:cxnSpLocks/>
          </p:cNvCxnSpPr>
          <p:nvPr/>
        </p:nvCxnSpPr>
        <p:spPr bwMode="auto">
          <a:xfrm>
            <a:off x="5133975" y="334346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834AF90-2D73-BACC-8A41-A571F45CE918}"/>
              </a:ext>
            </a:extLst>
          </p:cNvPr>
          <p:cNvCxnSpPr>
            <a:cxnSpLocks/>
          </p:cNvCxnSpPr>
          <p:nvPr/>
        </p:nvCxnSpPr>
        <p:spPr bwMode="auto">
          <a:xfrm>
            <a:off x="5619750" y="33443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CA02297-A5A5-4077-5214-55EA71DED311}"/>
              </a:ext>
            </a:extLst>
          </p:cNvPr>
          <p:cNvCxnSpPr>
            <a:cxnSpLocks/>
          </p:cNvCxnSpPr>
          <p:nvPr/>
        </p:nvCxnSpPr>
        <p:spPr bwMode="auto">
          <a:xfrm>
            <a:off x="6105525" y="334346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19E4E7E-6C1A-1F37-42F4-B29A14D3C3EC}"/>
              </a:ext>
            </a:extLst>
          </p:cNvPr>
          <p:cNvCxnSpPr>
            <a:cxnSpLocks/>
          </p:cNvCxnSpPr>
          <p:nvPr/>
        </p:nvCxnSpPr>
        <p:spPr bwMode="auto">
          <a:xfrm>
            <a:off x="6600825" y="334346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013B1C-05A4-FF40-20B0-4C356F879572}"/>
              </a:ext>
            </a:extLst>
          </p:cNvPr>
          <p:cNvCxnSpPr>
            <a:cxnSpLocks/>
          </p:cNvCxnSpPr>
          <p:nvPr/>
        </p:nvCxnSpPr>
        <p:spPr bwMode="auto">
          <a:xfrm>
            <a:off x="8067675" y="33443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5CB03EB-EF63-24FC-A198-429DF8DA6AE6}"/>
              </a:ext>
            </a:extLst>
          </p:cNvPr>
          <p:cNvCxnSpPr>
            <a:cxnSpLocks/>
          </p:cNvCxnSpPr>
          <p:nvPr/>
        </p:nvCxnSpPr>
        <p:spPr bwMode="auto">
          <a:xfrm>
            <a:off x="8553450" y="334346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59FA8F6-7CAB-2B6D-D48E-41FBD6A50258}"/>
              </a:ext>
            </a:extLst>
          </p:cNvPr>
          <p:cNvCxnSpPr>
            <a:cxnSpLocks/>
          </p:cNvCxnSpPr>
          <p:nvPr/>
        </p:nvCxnSpPr>
        <p:spPr bwMode="auto">
          <a:xfrm>
            <a:off x="9022349" y="3343461"/>
            <a:ext cx="107010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EE829DA-4009-B8D7-4F35-3DEDFF023BE0}"/>
              </a:ext>
            </a:extLst>
          </p:cNvPr>
          <p:cNvCxnSpPr>
            <a:cxnSpLocks/>
          </p:cNvCxnSpPr>
          <p:nvPr/>
        </p:nvCxnSpPr>
        <p:spPr bwMode="auto">
          <a:xfrm flipV="1">
            <a:off x="3667125" y="2790825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C585655-3BE2-BF98-8E09-CB9C72CFBEC8}"/>
              </a:ext>
            </a:extLst>
          </p:cNvPr>
          <p:cNvCxnSpPr>
            <a:cxnSpLocks/>
          </p:cNvCxnSpPr>
          <p:nvPr/>
        </p:nvCxnSpPr>
        <p:spPr bwMode="auto">
          <a:xfrm flipH="1">
            <a:off x="3667125" y="2790825"/>
            <a:ext cx="393917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A6DE505-171E-178D-ED47-D307BA4FAC33}"/>
              </a:ext>
            </a:extLst>
          </p:cNvPr>
          <p:cNvCxnSpPr>
            <a:cxnSpLocks/>
          </p:cNvCxnSpPr>
          <p:nvPr/>
        </p:nvCxnSpPr>
        <p:spPr bwMode="auto">
          <a:xfrm flipV="1">
            <a:off x="4061042" y="2790825"/>
            <a:ext cx="0" cy="33493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B798E377-A70D-891C-49A5-78FED7F8EF2B}"/>
              </a:ext>
            </a:extLst>
          </p:cNvPr>
          <p:cNvGraphicFramePr>
            <a:graphicFrameLocks noGrp="1"/>
          </p:cNvGraphicFramePr>
          <p:nvPr/>
        </p:nvGraphicFramePr>
        <p:xfrm>
          <a:off x="3804923" y="4151897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CE8B34A1-9B5A-285A-7B5D-2CA075529671}"/>
              </a:ext>
            </a:extLst>
          </p:cNvPr>
          <p:cNvGraphicFramePr>
            <a:graphicFrameLocks noGrp="1"/>
          </p:cNvGraphicFramePr>
          <p:nvPr/>
        </p:nvGraphicFramePr>
        <p:xfrm>
          <a:off x="9848167" y="4151897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0352993C-7D82-4330-9490-088ED8CBECAF}"/>
              </a:ext>
            </a:extLst>
          </p:cNvPr>
          <p:cNvSpPr txBox="1">
            <a:spLocks/>
          </p:cNvSpPr>
          <p:nvPr/>
        </p:nvSpPr>
        <p:spPr>
          <a:xfrm>
            <a:off x="10727260" y="4519907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0n31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CA50372E-3D89-BCF5-6765-3CB42F043DFB}"/>
              </a:ext>
            </a:extLst>
          </p:cNvPr>
          <p:cNvSpPr txBox="1">
            <a:spLocks/>
          </p:cNvSpPr>
          <p:nvPr/>
        </p:nvSpPr>
        <p:spPr>
          <a:xfrm>
            <a:off x="260977" y="4519907"/>
            <a:ext cx="3142159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Logical Shift Left</a:t>
            </a:r>
          </a:p>
          <a:p>
            <a:pPr marL="0" indent="0">
              <a:buNone/>
            </a:pPr>
            <a:r>
              <a:rPr lang="en-US" kern="0" dirty="0"/>
              <a:t>LSL</a:t>
            </a:r>
          </a:p>
          <a:p>
            <a:pPr marL="0" indent="0">
              <a:buNone/>
            </a:pPr>
            <a:endParaRPr lang="en-US" kern="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1EEABB6-7FC4-AC4D-CD9F-FCFC80F69DF5}"/>
              </a:ext>
            </a:extLst>
          </p:cNvPr>
          <p:cNvCxnSpPr>
            <a:cxnSpLocks/>
          </p:cNvCxnSpPr>
          <p:nvPr/>
        </p:nvCxnSpPr>
        <p:spPr bwMode="auto">
          <a:xfrm>
            <a:off x="3667125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403F0BA-6308-0037-FEA8-21D3DCE71D29}"/>
              </a:ext>
            </a:extLst>
          </p:cNvPr>
          <p:cNvCxnSpPr>
            <a:cxnSpLocks/>
          </p:cNvCxnSpPr>
          <p:nvPr/>
        </p:nvCxnSpPr>
        <p:spPr bwMode="auto">
          <a:xfrm>
            <a:off x="4152900" y="4945689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FD55471-90BA-655E-F15F-38463C1B6013}"/>
              </a:ext>
            </a:extLst>
          </p:cNvPr>
          <p:cNvCxnSpPr>
            <a:cxnSpLocks/>
          </p:cNvCxnSpPr>
          <p:nvPr/>
        </p:nvCxnSpPr>
        <p:spPr bwMode="auto">
          <a:xfrm>
            <a:off x="4638675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57F661E-6877-6595-9A9B-9E9DE77EA2C5}"/>
              </a:ext>
            </a:extLst>
          </p:cNvPr>
          <p:cNvCxnSpPr>
            <a:cxnSpLocks/>
          </p:cNvCxnSpPr>
          <p:nvPr/>
        </p:nvCxnSpPr>
        <p:spPr bwMode="auto">
          <a:xfrm>
            <a:off x="5133975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095EB30-2B93-5CA8-20AA-0CF6AB85FB02}"/>
              </a:ext>
            </a:extLst>
          </p:cNvPr>
          <p:cNvCxnSpPr>
            <a:cxnSpLocks/>
          </p:cNvCxnSpPr>
          <p:nvPr/>
        </p:nvCxnSpPr>
        <p:spPr bwMode="auto">
          <a:xfrm>
            <a:off x="5619750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5244DFB-5358-62B5-53D3-8E1EB82BF431}"/>
              </a:ext>
            </a:extLst>
          </p:cNvPr>
          <p:cNvCxnSpPr>
            <a:cxnSpLocks/>
          </p:cNvCxnSpPr>
          <p:nvPr/>
        </p:nvCxnSpPr>
        <p:spPr bwMode="auto">
          <a:xfrm>
            <a:off x="6105525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5C0CA3B-B0CE-8010-D8FC-201E820A67BA}"/>
              </a:ext>
            </a:extLst>
          </p:cNvPr>
          <p:cNvCxnSpPr>
            <a:cxnSpLocks/>
          </p:cNvCxnSpPr>
          <p:nvPr/>
        </p:nvCxnSpPr>
        <p:spPr bwMode="auto">
          <a:xfrm>
            <a:off x="6600825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86D210-65A6-8AE9-638E-467A24DEC3C8}"/>
              </a:ext>
            </a:extLst>
          </p:cNvPr>
          <p:cNvCxnSpPr>
            <a:cxnSpLocks/>
          </p:cNvCxnSpPr>
          <p:nvPr/>
        </p:nvCxnSpPr>
        <p:spPr bwMode="auto">
          <a:xfrm>
            <a:off x="8067675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F16B68F-B4FD-71F1-4253-C4D11F798D1B}"/>
              </a:ext>
            </a:extLst>
          </p:cNvPr>
          <p:cNvCxnSpPr>
            <a:cxnSpLocks/>
          </p:cNvCxnSpPr>
          <p:nvPr/>
        </p:nvCxnSpPr>
        <p:spPr bwMode="auto">
          <a:xfrm>
            <a:off x="8553450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B5A61D2-1474-98E8-38C3-3C0DF2B4C7A6}"/>
              </a:ext>
            </a:extLst>
          </p:cNvPr>
          <p:cNvCxnSpPr>
            <a:cxnSpLocks/>
          </p:cNvCxnSpPr>
          <p:nvPr/>
        </p:nvCxnSpPr>
        <p:spPr bwMode="auto">
          <a:xfrm>
            <a:off x="10048875" y="4943937"/>
            <a:ext cx="481726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0D1F996-120B-5E58-EB6B-BEE3C0345D0E}"/>
              </a:ext>
            </a:extLst>
          </p:cNvPr>
          <p:cNvCxnSpPr>
            <a:cxnSpLocks/>
          </p:cNvCxnSpPr>
          <p:nvPr/>
        </p:nvCxnSpPr>
        <p:spPr bwMode="auto">
          <a:xfrm flipV="1">
            <a:off x="3676650" y="4391301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8A69724-FD3E-E73D-466B-D711763D401E}"/>
              </a:ext>
            </a:extLst>
          </p:cNvPr>
          <p:cNvCxnSpPr>
            <a:cxnSpLocks/>
          </p:cNvCxnSpPr>
          <p:nvPr/>
        </p:nvCxnSpPr>
        <p:spPr bwMode="auto">
          <a:xfrm flipH="1">
            <a:off x="3676650" y="4391301"/>
            <a:ext cx="686139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8812FE4-6542-245A-2766-F67E6AC3EB79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38042" y="4391301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C83AA0F-9F7F-3F7C-902B-B6255BB21266}"/>
              </a:ext>
            </a:extLst>
          </p:cNvPr>
          <p:cNvSpPr txBox="1"/>
          <p:nvPr/>
        </p:nvSpPr>
        <p:spPr>
          <a:xfrm>
            <a:off x="9245697" y="4713104"/>
            <a:ext cx="575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01A6A77-C893-9570-4179-76F30A9415A7}"/>
              </a:ext>
            </a:extLst>
          </p:cNvPr>
          <p:cNvCxnSpPr>
            <a:cxnSpLocks/>
          </p:cNvCxnSpPr>
          <p:nvPr/>
        </p:nvCxnSpPr>
        <p:spPr bwMode="auto">
          <a:xfrm>
            <a:off x="9026771" y="495392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F4619449-6003-2607-354D-405DCDE9F459}"/>
              </a:ext>
            </a:extLst>
          </p:cNvPr>
          <p:cNvSpPr txBox="1">
            <a:spLocks/>
          </p:cNvSpPr>
          <p:nvPr/>
        </p:nvSpPr>
        <p:spPr>
          <a:xfrm>
            <a:off x="1167495" y="5619663"/>
            <a:ext cx="9363106" cy="92475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Use the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ASR </a:t>
            </a:r>
            <a:r>
              <a:rPr lang="en-US" kern="0" dirty="0"/>
              <a:t>instruction when manipulating signed numbers, and use the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LSR </a:t>
            </a:r>
            <a:r>
              <a:rPr lang="en-US" kern="0" dirty="0"/>
              <a:t>instruction when shifting unsigned numbers.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77130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CFB97-1AA8-CAA4-EB7E-3CF8B4EE5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E142-A827-69B1-B6E7-8FDADD7A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Rotate Operations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4C7F498-8DC3-1CEA-443C-2FF8C2559268}"/>
              </a:ext>
            </a:extLst>
          </p:cNvPr>
          <p:cNvGraphicFramePr>
            <a:graphicFrameLocks noGrp="1"/>
          </p:cNvGraphicFramePr>
          <p:nvPr/>
        </p:nvGraphicFramePr>
        <p:xfrm>
          <a:off x="3804923" y="1966205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0F26465-5438-4CAB-CAE2-D1B24988F739}"/>
              </a:ext>
            </a:extLst>
          </p:cNvPr>
          <p:cNvGraphicFramePr>
            <a:graphicFrameLocks noGrp="1"/>
          </p:cNvGraphicFramePr>
          <p:nvPr/>
        </p:nvGraphicFramePr>
        <p:xfrm>
          <a:off x="9848167" y="1966205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F60ED1DD-DE14-15A7-5C83-24A14C788E77}"/>
              </a:ext>
            </a:extLst>
          </p:cNvPr>
          <p:cNvSpPr txBox="1">
            <a:spLocks/>
          </p:cNvSpPr>
          <p:nvPr/>
        </p:nvSpPr>
        <p:spPr>
          <a:xfrm>
            <a:off x="10727260" y="2334215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1n32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317D7D4-AB47-11A7-D2FD-93CDC452E76F}"/>
              </a:ext>
            </a:extLst>
          </p:cNvPr>
          <p:cNvSpPr txBox="1">
            <a:spLocks/>
          </p:cNvSpPr>
          <p:nvPr/>
        </p:nvSpPr>
        <p:spPr>
          <a:xfrm>
            <a:off x="260977" y="2334215"/>
            <a:ext cx="3142159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Rotate Shift Right</a:t>
            </a:r>
          </a:p>
          <a:p>
            <a:pPr marL="0" indent="0">
              <a:buNone/>
            </a:pPr>
            <a:r>
              <a:rPr lang="en-US" kern="0" dirty="0"/>
              <a:t>ROR</a:t>
            </a:r>
          </a:p>
          <a:p>
            <a:pPr marL="0" indent="0">
              <a:buNone/>
            </a:pPr>
            <a:endParaRPr lang="en-US" kern="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713BF9A-4FE6-8EE6-C691-7FFACE6A2D8B}"/>
              </a:ext>
            </a:extLst>
          </p:cNvPr>
          <p:cNvCxnSpPr>
            <a:cxnSpLocks/>
          </p:cNvCxnSpPr>
          <p:nvPr/>
        </p:nvCxnSpPr>
        <p:spPr bwMode="auto">
          <a:xfrm>
            <a:off x="3667125" y="27591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E4EA5A7-0CE1-4217-C531-B4B772BFECE5}"/>
              </a:ext>
            </a:extLst>
          </p:cNvPr>
          <p:cNvCxnSpPr>
            <a:cxnSpLocks/>
          </p:cNvCxnSpPr>
          <p:nvPr/>
        </p:nvCxnSpPr>
        <p:spPr bwMode="auto">
          <a:xfrm>
            <a:off x="4152900" y="275999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4C07EDE-54E1-E38C-2F5D-A1F8DE8F4563}"/>
              </a:ext>
            </a:extLst>
          </p:cNvPr>
          <p:cNvCxnSpPr>
            <a:cxnSpLocks/>
          </p:cNvCxnSpPr>
          <p:nvPr/>
        </p:nvCxnSpPr>
        <p:spPr bwMode="auto">
          <a:xfrm>
            <a:off x="4638675" y="27591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F87D128-911C-A4AE-29DB-8FAE6868A9A4}"/>
              </a:ext>
            </a:extLst>
          </p:cNvPr>
          <p:cNvCxnSpPr>
            <a:cxnSpLocks/>
          </p:cNvCxnSpPr>
          <p:nvPr/>
        </p:nvCxnSpPr>
        <p:spPr bwMode="auto">
          <a:xfrm>
            <a:off x="5133975" y="2758245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B245198-189C-E755-5766-06D34F068080}"/>
              </a:ext>
            </a:extLst>
          </p:cNvPr>
          <p:cNvCxnSpPr>
            <a:cxnSpLocks/>
          </p:cNvCxnSpPr>
          <p:nvPr/>
        </p:nvCxnSpPr>
        <p:spPr bwMode="auto">
          <a:xfrm>
            <a:off x="5619750" y="27591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80B23B6-DB0D-52D2-27A9-CC0794DE6110}"/>
              </a:ext>
            </a:extLst>
          </p:cNvPr>
          <p:cNvCxnSpPr>
            <a:cxnSpLocks/>
          </p:cNvCxnSpPr>
          <p:nvPr/>
        </p:nvCxnSpPr>
        <p:spPr bwMode="auto">
          <a:xfrm>
            <a:off x="6105525" y="2758245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880BFC-4411-ECD3-9003-6A1ECA666567}"/>
              </a:ext>
            </a:extLst>
          </p:cNvPr>
          <p:cNvCxnSpPr>
            <a:cxnSpLocks/>
          </p:cNvCxnSpPr>
          <p:nvPr/>
        </p:nvCxnSpPr>
        <p:spPr bwMode="auto">
          <a:xfrm>
            <a:off x="6600825" y="2758245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70B2D45-4EC3-E392-A46B-E8E328001F3E}"/>
              </a:ext>
            </a:extLst>
          </p:cNvPr>
          <p:cNvCxnSpPr>
            <a:cxnSpLocks/>
          </p:cNvCxnSpPr>
          <p:nvPr/>
        </p:nvCxnSpPr>
        <p:spPr bwMode="auto">
          <a:xfrm>
            <a:off x="8067675" y="27591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160E55F-50BD-5F90-4A4B-0561F0340C3F}"/>
              </a:ext>
            </a:extLst>
          </p:cNvPr>
          <p:cNvCxnSpPr>
            <a:cxnSpLocks/>
          </p:cNvCxnSpPr>
          <p:nvPr/>
        </p:nvCxnSpPr>
        <p:spPr bwMode="auto">
          <a:xfrm>
            <a:off x="8553450" y="2758245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7F8F38-7053-A9C2-76BD-920F716DF8B8}"/>
              </a:ext>
            </a:extLst>
          </p:cNvPr>
          <p:cNvCxnSpPr>
            <a:cxnSpLocks/>
          </p:cNvCxnSpPr>
          <p:nvPr/>
        </p:nvCxnSpPr>
        <p:spPr bwMode="auto">
          <a:xfrm>
            <a:off x="9022349" y="2758245"/>
            <a:ext cx="107010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FEE5DBD-98E5-45C0-C981-0BCDCB51BB7A}"/>
              </a:ext>
            </a:extLst>
          </p:cNvPr>
          <p:cNvCxnSpPr>
            <a:cxnSpLocks/>
          </p:cNvCxnSpPr>
          <p:nvPr/>
        </p:nvCxnSpPr>
        <p:spPr bwMode="auto">
          <a:xfrm flipV="1">
            <a:off x="3667125" y="2205609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6D2B481-389D-DF1F-BC46-E1A5B580EA39}"/>
              </a:ext>
            </a:extLst>
          </p:cNvPr>
          <p:cNvCxnSpPr>
            <a:cxnSpLocks/>
          </p:cNvCxnSpPr>
          <p:nvPr/>
        </p:nvCxnSpPr>
        <p:spPr bwMode="auto">
          <a:xfrm flipH="1">
            <a:off x="3667125" y="2205609"/>
            <a:ext cx="5770589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C17D283-14DC-2B8F-1E2E-4D33AA9B3FB2}"/>
              </a:ext>
            </a:extLst>
          </p:cNvPr>
          <p:cNvCxnSpPr>
            <a:cxnSpLocks/>
          </p:cNvCxnSpPr>
          <p:nvPr/>
        </p:nvCxnSpPr>
        <p:spPr bwMode="auto">
          <a:xfrm flipV="1">
            <a:off x="9437714" y="2205609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C5551DCF-4F42-A667-9944-ECE51F3F80D7}"/>
              </a:ext>
            </a:extLst>
          </p:cNvPr>
          <p:cNvGraphicFramePr>
            <a:graphicFrameLocks noGrp="1"/>
          </p:cNvGraphicFramePr>
          <p:nvPr/>
        </p:nvGraphicFramePr>
        <p:xfrm>
          <a:off x="3804923" y="3566681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21C29B18-49D3-E9AD-303D-98B3F4FA74B2}"/>
              </a:ext>
            </a:extLst>
          </p:cNvPr>
          <p:cNvGraphicFramePr>
            <a:graphicFrameLocks noGrp="1"/>
          </p:cNvGraphicFramePr>
          <p:nvPr/>
        </p:nvGraphicFramePr>
        <p:xfrm>
          <a:off x="9848167" y="3566681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8B16B6B5-7438-3D11-4EA4-D93FE84C39A6}"/>
              </a:ext>
            </a:extLst>
          </p:cNvPr>
          <p:cNvSpPr txBox="1">
            <a:spLocks/>
          </p:cNvSpPr>
          <p:nvPr/>
        </p:nvSpPr>
        <p:spPr>
          <a:xfrm>
            <a:off x="10727260" y="3934691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0n31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ABE9D951-4612-FBF1-D399-13D1BDE54136}"/>
              </a:ext>
            </a:extLst>
          </p:cNvPr>
          <p:cNvSpPr txBox="1">
            <a:spLocks/>
          </p:cNvSpPr>
          <p:nvPr/>
        </p:nvSpPr>
        <p:spPr>
          <a:xfrm>
            <a:off x="260977" y="3934691"/>
            <a:ext cx="3579846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Rotate Right Extended</a:t>
            </a:r>
          </a:p>
          <a:p>
            <a:pPr marL="0" indent="0">
              <a:buNone/>
            </a:pPr>
            <a:r>
              <a:rPr lang="en-US" kern="0" dirty="0"/>
              <a:t>RRX</a:t>
            </a:r>
          </a:p>
          <a:p>
            <a:pPr marL="0" indent="0">
              <a:buNone/>
            </a:pPr>
            <a:endParaRPr lang="en-US" kern="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E4DBA0B-039E-59C5-3B17-DE83C53737E8}"/>
              </a:ext>
            </a:extLst>
          </p:cNvPr>
          <p:cNvCxnSpPr>
            <a:cxnSpLocks/>
          </p:cNvCxnSpPr>
          <p:nvPr/>
        </p:nvCxnSpPr>
        <p:spPr bwMode="auto">
          <a:xfrm>
            <a:off x="3667125" y="435959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C590513-1A73-E80F-33F5-D78E62692F48}"/>
              </a:ext>
            </a:extLst>
          </p:cNvPr>
          <p:cNvCxnSpPr>
            <a:cxnSpLocks/>
          </p:cNvCxnSpPr>
          <p:nvPr/>
        </p:nvCxnSpPr>
        <p:spPr bwMode="auto">
          <a:xfrm>
            <a:off x="4152900" y="436047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7C88F25-F47A-DD44-8623-F6465BA46E1E}"/>
              </a:ext>
            </a:extLst>
          </p:cNvPr>
          <p:cNvCxnSpPr>
            <a:cxnSpLocks/>
          </p:cNvCxnSpPr>
          <p:nvPr/>
        </p:nvCxnSpPr>
        <p:spPr bwMode="auto">
          <a:xfrm>
            <a:off x="4638675" y="435959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9C3334A-D6E2-9B73-D3F6-CD246778471D}"/>
              </a:ext>
            </a:extLst>
          </p:cNvPr>
          <p:cNvCxnSpPr>
            <a:cxnSpLocks/>
          </p:cNvCxnSpPr>
          <p:nvPr/>
        </p:nvCxnSpPr>
        <p:spPr bwMode="auto">
          <a:xfrm>
            <a:off x="5133975" y="43587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7E2C7DA-9ABB-AB9C-5348-0169E0D0043D}"/>
              </a:ext>
            </a:extLst>
          </p:cNvPr>
          <p:cNvCxnSpPr>
            <a:cxnSpLocks/>
          </p:cNvCxnSpPr>
          <p:nvPr/>
        </p:nvCxnSpPr>
        <p:spPr bwMode="auto">
          <a:xfrm>
            <a:off x="5619750" y="435959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A9D1B30-BDE9-6C9B-B14A-EF662566032B}"/>
              </a:ext>
            </a:extLst>
          </p:cNvPr>
          <p:cNvCxnSpPr>
            <a:cxnSpLocks/>
          </p:cNvCxnSpPr>
          <p:nvPr/>
        </p:nvCxnSpPr>
        <p:spPr bwMode="auto">
          <a:xfrm>
            <a:off x="6105525" y="43587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CDE8AD0-D900-09B0-FE7F-1FD8B622FB62}"/>
              </a:ext>
            </a:extLst>
          </p:cNvPr>
          <p:cNvCxnSpPr>
            <a:cxnSpLocks/>
          </p:cNvCxnSpPr>
          <p:nvPr/>
        </p:nvCxnSpPr>
        <p:spPr bwMode="auto">
          <a:xfrm>
            <a:off x="6600825" y="43587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2A77237-E872-9E76-644D-FA7EE330E84D}"/>
              </a:ext>
            </a:extLst>
          </p:cNvPr>
          <p:cNvCxnSpPr>
            <a:cxnSpLocks/>
          </p:cNvCxnSpPr>
          <p:nvPr/>
        </p:nvCxnSpPr>
        <p:spPr bwMode="auto">
          <a:xfrm>
            <a:off x="8067675" y="435959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1C0B372-A333-B4C9-66BA-4483E427C0CD}"/>
              </a:ext>
            </a:extLst>
          </p:cNvPr>
          <p:cNvCxnSpPr>
            <a:cxnSpLocks/>
          </p:cNvCxnSpPr>
          <p:nvPr/>
        </p:nvCxnSpPr>
        <p:spPr bwMode="auto">
          <a:xfrm>
            <a:off x="8553450" y="43587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FB3315B-D8B1-4FCB-D00A-270046D41F3C}"/>
              </a:ext>
            </a:extLst>
          </p:cNvPr>
          <p:cNvCxnSpPr>
            <a:cxnSpLocks/>
          </p:cNvCxnSpPr>
          <p:nvPr/>
        </p:nvCxnSpPr>
        <p:spPr bwMode="auto">
          <a:xfrm>
            <a:off x="10217888" y="4358721"/>
            <a:ext cx="312713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025C878-8FF0-F7DB-540A-2BF527D1C891}"/>
              </a:ext>
            </a:extLst>
          </p:cNvPr>
          <p:cNvCxnSpPr>
            <a:cxnSpLocks/>
          </p:cNvCxnSpPr>
          <p:nvPr/>
        </p:nvCxnSpPr>
        <p:spPr bwMode="auto">
          <a:xfrm flipV="1">
            <a:off x="3676650" y="3806085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BA988D6-6E10-EB8D-35EA-F4F6329D8FF8}"/>
              </a:ext>
            </a:extLst>
          </p:cNvPr>
          <p:cNvCxnSpPr>
            <a:cxnSpLocks/>
          </p:cNvCxnSpPr>
          <p:nvPr/>
        </p:nvCxnSpPr>
        <p:spPr bwMode="auto">
          <a:xfrm flipH="1">
            <a:off x="3676650" y="3806085"/>
            <a:ext cx="686139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054DC42-F4ED-458F-2546-6E35E212634E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38042" y="3806085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31F6FD5-26BB-C6FB-2ED7-6F8E83750363}"/>
              </a:ext>
            </a:extLst>
          </p:cNvPr>
          <p:cNvCxnSpPr>
            <a:cxnSpLocks/>
          </p:cNvCxnSpPr>
          <p:nvPr/>
        </p:nvCxnSpPr>
        <p:spPr bwMode="auto">
          <a:xfrm>
            <a:off x="9026771" y="4368707"/>
            <a:ext cx="1065680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33438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0448-53FA-05B9-CA46-A92D8A28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F45BCD-3BE3-AE56-2129-76F9E2A7D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616" y="880520"/>
            <a:ext cx="8980261" cy="548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9B39BE-DAE8-72DD-A492-EE0BA361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Operand2, Shift and Rotate</a:t>
            </a:r>
          </a:p>
        </p:txBody>
      </p:sp>
    </p:spTree>
    <p:extLst>
      <p:ext uri="{BB962C8B-B14F-4D97-AF65-F5344CB8AC3E}">
        <p14:creationId xmlns:p14="http://schemas.microsoft.com/office/powerpoint/2010/main" val="3360380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6D71-4E35-D221-7839-3A7DD367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046AB-B87C-AF21-1DB9-6EF58704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37250"/>
            <a:ext cx="7772401" cy="467599"/>
          </a:xfrm>
        </p:spPr>
        <p:txBody>
          <a:bodyPr/>
          <a:lstStyle/>
          <a:p>
            <a:r>
              <a:rPr lang="en-US" dirty="0"/>
              <a:t>Logical Operations Recap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939C6F-EAA6-B6DF-2233-2D90B771DCE4}"/>
              </a:ext>
            </a:extLst>
          </p:cNvPr>
          <p:cNvSpPr txBox="1">
            <a:spLocks/>
          </p:cNvSpPr>
          <p:nvPr/>
        </p:nvSpPr>
        <p:spPr>
          <a:xfrm>
            <a:off x="304800" y="3981450"/>
            <a:ext cx="11125202" cy="26393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Logical operations</a:t>
            </a:r>
          </a:p>
          <a:p>
            <a:pPr marL="457188" lvl="1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AND{S}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;Rd=Rn&amp;op2, Clear bits where B=0</a:t>
            </a:r>
          </a:p>
          <a:p>
            <a:pPr marL="457188" lvl="1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ORR{S}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;Rd=Rn|~op2, Set bits where B=1</a:t>
            </a:r>
          </a:p>
          <a:p>
            <a:pPr marL="457188" lvl="1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EOR{S}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;Rd=Rn^op2, Toggle bits where B=1</a:t>
            </a:r>
          </a:p>
          <a:p>
            <a:pPr marL="457188" lvl="1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BIC{S}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;Rd=Rn&amp;(~op2), Clear bits where B=1</a:t>
            </a:r>
          </a:p>
          <a:p>
            <a:pPr marL="457188" lvl="1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ORN{S}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;Rd=Rn|(~op2), Set bits where B=0</a:t>
            </a:r>
            <a:endParaRPr lang="en-US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84BF69-91BA-81C9-8026-5C16E78FF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196265"/>
              </p:ext>
            </p:extLst>
          </p:nvPr>
        </p:nvGraphicFramePr>
        <p:xfrm>
          <a:off x="304799" y="902970"/>
          <a:ext cx="11125203" cy="301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1">
                  <a:extLst>
                    <a:ext uri="{9D8B030D-6E8A-4147-A177-3AD203B41FA5}">
                      <a16:colId xmlns:a16="http://schemas.microsoft.com/office/drawing/2014/main" val="303139848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626017880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211552665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60438112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344730516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1549631198"/>
                    </a:ext>
                  </a:extLst>
                </a:gridCol>
                <a:gridCol w="1619252">
                  <a:extLst>
                    <a:ext uri="{9D8B030D-6E8A-4147-A177-3AD203B41FA5}">
                      <a16:colId xmlns:a16="http://schemas.microsoft.com/office/drawing/2014/main" val="1389027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  <a:p>
                      <a:pPr algn="ctr"/>
                      <a:r>
                        <a:rPr lang="en-US" sz="2400" dirty="0"/>
                        <a:t>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  <a:p>
                      <a:pPr algn="ctr"/>
                      <a:r>
                        <a:rPr lang="en-US" sz="2400" dirty="0"/>
                        <a:t>Operand2 </a:t>
                      </a:r>
                    </a:p>
                    <a:p>
                      <a:pPr algn="ctr"/>
                      <a:r>
                        <a:rPr lang="en-US" sz="2400" dirty="0"/>
                        <a:t>(Mask)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A&amp;B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A|B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ORR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A^B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EOR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A&amp;(~B)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BIC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A|(~B)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ORN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33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04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98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035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11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0C818-3F09-52D9-1674-F7DAED45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53E1-5CA3-97E0-2CDD-FF522DF8A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37251"/>
            <a:ext cx="5163313" cy="457200"/>
          </a:xfrm>
        </p:spPr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19197B-82F3-5E2C-6629-FEDF41FF6D6F}"/>
              </a:ext>
            </a:extLst>
          </p:cNvPr>
          <p:cNvSpPr txBox="1">
            <a:spLocks/>
          </p:cNvSpPr>
          <p:nvPr/>
        </p:nvSpPr>
        <p:spPr>
          <a:xfrm>
            <a:off x="304800" y="954956"/>
            <a:ext cx="7120128" cy="411082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Logical operations without setting flags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0xFF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R5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ORR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EOR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BIC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R8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ORN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R9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CE55BC-18C4-C58D-4D3F-F85B6955BB90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264920"/>
          <a:ext cx="4800600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551">
                  <a:extLst>
                    <a:ext uri="{9D8B030D-6E8A-4147-A177-3AD203B41FA5}">
                      <a16:colId xmlns:a16="http://schemas.microsoft.com/office/drawing/2014/main" val="3031398481"/>
                    </a:ext>
                  </a:extLst>
                </a:gridCol>
                <a:gridCol w="3592049">
                  <a:extLst>
                    <a:ext uri="{9D8B030D-6E8A-4147-A177-3AD203B41FA5}">
                      <a16:colId xmlns:a16="http://schemas.microsoft.com/office/drawing/2014/main" val="32115526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0000…0101 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33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0000…1101 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4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0000…0111 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8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0000…1111 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035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934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801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672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915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9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715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839234"/>
      </p:ext>
    </p:extLst>
  </p:cSld>
  <p:clrMapOvr>
    <a:masterClrMapping/>
  </p:clrMapOvr>
</p:sld>
</file>

<file path=ppt/theme/theme1.xml><?xml version="1.0" encoding="utf-8"?>
<a:theme xmlns:a="http://schemas.openxmlformats.org/drawingml/2006/main" name="UH ECOM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PS.potx" id="{CE41128D-6EB0-4D0A-BE39-61CAA54AB745}" vid="{38FD15AE-3AD1-4AD1-AA2E-47F4A362D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2FB37E47E1D843BC52574BCDE96A0F" ma:contentTypeVersion="3" ma:contentTypeDescription="Create a new document." ma:contentTypeScope="" ma:versionID="876989e2c60c7ad05a5017c76f23c2ec">
  <xsd:schema xmlns:xsd="http://www.w3.org/2001/XMLSchema" xmlns:xs="http://www.w3.org/2001/XMLSchema" xmlns:p="http://schemas.microsoft.com/office/2006/metadata/properties" xmlns:ns2="e099cec4-e547-44fa-ac68-43ad6ea61fbb" targetNamespace="http://schemas.microsoft.com/office/2006/metadata/properties" ma:root="true" ma:fieldsID="66e5c7ed2332263e707c3b4990332721" ns2:_="">
    <xsd:import namespace="e099cec4-e547-44fa-ac68-43ad6ea61f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9cec4-e547-44fa-ac68-43ad6ea61f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4B0B36-9BC4-4C98-96AA-CAF0FFBD447F}"/>
</file>

<file path=customXml/itemProps2.xml><?xml version="1.0" encoding="utf-8"?>
<ds:datastoreItem xmlns:ds="http://schemas.openxmlformats.org/officeDocument/2006/customXml" ds:itemID="{242CE9F8-03F5-4EE2-A1D9-F08C5A17AC26}"/>
</file>

<file path=customXml/itemProps3.xml><?xml version="1.0" encoding="utf-8"?>
<ds:datastoreItem xmlns:ds="http://schemas.openxmlformats.org/officeDocument/2006/customXml" ds:itemID="{2EB2F933-0A41-41FC-AD6B-EC7051100DE7}"/>
</file>

<file path=docProps/app.xml><?xml version="1.0" encoding="utf-8"?>
<Properties xmlns="http://schemas.openxmlformats.org/officeDocument/2006/extended-properties" xmlns:vt="http://schemas.openxmlformats.org/officeDocument/2006/docPropsVTypes">
  <Template>APS</Template>
  <TotalTime>5455</TotalTime>
  <Words>1221</Words>
  <Application>Microsoft Office PowerPoint</Application>
  <PresentationFormat>Widescreen</PresentationFormat>
  <Paragraphs>331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Milo Medium</vt:lpstr>
      <vt:lpstr>Arial</vt:lpstr>
      <vt:lpstr>Calibri</vt:lpstr>
      <vt:lpstr>Cambria Math</vt:lpstr>
      <vt:lpstr>Courier New</vt:lpstr>
      <vt:lpstr>Wingdings</vt:lpstr>
      <vt:lpstr>UH ECOMS</vt:lpstr>
      <vt:lpstr>ECE 3436 Microprocessor Systems  Notes 5b: Test and Compare Operations </vt:lpstr>
      <vt:lpstr>Today’s agenda in ECE 3436</vt:lpstr>
      <vt:lpstr>Test Operations</vt:lpstr>
      <vt:lpstr>TEQ</vt:lpstr>
      <vt:lpstr>TST</vt:lpstr>
      <vt:lpstr>Compare operations</vt:lpstr>
      <vt:lpstr>Compare operations</vt:lpstr>
      <vt:lpstr>Compare operations</vt:lpstr>
      <vt:lpstr>Condition Flags</vt:lpstr>
      <vt:lpstr>Condition Flags</vt:lpstr>
      <vt:lpstr>C flag and V flag</vt:lpstr>
      <vt:lpstr>Shift Operations w/carry bit</vt:lpstr>
      <vt:lpstr>Rotate Operations</vt:lpstr>
      <vt:lpstr>Flexible Operand2, Shift and Rotate</vt:lpstr>
      <vt:lpstr>Logical Operations Recap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RF-induced Heating Comparison between TEM and Birdcage Coils for Circular External Fixator</dc:title>
  <dc:creator>Jianfeng</dc:creator>
  <cp:lastModifiedBy>Zheng, Jianfeng</cp:lastModifiedBy>
  <cp:revision>1183</cp:revision>
  <dcterms:created xsi:type="dcterms:W3CDTF">2017-07-10T15:25:03Z</dcterms:created>
  <dcterms:modified xsi:type="dcterms:W3CDTF">2026-02-19T21:18:05Z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0x010100B62FB37E47E1D843BC52574BCDE96A0F</vt:lpwstr>
  </property>
</Properties>
</file>