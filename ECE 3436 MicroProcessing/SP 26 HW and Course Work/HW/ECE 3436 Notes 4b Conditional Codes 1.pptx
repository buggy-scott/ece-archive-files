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0" r:id="rId3"/>
    <p:sldId id="313" r:id="rId4"/>
    <p:sldId id="318" r:id="rId5"/>
    <p:sldId id="319" r:id="rId6"/>
    <p:sldId id="312" r:id="rId7"/>
    <p:sldId id="314" r:id="rId8"/>
    <p:sldId id="320" r:id="rId9"/>
    <p:sldId id="336" r:id="rId10"/>
    <p:sldId id="335" r:id="rId11"/>
    <p:sldId id="315" r:id="rId12"/>
    <p:sldId id="317" r:id="rId13"/>
    <p:sldId id="321" r:id="rId14"/>
    <p:sldId id="322" r:id="rId15"/>
    <p:sldId id="323" r:id="rId16"/>
    <p:sldId id="325" r:id="rId17"/>
    <p:sldId id="327" r:id="rId18"/>
    <p:sldId id="328" r:id="rId19"/>
    <p:sldId id="329" r:id="rId20"/>
    <p:sldId id="331" r:id="rId21"/>
    <p:sldId id="330" r:id="rId22"/>
    <p:sldId id="332" r:id="rId23"/>
    <p:sldId id="333" r:id="rId24"/>
    <p:sldId id="334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4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8483-B75A-C0AB-4CC0-50CC9D2C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1BA5D-B278-9A12-3862-FCE8C3388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A7B0B-145D-86F9-3D0D-8344B9377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5C746-7D92-C93C-797F-9F2233BC3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86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203F4-B9F4-F4E5-CB71-793892DB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F5ED0-4453-6A4C-7936-585D5751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3122E-5420-D296-D7EB-5C474F97E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4AB1-F3D4-6717-5EED-959869F5F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80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5067-5455-FC36-07A5-1C06DEE2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A7D11-7848-1EAA-45CD-079F80561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D9D66-BDD6-2A52-C524-375DDC19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7CB61-F358-AC86-1BA6-04CD2C66C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19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CAD8-90A5-1AC8-EE0A-DDEC8FE2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D3A9-A334-1740-C8F8-F9C63209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47BDC-EF6D-51BD-1A49-9ED16AA07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5393-539B-7424-ADD2-D7EFA748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94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CAD8-90A5-1AC8-EE0A-DDEC8FE2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D3A9-A334-1740-C8F8-F9C63209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47BDC-EF6D-51BD-1A49-9ED16AA07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5393-539B-7424-ADD2-D7EFA748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9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CAD8-90A5-1AC8-EE0A-DDEC8FE2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D3A9-A334-1740-C8F8-F9C63209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47BDC-EF6D-51BD-1A49-9ED16AA07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75393-539B-7424-ADD2-D7EFA7482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61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337D-0CA3-350D-5608-A42A60F5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62618-E99B-85C6-BEB5-A3DBAE095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CE722-4F4A-8DAE-7CC3-177334520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5EEF5-EF64-00AE-9CA3-DAF88453C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67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D504-2682-6FAF-1FBE-E6FF4BB4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32582-F961-8919-7A06-6F0682DF4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398E1-21C8-841D-1119-956ED0924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E5E5C-48BF-639A-105E-21C6AF381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84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645-823C-16E2-8750-FC05FA16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52EA3-F379-CEDE-D907-E3396CDBA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7CB48-C981-BD5F-756D-11AF4B15C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EDFF3-86D0-0764-34CA-5CF611827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39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63E4-DDDD-85D8-2081-535E7828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F6492-7DB3-D5E8-15F3-7D35AF90F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4DFD5-B072-32A4-0C91-F7437F77B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AA054-7896-C2A2-E584-019A634B6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69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51CE-BD55-EEFA-64BD-62C7BADE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6ADFA-D2B1-196D-B039-06EC1A49B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2E294-553C-3830-AE0A-7CF9A4F97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5D1B3-5692-4FB6-392E-94B7875B3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09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A870-D493-8F4F-3E00-E21FE084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8A691-224A-E4E5-022E-824A2675F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96F7C-0980-0171-04D8-AAA73C8A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8B20C-FC11-9928-9753-FAF869ECC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7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C9F4-9CA9-6E33-65F3-ADB7FCBA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B1562-8401-0BCF-01A3-3541AF7AB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0FB2E-0778-5037-6196-6D999DDC8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4B136-E16D-AF45-0778-E0F774171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6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B4D5-52DF-65E4-9E5A-08E3E80A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3D437-6D25-8837-F9C4-D752C9C21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C37AB-74B4-9DBE-F635-3AD65D2A6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4B60A-D33B-EB1C-BA95-0FCA31FA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8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F2F7-5543-9799-1269-EE870963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57086-91D4-F583-2845-2FC042C35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5F803-1F21-DF9F-E381-ABAC68016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71FA-AC06-7CF3-78CB-6EBC14D4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53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0DF4-533A-0FF2-D10F-B70D0BE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8055D-33FF-6464-61C2-8EB7BA181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149F1-A02E-A075-1A12-99E692614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6FF22-0FF7-9185-AED6-01D221A28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83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C681-7228-B449-2FB4-85DF9ED9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EEEFA-6B2E-58C7-18A4-7C491F67B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A61D7-7377-6587-EFF6-659706BE3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4BA94-13AF-0B1C-CC80-95D1DB300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37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BD0D-551C-3703-510C-CE65CE78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5A9E1-A9F6-5675-3C90-77A0E0534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B9425-D36B-CAD3-BF03-C65646CA8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659CF-750A-50AE-F01F-1C6BADB9B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52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F6D7-03BA-4C12-9BA3-AA26F5E6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C773D-7C4F-F1DA-14BE-91F0D3C7C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0144F-6C1F-DAEC-8039-0C664EB9F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AEFB0-E8B6-E37A-38A8-917DF3005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6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B7AB-641B-D7A4-0FAC-A9192199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3F137-EDB6-921C-35BD-ABA9CECBA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C3203-A58B-399C-3243-10231E2B2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B5185-BC6D-EC9E-3D4E-A4657C0CC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62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4</a:t>
            </a:r>
            <a:r>
              <a:rPr lang="en-US" altLang="zh-CN" dirty="0"/>
              <a:t>b</a:t>
            </a:r>
            <a:r>
              <a:rPr lang="en-US" dirty="0"/>
              <a:t>: Condition Codes I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Feb 12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Review 2’s complement numbers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Predict condition flag values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Observe conditions flags during program execution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849E-D4CD-5BD4-A2A7-ACBEAAC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851-3EF9-7C69-7FCF-BAB50B6B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2’s Complement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AF0E89-0E50-8BFA-F4FD-0B88E0C5A188}"/>
              </a:ext>
            </a:extLst>
          </p:cNvPr>
          <p:cNvSpPr txBox="1">
            <a:spLocks/>
          </p:cNvSpPr>
          <p:nvPr/>
        </p:nvSpPr>
        <p:spPr>
          <a:xfrm>
            <a:off x="356197" y="1142999"/>
            <a:ext cx="5791200" cy="13019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Two</a:t>
            </a:r>
            <a:r>
              <a:rPr lang="en-US" kern="0" dirty="0"/>
              <a:t>’s complement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Add one extra sign bit and flip all bits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Add one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E27F5-C11B-71E4-69FC-B6E99501208E}"/>
                  </a:ext>
                </a:extLst>
              </p:cNvPr>
              <p:cNvSpPr txBox="1"/>
              <p:nvPr/>
            </p:nvSpPr>
            <p:spPr>
              <a:xfrm>
                <a:off x="926896" y="2755476"/>
                <a:ext cx="20933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1101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E27F5-C11B-71E4-69FC-B6E995012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96" y="2755476"/>
                <a:ext cx="2093329" cy="369332"/>
              </a:xfrm>
              <a:prstGeom prst="rect">
                <a:avLst/>
              </a:prstGeom>
              <a:blipFill>
                <a:blip r:embed="rId2"/>
                <a:stretch>
                  <a:fillRect l="-2624" r="-875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7BECAB-A56D-E3BB-9A31-3ABF6760E105}"/>
                  </a:ext>
                </a:extLst>
              </p:cNvPr>
              <p:cNvSpPr txBox="1"/>
              <p:nvPr/>
            </p:nvSpPr>
            <p:spPr>
              <a:xfrm>
                <a:off x="794692" y="3204025"/>
                <a:ext cx="22370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0010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7BECAB-A56D-E3BB-9A31-3ABF6760E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92" y="3204025"/>
                <a:ext cx="2237087" cy="369332"/>
              </a:xfrm>
              <a:prstGeom prst="rect">
                <a:avLst/>
              </a:prstGeom>
              <a:blipFill>
                <a:blip r:embed="rId3"/>
                <a:stretch>
                  <a:fillRect r="-54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AEEC896-D82A-CCB5-154B-236D18662643}"/>
              </a:ext>
            </a:extLst>
          </p:cNvPr>
          <p:cNvSpPr/>
          <p:nvPr/>
        </p:nvSpPr>
        <p:spPr bwMode="auto">
          <a:xfrm>
            <a:off x="711320" y="2676259"/>
            <a:ext cx="3018622" cy="1521168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E348DA-D85C-A01A-4F57-BF2756DA5675}"/>
                  </a:ext>
                </a:extLst>
              </p:cNvPr>
              <p:cNvSpPr txBox="1"/>
              <p:nvPr/>
            </p:nvSpPr>
            <p:spPr>
              <a:xfrm>
                <a:off x="6545498" y="2755476"/>
                <a:ext cx="2067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+0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E348DA-D85C-A01A-4F57-BF2756DA5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498" y="2755476"/>
                <a:ext cx="2067169" cy="369332"/>
              </a:xfrm>
              <a:prstGeom prst="rect">
                <a:avLst/>
              </a:prstGeom>
              <a:blipFill>
                <a:blip r:embed="rId4"/>
                <a:stretch>
                  <a:fillRect l="-2065" r="-590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413842-754A-C413-05F7-03FFDEC9C9E2}"/>
                  </a:ext>
                </a:extLst>
              </p:cNvPr>
              <p:cNvSpPr txBox="1"/>
              <p:nvPr/>
            </p:nvSpPr>
            <p:spPr>
              <a:xfrm>
                <a:off x="6556515" y="3204025"/>
                <a:ext cx="2067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1111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413842-754A-C413-05F7-03FFDEC9C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515" y="3204025"/>
                <a:ext cx="2067169" cy="369332"/>
              </a:xfrm>
              <a:prstGeom prst="rect">
                <a:avLst/>
              </a:prstGeom>
              <a:blipFill>
                <a:blip r:embed="rId5"/>
                <a:stretch>
                  <a:fillRect r="-59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B08B3CF-E562-11BA-7245-08F4CE52A96C}"/>
              </a:ext>
            </a:extLst>
          </p:cNvPr>
          <p:cNvSpPr/>
          <p:nvPr/>
        </p:nvSpPr>
        <p:spPr bwMode="auto">
          <a:xfrm>
            <a:off x="6329922" y="2676259"/>
            <a:ext cx="3018622" cy="1358763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643F0-5CC8-0056-9F8D-5B46F76AC1B7}"/>
              </a:ext>
            </a:extLst>
          </p:cNvPr>
          <p:cNvSpPr txBox="1"/>
          <p:nvPr/>
        </p:nvSpPr>
        <p:spPr>
          <a:xfrm>
            <a:off x="2843456" y="3198167"/>
            <a:ext cx="2587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325AC2-66ED-970C-B354-F46B5C6D142D}"/>
                  </a:ext>
                </a:extLst>
              </p:cNvPr>
              <p:cNvSpPr txBox="1"/>
              <p:nvPr/>
            </p:nvSpPr>
            <p:spPr>
              <a:xfrm>
                <a:off x="794692" y="3602535"/>
                <a:ext cx="22370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0011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E325AC2-66ED-970C-B354-F46B5C6D1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92" y="3602535"/>
                <a:ext cx="2237087" cy="369332"/>
              </a:xfrm>
              <a:prstGeom prst="rect">
                <a:avLst/>
              </a:prstGeom>
              <a:blipFill>
                <a:blip r:embed="rId6"/>
                <a:stretch>
                  <a:fillRect r="-545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CBE35C4-D3F1-5EF0-71B7-9498FDC8E5ED}"/>
              </a:ext>
            </a:extLst>
          </p:cNvPr>
          <p:cNvSpPr txBox="1"/>
          <p:nvPr/>
        </p:nvSpPr>
        <p:spPr>
          <a:xfrm>
            <a:off x="2843455" y="3602535"/>
            <a:ext cx="2587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2’s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10465E-6E77-328C-B4E8-CBC99F92C5C5}"/>
              </a:ext>
            </a:extLst>
          </p:cNvPr>
          <p:cNvSpPr txBox="1"/>
          <p:nvPr/>
        </p:nvSpPr>
        <p:spPr>
          <a:xfrm>
            <a:off x="8623685" y="3197637"/>
            <a:ext cx="2587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1’s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B29E8-7A54-4B7E-FD59-7D057EB24565}"/>
              </a:ext>
            </a:extLst>
          </p:cNvPr>
          <p:cNvSpPr txBox="1"/>
          <p:nvPr/>
        </p:nvSpPr>
        <p:spPr>
          <a:xfrm>
            <a:off x="8623684" y="3602005"/>
            <a:ext cx="2587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2’s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96C2E-9433-C192-AF0B-B7467151B0A1}"/>
                  </a:ext>
                </a:extLst>
              </p:cNvPr>
              <p:cNvSpPr txBox="1"/>
              <p:nvPr/>
            </p:nvSpPr>
            <p:spPr>
              <a:xfrm>
                <a:off x="6556515" y="3602005"/>
                <a:ext cx="2067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F96C2E-9433-C192-AF0B-B7467151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515" y="3602005"/>
                <a:ext cx="2067169" cy="369332"/>
              </a:xfrm>
              <a:prstGeom prst="rect">
                <a:avLst/>
              </a:prstGeom>
              <a:blipFill>
                <a:blip r:embed="rId7"/>
                <a:stretch>
                  <a:fillRect r="-59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603200A-B793-BD47-1020-333ED5E9FF64}"/>
              </a:ext>
            </a:extLst>
          </p:cNvPr>
          <p:cNvSpPr/>
          <p:nvPr/>
        </p:nvSpPr>
        <p:spPr bwMode="auto">
          <a:xfrm>
            <a:off x="711319" y="4554594"/>
            <a:ext cx="8985573" cy="1521168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6D80DE-8353-05CB-76A8-E9068611CC5A}"/>
                  </a:ext>
                </a:extLst>
              </p:cNvPr>
              <p:cNvSpPr txBox="1"/>
              <p:nvPr/>
            </p:nvSpPr>
            <p:spPr>
              <a:xfrm>
                <a:off x="926896" y="4681963"/>
                <a:ext cx="8225457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0011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=−16+2+1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=−13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−16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6D80DE-8353-05CB-76A8-E9068611C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96" y="4681963"/>
                <a:ext cx="8225457" cy="1107996"/>
              </a:xfrm>
              <a:prstGeom prst="rect">
                <a:avLst/>
              </a:prstGeom>
              <a:blipFill>
                <a:blip r:embed="rId8"/>
                <a:stretch>
                  <a:fillRect l="-1260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7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7441-181D-72E5-A95A-A9643310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57D0-4342-B316-CA71-967959B9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5D45FC-E347-1E46-C4DC-9B1AE54E3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3057922"/>
            <a:ext cx="10058400" cy="3181071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75FA5DC-4915-3B69-3162-4AEFDC2E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911250"/>
            <a:ext cx="11582400" cy="2389414"/>
          </a:xfrm>
        </p:spPr>
        <p:txBody>
          <a:bodyPr/>
          <a:lstStyle/>
          <a:p>
            <a:r>
              <a:rPr lang="en-US" altLang="zh-CN" dirty="0"/>
              <a:t>The Program Status Register (</a:t>
            </a:r>
            <a:r>
              <a:rPr lang="en-US" altLang="zh-CN" b="1" dirty="0"/>
              <a:t>PSR</a:t>
            </a:r>
            <a:r>
              <a:rPr lang="en-US" altLang="zh-CN" dirty="0"/>
              <a:t>) is a 32-bit register.</a:t>
            </a:r>
          </a:p>
          <a:p>
            <a:pPr lvl="1"/>
            <a:r>
              <a:rPr lang="en-US" dirty="0"/>
              <a:t>Application Program Register, </a:t>
            </a:r>
            <a:r>
              <a:rPr lang="en-US" b="1" dirty="0"/>
              <a:t>APSR</a:t>
            </a:r>
            <a:r>
              <a:rPr lang="en-US" dirty="0"/>
              <a:t> (application level/unprivileged Software)</a:t>
            </a:r>
          </a:p>
          <a:p>
            <a:pPr lvl="1"/>
            <a:r>
              <a:rPr lang="en-US" dirty="0"/>
              <a:t>Interrupt Program Status Register, </a:t>
            </a:r>
            <a:r>
              <a:rPr lang="en-US" b="1" dirty="0"/>
              <a:t>IPSR</a:t>
            </a:r>
            <a:r>
              <a:rPr lang="en-US" dirty="0"/>
              <a:t> (holds exception number)</a:t>
            </a:r>
          </a:p>
          <a:p>
            <a:pPr lvl="1"/>
            <a:r>
              <a:rPr lang="en-US" dirty="0"/>
              <a:t>Execution Program Status Register, </a:t>
            </a:r>
            <a:r>
              <a:rPr lang="en-US" b="1" dirty="0"/>
              <a:t>EPSR</a:t>
            </a:r>
            <a:r>
              <a:rPr lang="en-US" dirty="0"/>
              <a:t> (Holds execution state bits)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37FC-7F58-D0C5-8B92-BF886A9D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BA57-D1A7-25B5-1227-47BEFD61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5FA2475-FC04-90CD-1D81-1969CED28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911249"/>
            <a:ext cx="11582400" cy="3735179"/>
          </a:xfrm>
        </p:spPr>
        <p:txBody>
          <a:bodyPr/>
          <a:lstStyle/>
          <a:p>
            <a:r>
              <a:rPr lang="en-US" altLang="zh-CN" dirty="0"/>
              <a:t>FLAGS</a:t>
            </a:r>
          </a:p>
          <a:p>
            <a:pPr lvl="1"/>
            <a:r>
              <a:rPr lang="en-US" altLang="zh-CN" b="1" dirty="0"/>
              <a:t>N, bit[31]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Negative</a:t>
            </a:r>
            <a:r>
              <a:rPr lang="en-US" altLang="zh-CN" dirty="0"/>
              <a:t> condition code flag. If the result is regarded as a two’s complement signed integer, then N==1 if the result is negative and N==0 if it is positive or zero.</a:t>
            </a:r>
          </a:p>
          <a:p>
            <a:pPr lvl="1"/>
            <a:r>
              <a:rPr lang="en-US" altLang="zh-CN" b="1" dirty="0"/>
              <a:t>Z, bit[30]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Zero</a:t>
            </a:r>
            <a:r>
              <a:rPr lang="en-US" altLang="zh-CN" dirty="0"/>
              <a:t> condition code flag. Set to 1 if the result of the instruction is zero, and to 0 otherwise.</a:t>
            </a:r>
          </a:p>
          <a:p>
            <a:pPr lvl="1"/>
            <a:r>
              <a:rPr lang="en-US" altLang="zh-CN" b="1" dirty="0"/>
              <a:t>C, bit[29] 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Carry</a:t>
            </a:r>
            <a:r>
              <a:rPr lang="en-US" altLang="zh-CN" dirty="0"/>
              <a:t> condition code flag. Set to 1 if the instruction results in a carry condition.</a:t>
            </a:r>
          </a:p>
          <a:p>
            <a:pPr lvl="1"/>
            <a:r>
              <a:rPr lang="en-US" altLang="zh-CN" b="1" dirty="0"/>
              <a:t>V, bit[28]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rgbClr val="0070C0"/>
                </a:solidFill>
              </a:rPr>
              <a:t>Overflow</a:t>
            </a:r>
            <a:r>
              <a:rPr lang="en-US" altLang="zh-CN" dirty="0"/>
              <a:t> condition code flag. Set to 1 if the instruction results in an overflow condition.  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D9A08-C559-23D4-37B8-FD51B9372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736872"/>
            <a:ext cx="10058400" cy="136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98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3AF-8E6E-D6F3-032A-95C09D92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1CE4A-0100-177E-B3EF-CC1219B92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935186"/>
            <a:ext cx="11582400" cy="2389414"/>
          </a:xfrm>
        </p:spPr>
        <p:txBody>
          <a:bodyPr/>
          <a:lstStyle/>
          <a:p>
            <a:r>
              <a:rPr lang="en-US" dirty="0"/>
              <a:t>C flag</a:t>
            </a:r>
          </a:p>
          <a:p>
            <a:pPr lvl="1"/>
            <a:r>
              <a:rPr lang="en-US" dirty="0"/>
              <a:t>Set (1) after an unsigned addition if the answer is wrong</a:t>
            </a:r>
          </a:p>
          <a:p>
            <a:pPr lvl="1"/>
            <a:r>
              <a:rPr lang="en-US" dirty="0"/>
              <a:t>Clear (0) after an unsigned subtraction if the answer is wrong</a:t>
            </a:r>
          </a:p>
          <a:p>
            <a:r>
              <a:rPr lang="en-US" dirty="0"/>
              <a:t>V flag</a:t>
            </a:r>
          </a:p>
          <a:p>
            <a:pPr lvl="1"/>
            <a:r>
              <a:rPr lang="en-US" dirty="0"/>
              <a:t>Set (1) after a signed addition or subtraction if the answer is wrong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A12C48-D0FE-73A6-C525-2A8ABF6F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32257"/>
              </p:ext>
            </p:extLst>
          </p:nvPr>
        </p:nvGraphicFramePr>
        <p:xfrm>
          <a:off x="952500" y="1019418"/>
          <a:ext cx="10286999" cy="25908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18366">
                  <a:extLst>
                    <a:ext uri="{9D8B030D-6E8A-4147-A177-3AD203B41FA5}">
                      <a16:colId xmlns:a16="http://schemas.microsoft.com/office/drawing/2014/main" val="658815527"/>
                    </a:ext>
                  </a:extLst>
                </a:gridCol>
                <a:gridCol w="3430531">
                  <a:extLst>
                    <a:ext uri="{9D8B030D-6E8A-4147-A177-3AD203B41FA5}">
                      <a16:colId xmlns:a16="http://schemas.microsoft.com/office/drawing/2014/main" val="3898281224"/>
                    </a:ext>
                  </a:extLst>
                </a:gridCol>
                <a:gridCol w="4838102">
                  <a:extLst>
                    <a:ext uri="{9D8B030D-6E8A-4147-A177-3AD203B41FA5}">
                      <a16:colId xmlns:a16="http://schemas.microsoft.com/office/drawing/2014/main" val="1931048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 if set 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88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Result is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0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Result is 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2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overflow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Signed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42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Unsigned addition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9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Thumb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Microprocessor is in Thumb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475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03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FFE9-B0B5-4A34-1CD4-25757369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CD46-1B64-9303-0841-ABDF72DA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gone wrong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BADC59-0E82-C7D4-8FA9-D31E5AE15AB9}"/>
              </a:ext>
            </a:extLst>
          </p:cNvPr>
          <p:cNvSpPr txBox="1">
            <a:spLocks/>
          </p:cNvSpPr>
          <p:nvPr/>
        </p:nvSpPr>
        <p:spPr>
          <a:xfrm>
            <a:off x="356197" y="1142999"/>
            <a:ext cx="5791200" cy="70213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olidFill>
                  <a:srgbClr val="FF0000"/>
                </a:solidFill>
              </a:rPr>
              <a:t>Carry flag warnings</a:t>
            </a: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AFBF8A-9131-AAFD-4DDE-988593F00FC6}"/>
              </a:ext>
            </a:extLst>
          </p:cNvPr>
          <p:cNvSpPr txBox="1">
            <a:spLocks/>
          </p:cNvSpPr>
          <p:nvPr/>
        </p:nvSpPr>
        <p:spPr>
          <a:xfrm>
            <a:off x="356197" y="1752595"/>
            <a:ext cx="5791200" cy="246017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Carry bit SET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Unsigned addition </a:t>
            </a:r>
            <a:r>
              <a:rPr lang="en-US" kern="0" dirty="0">
                <a:sym typeface="Wingdings" panose="05000000000000000000" pitchFamily="2" charset="2"/>
              </a:rPr>
              <a:t> Wrong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Carry bit </a:t>
            </a:r>
            <a:r>
              <a:rPr lang="en-US" altLang="zh-CN" kern="0" dirty="0">
                <a:sym typeface="Wingdings" panose="05000000000000000000" pitchFamily="2" charset="2"/>
              </a:rPr>
              <a:t>CLEAR</a:t>
            </a:r>
            <a:endParaRPr lang="en-US" kern="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Unsigned subtraction  Wrong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B4AA52-045A-2104-810C-229053DEF37C}"/>
              </a:ext>
            </a:extLst>
          </p:cNvPr>
          <p:cNvSpPr txBox="1">
            <a:spLocks/>
          </p:cNvSpPr>
          <p:nvPr/>
        </p:nvSpPr>
        <p:spPr>
          <a:xfrm>
            <a:off x="5586782" y="1142999"/>
            <a:ext cx="5791200" cy="70213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olidFill>
                  <a:srgbClr val="FF0000"/>
                </a:solidFill>
              </a:rPr>
              <a:t>Overflow flag warnings</a:t>
            </a: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653DFE-4A85-1877-8D06-6867D5B7EAF7}"/>
              </a:ext>
            </a:extLst>
          </p:cNvPr>
          <p:cNvSpPr txBox="1">
            <a:spLocks/>
          </p:cNvSpPr>
          <p:nvPr/>
        </p:nvSpPr>
        <p:spPr>
          <a:xfrm>
            <a:off x="5586782" y="1752595"/>
            <a:ext cx="5791200" cy="246017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Overflow bit SET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Signed addition </a:t>
            </a:r>
            <a:r>
              <a:rPr lang="en-US" kern="0" dirty="0">
                <a:sym typeface="Wingdings" panose="05000000000000000000" pitchFamily="2" charset="2"/>
              </a:rPr>
              <a:t> Wrong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Signed subtraction  Wrong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EA65E0A-691E-2C7B-09B1-7053E4D46B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6196" y="4637316"/>
                <a:ext cx="9568025" cy="1143001"/>
              </a:xfrm>
              <a:prstGeom prst="rect">
                <a:avLst/>
              </a:prstGeom>
            </p:spPr>
            <p:txBody>
              <a:bodyPr/>
              <a:lstStyle>
                <a:lvl1pPr marL="342891" indent="-34289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/>
                  <a:t>For </a:t>
                </a:r>
                <a:r>
                  <a:rPr lang="en-US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SUBS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R0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R1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kern="0" dirty="0"/>
                  <a:t>, it </a:t>
                </a:r>
                <a:r>
                  <a:rPr lang="en-US" kern="0" dirty="0">
                    <a:highlight>
                      <a:srgbClr val="FFFF00"/>
                    </a:highlight>
                  </a:rPr>
                  <a:t>almost</a:t>
                </a:r>
                <a:r>
                  <a:rPr lang="en-US" kern="0" dirty="0"/>
                  <a:t> equals to </a:t>
                </a:r>
                <a:r>
                  <a:rPr lang="en-US" kern="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ADDS</a:t>
                </a:r>
                <a:r>
                  <a:rPr lang="en-US" kern="0" dirty="0">
                    <a:latin typeface="Consolas" panose="020B0609020204030204" pitchFamily="49" charset="0"/>
                  </a:rPr>
                  <a:t>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R0</a:t>
                </a:r>
                <a:r>
                  <a:rPr lang="en-US" kern="0" dirty="0">
                    <a:latin typeface="Consolas" panose="020B06090202040302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R1</a:t>
                </a:r>
                <a:r>
                  <a:rPr lang="en-US" kern="0" dirty="0">
                    <a:latin typeface="Consolas" panose="020B0609020204030204" pitchFamily="49" charset="0"/>
                  </a:rPr>
                  <a:t>, “</a:t>
                </a:r>
                <a:r>
                  <a:rPr lang="en-US" kern="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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</m:oMath>
                </a14:m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R2</a:t>
                </a:r>
                <a:r>
                  <a:rPr lang="en-US" kern="0" dirty="0">
                    <a:latin typeface="Consolas" panose="020B0609020204030204" pitchFamily="49" charset="0"/>
                  </a:rPr>
                  <a:t>”</a:t>
                </a:r>
                <a:endParaRPr lang="en-US" u="sng" kern="0" dirty="0">
                  <a:latin typeface="Consolas" panose="020B0609020204030204" pitchFamily="49" charset="0"/>
                </a:endParaRP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/>
                  <a:t>Multiply does not affect the C or V flags, only N&amp;Z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>
                    <a:sym typeface="Wingdings" panose="05000000000000000000" pitchFamily="2" charset="2"/>
                  </a:rPr>
                  <a:t>Division does not set flags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kern="0" dirty="0">
                  <a:sym typeface="Wingdings" panose="05000000000000000000" pitchFamily="2" charset="2"/>
                </a:endParaRPr>
              </a:p>
              <a:p>
                <a:pPr marL="457188" lvl="1" indent="0">
                  <a:buNone/>
                </a:pPr>
                <a:endParaRPr lang="en-US" kern="0" dirty="0"/>
              </a:p>
              <a:p>
                <a:pPr marL="914388" lvl="1" indent="-457200">
                  <a:buFontTx/>
                  <a:buAutoNum type="arabicPeriod"/>
                </a:pPr>
                <a:endParaRPr lang="en-US" kern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EA65E0A-691E-2C7B-09B1-7053E4D46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96" y="4637316"/>
                <a:ext cx="9568025" cy="1143001"/>
              </a:xfrm>
              <a:prstGeom prst="rect">
                <a:avLst/>
              </a:prstGeom>
              <a:blipFill>
                <a:blip r:embed="rId3"/>
                <a:stretch>
                  <a:fillRect l="-828" t="-4813" b="-29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166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A775-8C0F-0CDE-ECC5-07E3D4EC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0EAC24-1CFB-5B38-7B4E-20120876CA18}"/>
              </a:ext>
            </a:extLst>
          </p:cNvPr>
          <p:cNvSpPr/>
          <p:nvPr/>
        </p:nvSpPr>
        <p:spPr bwMode="auto">
          <a:xfrm>
            <a:off x="7495953" y="1052623"/>
            <a:ext cx="3646968" cy="23763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4C7D1-94EC-9301-7786-F70091E1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flag and V flag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7BA23-4BD1-520B-72DB-D48A2AC4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867218"/>
            <a:ext cx="6953250" cy="5314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95116D-3D68-BDB6-ADC9-135DF3FB4530}"/>
              </a:ext>
            </a:extLst>
          </p:cNvPr>
          <p:cNvSpPr txBox="1"/>
          <p:nvPr/>
        </p:nvSpPr>
        <p:spPr>
          <a:xfrm>
            <a:off x="7719237" y="1169581"/>
            <a:ext cx="289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Define:</a:t>
            </a:r>
          </a:p>
          <a:p>
            <a:r>
              <a:rPr lang="en-US" dirty="0"/>
              <a:t>Co: Carry out at MSB (C1)</a:t>
            </a:r>
          </a:p>
          <a:p>
            <a:r>
              <a:rPr lang="en-US" dirty="0"/>
              <a:t>Ci: Carry in at MSB (C2)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26D32-7BC8-92F5-951C-7AF943903BFE}"/>
              </a:ext>
            </a:extLst>
          </p:cNvPr>
          <p:cNvSpPr txBox="1"/>
          <p:nvPr/>
        </p:nvSpPr>
        <p:spPr>
          <a:xfrm>
            <a:off x="7719237" y="2397368"/>
            <a:ext cx="19607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Then:</a:t>
            </a:r>
          </a:p>
          <a:p>
            <a:r>
              <a:rPr lang="en-US" dirty="0"/>
              <a:t>C = Co</a:t>
            </a:r>
          </a:p>
          <a:p>
            <a:r>
              <a:rPr lang="en-US" dirty="0"/>
              <a:t>V = XOR (Ci, 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/>
              <p:nvPr/>
            </p:nvSpPr>
            <p:spPr>
              <a:xfrm>
                <a:off x="7495953" y="3680680"/>
                <a:ext cx="1933575" cy="5482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𝑋𝑂𝑅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953" y="3680680"/>
                <a:ext cx="1933575" cy="548227"/>
              </a:xfrm>
              <a:prstGeom prst="rect">
                <a:avLst/>
              </a:prstGeom>
              <a:blipFill>
                <a:blip r:embed="rId4"/>
                <a:stretch>
                  <a:fillRect l="-1577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F08361-DA99-264F-0D45-552981004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013" y="3680680"/>
            <a:ext cx="19335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7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A775-8C0F-0CDE-ECC5-07E3D4EC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0EAC24-1CFB-5B38-7B4E-20120876CA18}"/>
              </a:ext>
            </a:extLst>
          </p:cNvPr>
          <p:cNvSpPr/>
          <p:nvPr/>
        </p:nvSpPr>
        <p:spPr bwMode="auto">
          <a:xfrm>
            <a:off x="5725633" y="1011819"/>
            <a:ext cx="3646968" cy="2668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4C7D1-94EC-9301-7786-F70091E1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flag and V flag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5116D-3D68-BDB6-ADC9-135DF3FB4530}"/>
              </a:ext>
            </a:extLst>
          </p:cNvPr>
          <p:cNvSpPr txBox="1"/>
          <p:nvPr/>
        </p:nvSpPr>
        <p:spPr>
          <a:xfrm>
            <a:off x="5859445" y="1054433"/>
            <a:ext cx="3193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Define:</a:t>
            </a:r>
          </a:p>
          <a:p>
            <a:r>
              <a:rPr lang="en-US" sz="2400" dirty="0"/>
              <a:t>Co: Carry out at MSB </a:t>
            </a:r>
          </a:p>
          <a:p>
            <a:r>
              <a:rPr lang="en-US" sz="2400" dirty="0"/>
              <a:t>Ci: Carry in at 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D26D32-7BC8-92F5-951C-7AF943903BFE}"/>
              </a:ext>
            </a:extLst>
          </p:cNvPr>
          <p:cNvSpPr txBox="1"/>
          <p:nvPr/>
        </p:nvSpPr>
        <p:spPr>
          <a:xfrm>
            <a:off x="5859445" y="2486519"/>
            <a:ext cx="2552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Then:</a:t>
            </a:r>
          </a:p>
          <a:p>
            <a:r>
              <a:rPr lang="en-US" sz="2400" dirty="0"/>
              <a:t>C = Co</a:t>
            </a:r>
          </a:p>
          <a:p>
            <a:r>
              <a:rPr lang="en-US" sz="2400" dirty="0"/>
              <a:t>V = XOR (Ci, Co)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/>
              <p:nvPr/>
            </p:nvSpPr>
            <p:spPr>
              <a:xfrm>
                <a:off x="9634013" y="1011819"/>
                <a:ext cx="1933575" cy="5482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𝑋𝑂𝑅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6D596-0412-F448-00C7-53532C4C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013" y="1011819"/>
                <a:ext cx="1933575" cy="548227"/>
              </a:xfrm>
              <a:prstGeom prst="rect">
                <a:avLst/>
              </a:prstGeom>
              <a:blipFill>
                <a:blip r:embed="rId3"/>
                <a:stretch>
                  <a:fillRect l="-1258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F08361-DA99-264F-0D45-552981004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012" y="1560046"/>
            <a:ext cx="1933575" cy="2609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CE5C-9CBE-A5A5-DBAA-E5190D15F811}"/>
              </a:ext>
            </a:extLst>
          </p:cNvPr>
          <p:cNvSpPr txBox="1">
            <a:spLocks/>
          </p:cNvSpPr>
          <p:nvPr/>
        </p:nvSpPr>
        <p:spPr>
          <a:xfrm>
            <a:off x="1582228" y="1631246"/>
            <a:ext cx="4031763" cy="168945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b="1" kern="0" dirty="0"/>
              <a:t>	0 1 0 0  0 0 0 1</a:t>
            </a:r>
          </a:p>
          <a:p>
            <a:pPr marL="0" indent="0">
              <a:buNone/>
            </a:pPr>
            <a:r>
              <a:rPr lang="en-US" sz="2800" b="1" kern="0" dirty="0"/>
              <a:t>+	</a:t>
            </a:r>
            <a:r>
              <a:rPr lang="en-US" sz="2800" b="1" u="sng" kern="0" dirty="0"/>
              <a:t>1 1 0 1  0 0 1 1</a:t>
            </a:r>
          </a:p>
          <a:p>
            <a:pPr marL="0" indent="0">
              <a:buNone/>
            </a:pPr>
            <a:r>
              <a:rPr lang="en-US" sz="2800" b="1" kern="0" dirty="0"/>
              <a:t>       1 0 0 0 1  0 1 0 0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A5EFFF-3E54-A22E-1877-152768305C24}"/>
              </a:ext>
            </a:extLst>
          </p:cNvPr>
          <p:cNvCxnSpPr>
            <a:cxnSpLocks/>
          </p:cNvCxnSpPr>
          <p:nvPr/>
        </p:nvCxnSpPr>
        <p:spPr bwMode="auto">
          <a:xfrm flipH="1">
            <a:off x="2695353" y="1302489"/>
            <a:ext cx="276447" cy="353383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2FD3F9-4F7D-E1A5-D273-7E9FCCF152B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357008" y="1313122"/>
            <a:ext cx="226703" cy="328757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6C40F8-0926-8045-C510-605827A3DA36}"/>
              </a:ext>
            </a:extLst>
          </p:cNvPr>
          <p:cNvSpPr txBox="1"/>
          <p:nvPr/>
        </p:nvSpPr>
        <p:spPr>
          <a:xfrm>
            <a:off x="2971800" y="114256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Ci, carry 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0B1CD-6378-7807-D51F-25EB49CCF01A}"/>
              </a:ext>
            </a:extLst>
          </p:cNvPr>
          <p:cNvSpPr txBox="1"/>
          <p:nvPr/>
        </p:nvSpPr>
        <p:spPr>
          <a:xfrm>
            <a:off x="1046398" y="102180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Co, carry out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BEEB0FC-63C2-AF0E-AAE7-B9D985B6EEB1}"/>
              </a:ext>
            </a:extLst>
          </p:cNvPr>
          <p:cNvSpPr txBox="1">
            <a:spLocks/>
          </p:cNvSpPr>
          <p:nvPr/>
        </p:nvSpPr>
        <p:spPr>
          <a:xfrm>
            <a:off x="304799" y="3680680"/>
            <a:ext cx="5403559" cy="113603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In the shown example, Ci = 1, Co =1, we get C = 1 and V = 0. </a:t>
            </a:r>
            <a:endParaRPr lang="en-US" u="sng" kern="0" dirty="0"/>
          </a:p>
        </p:txBody>
      </p:sp>
    </p:spTree>
    <p:extLst>
      <p:ext uri="{BB962C8B-B14F-4D97-AF65-F5344CB8AC3E}">
        <p14:creationId xmlns:p14="http://schemas.microsoft.com/office/powerpoint/2010/main" val="204165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BA775-8C0F-0CDE-ECC5-07E3D4EC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C7D1-94EC-9301-7786-F70091E1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flag and V flag (Arithmetic Logic Unit)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3743B6-529E-4F3F-B4D5-6A1DDF581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18" y="1284634"/>
            <a:ext cx="52768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CA0C7A-466D-4398-BAC8-04EAA4C68AF6}"/>
              </a:ext>
            </a:extLst>
          </p:cNvPr>
          <p:cNvSpPr txBox="1"/>
          <p:nvPr/>
        </p:nvSpPr>
        <p:spPr>
          <a:xfrm>
            <a:off x="7301534" y="1944253"/>
            <a:ext cx="41781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kern="0" dirty="0">
                <a:sym typeface="Wingdings" panose="05000000000000000000" pitchFamily="2" charset="2"/>
              </a:rPr>
              <a:t>Check the corner case </a:t>
            </a:r>
          </a:p>
          <a:p>
            <a:pPr lvl="1"/>
            <a:r>
              <a:rPr lang="en-US" sz="2400" kern="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MOV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4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400" kern="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0</a:t>
            </a:r>
          </a:p>
          <a:p>
            <a:pPr lvl="1"/>
            <a:r>
              <a:rPr lang="en-US" sz="2400" kern="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MOV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4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#</a:t>
            </a:r>
            <a:r>
              <a:rPr lang="en-US" sz="2400" kern="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0</a:t>
            </a:r>
          </a:p>
          <a:p>
            <a:pPr lvl="1"/>
            <a:r>
              <a:rPr lang="en-US" sz="2400" kern="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SUBS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4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R0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en-US" sz="24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R1</a:t>
            </a:r>
            <a:r>
              <a:rPr lang="en-US" sz="2400" kern="0" dirty="0"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en-US" sz="2400" kern="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9291DF6-A3FC-463B-9DCC-DCA6C7292A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6196" y="4637316"/>
                <a:ext cx="9568025" cy="1143001"/>
              </a:xfrm>
              <a:prstGeom prst="rect">
                <a:avLst/>
              </a:prstGeom>
            </p:spPr>
            <p:txBody>
              <a:bodyPr/>
              <a:lstStyle>
                <a:lvl1pPr marL="342891" indent="-342891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/>
                  <a:t>For </a:t>
                </a:r>
                <a:r>
                  <a:rPr lang="en-US" kern="0" dirty="0">
                    <a:solidFill>
                      <a:srgbClr val="0000FF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SUBS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R0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R1</a:t>
                </a:r>
                <a:r>
                  <a:rPr lang="en-US" kern="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kern="0" dirty="0"/>
                  <a:t>, it </a:t>
                </a:r>
                <a:r>
                  <a:rPr lang="en-US" kern="0" dirty="0">
                    <a:highlight>
                      <a:srgbClr val="FFFF00"/>
                    </a:highlight>
                  </a:rPr>
                  <a:t>almost</a:t>
                </a:r>
                <a:r>
                  <a:rPr lang="en-US" kern="0" dirty="0"/>
                  <a:t> equals to </a:t>
                </a:r>
                <a:r>
                  <a:rPr lang="en-US" kern="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ADDS</a:t>
                </a:r>
                <a:r>
                  <a:rPr lang="en-US" kern="0" dirty="0">
                    <a:latin typeface="Consolas" panose="020B0609020204030204" pitchFamily="49" charset="0"/>
                  </a:rPr>
                  <a:t>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R0</a:t>
                </a:r>
                <a:r>
                  <a:rPr lang="en-US" kern="0" dirty="0">
                    <a:latin typeface="Consolas" panose="020B0609020204030204" pitchFamily="49" charset="0"/>
                  </a:rPr>
                  <a:t>, </a:t>
                </a:r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R1</a:t>
                </a:r>
                <a:r>
                  <a:rPr lang="en-US" kern="0" dirty="0">
                    <a:latin typeface="Consolas" panose="020B0609020204030204" pitchFamily="49" charset="0"/>
                  </a:rPr>
                  <a:t>, “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</m:oMath>
                </a14:m>
                <a:r>
                  <a:rPr lang="en-US" kern="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R2</a:t>
                </a:r>
                <a:r>
                  <a:rPr lang="en-US" kern="0" dirty="0">
                    <a:latin typeface="Consolas" panose="020B0609020204030204" pitchFamily="49" charset="0"/>
                  </a:rPr>
                  <a:t>”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>
                    <a:latin typeface="+mj-lt"/>
                  </a:rPr>
                  <a:t>For “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</m:oMath>
                </a14:m>
                <a:r>
                  <a:rPr lang="en-US" kern="0" dirty="0">
                    <a:latin typeface="+mj-lt"/>
                  </a:rPr>
                  <a:t>”, we need “</a:t>
                </a:r>
                <a:r>
                  <a:rPr lang="en-US" kern="0" dirty="0">
                    <a:solidFill>
                      <a:srgbClr val="FF0000"/>
                    </a:solidFill>
                    <a:latin typeface="+mj-lt"/>
                  </a:rPr>
                  <a:t>Flip</a:t>
                </a:r>
                <a:r>
                  <a:rPr lang="en-US" kern="0" dirty="0">
                    <a:latin typeface="+mj-lt"/>
                  </a:rPr>
                  <a:t>” and “</a:t>
                </a:r>
                <a:r>
                  <a:rPr lang="en-US" kern="0" dirty="0">
                    <a:solidFill>
                      <a:srgbClr val="FF0000"/>
                    </a:solidFill>
                    <a:latin typeface="+mj-lt"/>
                  </a:rPr>
                  <a:t>+1</a:t>
                </a:r>
                <a:r>
                  <a:rPr lang="en-US" kern="0" dirty="0">
                    <a:latin typeface="+mj-lt"/>
                  </a:rPr>
                  <a:t>”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US" kern="0" dirty="0">
                    <a:latin typeface="+mj-lt"/>
                  </a:rPr>
                  <a:t>The “</a:t>
                </a:r>
                <a:r>
                  <a:rPr lang="en-US" kern="0" dirty="0">
                    <a:solidFill>
                      <a:srgbClr val="FF0000"/>
                    </a:solidFill>
                    <a:latin typeface="+mj-lt"/>
                  </a:rPr>
                  <a:t>+1</a:t>
                </a:r>
                <a:r>
                  <a:rPr lang="en-US" kern="0" dirty="0">
                    <a:latin typeface="+mj-lt"/>
                  </a:rPr>
                  <a:t>” is operated during add, not before add.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endParaRPr lang="en-US" kern="0" dirty="0">
                  <a:sym typeface="Wingdings" panose="05000000000000000000" pitchFamily="2" charset="2"/>
                </a:endParaRPr>
              </a:p>
              <a:p>
                <a:pPr marL="457188" lvl="1" indent="0">
                  <a:buNone/>
                </a:pPr>
                <a:endParaRPr lang="en-US" kern="0" dirty="0"/>
              </a:p>
              <a:p>
                <a:pPr marL="914388" lvl="1" indent="-457200">
                  <a:buFontTx/>
                  <a:buAutoNum type="arabicPeriod"/>
                </a:pPr>
                <a:endParaRPr lang="en-US" kern="0" dirty="0"/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9291DF6-A3FC-463B-9DCC-DCA6C729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96" y="4637316"/>
                <a:ext cx="9568025" cy="1143001"/>
              </a:xfrm>
              <a:prstGeom prst="rect">
                <a:avLst/>
              </a:prstGeom>
              <a:blipFill>
                <a:blip r:embed="rId4"/>
                <a:stretch>
                  <a:fillRect l="-828" t="-4813" b="-29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43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AE6C-3F17-5818-70A3-FB4CD2D3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FCA8-5489-A4AC-A399-17C7060B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if flags will be updated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FD79D-59A0-B4CF-0A6B-39FB0FF4B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939540"/>
            <a:ext cx="5495925" cy="55530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0185C3-181B-1671-C146-DEAE8A4FFFDC}"/>
              </a:ext>
            </a:extLst>
          </p:cNvPr>
          <p:cNvSpPr txBox="1">
            <a:spLocks/>
          </p:cNvSpPr>
          <p:nvPr/>
        </p:nvSpPr>
        <p:spPr>
          <a:xfrm>
            <a:off x="6096001" y="968824"/>
            <a:ext cx="5791200" cy="2912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Check the FLAGs in debug mode, and</a:t>
            </a:r>
          </a:p>
          <a:p>
            <a:pPr algn="l"/>
            <a:endParaRPr lang="en-US" sz="1800" b="0" i="0" u="none" strike="noStrike" baseline="0" dirty="0">
              <a:latin typeface="ArialMT"/>
            </a:endParaRPr>
          </a:p>
          <a:p>
            <a:pPr algn="l"/>
            <a:r>
              <a:rPr lang="en-US" kern="0" dirty="0"/>
              <a:t>ARM®v7-M Architecture Reference Manual</a:t>
            </a:r>
          </a:p>
          <a:p>
            <a:pPr algn="l"/>
            <a:endParaRPr lang="en-US" kern="0" dirty="0">
              <a:sym typeface="Wingdings" panose="05000000000000000000" pitchFamily="2" charset="2"/>
            </a:endParaRPr>
          </a:p>
          <a:p>
            <a:pPr algn="l"/>
            <a:r>
              <a:rPr lang="en-US" kern="0" dirty="0"/>
              <a:t>Cortex-M4 Technical Reference Manual</a:t>
            </a:r>
            <a:endParaRPr lang="en-US" kern="0" dirty="0">
              <a:sym typeface="Wingdings" panose="05000000000000000000" pitchFamily="2" charset="2"/>
            </a:endParaRP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8903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26015-F39B-E8DB-B6D8-2C8D7A12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FFCF-5CC5-C9E7-3D20-A8CA4F4E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1: Zero (Z)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5854-C01A-844B-9C1E-BDB5E5D7B93B}"/>
              </a:ext>
            </a:extLst>
          </p:cNvPr>
          <p:cNvSpPr txBox="1">
            <a:spLocks/>
          </p:cNvSpPr>
          <p:nvPr/>
        </p:nvSpPr>
        <p:spPr>
          <a:xfrm>
            <a:off x="304799" y="968823"/>
            <a:ext cx="11582402" cy="30480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0x10 + 0x01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No  Z = 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Yes  Z = 1 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87811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A614-73E8-F208-12CE-529287D1F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7CD6-DAEB-9569-06B5-8FBF3513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2: Zero (Z)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92932-9712-E98F-CAC9-6D52062C05A3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11582402" cy="2912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0x00 + 0x00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No  Z = 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Yes  Z = 1 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74621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63EC-860D-D18A-1D38-9A51FD2F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ABBB-BB54-3F26-855F-BDDD2133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259D-F30F-37B3-4A7C-08197B658CF0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5246915" cy="353786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0xA0A0.A0A0 + 0x0505.0505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Does the calculations produce a carry?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FCE68D-9F2A-6E12-0FCC-70EBA36F5581}"/>
              </a:ext>
            </a:extLst>
          </p:cNvPr>
          <p:cNvSpPr txBox="1">
            <a:spLocks/>
          </p:cNvSpPr>
          <p:nvPr/>
        </p:nvSpPr>
        <p:spPr>
          <a:xfrm>
            <a:off x="6096000" y="968824"/>
            <a:ext cx="5981701" cy="353786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0xFFFF.FFFF + 0x0000.0001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Does the calculations produce a carry?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99063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E610-6541-6695-4F57-B10546B0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E725-00B1-97A4-255F-A5BED6420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3: Negative (N)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B47E8-0BAB-1EAB-104E-226C5C4AD887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11582402" cy="2912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0x01 + 0x01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Is the answer negative? How do you know?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No  N = 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Yes  N = 1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77993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144C-DB0F-7E89-515E-95A80830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03D4-58A8-966A-F5A5-380ED3C3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4: Negative (N)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C8BE5-9E8A-479E-5035-39B156D4B0EB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11582402" cy="2912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0x0000.0000 + 0xFFFF.FFFF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Is the answer negative?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No  N = 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Yes  N = 1</a:t>
            </a:r>
          </a:p>
        </p:txBody>
      </p:sp>
    </p:spTree>
    <p:extLst>
      <p:ext uri="{BB962C8B-B14F-4D97-AF65-F5344CB8AC3E}">
        <p14:creationId xmlns:p14="http://schemas.microsoft.com/office/powerpoint/2010/main" val="3728136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9314-A42F-3E44-75A4-FD2E6B7D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65FA-ED1D-5629-3BEF-4CD11467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34975-CC8C-D8EB-139B-7328C52AE65C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5246915" cy="492579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0x1234.ABCD </a:t>
            </a:r>
            <a:r>
              <a:rPr lang="en-US" b="1" kern="0" dirty="0">
                <a:sym typeface="Symbol" panose="05050102010706020507" pitchFamily="18" charset="2"/>
              </a:rPr>
              <a:t></a:t>
            </a:r>
            <a:r>
              <a:rPr lang="en-US" kern="0" dirty="0"/>
              <a:t> 0x1234.0000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Does the calculations produce a carry?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9CAF81-35D7-0682-3671-49E8AAB789D5}"/>
              </a:ext>
            </a:extLst>
          </p:cNvPr>
          <p:cNvSpPr txBox="1">
            <a:spLocks/>
          </p:cNvSpPr>
          <p:nvPr/>
        </p:nvSpPr>
        <p:spPr>
          <a:xfrm>
            <a:off x="6096000" y="968824"/>
            <a:ext cx="5981701" cy="3537862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0xFFFF.FFFF </a:t>
            </a:r>
            <a:r>
              <a:rPr lang="en-US" b="1" kern="0" dirty="0">
                <a:sym typeface="Symbol" panose="05050102010706020507" pitchFamily="18" charset="2"/>
              </a:rPr>
              <a:t></a:t>
            </a:r>
            <a:r>
              <a:rPr lang="en-US" kern="0" dirty="0"/>
              <a:t> 0xF000.0001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 = 0 or 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Does the calculations produce a carry?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36370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AAA5-78A9-9496-142D-5FF21B48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0A31-CEFB-B6C5-FB36-35379A0B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5: Carry (C) &amp; Overflow (V)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317D0-E403-8FA9-637E-CDC5F5275FB2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11582402" cy="2912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0x0000.0010 + 0x0000.0001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5635E7-85D8-0323-9FA1-8B58F9EBA1E8}"/>
              </a:ext>
            </a:extLst>
          </p:cNvPr>
          <p:cNvSpPr txBox="1">
            <a:spLocks/>
          </p:cNvSpPr>
          <p:nvPr/>
        </p:nvSpPr>
        <p:spPr>
          <a:xfrm>
            <a:off x="304799" y="3461293"/>
            <a:ext cx="5246915" cy="138792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Unsigned Numbers:</a:t>
            </a:r>
          </a:p>
          <a:p>
            <a:pPr marL="0" indent="0">
              <a:buNone/>
            </a:pPr>
            <a:r>
              <a:rPr lang="en-US" kern="0" dirty="0"/>
              <a:t>16 + 1 = 7</a:t>
            </a:r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985C4A-A3E8-17B5-AE3C-8971E5D30485}"/>
              </a:ext>
            </a:extLst>
          </p:cNvPr>
          <p:cNvSpPr txBox="1">
            <a:spLocks/>
          </p:cNvSpPr>
          <p:nvPr/>
        </p:nvSpPr>
        <p:spPr>
          <a:xfrm>
            <a:off x="5796642" y="3461293"/>
            <a:ext cx="5246915" cy="138792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Signed Numbers:</a:t>
            </a:r>
          </a:p>
          <a:p>
            <a:pPr marL="0" indent="0">
              <a:buNone/>
            </a:pPr>
            <a:r>
              <a:rPr lang="en-US" kern="0" dirty="0"/>
              <a:t>16 + 1 = 7</a:t>
            </a:r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39736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F2EC-69B5-EBCC-4EB1-BF774CC8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5CED-6884-39E6-3B5A-2F89C443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6: Carry (C) &amp; Overflow (V)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9789-E6BA-78D3-8D78-5DA5831D1B09}"/>
              </a:ext>
            </a:extLst>
          </p:cNvPr>
          <p:cNvSpPr txBox="1">
            <a:spLocks/>
          </p:cNvSpPr>
          <p:nvPr/>
        </p:nvSpPr>
        <p:spPr>
          <a:xfrm>
            <a:off x="304799" y="968823"/>
            <a:ext cx="11582402" cy="40767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0x8000.0000 + 0x0000.0001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38BD37-A7FF-1D85-FFC1-4D8ADC9080B5}"/>
              </a:ext>
            </a:extLst>
          </p:cNvPr>
          <p:cNvSpPr txBox="1">
            <a:spLocks/>
          </p:cNvSpPr>
          <p:nvPr/>
        </p:nvSpPr>
        <p:spPr>
          <a:xfrm>
            <a:off x="304799" y="3461292"/>
            <a:ext cx="5246915" cy="18586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Unsigned Numbers:</a:t>
            </a:r>
          </a:p>
          <a:p>
            <a:pPr marL="0" indent="0">
              <a:buNone/>
            </a:pPr>
            <a:r>
              <a:rPr lang="en-US" kern="0" dirty="0"/>
              <a:t>2,147,483,648 + 1 = 2,147,483,649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46A721-B91A-2B1D-E924-48559E2C5E61}"/>
              </a:ext>
            </a:extLst>
          </p:cNvPr>
          <p:cNvSpPr txBox="1">
            <a:spLocks/>
          </p:cNvSpPr>
          <p:nvPr/>
        </p:nvSpPr>
        <p:spPr>
          <a:xfrm>
            <a:off x="5796642" y="3461293"/>
            <a:ext cx="5861958" cy="18586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Signed Numbers:</a:t>
            </a:r>
          </a:p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</a:t>
            </a:r>
            <a:r>
              <a:rPr lang="en-US" kern="0" dirty="0"/>
              <a:t>2,147,483,648 + 1 = </a:t>
            </a:r>
            <a:r>
              <a:rPr lang="en-US" kern="0" dirty="0">
                <a:sym typeface="Symbol" panose="05050102010706020507" pitchFamily="18" charset="2"/>
              </a:rPr>
              <a:t> </a:t>
            </a:r>
            <a:r>
              <a:rPr lang="en-US" kern="0" dirty="0"/>
              <a:t>2,147,483,647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96899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1580-8012-E72E-B167-40A5C8D7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07E2-BE62-86A4-FF7C-F5C40C3B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7: Carry (C) &amp; Overflow (V)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4988-43F7-8B8B-BEA7-02520D50D494}"/>
              </a:ext>
            </a:extLst>
          </p:cNvPr>
          <p:cNvSpPr txBox="1">
            <a:spLocks/>
          </p:cNvSpPr>
          <p:nvPr/>
        </p:nvSpPr>
        <p:spPr>
          <a:xfrm>
            <a:off x="304799" y="968823"/>
            <a:ext cx="11582402" cy="40767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0xFFFF.FFFF + 0x0000.0001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652E64-3FB4-18BA-DB9B-A56A3D922077}"/>
              </a:ext>
            </a:extLst>
          </p:cNvPr>
          <p:cNvSpPr txBox="1">
            <a:spLocks/>
          </p:cNvSpPr>
          <p:nvPr/>
        </p:nvSpPr>
        <p:spPr>
          <a:xfrm>
            <a:off x="304799" y="3461292"/>
            <a:ext cx="5246915" cy="18586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Unsigned Numbers:</a:t>
            </a:r>
          </a:p>
          <a:p>
            <a:pPr marL="0" indent="0">
              <a:buNone/>
            </a:pPr>
            <a:r>
              <a:rPr lang="en-US" kern="0" dirty="0"/>
              <a:t>4,294,967,295 + 1 =0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236BE2-7B0E-C84C-3431-82D9289F3BCC}"/>
              </a:ext>
            </a:extLst>
          </p:cNvPr>
          <p:cNvSpPr txBox="1">
            <a:spLocks/>
          </p:cNvSpPr>
          <p:nvPr/>
        </p:nvSpPr>
        <p:spPr>
          <a:xfrm>
            <a:off x="5796642" y="3461293"/>
            <a:ext cx="5861958" cy="18586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Signed Numbers:</a:t>
            </a:r>
          </a:p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1 + 1 = 0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97586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6185-EABA-E101-DF6E-4E84C10E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EF38-F8B2-A05F-8179-A9464857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8: Carry (C) &amp; Overflow (V)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54F5-DEEE-3E69-9AFA-E29420E88A35}"/>
              </a:ext>
            </a:extLst>
          </p:cNvPr>
          <p:cNvSpPr txBox="1">
            <a:spLocks/>
          </p:cNvSpPr>
          <p:nvPr/>
        </p:nvSpPr>
        <p:spPr>
          <a:xfrm>
            <a:off x="304799" y="968823"/>
            <a:ext cx="11582402" cy="40767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0x7FFF.FFFF + 0x7FFF.FFFF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8DA402-6D26-8A19-3FAD-8A4F3C1B1A37}"/>
              </a:ext>
            </a:extLst>
          </p:cNvPr>
          <p:cNvSpPr txBox="1">
            <a:spLocks/>
          </p:cNvSpPr>
          <p:nvPr/>
        </p:nvSpPr>
        <p:spPr>
          <a:xfrm>
            <a:off x="304799" y="3461292"/>
            <a:ext cx="5246915" cy="18586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Unsigned Numbers:</a:t>
            </a:r>
          </a:p>
          <a:p>
            <a:pPr marL="0" indent="0">
              <a:buNone/>
            </a:pPr>
            <a:r>
              <a:rPr lang="en-US" kern="0" dirty="0"/>
              <a:t>2,147,483,647 + 2,147,483,647 = 4,294,967,294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69199C-ACCD-8343-555D-B042CB1756AB}"/>
              </a:ext>
            </a:extLst>
          </p:cNvPr>
          <p:cNvSpPr txBox="1">
            <a:spLocks/>
          </p:cNvSpPr>
          <p:nvPr/>
        </p:nvSpPr>
        <p:spPr>
          <a:xfrm>
            <a:off x="5796642" y="3461293"/>
            <a:ext cx="5861958" cy="18586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Signed Numbers:</a:t>
            </a:r>
          </a:p>
          <a:p>
            <a:pPr marL="0" indent="0">
              <a:buNone/>
            </a:pPr>
            <a:r>
              <a:rPr lang="en-US" kern="0" dirty="0"/>
              <a:t>2,147,483,647 + 2,147,483,647 = </a:t>
            </a:r>
          </a:p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2</a:t>
            </a: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605414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5F26-C0F8-781D-869F-48995060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5561-29FC-F93B-E817-4AABFA438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9: Carry (C) &amp; Overflow (V)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8889-4239-62DB-7002-8FF590E893DE}"/>
              </a:ext>
            </a:extLst>
          </p:cNvPr>
          <p:cNvSpPr txBox="1">
            <a:spLocks/>
          </p:cNvSpPr>
          <p:nvPr/>
        </p:nvSpPr>
        <p:spPr>
          <a:xfrm>
            <a:off x="304799" y="968823"/>
            <a:ext cx="11582402" cy="40767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Ex: 0x8000.0000 + 0x8000.0000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Answer: ________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559C5E-67B5-0D2B-0AD8-7283F10B627F}"/>
              </a:ext>
            </a:extLst>
          </p:cNvPr>
          <p:cNvSpPr txBox="1">
            <a:spLocks/>
          </p:cNvSpPr>
          <p:nvPr/>
        </p:nvSpPr>
        <p:spPr>
          <a:xfrm>
            <a:off x="304799" y="3461292"/>
            <a:ext cx="5246915" cy="185860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Unsigned Numbers:</a:t>
            </a:r>
          </a:p>
          <a:p>
            <a:pPr marL="0" indent="0">
              <a:buNone/>
            </a:pPr>
            <a:r>
              <a:rPr lang="en-US" kern="0" dirty="0"/>
              <a:t>2,147,483,648 + 2,147,483,648 = 0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BF2E3F-D095-46D1-6D96-657A60485A91}"/>
              </a:ext>
            </a:extLst>
          </p:cNvPr>
          <p:cNvSpPr txBox="1">
            <a:spLocks/>
          </p:cNvSpPr>
          <p:nvPr/>
        </p:nvSpPr>
        <p:spPr>
          <a:xfrm>
            <a:off x="5796642" y="3461293"/>
            <a:ext cx="5861958" cy="18586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Signed Numbers:</a:t>
            </a:r>
          </a:p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 </a:t>
            </a:r>
            <a:r>
              <a:rPr lang="en-US" kern="0" dirty="0"/>
              <a:t>2,147,483,647 + </a:t>
            </a:r>
            <a:r>
              <a:rPr lang="en-US" kern="0" dirty="0">
                <a:sym typeface="Symbol" panose="05050102010706020507" pitchFamily="18" charset="2"/>
              </a:rPr>
              <a:t></a:t>
            </a:r>
            <a:r>
              <a:rPr lang="en-US" kern="0" dirty="0"/>
              <a:t> 2,147,483,647 = 0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kern="0" dirty="0"/>
              <a:t>The answer is correct/incorrect?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38675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E1E0-B4E0-ACC2-FE62-BF2A48C0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85597-1F55-76D2-3B9A-45C5DDCE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060753-6CCB-D301-4E0C-425F78383957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5246915" cy="492579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0x000.0001 </a:t>
            </a:r>
            <a:r>
              <a:rPr lang="en-US" kern="0" dirty="0">
                <a:sym typeface="Symbol" panose="05050102010706020507" pitchFamily="18" charset="2"/>
              </a:rPr>
              <a:t>+</a:t>
            </a:r>
            <a:r>
              <a:rPr lang="en-US" kern="0" dirty="0"/>
              <a:t>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there a carry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V = 0 or 1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8A0310-96FE-270A-DD86-AC8647EC0603}"/>
              </a:ext>
            </a:extLst>
          </p:cNvPr>
          <p:cNvSpPr txBox="1">
            <a:spLocks/>
          </p:cNvSpPr>
          <p:nvPr/>
        </p:nvSpPr>
        <p:spPr>
          <a:xfrm>
            <a:off x="6096000" y="966105"/>
            <a:ext cx="5246915" cy="492579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0x0000.0001 </a:t>
            </a:r>
            <a:r>
              <a:rPr lang="en-US" b="1" kern="0" dirty="0">
                <a:sym typeface="Symbol" panose="05050102010706020507" pitchFamily="18" charset="2"/>
              </a:rPr>
              <a:t></a:t>
            </a:r>
            <a:r>
              <a:rPr lang="en-US" kern="0" dirty="0"/>
              <a:t> 0x0000.0001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there a carry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V = 0 or 1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57594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EE3E-8F5A-D7CA-E6F6-B69F82FA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3A76D-3CFF-A4CC-A097-D8102D08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5BBA01-7C78-45DE-4A99-E5B30EECF92C}"/>
              </a:ext>
            </a:extLst>
          </p:cNvPr>
          <p:cNvSpPr txBox="1">
            <a:spLocks/>
          </p:cNvSpPr>
          <p:nvPr/>
        </p:nvSpPr>
        <p:spPr>
          <a:xfrm>
            <a:off x="304799" y="968824"/>
            <a:ext cx="5246915" cy="492579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0x6666.6666 </a:t>
            </a:r>
            <a:r>
              <a:rPr lang="en-US" kern="0" dirty="0">
                <a:sym typeface="Symbol" panose="05050102010706020507" pitchFamily="18" charset="2"/>
              </a:rPr>
              <a:t>/</a:t>
            </a:r>
            <a:r>
              <a:rPr lang="en-US" kern="0" dirty="0"/>
              <a:t> 0x0000.0002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there a carry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V = 0 or 1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472C8D-43E9-5983-0B74-F34F6AE1CB24}"/>
              </a:ext>
            </a:extLst>
          </p:cNvPr>
          <p:cNvSpPr txBox="1">
            <a:spLocks/>
          </p:cNvSpPr>
          <p:nvPr/>
        </p:nvSpPr>
        <p:spPr>
          <a:xfrm>
            <a:off x="6096000" y="966105"/>
            <a:ext cx="5246915" cy="492579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0x8000.0000 </a:t>
            </a:r>
            <a:r>
              <a:rPr lang="en-US" kern="0" dirty="0">
                <a:sym typeface="Symbol" panose="05050102010706020507" pitchFamily="18" charset="2"/>
              </a:rPr>
              <a:t>*</a:t>
            </a:r>
            <a:r>
              <a:rPr lang="en-US" kern="0" dirty="0"/>
              <a:t> 0x0000.0002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zero?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Z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negative?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there a carry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 = 0 or 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Is the answer correct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V = 0 or 1</a:t>
            </a:r>
          </a:p>
          <a:p>
            <a:pPr marL="457188" lvl="1" indent="0">
              <a:buNone/>
            </a:pP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47658964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0C5E49-490C-4057-8A0C-79880571FD1A}"/>
</file>

<file path=customXml/itemProps2.xml><?xml version="1.0" encoding="utf-8"?>
<ds:datastoreItem xmlns:ds="http://schemas.openxmlformats.org/officeDocument/2006/customXml" ds:itemID="{E3ACC064-5D67-4C2D-A855-EEC25EF99BB5}"/>
</file>

<file path=customXml/itemProps3.xml><?xml version="1.0" encoding="utf-8"?>
<ds:datastoreItem xmlns:ds="http://schemas.openxmlformats.org/officeDocument/2006/customXml" ds:itemID="{F991A22A-9903-457F-A5AF-C9158EC1D9AB}"/>
</file>

<file path=docProps/app.xml><?xml version="1.0" encoding="utf-8"?>
<Properties xmlns="http://schemas.openxmlformats.org/officeDocument/2006/extended-properties" xmlns:vt="http://schemas.openxmlformats.org/officeDocument/2006/docPropsVTypes">
  <Template>APS</Template>
  <TotalTime>3672</TotalTime>
  <Words>1423</Words>
  <Application>Microsoft Office PowerPoint</Application>
  <PresentationFormat>Widescreen</PresentationFormat>
  <Paragraphs>305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ArialMT</vt:lpstr>
      <vt:lpstr>Milo Medium</vt:lpstr>
      <vt:lpstr>Arial</vt:lpstr>
      <vt:lpstr>Calibri</vt:lpstr>
      <vt:lpstr>Cambria Math</vt:lpstr>
      <vt:lpstr>Consolas</vt:lpstr>
      <vt:lpstr>Wingdings</vt:lpstr>
      <vt:lpstr>UH ECOMS</vt:lpstr>
      <vt:lpstr>ECE 3436 Microprocessor Systems  Notes 4b: Condition Codes I </vt:lpstr>
      <vt:lpstr>Today’s agenda in ECE 3436</vt:lpstr>
      <vt:lpstr>2’s Complement Review</vt:lpstr>
      <vt:lpstr>Condition Flags</vt:lpstr>
      <vt:lpstr>Condition Flags</vt:lpstr>
      <vt:lpstr>Condition Flags</vt:lpstr>
      <vt:lpstr>Arithmetic gone wrong</vt:lpstr>
      <vt:lpstr>C flag and V flag</vt:lpstr>
      <vt:lpstr>C flag and V flag</vt:lpstr>
      <vt:lpstr>C flag and V flag (Arithmetic Logic Unit)</vt:lpstr>
      <vt:lpstr>How do you know if flags will be updated</vt:lpstr>
      <vt:lpstr>EX. 1: Zero (Z) Flag</vt:lpstr>
      <vt:lpstr>EX. 2: Zero (Z) Flag</vt:lpstr>
      <vt:lpstr>Check</vt:lpstr>
      <vt:lpstr>EX. 3: Negative (N) Flag</vt:lpstr>
      <vt:lpstr>EX. 4: Negative (N) Flag</vt:lpstr>
      <vt:lpstr>Check</vt:lpstr>
      <vt:lpstr>EX. 5: Carry (C) &amp; Overflow (V) Flags</vt:lpstr>
      <vt:lpstr>EX. 6: Carry (C) &amp; Overflow (V) Flags</vt:lpstr>
      <vt:lpstr>EX. 7: Carry (C) &amp; Overflow (V) Flags</vt:lpstr>
      <vt:lpstr>EX. 8: Carry (C) &amp; Overflow (V) Flags</vt:lpstr>
      <vt:lpstr>EX. 9: Carry (C) &amp; Overflow (V) Flags</vt:lpstr>
      <vt:lpstr>Now You Try</vt:lpstr>
      <vt:lpstr>Now You 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1127</cp:revision>
  <dcterms:created xsi:type="dcterms:W3CDTF">2017-07-10T15:25:03Z</dcterms:created>
  <dcterms:modified xsi:type="dcterms:W3CDTF">2026-02-12T19:15:41Z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