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Override1.xml" ContentType="application/vnd.openxmlformats-officedocument.themeOverride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256" r:id="rId2"/>
    <p:sldId id="260" r:id="rId3"/>
    <p:sldId id="313" r:id="rId4"/>
    <p:sldId id="341" r:id="rId5"/>
    <p:sldId id="315" r:id="rId6"/>
    <p:sldId id="336" r:id="rId7"/>
    <p:sldId id="342" r:id="rId8"/>
    <p:sldId id="343" r:id="rId9"/>
    <p:sldId id="344" r:id="rId10"/>
    <p:sldId id="345" r:id="rId11"/>
    <p:sldId id="356" r:id="rId12"/>
    <p:sldId id="357" r:id="rId13"/>
    <p:sldId id="358" r:id="rId14"/>
    <p:sldId id="346" r:id="rId15"/>
    <p:sldId id="347" r:id="rId16"/>
    <p:sldId id="348" r:id="rId17"/>
    <p:sldId id="349" r:id="rId18"/>
    <p:sldId id="350" r:id="rId19"/>
    <p:sldId id="351" r:id="rId20"/>
    <p:sldId id="352" r:id="rId21"/>
    <p:sldId id="353" r:id="rId22"/>
    <p:sldId id="354" r:id="rId23"/>
    <p:sldId id="355" r:id="rId24"/>
    <p:sldId id="359" r:id="rId2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79" autoAdjust="0"/>
    <p:restoredTop sz="78692" autoAdjust="0"/>
  </p:normalViewPr>
  <p:slideViewPr>
    <p:cSldViewPr snapToGrid="0">
      <p:cViewPr varScale="1">
        <p:scale>
          <a:sx n="128" d="100"/>
          <a:sy n="128" d="100"/>
        </p:scale>
        <p:origin x="105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AAC67-9EFC-4764-AEA9-7B0E6270BFD0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6F15EE-D758-4B17-9108-4577B4B43B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30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6F15EE-D758-4B17-9108-4577B4B43B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16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mgcroft\Documents\Logos\UHnoYATP oneline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2753" y="6492875"/>
            <a:ext cx="324612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6019800"/>
            <a:ext cx="121920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000" y="6172200"/>
            <a:ext cx="11684000" cy="76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innerShdw blurRad="25400" dist="12700" dir="16200000">
              <a:schemeClr val="accent1">
                <a:lumMod val="50000"/>
                <a:alpha val="5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914400" y="1760566"/>
            <a:ext cx="10363200" cy="1668439"/>
          </a:xfrm>
        </p:spPr>
        <p:txBody>
          <a:bodyPr>
            <a:normAutofit/>
          </a:bodyPr>
          <a:lstStyle>
            <a:lvl1pPr>
              <a:defRPr sz="3600" b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1828800" y="3733800"/>
            <a:ext cx="8534400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416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5181600"/>
          </a:xfrm>
          <a:prstGeom prst="rect">
            <a:avLst/>
          </a:prstGeom>
        </p:spPr>
        <p:txBody>
          <a:bodyPr/>
          <a:lstStyle>
            <a:lvl1pPr marL="342891" indent="-342891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2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>
              <a:buFont typeface="Wingdings" panose="05000000000000000000" pitchFamily="2" charset="2"/>
              <a:buChar char="§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439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9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622665" y="6535899"/>
            <a:ext cx="845069" cy="295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solidFill>
                  <a:srgbClr val="C00000"/>
                </a:solidFill>
                <a:ea typeface="Gulim" panose="020B0600000101010101" pitchFamily="34" charset="-127"/>
                <a:cs typeface="Arial" panose="020B0604020202020204" pitchFamily="34" charset="0"/>
              </a:defRPr>
            </a:lvl1pPr>
          </a:lstStyle>
          <a:p>
            <a:fld id="{49291EE8-F41F-4F63-9694-F132A631B501}" type="slidenum">
              <a:rPr lang="en-US" smtClean="0"/>
              <a:t>‹#›</a:t>
            </a:fld>
            <a:endParaRPr lang="en-US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304799" y="237251"/>
            <a:ext cx="1148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Slide Title</a:t>
            </a:r>
          </a:p>
        </p:txBody>
      </p:sp>
      <p:sp>
        <p:nvSpPr>
          <p:cNvPr id="1042" name="Rectangle 18"/>
          <p:cNvSpPr>
            <a:spLocks noChangeArrowheads="1"/>
          </p:cNvSpPr>
          <p:nvPr/>
        </p:nvSpPr>
        <p:spPr bwMode="auto">
          <a:xfrm>
            <a:off x="609600" y="1066800"/>
            <a:ext cx="1097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FontTx/>
              <a:buChar char="•"/>
              <a:defRPr/>
            </a:pPr>
            <a:endParaRPr lang="en-US" altLang="ko-KR" sz="3200"/>
          </a:p>
        </p:txBody>
      </p:sp>
      <p:sp>
        <p:nvSpPr>
          <p:cNvPr id="8" name="Rectangle 7"/>
          <p:cNvSpPr/>
          <p:nvPr/>
        </p:nvSpPr>
        <p:spPr>
          <a:xfrm>
            <a:off x="304800" y="755537"/>
            <a:ext cx="11582400" cy="76200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1800" dirty="0">
              <a:solidFill>
                <a:srgbClr val="FF0000"/>
              </a:solidFill>
            </a:endParaRPr>
          </a:p>
        </p:txBody>
      </p:sp>
      <p:pic>
        <p:nvPicPr>
          <p:cNvPr id="7" name="Picture 4" descr="C:\Users\Xin\Desktop\UH_ECE.png"/>
          <p:cNvPicPr>
            <a:picLocks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0465" y="6315075"/>
            <a:ext cx="38100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76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C00000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3000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zheng4@central.u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705080"/>
            <a:ext cx="10363200" cy="2536639"/>
          </a:xfrm>
        </p:spPr>
        <p:txBody>
          <a:bodyPr>
            <a:normAutofit/>
          </a:bodyPr>
          <a:lstStyle/>
          <a:p>
            <a:pPr algn="ctr">
              <a:lnSpc>
                <a:spcPct val="80000"/>
              </a:lnSpc>
              <a:spcBef>
                <a:spcPts val="0"/>
              </a:spcBef>
              <a:spcAft>
                <a:spcPts val="1200"/>
              </a:spcAft>
            </a:pPr>
            <a:r>
              <a:rPr lang="en-US" dirty="0">
                <a:solidFill>
                  <a:srgbClr val="0070C0"/>
                </a:solidFill>
              </a:rPr>
              <a:t>ECE 3436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Microprocessor Systems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Notes 6c: Data Storage -- RAM &amp; ROM</a:t>
            </a:r>
            <a:br>
              <a:rPr lang="en-US" sz="2400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429000"/>
            <a:ext cx="8534400" cy="17526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Ph.D. Jianfeng Zheng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Dept. ECE, Univ. of Houston</a:t>
            </a:r>
          </a:p>
          <a:p>
            <a:r>
              <a:rPr lang="en-US" sz="2000" b="0" dirty="0">
                <a:solidFill>
                  <a:srgbClr val="0070C0"/>
                </a:solidFill>
              </a:rPr>
              <a:t>Email: </a:t>
            </a:r>
            <a:r>
              <a:rPr lang="en-US" sz="2000" b="0" dirty="0">
                <a:solidFill>
                  <a:srgbClr val="0070C0"/>
                </a:solidFill>
                <a:hlinkClick r:id="rId3"/>
              </a:rPr>
              <a:t>jzheng4@central.uh.edu</a:t>
            </a:r>
            <a:endParaRPr lang="en-US" sz="2000" b="0" dirty="0">
              <a:solidFill>
                <a:srgbClr val="0070C0"/>
              </a:solidFill>
            </a:endParaRPr>
          </a:p>
          <a:p>
            <a:r>
              <a:rPr lang="en-US" altLang="zh-CN" sz="2000" b="0" dirty="0">
                <a:solidFill>
                  <a:srgbClr val="0070C0"/>
                </a:solidFill>
              </a:rPr>
              <a:t>Feb 21</a:t>
            </a:r>
            <a:r>
              <a:rPr lang="en-US" sz="2000" b="0" dirty="0">
                <a:solidFill>
                  <a:srgbClr val="0070C0"/>
                </a:solidFill>
              </a:rPr>
              <a:t>, 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050EA8-C668-2709-CA47-CBC7A8D8E96A}"/>
              </a:ext>
            </a:extLst>
          </p:cNvPr>
          <p:cNvSpPr txBox="1"/>
          <p:nvPr/>
        </p:nvSpPr>
        <p:spPr>
          <a:xfrm>
            <a:off x="88135" y="5486400"/>
            <a:ext cx="6097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Adapted from notes by </a:t>
            </a:r>
            <a:r>
              <a:rPr lang="en-US" b="1" i="0" dirty="0">
                <a:solidFill>
                  <a:srgbClr val="222222"/>
                </a:solidFill>
                <a:effectLst/>
                <a:latin typeface="Milo Medium"/>
              </a:rPr>
              <a:t>Dr. Diana De La Rosa-Pohl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27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379D1-65A1-A26B-D73E-BCBD19A4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agenda in ECE 3436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DF626-9A92-1FA8-DAC2-8CBEA8D4E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143000"/>
            <a:ext cx="11582400" cy="42332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Create constants in ROM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Create variables in 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Read constant values from ROM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Write variable values in RAM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sym typeface="Wingdings" panose="05000000000000000000" pitchFamily="2" charset="2"/>
              </a:rPr>
              <a:t>Read variable values in RAM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dirty="0"/>
          </a:p>
          <a:p>
            <a:pPr marL="914388" lvl="1" indent="-4572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406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B849E-D4CD-5BD4-A2A7-ACBEAAC69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1E851-3EF9-7C69-7FCF-BAB50B6B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Defining/Creating Variables – SRAM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005653-078A-49AB-CFD1-B8EBFE2B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53" y="1122104"/>
            <a:ext cx="9144000" cy="461379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CCB943E-73A8-0E1C-68E3-83C925290FD7}"/>
              </a:ext>
            </a:extLst>
          </p:cNvPr>
          <p:cNvCxnSpPr/>
          <p:nvPr/>
        </p:nvCxnSpPr>
        <p:spPr bwMode="auto">
          <a:xfrm flipH="1">
            <a:off x="7495953" y="4029740"/>
            <a:ext cx="956931" cy="425302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B7F9EE2-8239-7788-619C-8ADFED138E91}"/>
              </a:ext>
            </a:extLst>
          </p:cNvPr>
          <p:cNvSpPr txBox="1"/>
          <p:nvPr/>
        </p:nvSpPr>
        <p:spPr>
          <a:xfrm>
            <a:off x="8452884" y="3845074"/>
            <a:ext cx="145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here</a:t>
            </a:r>
          </a:p>
        </p:txBody>
      </p:sp>
    </p:spTree>
    <p:extLst>
      <p:ext uri="{BB962C8B-B14F-4D97-AF65-F5344CB8AC3E}">
        <p14:creationId xmlns:p14="http://schemas.microsoft.com/office/powerpoint/2010/main" val="135671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20D4E-9C36-7B09-A95C-A75A937F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60523-6E58-9771-C3D5-8C5AF1978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RAM Memory 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D95887-520A-A40A-9ACC-46EAE55D5D47}"/>
              </a:ext>
            </a:extLst>
          </p:cNvPr>
          <p:cNvSpPr/>
          <p:nvPr/>
        </p:nvSpPr>
        <p:spPr bwMode="auto">
          <a:xfrm>
            <a:off x="1604513" y="2674189"/>
            <a:ext cx="1759789" cy="1742536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7CF3E4-446B-8CF2-88F4-43FD16E9676A}"/>
              </a:ext>
            </a:extLst>
          </p:cNvPr>
          <p:cNvSpPr/>
          <p:nvPr/>
        </p:nvSpPr>
        <p:spPr bwMode="auto">
          <a:xfrm>
            <a:off x="5431766" y="2232488"/>
            <a:ext cx="3145413" cy="254654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4050AC-A73E-6CC8-04ED-C980C82214CA}"/>
              </a:ext>
            </a:extLst>
          </p:cNvPr>
          <p:cNvSpPr txBox="1"/>
          <p:nvPr/>
        </p:nvSpPr>
        <p:spPr>
          <a:xfrm>
            <a:off x="1716531" y="3059668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</a:t>
            </a:r>
          </a:p>
          <a:p>
            <a:r>
              <a:rPr lang="en-US" dirty="0"/>
              <a:t>Processor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58B32-F367-79F5-B9C5-BA2D88F58A90}"/>
              </a:ext>
            </a:extLst>
          </p:cNvPr>
          <p:cNvSpPr txBox="1"/>
          <p:nvPr/>
        </p:nvSpPr>
        <p:spPr>
          <a:xfrm>
            <a:off x="5699954" y="3059667"/>
            <a:ext cx="12832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 </a:t>
            </a:r>
          </a:p>
          <a:p>
            <a:r>
              <a:rPr lang="en-US" dirty="0"/>
              <a:t>(Variables)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FBF9959-5643-8BD8-DAB8-93385F7E6661}"/>
              </a:ext>
            </a:extLst>
          </p:cNvPr>
          <p:cNvSpPr/>
          <p:nvPr/>
        </p:nvSpPr>
        <p:spPr bwMode="auto">
          <a:xfrm>
            <a:off x="3364301" y="2852633"/>
            <a:ext cx="2067465" cy="646331"/>
          </a:xfrm>
          <a:prstGeom prst="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172747-A2BE-6D79-44B6-B96561F413CD}"/>
              </a:ext>
            </a:extLst>
          </p:cNvPr>
          <p:cNvSpPr txBox="1"/>
          <p:nvPr/>
        </p:nvSpPr>
        <p:spPr>
          <a:xfrm>
            <a:off x="3433667" y="2991132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(32 bits)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7389EBD-1A30-D03B-F561-CD0A2D7A1346}"/>
              </a:ext>
            </a:extLst>
          </p:cNvPr>
          <p:cNvSpPr/>
          <p:nvPr/>
        </p:nvSpPr>
        <p:spPr bwMode="auto">
          <a:xfrm flipH="1">
            <a:off x="3364301" y="3739072"/>
            <a:ext cx="2067465" cy="646331"/>
          </a:xfrm>
          <a:prstGeom prst="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32EF44-D555-6C8C-E944-F85BAD8A1626}"/>
              </a:ext>
            </a:extLst>
          </p:cNvPr>
          <p:cNvSpPr txBox="1"/>
          <p:nvPr/>
        </p:nvSpPr>
        <p:spPr>
          <a:xfrm>
            <a:off x="3503033" y="386718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(32 bits)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1F8C31-7FA6-2CB5-1266-69C9E1EA5D61}"/>
              </a:ext>
            </a:extLst>
          </p:cNvPr>
          <p:cNvSpPr txBox="1"/>
          <p:nvPr/>
        </p:nvSpPr>
        <p:spPr>
          <a:xfrm>
            <a:off x="3682569" y="3466527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bus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6F23AE-E136-FF7A-F6A8-0AE3208B6FD8}"/>
              </a:ext>
            </a:extLst>
          </p:cNvPr>
          <p:cNvSpPr txBox="1"/>
          <p:nvPr/>
        </p:nvSpPr>
        <p:spPr>
          <a:xfrm>
            <a:off x="5431766" y="4795328"/>
            <a:ext cx="3145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0x2000.0000 </a:t>
            </a:r>
            <a:r>
              <a:rPr lang="en-US" dirty="0">
                <a:sym typeface="Symbol" panose="05050102010706020507" pitchFamily="18" charset="2"/>
              </a:rPr>
              <a:t> 0x2000.7FFF</a:t>
            </a:r>
          </a:p>
          <a:p>
            <a:r>
              <a:rPr lang="en-US" dirty="0">
                <a:sym typeface="Symbol" panose="05050102010706020507" pitchFamily="18" charset="2"/>
              </a:rPr>
              <a:t>(32 K)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35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5D90D-EC9B-10C0-9BD6-25993E056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D1207-0AF4-A42A-97CB-C34075C47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(Uninitialized) Variables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0D37E3-9FEB-A8CE-D9CA-B4A53324A9F2}"/>
              </a:ext>
            </a:extLst>
          </p:cNvPr>
          <p:cNvSpPr txBox="1">
            <a:spLocks/>
          </p:cNvSpPr>
          <p:nvPr/>
        </p:nvSpPr>
        <p:spPr>
          <a:xfrm>
            <a:off x="304799" y="1049211"/>
            <a:ext cx="4543246" cy="215981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 data types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AGE;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Char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AGET[7];</a:t>
            </a:r>
            <a:endParaRPr lang="en-US" sz="2400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6A68BC-B3F0-81D7-70DE-838CA16EB5DB}"/>
              </a:ext>
            </a:extLst>
          </p:cNvPr>
          <p:cNvSpPr txBox="1">
            <a:spLocks/>
          </p:cNvSpPr>
          <p:nvPr/>
        </p:nvSpPr>
        <p:spPr>
          <a:xfrm>
            <a:off x="4873923" y="1049210"/>
            <a:ext cx="4543246" cy="181475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Assembly SPACE directive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 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SPACE   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AGET 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SPACE   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17F1AB-D487-322D-1DFA-761A7A3D3186}"/>
              </a:ext>
            </a:extLst>
          </p:cNvPr>
          <p:cNvSpPr txBox="1">
            <a:spLocks/>
          </p:cNvSpPr>
          <p:nvPr/>
        </p:nvSpPr>
        <p:spPr>
          <a:xfrm>
            <a:off x="336427" y="3429000"/>
            <a:ext cx="11449171" cy="124541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Create a space in </a:t>
            </a:r>
            <a:r>
              <a:rPr lang="en-US" u="sng" kern="0" dirty="0"/>
              <a:t>SRAM</a:t>
            </a:r>
            <a:r>
              <a:rPr lang="en-US" kern="0" dirty="0"/>
              <a:t> memory to hold the value of AGE and AGET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Value </a:t>
            </a:r>
            <a:r>
              <a:rPr lang="en-US" u="sng" kern="0" dirty="0"/>
              <a:t>can</a:t>
            </a:r>
            <a:r>
              <a:rPr lang="en-US" kern="0" dirty="0"/>
              <a:t> be changed when running the program</a:t>
            </a:r>
          </a:p>
        </p:txBody>
      </p:sp>
    </p:spTree>
    <p:extLst>
      <p:ext uri="{BB962C8B-B14F-4D97-AF65-F5344CB8AC3E}">
        <p14:creationId xmlns:p14="http://schemas.microsoft.com/office/powerpoint/2010/main" val="2935706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4AD45-22C7-6F05-15C9-D929B14C5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C5D49-FD02-2362-3C8C-DC7D29383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 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CF5E934-0B4A-F6C0-6904-16F2A7B26C43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6147759" cy="447169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Create an AREA in memory (RAM) for your variables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Use the </a:t>
            </a:r>
            <a:r>
              <a:rPr lang="en-US" b="1" kern="0" dirty="0"/>
              <a:t>AREA</a:t>
            </a:r>
            <a:r>
              <a:rPr lang="en-US" kern="0" dirty="0"/>
              <a:t> directive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Give the area a </a:t>
            </a:r>
            <a:r>
              <a:rPr lang="en-US" b="1" kern="0" dirty="0"/>
              <a:t>name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Make it an area for </a:t>
            </a:r>
            <a:r>
              <a:rPr lang="en-US" b="1" kern="0" dirty="0"/>
              <a:t>DATA</a:t>
            </a:r>
            <a:r>
              <a:rPr lang="en-US" kern="0" dirty="0"/>
              <a:t> (as opposed to code)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Set it up to be </a:t>
            </a:r>
            <a:r>
              <a:rPr lang="en-US" b="1" kern="0" dirty="0"/>
              <a:t>READWRITE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Align the area in RAM to start on a </a:t>
            </a:r>
            <a:r>
              <a:rPr lang="en-US" b="1" kern="0" dirty="0"/>
              <a:t>memory address</a:t>
            </a:r>
            <a:r>
              <a:rPr lang="en-US" kern="0" dirty="0"/>
              <a:t> that is a multiple of 4</a:t>
            </a:r>
          </a:p>
        </p:txBody>
      </p:sp>
    </p:spTree>
    <p:extLst>
      <p:ext uri="{BB962C8B-B14F-4D97-AF65-F5344CB8AC3E}">
        <p14:creationId xmlns:p14="http://schemas.microsoft.com/office/powerpoint/2010/main" val="234635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E861BA-39A1-20DB-3AC9-C97CFA969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B87E1-FDA5-8ABD-6B93-4BE67154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 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D76D721-2289-7C16-FA44-F0EA31570967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5791202" cy="447169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Create the variables to the right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Use the SPACE directive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Place directive in DATA AREA of file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Global variables are permanent at a fixed location in RAM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Exist for the life of the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039E1-5CC3-0E87-E742-C2562915D8B4}"/>
              </a:ext>
            </a:extLst>
          </p:cNvPr>
          <p:cNvSpPr txBox="1">
            <a:spLocks/>
          </p:cNvSpPr>
          <p:nvPr/>
        </p:nvSpPr>
        <p:spPr>
          <a:xfrm>
            <a:off x="6096000" y="1049210"/>
            <a:ext cx="4543246" cy="181475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VARA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SPACE   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US" sz="2400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VARB    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SPACE</a:t>
            </a:r>
            <a:r>
              <a:rPr lang="en-US" sz="2400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2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US" sz="2400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VARC    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SPACE</a:t>
            </a:r>
            <a:r>
              <a:rPr lang="en-US" sz="2400" kern="0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1</a:t>
            </a:r>
          </a:p>
          <a:p>
            <a:pPr marL="342900" lvl="1" indent="-342900">
              <a:buFont typeface="Courier New" panose="02070309020205020404" pitchFamily="49" charset="0"/>
              <a:buChar char="o"/>
            </a:pPr>
            <a:r>
              <a:rPr lang="en-US" sz="2400" kern="0" dirty="0">
                <a:ea typeface="+mn-ea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364492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6BE73-5BB3-6D65-DEC3-5F7AEC6F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101EC-6749-4BD2-1174-02DB8D325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Values in Variables – Loading an address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EBF116-93B7-3902-594B-69D8774401D5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6147759" cy="447169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LDR Pseudocode version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LDR Rd, =</a:t>
            </a:r>
            <a:r>
              <a:rPr lang="en-US" kern="0" dirty="0" err="1"/>
              <a:t>variable_name</a:t>
            </a:r>
            <a:endParaRPr lang="en-US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76A3F-E585-CD7F-B3E2-FC6369D0AA3B}"/>
              </a:ext>
            </a:extLst>
          </p:cNvPr>
          <p:cNvSpPr txBox="1">
            <a:spLocks/>
          </p:cNvSpPr>
          <p:nvPr/>
        </p:nvSpPr>
        <p:spPr>
          <a:xfrm>
            <a:off x="6096000" y="1049210"/>
            <a:ext cx="5118340" cy="181475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R0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=VARA</a:t>
            </a:r>
          </a:p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=VARB</a:t>
            </a:r>
          </a:p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=VARC</a:t>
            </a:r>
          </a:p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=</a:t>
            </a:r>
            <a:r>
              <a:rPr lang="en-US" sz="24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otherVarName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597744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D1053-4588-6072-969F-3179C0D07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5C877-AEF0-5C80-D552-BF6ADA1C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Values in Variables – Storing to an address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79F5B4E-4F50-A80D-52CD-8F790576A353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5543910" cy="150420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Using the STR instruction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Rs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06B4B-05FC-83FD-3219-1BD8E1AD0B4B}"/>
              </a:ext>
            </a:extLst>
          </p:cNvPr>
          <p:cNvSpPr txBox="1">
            <a:spLocks/>
          </p:cNvSpPr>
          <p:nvPr/>
        </p:nvSpPr>
        <p:spPr>
          <a:xfrm>
            <a:off x="6096000" y="1049210"/>
            <a:ext cx="5118340" cy="523904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742939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kern="0" dirty="0">
                <a:latin typeface="+mn-lt"/>
                <a:cs typeface="Courier New" panose="02070309020205020404" pitchFamily="49" charset="0"/>
              </a:rPr>
              <a:t>go to the memory address that is stored in R2</a:t>
            </a:r>
          </a:p>
          <a:p>
            <a:pPr marL="742939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kern="0" dirty="0">
                <a:latin typeface="+mn-lt"/>
                <a:cs typeface="Courier New" panose="02070309020205020404" pitchFamily="49" charset="0"/>
              </a:rPr>
              <a:t>Store the 32 bits in R1 at that address</a:t>
            </a:r>
          </a:p>
          <a:p>
            <a:pPr marL="742939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200" kern="0" dirty="0">
              <a:latin typeface="+mn-lt"/>
              <a:cs typeface="Courier New" panose="02070309020205020404" pitchFamily="49" charset="0"/>
            </a:endParaRPr>
          </a:p>
          <a:p>
            <a:pPr marL="742939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200" kern="0" dirty="0">
              <a:latin typeface="+mn-lt"/>
              <a:cs typeface="Courier New" panose="02070309020205020404" pitchFamily="49" charset="0"/>
            </a:endParaRPr>
          </a:p>
          <a:p>
            <a:pPr marL="34290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R5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marL="742939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kern="0" dirty="0">
                <a:latin typeface="+mn-lt"/>
                <a:cs typeface="Courier New" panose="02070309020205020404" pitchFamily="49" charset="0"/>
              </a:rPr>
              <a:t>go to the memory address that is stored in R5</a:t>
            </a:r>
          </a:p>
          <a:p>
            <a:pPr marL="742939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2200" kern="0" dirty="0">
                <a:latin typeface="+mn-lt"/>
                <a:cs typeface="Courier New" panose="02070309020205020404" pitchFamily="49" charset="0"/>
              </a:rPr>
              <a:t>Store the 32 bits in R3 at that address</a:t>
            </a:r>
          </a:p>
          <a:p>
            <a:pPr marL="742939" lvl="2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200" kern="0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59FB272-913B-541B-CCFA-DEFD0E175D23}"/>
              </a:ext>
            </a:extLst>
          </p:cNvPr>
          <p:cNvSpPr txBox="1">
            <a:spLocks/>
          </p:cNvSpPr>
          <p:nvPr/>
        </p:nvSpPr>
        <p:spPr>
          <a:xfrm>
            <a:off x="304798" y="3703270"/>
            <a:ext cx="5543911" cy="150420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Store the value in </a:t>
            </a:r>
            <a:r>
              <a:rPr lang="en-US" kern="0" dirty="0">
                <a:solidFill>
                  <a:srgbClr val="00B050"/>
                </a:solidFill>
              </a:rPr>
              <a:t>Rs</a:t>
            </a:r>
            <a:r>
              <a:rPr lang="en-US" kern="0" dirty="0"/>
              <a:t> into the bytes at the memory location in </a:t>
            </a:r>
            <a:r>
              <a:rPr lang="en-US" kern="0" dirty="0">
                <a:solidFill>
                  <a:srgbClr val="00B050"/>
                </a:solidFill>
              </a:rPr>
              <a:t>Ra</a:t>
            </a:r>
            <a:r>
              <a:rPr lang="en-US" kern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0520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FCE9E-41B6-FA34-C1C3-A20EF2A7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89E51-1110-3F0D-47D7-68C1A3A14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 1A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428A40B-D732-8EA8-02FA-5438D3F0AED8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11480800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Storing data into RAM from a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Step 0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/>
              <a:t>Load a register with the value </a:t>
            </a:r>
            <a:r>
              <a:rPr lang="en-US" kern="0" dirty="0">
                <a:sym typeface="Symbol" panose="05050102010706020507" pitchFamily="18" charset="2"/>
              </a:rPr>
              <a:t>1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Step 1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Load the address of the constant or variable into a register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Ex: LDR R1,=VARA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R1 now contains the memory address of VARA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Step 2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Store the value in a register to a variable in RAM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Ex: STR R0, [R1]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>
                <a:sym typeface="Symbol" panose="05050102010706020507" pitchFamily="18" charset="2"/>
              </a:rPr>
              <a:t>VARA now has the value in R0</a:t>
            </a:r>
            <a:r>
              <a:rPr lang="en-US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8982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F386C-B22B-1B18-B562-55A0CD15E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D67EC-1BD4-ED35-5EAC-0ECFD3B3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 1B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0BFF2D-EC15-2BBA-25AE-744B9BB28C6D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5791201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Storing data into RAM from a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Now give the variables VARB and VARC the values 0x1234 and 0xAB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/>
              <a:t>VARB = 0x1234;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/>
              <a:t>VARC = 0xAB;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Pay attention to the size of the variable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Check values in memory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4DB78-CEFF-1752-EED6-DF4E7B0DA577}"/>
              </a:ext>
            </a:extLst>
          </p:cNvPr>
          <p:cNvSpPr txBox="1">
            <a:spLocks/>
          </p:cNvSpPr>
          <p:nvPr/>
        </p:nvSpPr>
        <p:spPr>
          <a:xfrm>
            <a:off x="6576645" y="1049209"/>
            <a:ext cx="5208953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To store value to a 16-bit variable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 STRH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To store a value to an 8-bit variable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STRB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869950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A865-7923-4602-67FA-6279F2ECA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C30E6-E7A3-D787-2B83-1A7079701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 Variable Value From RAM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F84097-E1A0-3E13-84FB-D25E5AE64BD7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11480800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Step 1.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Load the address of the variable into a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Ex: LDR  R1, =VARA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R1 now contains the memory address of VARA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Step 2.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Load another register with the value stored at that address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Ex: LDR R3, [R1]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R3 now has the value in VARA</a:t>
            </a:r>
          </a:p>
        </p:txBody>
      </p:sp>
    </p:spTree>
    <p:extLst>
      <p:ext uri="{BB962C8B-B14F-4D97-AF65-F5344CB8AC3E}">
        <p14:creationId xmlns:p14="http://schemas.microsoft.com/office/powerpoint/2010/main" val="10637501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7742E-C002-2580-6791-049E2B96D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9E7E-405B-B830-3545-A172E946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 1C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8AD57D-4A88-CFD6-8CEA-0C704899F46D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5791201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Load the values from the variables VARB and VARC into register R6 &amp; R7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/>
              <a:t>VARB </a:t>
            </a:r>
            <a:r>
              <a:rPr lang="en-US" kern="0" dirty="0">
                <a:sym typeface="Wingdings" panose="05000000000000000000" pitchFamily="2" charset="2"/>
              </a:rPr>
              <a:t> R6</a:t>
            </a:r>
          </a:p>
          <a:p>
            <a:pPr lvl="2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VARC  R7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Pay attention to the size of the variable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Check values in memory window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5A2D1-5157-8151-1976-263DEF8CF534}"/>
              </a:ext>
            </a:extLst>
          </p:cNvPr>
          <p:cNvSpPr txBox="1">
            <a:spLocks/>
          </p:cNvSpPr>
          <p:nvPr/>
        </p:nvSpPr>
        <p:spPr>
          <a:xfrm>
            <a:off x="6576645" y="1049209"/>
            <a:ext cx="5208953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To store value to a 16-bit variable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 LDRH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kern="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To store a value to an 8-bit variable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LDRB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121850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4379-2A32-76CF-6AAD-807CCC012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4B40B-D5BD-6EC7-F606-862F587CD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Defining/Creating Constants – EEPROM (FLASH)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705259-05FD-22C7-E16D-4AA2CFFD9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53" y="1122104"/>
            <a:ext cx="9144000" cy="461379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B6B562F-C8D4-24CC-B8DF-C7C04D66957A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8001000" y="3270738"/>
            <a:ext cx="768408" cy="574336"/>
          </a:xfrm>
          <a:prstGeom prst="straightConnector1">
            <a:avLst/>
          </a:prstGeom>
          <a:solidFill>
            <a:srgbClr val="FFFFFF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050E246-BDCF-DD2C-91B0-4B1B54BAA14F}"/>
              </a:ext>
            </a:extLst>
          </p:cNvPr>
          <p:cNvSpPr txBox="1"/>
          <p:nvPr/>
        </p:nvSpPr>
        <p:spPr>
          <a:xfrm>
            <a:off x="8769408" y="3660408"/>
            <a:ext cx="1450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are here</a:t>
            </a:r>
          </a:p>
        </p:txBody>
      </p:sp>
    </p:spTree>
    <p:extLst>
      <p:ext uri="{BB962C8B-B14F-4D97-AF65-F5344CB8AC3E}">
        <p14:creationId xmlns:p14="http://schemas.microsoft.com/office/powerpoint/2010/main" val="1031942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04C9C-84F2-6F69-9961-F358006DF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6E5-A0B5-12B1-DBCE-A37EE8045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ROM Memory Access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BDD0DA-A517-762C-8110-DC7A8D023139}"/>
              </a:ext>
            </a:extLst>
          </p:cNvPr>
          <p:cNvSpPr/>
          <p:nvPr/>
        </p:nvSpPr>
        <p:spPr bwMode="auto">
          <a:xfrm>
            <a:off x="1604513" y="931985"/>
            <a:ext cx="1759789" cy="470740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56E68-685A-D39D-9B01-C91F74F21E49}"/>
              </a:ext>
            </a:extLst>
          </p:cNvPr>
          <p:cNvSpPr/>
          <p:nvPr/>
        </p:nvSpPr>
        <p:spPr bwMode="auto">
          <a:xfrm>
            <a:off x="5431766" y="931985"/>
            <a:ext cx="3145413" cy="4707405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FF4752-D584-D7C9-B2B9-C0C2B177BC35}"/>
              </a:ext>
            </a:extLst>
          </p:cNvPr>
          <p:cNvSpPr txBox="1"/>
          <p:nvPr/>
        </p:nvSpPr>
        <p:spPr>
          <a:xfrm>
            <a:off x="1716531" y="3059668"/>
            <a:ext cx="12234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Micro</a:t>
            </a:r>
          </a:p>
          <a:p>
            <a:r>
              <a:rPr lang="en-US" dirty="0"/>
              <a:t>Processor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03E430-6C84-090D-1FF1-D4C8F1B4FF5B}"/>
              </a:ext>
            </a:extLst>
          </p:cNvPr>
          <p:cNvSpPr txBox="1"/>
          <p:nvPr/>
        </p:nvSpPr>
        <p:spPr>
          <a:xfrm>
            <a:off x="5699954" y="3059667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FD0B86B-40B6-B402-3C1D-B3E9E9ABD259}"/>
              </a:ext>
            </a:extLst>
          </p:cNvPr>
          <p:cNvSpPr/>
          <p:nvPr/>
        </p:nvSpPr>
        <p:spPr bwMode="auto">
          <a:xfrm>
            <a:off x="3364301" y="3872538"/>
            <a:ext cx="2067465" cy="646331"/>
          </a:xfrm>
          <a:prstGeom prst="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9E54C6-FB5C-F21B-DE7F-3462680BB944}"/>
              </a:ext>
            </a:extLst>
          </p:cNvPr>
          <p:cNvSpPr txBox="1"/>
          <p:nvPr/>
        </p:nvSpPr>
        <p:spPr>
          <a:xfrm>
            <a:off x="3433667" y="401103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(32 bits)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E1A6FE3F-8E3E-7196-0571-19A75D765934}"/>
              </a:ext>
            </a:extLst>
          </p:cNvPr>
          <p:cNvSpPr/>
          <p:nvPr/>
        </p:nvSpPr>
        <p:spPr bwMode="auto">
          <a:xfrm flipH="1">
            <a:off x="3364301" y="4758977"/>
            <a:ext cx="2067465" cy="646331"/>
          </a:xfrm>
          <a:prstGeom prst="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82A1B48-156A-D6A5-2C78-6B3462D5F576}"/>
              </a:ext>
            </a:extLst>
          </p:cNvPr>
          <p:cNvSpPr txBox="1"/>
          <p:nvPr/>
        </p:nvSpPr>
        <p:spPr>
          <a:xfrm>
            <a:off x="3503033" y="488708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(32 bits)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AEE1F9-823F-100A-6A48-2A8357C3F08E}"/>
              </a:ext>
            </a:extLst>
          </p:cNvPr>
          <p:cNvSpPr txBox="1"/>
          <p:nvPr/>
        </p:nvSpPr>
        <p:spPr>
          <a:xfrm>
            <a:off x="3682569" y="356781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Dcode</a:t>
            </a:r>
            <a:r>
              <a:rPr lang="en-US" dirty="0"/>
              <a:t> bus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7FEC2B-3255-0A0E-6961-8D4EDA173A5A}"/>
              </a:ext>
            </a:extLst>
          </p:cNvPr>
          <p:cNvSpPr txBox="1"/>
          <p:nvPr/>
        </p:nvSpPr>
        <p:spPr>
          <a:xfrm>
            <a:off x="5431766" y="5639390"/>
            <a:ext cx="3081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0x0000.0000 </a:t>
            </a:r>
            <a:r>
              <a:rPr lang="en-US" dirty="0">
                <a:sym typeface="Symbol" panose="05050102010706020507" pitchFamily="18" charset="2"/>
              </a:rPr>
              <a:t> 0x0003.fFFF</a:t>
            </a:r>
          </a:p>
          <a:p>
            <a:r>
              <a:rPr lang="en-US" dirty="0">
                <a:sym typeface="Symbol" panose="05050102010706020507" pitchFamily="18" charset="2"/>
              </a:rPr>
              <a:t>(256 K)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24CA63-3DDF-12C3-23CA-E9FCCB904CE1}"/>
              </a:ext>
            </a:extLst>
          </p:cNvPr>
          <p:cNvSpPr txBox="1"/>
          <p:nvPr/>
        </p:nvSpPr>
        <p:spPr>
          <a:xfrm>
            <a:off x="5699954" y="1212747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(Program)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C8AC61-2CD7-3142-8225-CD6A7D60A4C0}"/>
              </a:ext>
            </a:extLst>
          </p:cNvPr>
          <p:cNvSpPr txBox="1"/>
          <p:nvPr/>
        </p:nvSpPr>
        <p:spPr>
          <a:xfrm>
            <a:off x="5699954" y="4721921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(Constants)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CA74EDD3-CBAB-6966-0A4B-BFDF736A2ED2}"/>
              </a:ext>
            </a:extLst>
          </p:cNvPr>
          <p:cNvSpPr/>
          <p:nvPr/>
        </p:nvSpPr>
        <p:spPr bwMode="auto">
          <a:xfrm>
            <a:off x="3364301" y="1368129"/>
            <a:ext cx="2067465" cy="646331"/>
          </a:xfrm>
          <a:prstGeom prst="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7AF6F9-FA49-191A-9BB8-0031F29F913C}"/>
              </a:ext>
            </a:extLst>
          </p:cNvPr>
          <p:cNvSpPr txBox="1"/>
          <p:nvPr/>
        </p:nvSpPr>
        <p:spPr>
          <a:xfrm>
            <a:off x="3433667" y="1506628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(32 bits)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6F38523-C759-07B0-070A-A7D80A5534FA}"/>
              </a:ext>
            </a:extLst>
          </p:cNvPr>
          <p:cNvSpPr/>
          <p:nvPr/>
        </p:nvSpPr>
        <p:spPr bwMode="auto">
          <a:xfrm flipH="1">
            <a:off x="3364301" y="2254568"/>
            <a:ext cx="2067465" cy="646331"/>
          </a:xfrm>
          <a:prstGeom prst="rightArrow">
            <a:avLst/>
          </a:prstGeom>
          <a:solidFill>
            <a:srgbClr val="FFFFF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F7EFB7-89EC-E8BC-48F3-5FAE5536CFF9}"/>
              </a:ext>
            </a:extLst>
          </p:cNvPr>
          <p:cNvSpPr txBox="1"/>
          <p:nvPr/>
        </p:nvSpPr>
        <p:spPr>
          <a:xfrm>
            <a:off x="3503033" y="238267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(32 bits)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E9C359-715D-EB77-0232-9DD2A54E9833}"/>
              </a:ext>
            </a:extLst>
          </p:cNvPr>
          <p:cNvSpPr txBox="1"/>
          <p:nvPr/>
        </p:nvSpPr>
        <p:spPr>
          <a:xfrm>
            <a:off x="3682569" y="1063409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Icode</a:t>
            </a:r>
            <a:r>
              <a:rPr lang="en-US" dirty="0"/>
              <a:t> bus</a:t>
            </a:r>
          </a:p>
        </p:txBody>
      </p:sp>
    </p:spTree>
    <p:extLst>
      <p:ext uri="{BB962C8B-B14F-4D97-AF65-F5344CB8AC3E}">
        <p14:creationId xmlns:p14="http://schemas.microsoft.com/office/powerpoint/2010/main" val="1599199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786AB-A7BA-4D48-439C-3FDAC1E52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73AD-F287-B67C-9749-BD47B466E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Constants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7DDA11-0858-3C98-137B-C3A807800CF4}"/>
              </a:ext>
            </a:extLst>
          </p:cNvPr>
          <p:cNvSpPr txBox="1">
            <a:spLocks/>
          </p:cNvSpPr>
          <p:nvPr/>
        </p:nvSpPr>
        <p:spPr>
          <a:xfrm>
            <a:off x="304798" y="1049211"/>
            <a:ext cx="6219094" cy="215981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 const keyword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int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AGE=30;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 char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AGET[]=“thirty”;</a:t>
            </a:r>
            <a:endParaRPr lang="en-US" sz="2400" kern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00370BB-9A00-8BEC-944E-05AF37DE0178}"/>
              </a:ext>
            </a:extLst>
          </p:cNvPr>
          <p:cNvSpPr txBox="1">
            <a:spLocks/>
          </p:cNvSpPr>
          <p:nvPr/>
        </p:nvSpPr>
        <p:spPr>
          <a:xfrm>
            <a:off x="6242538" y="1049210"/>
            <a:ext cx="5126524" cy="181475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Assembly </a:t>
            </a:r>
            <a:r>
              <a:rPr lang="en-US" altLang="zh-CN" kern="0" dirty="0">
                <a:solidFill>
                  <a:srgbClr val="0000FF"/>
                </a:solidFill>
              </a:rPr>
              <a:t>DC_</a:t>
            </a:r>
            <a:r>
              <a:rPr lang="en-US" kern="0" dirty="0"/>
              <a:t> directive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 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DCD 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AGET 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DCB  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“thirty”,0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9199157-6F42-C2AD-4BCE-154ADD10635F}"/>
              </a:ext>
            </a:extLst>
          </p:cNvPr>
          <p:cNvSpPr txBox="1">
            <a:spLocks/>
          </p:cNvSpPr>
          <p:nvPr/>
        </p:nvSpPr>
        <p:spPr>
          <a:xfrm>
            <a:off x="336427" y="3429000"/>
            <a:ext cx="11449171" cy="1245416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Create a space in ROM to hold the value of AGE while also initializing the value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Value </a:t>
            </a:r>
            <a:r>
              <a:rPr lang="en-US" b="1" kern="0" dirty="0"/>
              <a:t>cannot</a:t>
            </a:r>
            <a:r>
              <a:rPr lang="en-US" kern="0" dirty="0"/>
              <a:t> be changed when running the program</a:t>
            </a:r>
          </a:p>
        </p:txBody>
      </p:sp>
    </p:spTree>
    <p:extLst>
      <p:ext uri="{BB962C8B-B14F-4D97-AF65-F5344CB8AC3E}">
        <p14:creationId xmlns:p14="http://schemas.microsoft.com/office/powerpoint/2010/main" val="2573836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55A65-A6DD-40CC-163B-DD2428E88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F82CB-0139-8C4D-AA54-C82208761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Constant Data Sizes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052598E-ACB9-A6C6-1C01-AA6D4107E7B7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8839202" cy="299525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Bits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Bytes		B	</a:t>
            </a:r>
            <a:r>
              <a:rPr lang="en-US" kern="0" dirty="0">
                <a:sym typeface="Wingdings" panose="05000000000000000000" pitchFamily="2" charset="2"/>
              </a:rPr>
              <a:t>	8 bits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Half words 	W		16 bits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>
                <a:sym typeface="Wingdings" panose="05000000000000000000" pitchFamily="2" charset="2"/>
              </a:rPr>
              <a:t>Words		D		32 bits</a:t>
            </a:r>
            <a:endParaRPr lang="en-US" kern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765D4-EF4B-847D-FA3E-E84910FA966A}"/>
              </a:ext>
            </a:extLst>
          </p:cNvPr>
          <p:cNvSpPr txBox="1">
            <a:spLocks/>
          </p:cNvSpPr>
          <p:nvPr/>
        </p:nvSpPr>
        <p:spPr>
          <a:xfrm>
            <a:off x="113690" y="3428997"/>
            <a:ext cx="3763108" cy="27256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kern="0" dirty="0"/>
              <a:t>DCB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Define constant byte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8 bits, 1 byte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Aligned on 1-byte boundary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kern="0" dirty="0"/>
          </a:p>
          <a:p>
            <a:pPr marL="0" indent="0">
              <a:buNone/>
            </a:pPr>
            <a:r>
              <a:rPr lang="en-US" sz="2000" kern="0" dirty="0" err="1"/>
              <a:t>Mybyte</a:t>
            </a:r>
            <a:r>
              <a:rPr lang="en-US" sz="2000" kern="0" dirty="0"/>
              <a:t>    DCB    0x23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D3A1CAD-5CED-BC90-F48C-E1231469E216}"/>
              </a:ext>
            </a:extLst>
          </p:cNvPr>
          <p:cNvSpPr txBox="1">
            <a:spLocks/>
          </p:cNvSpPr>
          <p:nvPr/>
        </p:nvSpPr>
        <p:spPr>
          <a:xfrm>
            <a:off x="3999892" y="3428998"/>
            <a:ext cx="3763108" cy="27256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kern="0" dirty="0"/>
              <a:t>DCW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Define constant [Half] word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16 bits, 2 byte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Aligned on 2-byte boundary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kern="0" dirty="0"/>
          </a:p>
          <a:p>
            <a:pPr marL="0" indent="0">
              <a:buNone/>
            </a:pPr>
            <a:r>
              <a:rPr lang="en-US" sz="2000" kern="0" dirty="0" err="1"/>
              <a:t>Myhword</a:t>
            </a:r>
            <a:r>
              <a:rPr lang="en-US" sz="2000" kern="0" dirty="0"/>
              <a:t>    DCW    0x584A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AECC012-5D13-E0DA-7F21-070B19B45563}"/>
              </a:ext>
            </a:extLst>
          </p:cNvPr>
          <p:cNvSpPr txBox="1">
            <a:spLocks/>
          </p:cNvSpPr>
          <p:nvPr/>
        </p:nvSpPr>
        <p:spPr>
          <a:xfrm>
            <a:off x="7886094" y="3428997"/>
            <a:ext cx="4202725" cy="272561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000" kern="0" dirty="0"/>
              <a:t>DCD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Define constant double (=word)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32 bits, 4 byte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000" kern="0" dirty="0"/>
              <a:t>Aligned on 4-byte boundary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000" kern="0" dirty="0"/>
          </a:p>
          <a:p>
            <a:pPr marL="0" indent="0">
              <a:buNone/>
            </a:pPr>
            <a:r>
              <a:rPr lang="en-US" sz="2000" kern="0" dirty="0" err="1"/>
              <a:t>Mydouble</a:t>
            </a:r>
            <a:r>
              <a:rPr lang="en-US" sz="2000" kern="0" dirty="0"/>
              <a:t>    DCD    0xABCDEF10</a:t>
            </a:r>
          </a:p>
        </p:txBody>
      </p:sp>
    </p:spTree>
    <p:extLst>
      <p:ext uri="{BB962C8B-B14F-4D97-AF65-F5344CB8AC3E}">
        <p14:creationId xmlns:p14="http://schemas.microsoft.com/office/powerpoint/2010/main" val="333603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6904B-E2A6-1335-0AC4-AA482702D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4ECFD-806D-BD84-D664-625265020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Constant: Strings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ADEEC7-9569-504C-0400-82A0A6F63246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6882811" cy="2995251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Each character in the string is 1-byte (ASCII)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Must manually terminate the string with the null character (0)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r>
              <a:rPr lang="en-US" sz="2400" kern="0" dirty="0" err="1"/>
              <a:t>Mystr</a:t>
            </a:r>
            <a:r>
              <a:rPr lang="en-US" sz="2400" kern="0" dirty="0"/>
              <a:t>    DCB    “Hello world!”,0</a:t>
            </a:r>
          </a:p>
          <a:p>
            <a:pPr marL="0" indent="0">
              <a:buNone/>
            </a:pPr>
            <a:endParaRPr lang="en-US" kern="0" dirty="0"/>
          </a:p>
          <a:p>
            <a:pPr marL="0" indent="0">
              <a:buNone/>
            </a:pPr>
            <a:endParaRPr lang="en-US" kern="0" dirty="0"/>
          </a:p>
        </p:txBody>
      </p:sp>
      <p:pic>
        <p:nvPicPr>
          <p:cNvPr id="1026" name="Picture 2" descr="ASCII">
            <a:extLst>
              <a:ext uri="{FF2B5EF4-FFF2-40B4-BE49-F238E27FC236}">
                <a16:creationId xmlns:a16="http://schemas.microsoft.com/office/drawing/2014/main" id="{B0506A9E-BA5E-9468-C14B-E6BEACBBC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2764" y="0"/>
            <a:ext cx="37544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9549526-315E-D70B-8768-CD062E847AE4}"/>
              </a:ext>
            </a:extLst>
          </p:cNvPr>
          <p:cNvSpPr/>
          <p:nvPr/>
        </p:nvSpPr>
        <p:spPr bwMode="auto">
          <a:xfrm>
            <a:off x="10643191" y="1860698"/>
            <a:ext cx="308344" cy="24454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 w="28575">
                <a:solidFill>
                  <a:schemeClr val="tx1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A3008D-CC64-2221-8771-81AA6DC83AEE}"/>
              </a:ext>
            </a:extLst>
          </p:cNvPr>
          <p:cNvSpPr/>
          <p:nvPr/>
        </p:nvSpPr>
        <p:spPr bwMode="auto">
          <a:xfrm>
            <a:off x="11578857" y="1231500"/>
            <a:ext cx="308344" cy="24454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 w="28575">
                <a:solidFill>
                  <a:schemeClr val="tx1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5BA5A1-27EA-FE53-6F10-1D51B81876C2}"/>
              </a:ext>
            </a:extLst>
          </p:cNvPr>
          <p:cNvSpPr/>
          <p:nvPr/>
        </p:nvSpPr>
        <p:spPr bwMode="auto">
          <a:xfrm>
            <a:off x="9637843" y="221302"/>
            <a:ext cx="308344" cy="24454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 w="28575">
                <a:solidFill>
                  <a:schemeClr val="tx1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80273F-0352-2E5B-A50B-859217E6065C}"/>
              </a:ext>
            </a:extLst>
          </p:cNvPr>
          <p:cNvSpPr/>
          <p:nvPr/>
        </p:nvSpPr>
        <p:spPr bwMode="auto">
          <a:xfrm>
            <a:off x="11578857" y="2707549"/>
            <a:ext cx="308344" cy="24454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 w="28575">
                <a:solidFill>
                  <a:schemeClr val="tx1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956C5E-9FE8-D201-58A6-B60497FF00A2}"/>
              </a:ext>
            </a:extLst>
          </p:cNvPr>
          <p:cNvSpPr/>
          <p:nvPr/>
        </p:nvSpPr>
        <p:spPr bwMode="auto">
          <a:xfrm>
            <a:off x="11578857" y="3306725"/>
            <a:ext cx="308344" cy="244549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339725" marR="0" indent="-339725" algn="l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1800" b="0" i="0" u="none" strike="noStrike" cap="none" normalizeH="0" baseline="0">
              <a:ln w="28575">
                <a:solidFill>
                  <a:schemeClr val="tx1"/>
                </a:solidFill>
              </a:ln>
              <a:noFill/>
              <a:effectLst/>
              <a:latin typeface="Arial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63651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E3EBA-448A-FFA4-1F9E-A7DB30334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8CFFD-9538-22E1-7693-0D636BBE2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Loading A Value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A9705C1-599F-EA1B-42CD-C710A80F1DC9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4543246" cy="3593127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SYNTAX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 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Rd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4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Load Rd with the contents of the memory address stored in Ra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F92E7-5A58-615B-AAF8-0DF737B5EB36}"/>
              </a:ext>
            </a:extLst>
          </p:cNvPr>
          <p:cNvSpPr txBox="1">
            <a:spLocks/>
          </p:cNvSpPr>
          <p:nvPr/>
        </p:nvSpPr>
        <p:spPr>
          <a:xfrm>
            <a:off x="4873922" y="1049210"/>
            <a:ext cx="6485739" cy="4964728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kern="0" dirty="0"/>
              <a:t>Examples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sz="2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2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6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R2</a:t>
            </a:r>
            <a:r>
              <a:rPr lang="en-US" sz="2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Go to the memory address that is stored in R2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 get the 32 bits stored there and load them into R1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6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</a:t>
            </a:r>
            <a:r>
              <a:rPr lang="en-US" sz="2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6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R3</a:t>
            </a:r>
            <a:r>
              <a:rPr lang="en-US" sz="2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sz="2600" kern="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R5</a:t>
            </a:r>
            <a:r>
              <a:rPr lang="en-US" sz="26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Go to the memory address that is stored in R5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 get the 32 bits stored there and load them into R3</a:t>
            </a:r>
          </a:p>
        </p:txBody>
      </p:sp>
    </p:spTree>
    <p:extLst>
      <p:ext uri="{BB962C8B-B14F-4D97-AF65-F5344CB8AC3E}">
        <p14:creationId xmlns:p14="http://schemas.microsoft.com/office/powerpoint/2010/main" val="2563176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3A338-B271-B06B-F236-80BD99D0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01577-52AD-0AFD-7A26-077A7B0F7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 Constant Value From ROM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971352-80D9-ADEB-4803-C17C07F5B4CE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11480800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Step 1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Load the address of the constant or variable into a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Ex: LDR R1, =VARA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R1 now contains the memory address of VARA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Step 2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Load another register with the value stored at that address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zh-CN" kern="0" dirty="0"/>
              <a:t>LDR  R0, [R1]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R0 now has the value in VARA</a:t>
            </a:r>
          </a:p>
          <a:p>
            <a:pPr marL="914377" lvl="2" indent="0">
              <a:buNone/>
            </a:pPr>
            <a:r>
              <a:rPr lang="en-US" kern="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96017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1076-E440-82CB-50D9-E47D2E4E1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BE0CC-E69E-68D2-DD98-746AF308A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Loading A Constant Value From ROM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C82555-76F4-E37A-E1CC-B86A12F14949}"/>
              </a:ext>
            </a:extLst>
          </p:cNvPr>
          <p:cNvSpPr txBox="1">
            <a:spLocks/>
          </p:cNvSpPr>
          <p:nvPr/>
        </p:nvSpPr>
        <p:spPr>
          <a:xfrm>
            <a:off x="304799" y="1049210"/>
            <a:ext cx="11480800" cy="4648205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Step 1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Load the address of the constant or variable into a register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Ex: LDR R1, =VARA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R1 now contains the memory address of VARA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Step 2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Load another register with the value stored at that address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zh-CN" kern="0" dirty="0"/>
              <a:t>LDR  R0, [R1]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kern="0" dirty="0"/>
              <a:t>R0 now has the value in VARA</a:t>
            </a:r>
          </a:p>
          <a:p>
            <a:pPr marL="914377" lvl="2" indent="0">
              <a:buNone/>
            </a:pPr>
            <a:r>
              <a:rPr lang="en-US" kern="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27597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37170-C5F7-7094-3519-DB58C6FD3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E0712-C853-21FF-8503-439FD139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Reading/Writing Different DATA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12322-3412-72B6-115C-060D65E5C5C5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6219094" cy="475957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Load (Memory </a:t>
            </a:r>
            <a:r>
              <a:rPr lang="en-US" kern="0" dirty="0">
                <a:sym typeface="Wingdings" panose="05000000000000000000" pitchFamily="2" charset="2"/>
              </a:rPr>
              <a:t> Register)</a:t>
            </a: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LDRB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unsigned byte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LDRH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unsigned halfword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word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LDRD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double (into 2 </a:t>
            </a:r>
            <a:r>
              <a:rPr lang="en-US" sz="2400" kern="0" dirty="0" err="1">
                <a:latin typeface="+mn-lt"/>
                <a:cs typeface="Courier New" panose="02070309020205020404" pitchFamily="49" charset="0"/>
              </a:rPr>
              <a:t>reg.s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LDRSH</a:t>
            </a:r>
            <a:r>
              <a:rPr lang="en-US" sz="2400" kern="0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sign extend halfword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LDRSB</a:t>
            </a:r>
            <a:r>
              <a:rPr lang="en-US" sz="2400" kern="0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sign extend byte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EDA0DE4-AFF4-2D95-62E1-A48838300ADB}"/>
              </a:ext>
            </a:extLst>
          </p:cNvPr>
          <p:cNvSpPr txBox="1">
            <a:spLocks/>
          </p:cNvSpPr>
          <p:nvPr/>
        </p:nvSpPr>
        <p:spPr>
          <a:xfrm>
            <a:off x="6242538" y="1049210"/>
            <a:ext cx="5126524" cy="181475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Store (Register </a:t>
            </a:r>
            <a:r>
              <a:rPr lang="en-US" kern="0" dirty="0">
                <a:sym typeface="Wingdings" panose="05000000000000000000" pitchFamily="2" charset="2"/>
              </a:rPr>
              <a:t> Memory)</a:t>
            </a: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STRB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store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byte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STRH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store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halfword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store word</a:t>
            </a:r>
          </a:p>
        </p:txBody>
      </p:sp>
    </p:spTree>
    <p:extLst>
      <p:ext uri="{BB962C8B-B14F-4D97-AF65-F5344CB8AC3E}">
        <p14:creationId xmlns:p14="http://schemas.microsoft.com/office/powerpoint/2010/main" val="784448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B7B6B-5955-DC05-C381-1FB90D7D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58129-B44B-F7AD-4E4C-BBD34E054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Reading/Writing Different DATA Sizes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B7C1B-C3B8-8500-4362-C562FBAC5F7D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6219094" cy="475957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Load (Memory </a:t>
            </a:r>
            <a:r>
              <a:rPr lang="en-US" kern="0" dirty="0">
                <a:sym typeface="Wingdings" panose="05000000000000000000" pitchFamily="2" charset="2"/>
              </a:rPr>
              <a:t> Register)</a:t>
            </a: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LDRB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unsigned byte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LDRH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unsigned halfword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word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LDRD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double (into 2 </a:t>
            </a:r>
            <a:r>
              <a:rPr lang="en-US" sz="2400" kern="0" dirty="0" err="1">
                <a:latin typeface="+mn-lt"/>
                <a:cs typeface="Courier New" panose="02070309020205020404" pitchFamily="49" charset="0"/>
              </a:rPr>
              <a:t>reg.s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LDRSH</a:t>
            </a:r>
            <a:r>
              <a:rPr lang="en-US" sz="2400" kern="0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sign extend halfword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LDRSB</a:t>
            </a:r>
            <a:r>
              <a:rPr lang="en-US" sz="2400" kern="0" dirty="0">
                <a:solidFill>
                  <a:srgbClr val="0000FF"/>
                </a:solidFill>
                <a:latin typeface="+mn-lt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sign extend byte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n-lt"/>
              <a:cs typeface="Courier New" panose="02070309020205020404" pitchFamily="49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A49AA4A-B5D3-48B7-B63C-951D39E41479}"/>
              </a:ext>
            </a:extLst>
          </p:cNvPr>
          <p:cNvSpPr txBox="1">
            <a:spLocks/>
          </p:cNvSpPr>
          <p:nvPr/>
        </p:nvSpPr>
        <p:spPr>
          <a:xfrm>
            <a:off x="6242538" y="1049210"/>
            <a:ext cx="5126524" cy="181475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Store (Register </a:t>
            </a:r>
            <a:r>
              <a:rPr lang="en-US" kern="0" dirty="0">
                <a:sym typeface="Wingdings" panose="05000000000000000000" pitchFamily="2" charset="2"/>
              </a:rPr>
              <a:t> Memory)</a:t>
            </a:r>
            <a:endParaRPr lang="en-US" kern="0" dirty="0"/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STRB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store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byte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STRH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store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halfword</a:t>
            </a:r>
            <a:endParaRPr lang="en-US" sz="2400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sz="24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store word</a:t>
            </a:r>
          </a:p>
        </p:txBody>
      </p:sp>
    </p:spTree>
    <p:extLst>
      <p:ext uri="{BB962C8B-B14F-4D97-AF65-F5344CB8AC3E}">
        <p14:creationId xmlns:p14="http://schemas.microsoft.com/office/powerpoint/2010/main" val="19267227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DECF1-61C7-DC13-CF04-A2A01608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2435-9CFA-A1CE-10EA-2105FF501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In-class activity 2: Parallel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16078-7D1B-2123-CFC5-5A55B38C83F6}"/>
              </a:ext>
            </a:extLst>
          </p:cNvPr>
          <p:cNvSpPr txBox="1">
            <a:spLocks/>
          </p:cNvSpPr>
          <p:nvPr/>
        </p:nvSpPr>
        <p:spPr>
          <a:xfrm>
            <a:off x="304798" y="1049210"/>
            <a:ext cx="6219094" cy="4759579"/>
          </a:xfrm>
          <a:prstGeom prst="rect">
            <a:avLst/>
          </a:prstGeom>
        </p:spPr>
        <p:txBody>
          <a:bodyPr/>
          <a:lstStyle>
            <a:lvl1pPr marL="342891" indent="-342891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en-US" kern="0" dirty="0"/>
              <a:t>Given: (Constant)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Vs = 5V			(8 bits)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R1 = 50 ohm		(16 bits)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R2 = 200 ohm 	(16 bits)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n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600" kern="0" dirty="0">
                <a:latin typeface="+mn-lt"/>
                <a:cs typeface="Courier New" panose="02070309020205020404" pitchFamily="49" charset="0"/>
              </a:rPr>
              <a:t>Solve for: (Variable)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Req = ?? Ohm		(16 bits)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kern="0" dirty="0">
                <a:latin typeface="+mn-lt"/>
                <a:cs typeface="Courier New" panose="02070309020205020404" pitchFamily="49" charset="0"/>
              </a:rPr>
              <a:t>Is = ?? </a:t>
            </a:r>
            <a:r>
              <a:rPr lang="en-US" sz="2400" kern="0" dirty="0">
                <a:solidFill>
                  <a:srgbClr val="FF0000"/>
                </a:solidFill>
                <a:latin typeface="+mn-lt"/>
                <a:cs typeface="Courier New" panose="02070309020205020404" pitchFamily="49" charset="0"/>
              </a:rPr>
              <a:t>mA</a:t>
            </a:r>
            <a:r>
              <a:rPr lang="en-US" sz="2400" kern="0" dirty="0">
                <a:latin typeface="+mn-lt"/>
                <a:cs typeface="Courier New" panose="02070309020205020404" pitchFamily="49" charset="0"/>
              </a:rPr>
              <a:t>		(32 bits)</a:t>
            </a:r>
          </a:p>
          <a:p>
            <a:pPr lvl="1">
              <a:buFont typeface="Wingdings" panose="05000000000000000000" pitchFamily="2" charset="2"/>
              <a:buChar char="v"/>
            </a:pPr>
            <a:endParaRPr lang="en-US" sz="2400" kern="0" dirty="0">
              <a:latin typeface="+mn-lt"/>
              <a:cs typeface="Courier New" panose="02070309020205020404" pitchFamily="49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600" kern="0" dirty="0">
                <a:latin typeface="+mn-lt"/>
                <a:cs typeface="Courier New" panose="02070309020205020404" pitchFamily="49" charset="0"/>
              </a:rPr>
              <a:t>Write the code to solve for Req &amp; Is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792DB326-EE6A-8303-C87F-40C040260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2784" y="1564397"/>
            <a:ext cx="6612815" cy="298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555205"/>
      </p:ext>
    </p:extLst>
  </p:cSld>
  <p:clrMapOvr>
    <a:masterClrMapping/>
  </p:clrMapOvr>
</p:sld>
</file>

<file path=ppt/theme/theme1.xml><?xml version="1.0" encoding="utf-8"?>
<a:theme xmlns:a="http://schemas.openxmlformats.org/drawingml/2006/main" name="UH ECOM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</a:bodyPr>
      <a:lstStyle>
        <a:defPPr marL="339725" marR="0" indent="-339725" algn="l" defTabSz="4572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APS.potx" id="{CE41128D-6EB0-4D0A-BE39-61CAA54AB745}" vid="{38FD15AE-3AD1-4AD1-AA2E-47F4A362D9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2FB37E47E1D843BC52574BCDE96A0F" ma:contentTypeVersion="3" ma:contentTypeDescription="Create a new document." ma:contentTypeScope="" ma:versionID="876989e2c60c7ad05a5017c76f23c2ec">
  <xsd:schema xmlns:xsd="http://www.w3.org/2001/XMLSchema" xmlns:xs="http://www.w3.org/2001/XMLSchema" xmlns:p="http://schemas.microsoft.com/office/2006/metadata/properties" xmlns:ns2="e099cec4-e547-44fa-ac68-43ad6ea61fbb" targetNamespace="http://schemas.microsoft.com/office/2006/metadata/properties" ma:root="true" ma:fieldsID="66e5c7ed2332263e707c3b4990332721" ns2:_="">
    <xsd:import namespace="e099cec4-e547-44fa-ac68-43ad6ea61f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cec4-e547-44fa-ac68-43ad6ea61f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CED1E9-5F96-4975-B6E2-744C9449D5CF}"/>
</file>

<file path=customXml/itemProps2.xml><?xml version="1.0" encoding="utf-8"?>
<ds:datastoreItem xmlns:ds="http://schemas.openxmlformats.org/officeDocument/2006/customXml" ds:itemID="{9C9C35DB-3F58-4B68-8E0D-7864C056B5E8}"/>
</file>

<file path=customXml/itemProps3.xml><?xml version="1.0" encoding="utf-8"?>
<ds:datastoreItem xmlns:ds="http://schemas.openxmlformats.org/officeDocument/2006/customXml" ds:itemID="{874E078E-1316-4980-8BA5-B6F0792A43D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7230</TotalTime>
  <Words>1292</Words>
  <Application>Microsoft Office PowerPoint</Application>
  <PresentationFormat>Widescreen</PresentationFormat>
  <Paragraphs>240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Milo Medium</vt:lpstr>
      <vt:lpstr>Arial</vt:lpstr>
      <vt:lpstr>Calibri</vt:lpstr>
      <vt:lpstr>Courier New</vt:lpstr>
      <vt:lpstr>Wingdings</vt:lpstr>
      <vt:lpstr>UH ECOMS</vt:lpstr>
      <vt:lpstr>ECE 3436 Microprocessor Systems  Notes 6c: Data Storage -- RAM &amp; ROM </vt:lpstr>
      <vt:lpstr>Today’s agenda in ECE 3436</vt:lpstr>
      <vt:lpstr>Defining/Creating Variables – SRAM</vt:lpstr>
      <vt:lpstr>RAM Memory Access</vt:lpstr>
      <vt:lpstr>Defining (Uninitialized) Variables</vt:lpstr>
      <vt:lpstr>In-class Activity 0</vt:lpstr>
      <vt:lpstr>In-class Activity 0</vt:lpstr>
      <vt:lpstr>Storing Values in Variables – Loading an address</vt:lpstr>
      <vt:lpstr>Storing Values in Variables – Storing to an address</vt:lpstr>
      <vt:lpstr>In-class Activity 1A</vt:lpstr>
      <vt:lpstr>In-class Activity 1B</vt:lpstr>
      <vt:lpstr>Loading A Variable Value From RAM</vt:lpstr>
      <vt:lpstr>In-class Activity 1C</vt:lpstr>
      <vt:lpstr>Defining/Creating Constants – EEPROM (FLASH)</vt:lpstr>
      <vt:lpstr>ROM Memory Access</vt:lpstr>
      <vt:lpstr>Defining Constants</vt:lpstr>
      <vt:lpstr>Defining Constant Data Sizes</vt:lpstr>
      <vt:lpstr>Defining Constant: Strings</vt:lpstr>
      <vt:lpstr>Loading A Value</vt:lpstr>
      <vt:lpstr>Loading A Constant Value From ROM</vt:lpstr>
      <vt:lpstr>Loading A Constant Value From ROM</vt:lpstr>
      <vt:lpstr>Reading/Writing Different DATA Sizes</vt:lpstr>
      <vt:lpstr>Reading/Writing Different DATA Sizes</vt:lpstr>
      <vt:lpstr>In-class activity 2: Parallel Circuit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RF-induced Heating Comparison between TEM and Birdcage Coils for Circular External Fixator</dc:title>
  <dc:creator>Jianfeng</dc:creator>
  <cp:lastModifiedBy>Zheng, Jianfeng</cp:lastModifiedBy>
  <cp:revision>1220</cp:revision>
  <dcterms:created xsi:type="dcterms:W3CDTF">2017-07-10T15:25:03Z</dcterms:created>
  <dcterms:modified xsi:type="dcterms:W3CDTF">2026-02-19T21:19:58Z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0x010100B62FB37E47E1D843BC52574BCDE96A0F</vt:lpwstr>
  </property>
</Properties>
</file>