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60" r:id="rId3"/>
    <p:sldId id="259" r:id="rId4"/>
    <p:sldId id="261" r:id="rId5"/>
    <p:sldId id="262" r:id="rId6"/>
    <p:sldId id="263" r:id="rId7"/>
    <p:sldId id="269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4" r:id="rId16"/>
    <p:sldId id="273" r:id="rId17"/>
    <p:sldId id="276" r:id="rId18"/>
    <p:sldId id="277" r:id="rId19"/>
    <p:sldId id="282" r:id="rId20"/>
    <p:sldId id="278" r:id="rId21"/>
    <p:sldId id="309" r:id="rId22"/>
    <p:sldId id="279" r:id="rId23"/>
    <p:sldId id="303" r:id="rId24"/>
    <p:sldId id="310" r:id="rId25"/>
    <p:sldId id="281" r:id="rId2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692" autoAdjust="0"/>
  </p:normalViewPr>
  <p:slideViewPr>
    <p:cSldViewPr snapToGrid="0">
      <p:cViewPr varScale="1">
        <p:scale>
          <a:sx n="128" d="100"/>
          <a:sy n="128" d="100"/>
        </p:scale>
        <p:origin x="14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AAC67-9EFC-4764-AEA9-7B0E6270BFD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F15EE-D758-4B17-9108-4577B4B43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3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16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84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95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50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06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50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60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04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47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1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50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47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71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11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63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gcroft\Documents\Logos\UHnoYATP onelin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753" y="6492875"/>
            <a:ext cx="324612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01980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6172200"/>
            <a:ext cx="11684000" cy="76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914400" y="1760566"/>
            <a:ext cx="10363200" cy="1668439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828800" y="3733800"/>
            <a:ext cx="85344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41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5181600"/>
          </a:xfrm>
          <a:prstGeom prst="rect">
            <a:avLst/>
          </a:prstGeom>
        </p:spPr>
        <p:txBody>
          <a:bodyPr/>
          <a:lstStyle>
            <a:lvl1pPr marL="342891" indent="-342891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3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22665" y="6535899"/>
            <a:ext cx="845069" cy="295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ea typeface="Gulim" panose="020B0600000101010101" pitchFamily="34" charset="-127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04799" y="237251"/>
            <a:ext cx="1148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Slide Title</a:t>
            </a: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endParaRPr lang="en-US" altLang="ko-KR" sz="3200"/>
          </a:p>
        </p:txBody>
      </p:sp>
      <p:sp>
        <p:nvSpPr>
          <p:cNvPr id="8" name="Rectangle 7"/>
          <p:cNvSpPr/>
          <p:nvPr/>
        </p:nvSpPr>
        <p:spPr>
          <a:xfrm>
            <a:off x="304800" y="755537"/>
            <a:ext cx="115824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7" name="Picture 4" descr="C:\Users\Xin\Desktop\UH_ECE.png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465" y="6315075"/>
            <a:ext cx="38100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76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zheng4@central.uh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jzheng4@cougarnet.uh.ed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jzheng4@cougarnet.uh.edu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uh.edu/ucs/careerfairs/spring/ste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h.edu/provost/policies-resources/honesty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.com/tool/EK-TM4C123GX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www.keil.com/demo/eval/arm.htm" TargetMode="Externa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fif"/><Relationship Id="rId4" Type="http://schemas.openxmlformats.org/officeDocument/2006/relationships/image" Target="../media/image18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05080"/>
            <a:ext cx="10363200" cy="2536639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solidFill>
                  <a:srgbClr val="0070C0"/>
                </a:solidFill>
              </a:rPr>
              <a:t>ECE 3436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Microprocessor Systems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</a:t>
            </a:r>
            <a:r>
              <a:rPr lang="en-US" altLang="zh-CN" dirty="0"/>
              <a:t>s</a:t>
            </a:r>
            <a:r>
              <a:rPr lang="en-US" dirty="0"/>
              <a:t> 1: Introduction</a:t>
            </a:r>
            <a:br>
              <a:rPr lang="en-US" sz="2400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29000"/>
            <a:ext cx="8534400" cy="1752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Ph.D. Jianfeng Zheng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Dept. ECE, Univ. of Houston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Email: </a:t>
            </a:r>
            <a:r>
              <a:rPr lang="en-US" sz="2000" b="0" dirty="0">
                <a:solidFill>
                  <a:srgbClr val="0070C0"/>
                </a:solidFill>
                <a:hlinkClick r:id="rId3"/>
              </a:rPr>
              <a:t>jzheng4@central.uh.edu</a:t>
            </a:r>
            <a:endParaRPr lang="en-US" sz="2000" b="0" dirty="0">
              <a:solidFill>
                <a:srgbClr val="0070C0"/>
              </a:solidFill>
            </a:endParaRPr>
          </a:p>
          <a:p>
            <a:r>
              <a:rPr lang="en-US" altLang="zh-CN" sz="2000" b="0" dirty="0">
                <a:solidFill>
                  <a:srgbClr val="0070C0"/>
                </a:solidFill>
              </a:rPr>
              <a:t>Jan 20</a:t>
            </a:r>
            <a:r>
              <a:rPr lang="en-US" sz="2000" b="0" dirty="0">
                <a:solidFill>
                  <a:srgbClr val="0070C0"/>
                </a:solidFill>
              </a:rPr>
              <a:t>,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50EA8-C668-2709-CA47-CBC7A8D8E96A}"/>
              </a:ext>
            </a:extLst>
          </p:cNvPr>
          <p:cNvSpPr txBox="1"/>
          <p:nvPr/>
        </p:nvSpPr>
        <p:spPr>
          <a:xfrm>
            <a:off x="88135" y="5486400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Adapted from notes by </a:t>
            </a:r>
            <a:r>
              <a:rPr lang="en-US" b="1" i="0" dirty="0">
                <a:solidFill>
                  <a:srgbClr val="222222"/>
                </a:solidFill>
                <a:effectLst/>
                <a:latin typeface="Milo Medium"/>
              </a:rPr>
              <a:t>Dr. Diana De La Rosa-Pohl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27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 in ECE 3436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DF626-9A92-1FA8-DAC2-8CBEA8D4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233231"/>
          </a:xfrm>
        </p:spPr>
        <p:txBody>
          <a:bodyPr/>
          <a:lstStyle/>
          <a:p>
            <a:r>
              <a:rPr lang="en-US" dirty="0"/>
              <a:t>Objectives for the day</a:t>
            </a:r>
          </a:p>
          <a:p>
            <a:pPr marL="914388" lvl="1" indent="-457200">
              <a:buAutoNum type="arabicPeriod"/>
            </a:pPr>
            <a:r>
              <a:rPr lang="en-US" dirty="0"/>
              <a:t>Why study Microprocessor Systems</a:t>
            </a:r>
          </a:p>
          <a:p>
            <a:pPr marL="914388" lvl="1" indent="-457200">
              <a:buAutoNum type="arabicPeriod"/>
            </a:pPr>
            <a:r>
              <a:rPr lang="en-US" dirty="0"/>
              <a:t>Staff introduction</a:t>
            </a:r>
          </a:p>
          <a:p>
            <a:pPr marL="914388" lvl="1" indent="-457200">
              <a:buAutoNum type="arabicPeriod"/>
            </a:pPr>
            <a:r>
              <a:rPr lang="en-US" dirty="0"/>
              <a:t>Calendar check</a:t>
            </a:r>
          </a:p>
          <a:p>
            <a:pPr marL="914388" lvl="1" indent="-457200">
              <a:buAutoNum type="arabicPeriod"/>
            </a:pPr>
            <a:r>
              <a:rPr lang="en-US" dirty="0"/>
              <a:t>Announcements</a:t>
            </a:r>
          </a:p>
          <a:p>
            <a:pPr marL="914388" lvl="1" indent="-457200">
              <a:buAutoNum type="arabicPeriod"/>
            </a:pPr>
            <a:r>
              <a:rPr lang="en-US" dirty="0"/>
              <a:t>Attendance</a:t>
            </a:r>
          </a:p>
          <a:p>
            <a:pPr marL="914388" lvl="1" indent="-457200">
              <a:buAutoNum type="arabicPeriod"/>
            </a:pPr>
            <a:r>
              <a:rPr lang="en-US" dirty="0"/>
              <a:t>Prerequisite review</a:t>
            </a:r>
          </a:p>
          <a:p>
            <a:pPr marL="914388" lvl="1" indent="-457200">
              <a:buAutoNum type="arabicPeriod"/>
            </a:pPr>
            <a:r>
              <a:rPr lang="en-US" dirty="0"/>
              <a:t>Academic honesty agreement</a:t>
            </a:r>
          </a:p>
          <a:p>
            <a:pPr marL="914388" lvl="1" indent="-457200">
              <a:buAutoNum type="arabicPeriod"/>
            </a:pPr>
            <a:r>
              <a:rPr lang="en-US" dirty="0"/>
              <a:t>Syllabus review</a:t>
            </a:r>
          </a:p>
          <a:p>
            <a:pPr marL="914388" lvl="1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40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Microprocessor Systems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8C24A-5FBF-0194-4782-ADAE83506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66728"/>
            <a:ext cx="11582400" cy="928171"/>
          </a:xfrm>
        </p:spPr>
        <p:txBody>
          <a:bodyPr/>
          <a:lstStyle/>
          <a:p>
            <a:pPr marL="0" indent="0">
              <a:buNone/>
            </a:pPr>
            <a:r>
              <a:rPr lang="en-US" b="0" i="1" dirty="0">
                <a:solidFill>
                  <a:srgbClr val="333333"/>
                </a:solidFill>
                <a:effectLst/>
                <a:latin typeface="myriad-pro"/>
              </a:rPr>
              <a:t>People who are really serious about software should make their own hardware”</a:t>
            </a:r>
          </a:p>
          <a:p>
            <a:pPr marL="0" indent="0">
              <a:buNone/>
            </a:pPr>
            <a:r>
              <a:rPr lang="en-US" i="1" dirty="0">
                <a:solidFill>
                  <a:srgbClr val="333333"/>
                </a:solidFill>
                <a:latin typeface="myriad-pro"/>
              </a:rPr>
              <a:t>								</a:t>
            </a:r>
            <a:r>
              <a:rPr lang="en-US" b="0" i="0" dirty="0">
                <a:solidFill>
                  <a:srgbClr val="181818"/>
                </a:solidFill>
                <a:effectLst/>
                <a:latin typeface="Merriweather" panose="00000500000000000000" pitchFamily="2" charset="0"/>
              </a:rPr>
              <a:t>―</a:t>
            </a:r>
            <a:r>
              <a:rPr lang="en-US" i="1" dirty="0">
                <a:solidFill>
                  <a:srgbClr val="333333"/>
                </a:solidFill>
                <a:latin typeface="myriad-pro"/>
                <a:sym typeface="Symbol" panose="05050102010706020507" pitchFamily="18" charset="2"/>
              </a:rPr>
              <a:t> 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Alan Kay &amp; Steve Jobs</a:t>
            </a:r>
          </a:p>
          <a:p>
            <a:pPr marL="0" indent="0">
              <a:buNone/>
            </a:pPr>
            <a:endParaRPr lang="en-US" dirty="0">
              <a:solidFill>
                <a:srgbClr val="111111"/>
              </a:solidFill>
              <a:latin typeface="Roboto" panose="02000000000000000000" pitchFamily="2" charset="0"/>
            </a:endParaRPr>
          </a:p>
          <a:p>
            <a:pPr algn="r">
              <a:buFont typeface="Wingdings" panose="05000000000000000000" pitchFamily="2" charset="2"/>
              <a:buChar char="n"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B48851-103C-1632-E704-0B3FA72409FC}"/>
              </a:ext>
            </a:extLst>
          </p:cNvPr>
          <p:cNvSpPr txBox="1">
            <a:spLocks/>
          </p:cNvSpPr>
          <p:nvPr/>
        </p:nvSpPr>
        <p:spPr>
          <a:xfrm>
            <a:off x="304800" y="2332828"/>
            <a:ext cx="11582400" cy="3484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Microprocessor system is minimum computer and control system which needs both hardware and software knowledges</a:t>
            </a:r>
          </a:p>
          <a:p>
            <a:r>
              <a:rPr lang="en-US" kern="0" dirty="0"/>
              <a:t>Microprocessor systems are widely used today, almost every where</a:t>
            </a:r>
          </a:p>
          <a:p>
            <a:pPr lvl="1"/>
            <a:r>
              <a:rPr lang="en-US" kern="0" dirty="0"/>
              <a:t>Name three systems w/ and w/o microprocess/microcontroller</a:t>
            </a:r>
          </a:p>
          <a:p>
            <a:pPr lvl="1"/>
            <a:r>
              <a:rPr lang="en-US" kern="0" dirty="0"/>
              <a:t>Think about impacts of Microprocessor systems</a:t>
            </a:r>
          </a:p>
          <a:p>
            <a:r>
              <a:rPr lang="en-US" kern="0" dirty="0"/>
              <a:t>The power to make the world better</a:t>
            </a:r>
          </a:p>
          <a:p>
            <a:r>
              <a:rPr lang="en-US" kern="0" dirty="0"/>
              <a:t>Good job opportunities</a:t>
            </a:r>
          </a:p>
        </p:txBody>
      </p:sp>
    </p:spTree>
    <p:extLst>
      <p:ext uri="{BB962C8B-B14F-4D97-AF65-F5344CB8AC3E}">
        <p14:creationId xmlns:p14="http://schemas.microsoft.com/office/powerpoint/2010/main" val="82852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DF626-9A92-1FA8-DAC2-8CBEA8D4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6415489" cy="5181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Instructor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1200" dirty="0">
                <a:solidFill>
                  <a:srgbClr val="C00000"/>
                </a:solidFill>
              </a:rPr>
              <a:t>Dr. </a:t>
            </a:r>
            <a:r>
              <a:rPr lang="en-US" kern="1200" dirty="0" err="1">
                <a:solidFill>
                  <a:srgbClr val="C00000"/>
                </a:solidFill>
              </a:rPr>
              <a:t>Jianfeng</a:t>
            </a:r>
            <a:r>
              <a:rPr lang="en-US" kern="1200" dirty="0">
                <a:solidFill>
                  <a:srgbClr val="C00000"/>
                </a:solidFill>
              </a:rPr>
              <a:t> Zheng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kern="1200" dirty="0">
                <a:ea typeface="+mn-ea"/>
              </a:rPr>
              <a:t>Office:</a:t>
            </a:r>
          </a:p>
          <a:p>
            <a:pPr marL="1314427" lvl="2" indent="-457200">
              <a:buAutoNum type="arabicPeriod"/>
            </a:pPr>
            <a:r>
              <a:rPr lang="en-US" kern="1200" dirty="0">
                <a:ea typeface="+mn-ea"/>
              </a:rPr>
              <a:t>ENGR BLDG 2, W316 (Office)</a:t>
            </a:r>
          </a:p>
          <a:p>
            <a:pPr marL="1314427" lvl="2" indent="-457200">
              <a:buAutoNum type="arabicPeriod"/>
            </a:pPr>
            <a:r>
              <a:rPr lang="en-US" kern="1200" dirty="0">
                <a:ea typeface="+mn-ea"/>
              </a:rPr>
              <a:t>Teams (w/ camera)</a:t>
            </a:r>
          </a:p>
          <a:p>
            <a:pPr marL="914388" lvl="1" indent="-457200">
              <a:buAutoNum type="arabicPeriod"/>
            </a:pPr>
            <a:r>
              <a:rPr lang="en-US" sz="2000" kern="1200" dirty="0">
                <a:ea typeface="+mn-ea"/>
              </a:rPr>
              <a:t>Contact Info:</a:t>
            </a:r>
          </a:p>
          <a:p>
            <a:pPr marL="1314427" lvl="2" indent="-457200">
              <a:buAutoNum type="arabicPeriod"/>
            </a:pPr>
            <a:r>
              <a:rPr lang="en-US" kern="1200" dirty="0">
                <a:ea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jzheng4@cougarnet.uh.edu</a:t>
            </a:r>
            <a:endParaRPr lang="en-US" kern="1200" dirty="0">
              <a:ea typeface="+mn-ea"/>
            </a:endParaRPr>
          </a:p>
          <a:p>
            <a:pPr marL="1314427" lvl="2" indent="-457200">
              <a:buAutoNum type="arabicPeriod"/>
            </a:pPr>
            <a:r>
              <a:rPr lang="en-US" kern="1200" dirty="0">
                <a:ea typeface="+mn-ea"/>
              </a:rPr>
              <a:t>713-743-2849</a:t>
            </a:r>
          </a:p>
          <a:p>
            <a:pPr marL="1314427" lvl="2" indent="-457200">
              <a:buAutoNum type="arabicPeriod"/>
            </a:pPr>
            <a:r>
              <a:rPr lang="en-US" kern="1200" dirty="0">
                <a:ea typeface="+mn-ea"/>
              </a:rPr>
              <a:t>Teams IM</a:t>
            </a:r>
          </a:p>
          <a:p>
            <a:pPr marL="914388" lvl="1" indent="-457200">
              <a:buAutoNum type="arabicPeriod"/>
            </a:pPr>
            <a:r>
              <a:rPr lang="en-US" sz="2000" kern="1200" dirty="0">
                <a:ea typeface="+mn-ea"/>
              </a:rPr>
              <a:t>Office Hours:</a:t>
            </a:r>
          </a:p>
          <a:p>
            <a:pPr marL="1314427" lvl="2" indent="-457200">
              <a:buAutoNum type="arabicPeriod"/>
            </a:pPr>
            <a:r>
              <a:rPr lang="en-US" kern="1200" dirty="0">
                <a:ea typeface="+mn-ea"/>
              </a:rPr>
              <a:t>Tues/Thurs 2:00 pm – 3:00pm (W316)</a:t>
            </a:r>
          </a:p>
          <a:p>
            <a:pPr marL="1314427" lvl="2" indent="-457200">
              <a:buAutoNum type="arabicPeriod"/>
            </a:pPr>
            <a:r>
              <a:rPr lang="en-US" kern="1200" dirty="0">
                <a:ea typeface="+mn-ea"/>
              </a:rPr>
              <a:t>Or virtual by appointment</a:t>
            </a:r>
          </a:p>
          <a:p>
            <a:pPr marL="1314427" lvl="2" indent="-457200">
              <a:buAutoNum type="arabicPeriod"/>
            </a:pPr>
            <a:endParaRPr lang="en-US" dirty="0"/>
          </a:p>
          <a:p>
            <a:pPr marL="914388" lvl="1" indent="-457200">
              <a:buAutoNum type="arabicPeriod"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731816-2BA5-9023-15B1-8ADF53F91965}"/>
              </a:ext>
            </a:extLst>
          </p:cNvPr>
          <p:cNvSpPr txBox="1">
            <a:spLocks/>
          </p:cNvSpPr>
          <p:nvPr/>
        </p:nvSpPr>
        <p:spPr>
          <a:xfrm>
            <a:off x="6720289" y="1143000"/>
            <a:ext cx="4842055" cy="51816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>
              <a:buNone/>
            </a:pPr>
            <a:r>
              <a:rPr lang="en-US" b="1" dirty="0">
                <a:solidFill>
                  <a:srgbClr val="C00000"/>
                </a:solidFill>
              </a:rPr>
              <a:t>Teaching Assistant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00000"/>
                </a:solidFill>
              </a:rPr>
              <a:t>TBA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Segoe UI" panose="020B0502040204020203" pitchFamily="34" charset="0"/>
              </a:rPr>
              <a:t>Grade the homework and quizzes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Segoe UI" panose="020B0502040204020203" pitchFamily="34" charset="0"/>
              </a:rPr>
              <a:t>Help the students to complete the Lab projects</a:t>
            </a:r>
            <a:endParaRPr lang="en-US" i="0" dirty="0">
              <a:effectLst/>
              <a:latin typeface="Segoe UI" panose="020B0502040204020203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b="1" i="0" dirty="0">
              <a:effectLst/>
              <a:latin typeface="Segoe UI" panose="020B0502040204020203" pitchFamily="34" charset="0"/>
            </a:endParaRPr>
          </a:p>
          <a:p>
            <a:pPr marL="914388" lvl="1" indent="-457200">
              <a:buFontTx/>
              <a:buAutoNum type="arabicPeriod"/>
            </a:pPr>
            <a:endParaRPr lang="en-US" b="1" i="0" dirty="0">
              <a:effectLst/>
              <a:latin typeface="Segoe UI" panose="020B0502040204020203" pitchFamily="34" charset="0"/>
            </a:endParaRPr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738450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Calendar check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B8DB21-0EC5-EB2F-B9D9-245765A060D4}"/>
              </a:ext>
            </a:extLst>
          </p:cNvPr>
          <p:cNvSpPr txBox="1">
            <a:spLocks/>
          </p:cNvSpPr>
          <p:nvPr/>
        </p:nvSpPr>
        <p:spPr>
          <a:xfrm>
            <a:off x="5076166" y="1928449"/>
            <a:ext cx="6006803" cy="80611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endParaRPr lang="en-US" kern="0" dirty="0"/>
          </a:p>
          <a:p>
            <a:pPr marL="1314427" lvl="2" indent="-457200">
              <a:buFont typeface="Wingdings" panose="05000000000000000000" pitchFamily="2" charset="2"/>
              <a:buAutoNum type="arabicPeriod"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14E03A-9BAB-4E35-AAF4-13A574E70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919369"/>
            <a:ext cx="8373224" cy="50292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FEFE48-2E5F-46DA-3C78-652EAEFBF042}"/>
              </a:ext>
            </a:extLst>
          </p:cNvPr>
          <p:cNvSpPr txBox="1">
            <a:spLocks/>
          </p:cNvSpPr>
          <p:nvPr/>
        </p:nvSpPr>
        <p:spPr>
          <a:xfrm>
            <a:off x="8825948" y="1104411"/>
            <a:ext cx="3242200" cy="254085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b="1" kern="0" dirty="0">
                <a:solidFill>
                  <a:srgbClr val="C00000"/>
                </a:solidFill>
              </a:rPr>
              <a:t>The schedule is tentative, will be adjusted and updated. </a:t>
            </a: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Always check schedule &amp; Canvas for assignment due dates.</a:t>
            </a:r>
            <a:endParaRPr lang="en-US" sz="2000" dirty="0"/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b="1" kern="0" dirty="0">
                <a:solidFill>
                  <a:srgbClr val="C00000"/>
                </a:solidFill>
              </a:rPr>
              <a:t> </a:t>
            </a:r>
            <a:endParaRPr lang="en-US" sz="2000" kern="0" dirty="0"/>
          </a:p>
          <a:p>
            <a:pPr marL="1314427" lvl="2" indent="-457200">
              <a:buFont typeface="Wingdings" panose="05000000000000000000" pitchFamily="2" charset="2"/>
              <a:buAutoNum type="arabicPeriod"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544012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3B5A54-F366-9FAA-2BB7-CE1AC73C48BA}"/>
              </a:ext>
            </a:extLst>
          </p:cNvPr>
          <p:cNvSpPr txBox="1">
            <a:spLocks/>
          </p:cNvSpPr>
          <p:nvPr/>
        </p:nvSpPr>
        <p:spPr>
          <a:xfrm>
            <a:off x="609599" y="1143000"/>
            <a:ext cx="10956759" cy="51816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63550" indent="-463550">
              <a:spcAft>
                <a:spcPts val="1800"/>
              </a:spcAft>
              <a:buFont typeface="Wingdings" pitchFamily="2" charset="2"/>
              <a:buChar char="v"/>
            </a:pPr>
            <a:r>
              <a:rPr lang="en-US" dirty="0"/>
              <a:t>All important announcements will be published thru </a:t>
            </a:r>
            <a:r>
              <a:rPr lang="en-US" dirty="0">
                <a:solidFill>
                  <a:srgbClr val="FF0000"/>
                </a:solidFill>
              </a:rPr>
              <a:t>Teams</a:t>
            </a:r>
            <a:r>
              <a:rPr lang="en-US" dirty="0"/>
              <a:t> in the main channel. It is your responsibility to check this often.</a:t>
            </a:r>
          </a:p>
          <a:p>
            <a:pPr marL="863591" lvl="1" indent="-463550">
              <a:spcAft>
                <a:spcPts val="1800"/>
              </a:spcAft>
              <a:buFont typeface="Wingdings" pitchFamily="2" charset="2"/>
              <a:buChar char="v"/>
            </a:pPr>
            <a:r>
              <a:rPr lang="en-US" dirty="0"/>
              <a:t>Exams; Projects; Other issues</a:t>
            </a:r>
          </a:p>
          <a:p>
            <a:pPr marL="463550" indent="-463550">
              <a:spcAft>
                <a:spcPts val="1800"/>
              </a:spcAft>
              <a:buFont typeface="Wingdings" pitchFamily="2" charset="2"/>
              <a:buChar char="v"/>
            </a:pPr>
            <a:r>
              <a:rPr lang="en-US" dirty="0"/>
              <a:t>Important announcements will also be published on </a:t>
            </a:r>
            <a:r>
              <a:rPr lang="en-US" dirty="0">
                <a:solidFill>
                  <a:srgbClr val="FF0000"/>
                </a:solidFill>
              </a:rPr>
              <a:t>Canvas</a:t>
            </a:r>
            <a:r>
              <a:rPr lang="en-US" dirty="0"/>
              <a:t>. </a:t>
            </a:r>
          </a:p>
          <a:p>
            <a:pPr marL="863591" lvl="1" indent="-463550">
              <a:spcAft>
                <a:spcPts val="1800"/>
              </a:spcAft>
              <a:buFont typeface="Wingdings" pitchFamily="2" charset="2"/>
              <a:buChar char="v"/>
            </a:pPr>
            <a:r>
              <a:rPr lang="en-US" dirty="0"/>
              <a:t>Exams; Due of Projects; Due of Homework</a:t>
            </a:r>
          </a:p>
          <a:p>
            <a:pPr marL="463550" indent="-463550">
              <a:spcAft>
                <a:spcPts val="1800"/>
              </a:spcAft>
              <a:buFont typeface="Wingdings" pitchFamily="2" charset="2"/>
              <a:buChar char="v"/>
            </a:pPr>
            <a:r>
              <a:rPr lang="en-US" dirty="0"/>
              <a:t>Sometimes emails will be sent to the class, make sure that your university email is working properly. </a:t>
            </a:r>
          </a:p>
          <a:p>
            <a:pPr marL="863591" lvl="1" indent="-463550">
              <a:spcAft>
                <a:spcPts val="1800"/>
              </a:spcAft>
              <a:buFont typeface="Wingdings" pitchFamily="2" charset="2"/>
              <a:buChar char="v"/>
            </a:pPr>
            <a:r>
              <a:rPr lang="en-US" dirty="0"/>
              <a:t>Email look like </a:t>
            </a:r>
            <a:r>
              <a:rPr lang="en-US" dirty="0">
                <a:hlinkClick r:id="rId2"/>
              </a:rPr>
              <a:t>xxx@cougarnet.uh.edu</a:t>
            </a:r>
            <a:endParaRPr lang="en-US" dirty="0"/>
          </a:p>
          <a:p>
            <a:pPr marL="857227" lvl="2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794232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3B5A54-F366-9FAA-2BB7-CE1AC73C48BA}"/>
              </a:ext>
            </a:extLst>
          </p:cNvPr>
          <p:cNvSpPr txBox="1">
            <a:spLocks/>
          </p:cNvSpPr>
          <p:nvPr/>
        </p:nvSpPr>
        <p:spPr>
          <a:xfrm>
            <a:off x="304801" y="1143000"/>
            <a:ext cx="5791200" cy="51816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b="1" kern="0" dirty="0">
                <a:solidFill>
                  <a:srgbClr val="C00000"/>
                </a:solidFill>
              </a:rPr>
              <a:t>STEM Career Fair:</a:t>
            </a:r>
          </a:p>
          <a:p>
            <a:pPr marL="914388" lvl="1" indent="-457200">
              <a:buFontTx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latin typeface="Source Sans Pro" panose="020B0503030403020204" pitchFamily="34" charset="0"/>
              </a:rPr>
              <a:t>Thursday, February </a:t>
            </a:r>
            <a:r>
              <a:rPr lang="en-US" b="1" dirty="0">
                <a:solidFill>
                  <a:srgbClr val="111111"/>
                </a:solidFill>
                <a:latin typeface="Source Sans Pro" panose="020B0503030403020204" pitchFamily="34" charset="0"/>
              </a:rPr>
              <a:t>19</a:t>
            </a:r>
            <a:r>
              <a:rPr lang="en-US" b="1" i="0" dirty="0">
                <a:solidFill>
                  <a:srgbClr val="111111"/>
                </a:solidFill>
                <a:effectLst/>
                <a:latin typeface="Source Sans Pro" panose="020B0503030403020204" pitchFamily="34" charset="0"/>
              </a:rPr>
              <a:t>, 2024</a:t>
            </a:r>
          </a:p>
          <a:p>
            <a:pPr marL="914388" lvl="1" indent="-457200">
              <a:buFontTx/>
              <a:buAutoNum type="arabicPeriod"/>
            </a:pPr>
            <a:r>
              <a:rPr lang="en-US" b="1" dirty="0">
                <a:solidFill>
                  <a:srgbClr val="111111"/>
                </a:solidFill>
                <a:latin typeface="Source Sans Pro" panose="020B0503030403020204" pitchFamily="34" charset="0"/>
              </a:rPr>
              <a:t>1:00 PM – 4:00 PM</a:t>
            </a:r>
          </a:p>
          <a:p>
            <a:pPr marL="914388" lvl="1" indent="-457200">
              <a:buFontTx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latin typeface="Source Sans Pro" panose="020B0503030403020204" pitchFamily="34" charset="0"/>
              </a:rPr>
              <a:t>Hosted in-person at the UH student center sou</a:t>
            </a:r>
            <a:r>
              <a:rPr lang="en-US" b="1" dirty="0">
                <a:solidFill>
                  <a:srgbClr val="111111"/>
                </a:solidFill>
                <a:latin typeface="Source Sans Pro" panose="020B0503030403020204" pitchFamily="34" charset="0"/>
              </a:rPr>
              <a:t>th – Houston room</a:t>
            </a:r>
          </a:p>
          <a:p>
            <a:pPr marL="457188" lvl="1" indent="0">
              <a:buNone/>
            </a:pPr>
            <a:r>
              <a:rPr lang="en-US" dirty="0">
                <a:hlinkClick r:id="rId2"/>
              </a:rPr>
              <a:t>STEM Career Fair - University of Houston (uh.edu)</a:t>
            </a:r>
            <a:endParaRPr lang="en-US" b="1" i="0" dirty="0">
              <a:solidFill>
                <a:srgbClr val="111111"/>
              </a:solidFill>
              <a:effectLst/>
              <a:latin typeface="Source Sans Pro" panose="020B0503030403020204" pitchFamily="34" charset="0"/>
            </a:endParaRPr>
          </a:p>
          <a:p>
            <a:pPr marL="857227" lvl="2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09A6AFA5-33A7-0A81-6F8C-6B9582759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703471"/>
            <a:ext cx="57150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87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3B5A54-F366-9FAA-2BB7-CE1AC73C48BA}"/>
              </a:ext>
            </a:extLst>
          </p:cNvPr>
          <p:cNvSpPr txBox="1">
            <a:spLocks/>
          </p:cNvSpPr>
          <p:nvPr/>
        </p:nvSpPr>
        <p:spPr>
          <a:xfrm>
            <a:off x="304800" y="1143000"/>
            <a:ext cx="11293641" cy="51816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Source Sans Pro" panose="020B0503030403020204" pitchFamily="34" charset="0"/>
              </a:rPr>
              <a:t>Class (or on-line) attendance is expected.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Source Sans Pro" panose="020B0503030403020204" pitchFamily="34" charset="0"/>
              </a:rPr>
              <a:t>In class quizzes can be submitted thru canvas, with a grade weight of 90%.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Source Sans Pro" panose="020B0503030403020204" pitchFamily="34" charset="0"/>
              </a:rPr>
              <a:t>Exams can’t be submitted w/ official excuses and approvals.</a:t>
            </a:r>
          </a:p>
          <a:p>
            <a:pPr marL="457188" lvl="1" indent="0">
              <a:buNone/>
            </a:pPr>
            <a:endParaRPr lang="en-US" kern="0" dirty="0">
              <a:latin typeface="Source Sans Pro" panose="020B0503030403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Source Sans Pro" panose="020B0503030403020204" pitchFamily="34" charset="0"/>
              </a:rPr>
              <a:t>All the materials will be uploaded into Teams and/or Canvas.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Source Sans Pro" panose="020B0503030403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Source Sans Pro" panose="020B0503030403020204" pitchFamily="34" charset="0"/>
              </a:rPr>
              <a:t>To have an absence excused, you must get permission from the instructor </a:t>
            </a:r>
            <a:r>
              <a:rPr lang="en-US" u="sng" kern="0" dirty="0">
                <a:latin typeface="Source Sans Pro" panose="020B0503030403020204" pitchFamily="34" charset="0"/>
              </a:rPr>
              <a:t>before</a:t>
            </a:r>
            <a:r>
              <a:rPr lang="en-US" kern="0" dirty="0">
                <a:latin typeface="Source Sans Pro" panose="020B0503030403020204" pitchFamily="34" charset="0"/>
              </a:rPr>
              <a:t> class begin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Source Sans Pro" panose="020B0503030403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Source Sans Pro" panose="020B0503030403020204" pitchFamily="34" charset="0"/>
              </a:rPr>
              <a:t>If you really want to take the class asynchronously, contact me.</a:t>
            </a:r>
          </a:p>
          <a:p>
            <a:pPr marL="857227" lvl="2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607979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Prereq</a:t>
            </a:r>
            <a:r>
              <a:rPr lang="en-US" dirty="0"/>
              <a:t>.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B4FD6E-E8B6-621F-C27A-3EF8D783C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49" y="827206"/>
            <a:ext cx="7737750" cy="593164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1CBC4E-0F25-FE58-9520-8F154D1422D7}"/>
              </a:ext>
            </a:extLst>
          </p:cNvPr>
          <p:cNvSpPr/>
          <p:nvPr/>
        </p:nvSpPr>
        <p:spPr bwMode="auto">
          <a:xfrm>
            <a:off x="5794872" y="3822853"/>
            <a:ext cx="1112704" cy="68304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noFill/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1D3CDE-48A1-440E-B804-22501E1801A8}"/>
              </a:ext>
            </a:extLst>
          </p:cNvPr>
          <p:cNvCxnSpPr/>
          <p:nvPr/>
        </p:nvCxnSpPr>
        <p:spPr bwMode="auto">
          <a:xfrm flipH="1">
            <a:off x="6907576" y="2710149"/>
            <a:ext cx="2214390" cy="1112704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674625F-05CA-C91A-1B17-049B7D2777BA}"/>
              </a:ext>
            </a:extLst>
          </p:cNvPr>
          <p:cNvSpPr txBox="1">
            <a:spLocks/>
          </p:cNvSpPr>
          <p:nvPr/>
        </p:nvSpPr>
        <p:spPr>
          <a:xfrm>
            <a:off x="9166034" y="2431974"/>
            <a:ext cx="2137272" cy="71885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Source Sans Pro" panose="020B0503030403020204" pitchFamily="34" charset="0"/>
              </a:rPr>
              <a:t>We are here</a:t>
            </a:r>
          </a:p>
          <a:p>
            <a:pPr marL="857227" lvl="2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263844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ECE 3436 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3D104-A0FF-5EB0-0D69-C444BB44F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6978316" cy="2286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Credit for BOTH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ECE 3441 Digital Logic Design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ECE 3331 Programming applications in ECE</a:t>
            </a:r>
          </a:p>
          <a:p>
            <a:pPr marL="57147" indent="0">
              <a:buNone/>
            </a:pPr>
            <a:r>
              <a:rPr lang="en-US" b="1" dirty="0">
                <a:solidFill>
                  <a:srgbClr val="C00000"/>
                </a:solidFill>
              </a:rPr>
              <a:t>Credit OR Concurrent</a:t>
            </a:r>
          </a:p>
          <a:p>
            <a:pPr marL="800088" lvl="1" indent="-342900">
              <a:buFont typeface="Wingdings" panose="05000000000000000000" pitchFamily="2" charset="2"/>
              <a:buChar char="v"/>
            </a:pPr>
            <a:r>
              <a:rPr lang="en-US" dirty="0"/>
              <a:t>ECE 2100 Circuits Lab</a:t>
            </a:r>
          </a:p>
          <a:p>
            <a:pPr marL="914388" lvl="1" indent="-457200">
              <a:buAutoNum type="arabicPeriod"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8C53DB-C76A-AFE8-9055-1D5D4B19CAC4}"/>
              </a:ext>
            </a:extLst>
          </p:cNvPr>
          <p:cNvSpPr txBox="1">
            <a:spLocks/>
          </p:cNvSpPr>
          <p:nvPr/>
        </p:nvSpPr>
        <p:spPr>
          <a:xfrm>
            <a:off x="304799" y="3701715"/>
            <a:ext cx="5390148" cy="22860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b="1" kern="0" dirty="0">
                <a:solidFill>
                  <a:srgbClr val="C00000"/>
                </a:solidFill>
              </a:rPr>
              <a:t>Required quiz on Canvas!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/>
              <a:t>	1. coming tonight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/>
              <a:t>	2. Due: Jan 26</a:t>
            </a:r>
            <a:r>
              <a:rPr lang="en-US" kern="0" baseline="30000" dirty="0"/>
              <a:t>th</a:t>
            </a:r>
            <a:r>
              <a:rPr lang="en-US" kern="0" dirty="0"/>
              <a:t> (Monday)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981162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honesty agreement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3D104-A0FF-5EB0-0D69-C444BB44F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0972800" cy="4648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Goto the UH web site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</a:t>
            </a:r>
            <a:r>
              <a:rPr lang="en-US" dirty="0">
                <a:hlinkClick r:id="rId3"/>
              </a:rPr>
              <a:t>Academic Honesty Policy - University of Houston (uh.edu)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You can also find the link on Canvas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Read the policy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b="1" kern="0" dirty="0">
                <a:solidFill>
                  <a:srgbClr val="C00000"/>
                </a:solidFill>
              </a:rPr>
              <a:t>Required quiz on Canvas!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/>
              <a:t>	1. coming tonight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/>
              <a:t>	2. Due: Jan 26</a:t>
            </a:r>
            <a:r>
              <a:rPr lang="en-US" baseline="30000" dirty="0"/>
              <a:t>th</a:t>
            </a:r>
            <a:r>
              <a:rPr lang="en-US" kern="0" dirty="0"/>
              <a:t> (Monday)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596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3D104-A0FF-5EB0-0D69-C444BB44F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09728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Posted on Teams and/or Canvas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b="1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Make sure that you read Carefully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b="1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Schedule is also posted on Teams and/or Canvas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b="1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Must take AHA and </a:t>
            </a:r>
            <a:r>
              <a:rPr lang="en-US" b="1" dirty="0" err="1"/>
              <a:t>Prereq</a:t>
            </a:r>
            <a:r>
              <a:rPr lang="en-US" b="1" dirty="0"/>
              <a:t> quiz by deadline to remain in class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b="1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Check the due time in schedule</a:t>
            </a:r>
            <a:endParaRPr lang="en-US" kern="0" dirty="0"/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792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3D104-A0FF-5EB0-0D69-C444BB44F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7154779" cy="4648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Required</a:t>
            </a:r>
          </a:p>
          <a:p>
            <a:pPr marL="0" indent="0">
              <a:buNone/>
            </a:pPr>
            <a:endParaRPr lang="en-US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B43453D-0C44-FE1B-1AFD-ED595920E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72" y="1591549"/>
            <a:ext cx="3516948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6D3639-1A7D-032E-271A-90A449A2CEB6}"/>
              </a:ext>
            </a:extLst>
          </p:cNvPr>
          <p:cNvSpPr txBox="1">
            <a:spLocks/>
          </p:cNvSpPr>
          <p:nvPr/>
        </p:nvSpPr>
        <p:spPr>
          <a:xfrm>
            <a:off x="4780722" y="1782049"/>
            <a:ext cx="6199681" cy="36049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/>
              <a:t>ARM Microprocessor Systems, Muhammad Tahir &amp; Kashif </a:t>
            </a:r>
            <a:r>
              <a:rPr lang="en-US" kern="0" dirty="0" err="1"/>
              <a:t>Javed</a:t>
            </a:r>
            <a:r>
              <a:rPr lang="en-US" kern="0" dirty="0"/>
              <a:t>, CRC Press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kern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/>
              <a:t>Optional: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/>
              <a:t>Introduction to embedded system EE319K, Jonathan W. Valvano. (Amazon)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kern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 err="1"/>
              <a:t>ChatGPT</a:t>
            </a:r>
            <a:endParaRPr lang="en-US" kern="0" dirty="0"/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66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3D104-A0FF-5EB0-0D69-C444BB44F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2999"/>
            <a:ext cx="4170947" cy="17766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TI </a:t>
            </a:r>
            <a:r>
              <a:rPr lang="en-US" b="1" dirty="0" err="1">
                <a:solidFill>
                  <a:srgbClr val="C00000"/>
                </a:solidFill>
              </a:rPr>
              <a:t>LauchPad</a:t>
            </a: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EK-TM4c123GXL</a:t>
            </a:r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EK-TM4C123GXL Evaluation board | TI.com</a:t>
            </a: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</a:t>
            </a:r>
          </a:p>
          <a:p>
            <a:pPr marL="0" indent="0">
              <a:buNone/>
            </a:pPr>
            <a:endParaRPr lang="en-US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6D3639-1A7D-032E-271A-90A449A2CEB6}"/>
              </a:ext>
            </a:extLst>
          </p:cNvPr>
          <p:cNvSpPr txBox="1">
            <a:spLocks/>
          </p:cNvSpPr>
          <p:nvPr/>
        </p:nvSpPr>
        <p:spPr>
          <a:xfrm>
            <a:off x="5935579" y="1143000"/>
            <a:ext cx="5678905" cy="4572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b="1" kern="0" dirty="0">
                <a:solidFill>
                  <a:srgbClr val="C00000"/>
                </a:solidFill>
              </a:rPr>
              <a:t>Keil </a:t>
            </a:r>
            <a:r>
              <a:rPr lang="en-US" b="1" kern="0" dirty="0" err="1">
                <a:solidFill>
                  <a:srgbClr val="C00000"/>
                </a:solidFill>
              </a:rPr>
              <a:t>uVision</a:t>
            </a: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b="1" kern="0" dirty="0">
              <a:solidFill>
                <a:srgbClr val="C00000"/>
              </a:solidFill>
            </a:endParaRPr>
          </a:p>
        </p:txBody>
      </p:sp>
      <p:pic>
        <p:nvPicPr>
          <p:cNvPr id="11266" name="Picture 2" descr="EK-TM4C123GXL ARM® Cortex®-M4F Based MCU TM4C123G LaunchPad™ Evaluation Kit angled board image">
            <a:extLst>
              <a:ext uri="{FF2B5EF4-FFF2-40B4-BE49-F238E27FC236}">
                <a16:creationId xmlns:a16="http://schemas.microsoft.com/office/drawing/2014/main" id="{86C5E6C9-5F7D-283E-E397-DCB221B68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6675" y="2919662"/>
            <a:ext cx="56896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CD9444-5B8A-B4AB-7F80-DAE9CDCE40BB}"/>
              </a:ext>
            </a:extLst>
          </p:cNvPr>
          <p:cNvSpPr txBox="1"/>
          <p:nvPr/>
        </p:nvSpPr>
        <p:spPr>
          <a:xfrm>
            <a:off x="5994399" y="186826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5"/>
              </a:rPr>
              <a:t>MDK-ARM Version 5.39 Evaluation Software Request (keil.com)</a:t>
            </a:r>
            <a:endParaRPr lang="en-US" sz="2000" dirty="0"/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F470F36B-6C01-8866-1874-495C72DB5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631" y="2669024"/>
            <a:ext cx="6400800" cy="334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348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97B405-D54E-E7A1-33EA-D75578C8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277600" cy="5181600"/>
          </a:xfrm>
        </p:spPr>
        <p:txBody>
          <a:bodyPr/>
          <a:lstStyle/>
          <a:p>
            <a:r>
              <a:rPr lang="en-US" dirty="0"/>
              <a:t>~6 projects</a:t>
            </a:r>
          </a:p>
          <a:p>
            <a:r>
              <a:rPr lang="en-US" dirty="0"/>
              <a:t>Good knowledge of digital logic theory is assumed</a:t>
            </a:r>
          </a:p>
          <a:p>
            <a:r>
              <a:rPr lang="en-US" dirty="0"/>
              <a:t>Teams of 2 (you can also choose to solo it) </a:t>
            </a:r>
          </a:p>
          <a:p>
            <a:r>
              <a:rPr lang="en-US" dirty="0"/>
              <a:t>Turn in via Canvas (Everyone in the team need to submit the codes)</a:t>
            </a:r>
          </a:p>
          <a:p>
            <a:r>
              <a:rPr lang="en-US" dirty="0"/>
              <a:t>10pts every day late</a:t>
            </a:r>
          </a:p>
        </p:txBody>
      </p:sp>
    </p:spTree>
    <p:extLst>
      <p:ext uri="{BB962C8B-B14F-4D97-AF65-F5344CB8AC3E}">
        <p14:creationId xmlns:p14="http://schemas.microsoft.com/office/powerpoint/2010/main" val="1074600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(tentative)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97B405-D54E-E7A1-33EA-D75578C8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4716379" cy="5181600"/>
          </a:xfrm>
        </p:spPr>
        <p:txBody>
          <a:bodyPr/>
          <a:lstStyle/>
          <a:p>
            <a:r>
              <a:rPr lang="en-US" dirty="0"/>
              <a:t>Homework</a:t>
            </a:r>
          </a:p>
          <a:p>
            <a:r>
              <a:rPr lang="en-US" dirty="0"/>
              <a:t>Canvas/in-class quizzes</a:t>
            </a:r>
          </a:p>
          <a:p>
            <a:r>
              <a:rPr lang="en-US" dirty="0"/>
              <a:t>Projects/Labs</a:t>
            </a:r>
          </a:p>
          <a:p>
            <a:r>
              <a:rPr lang="en-US" dirty="0"/>
              <a:t>Exams</a:t>
            </a:r>
          </a:p>
          <a:p>
            <a:r>
              <a:rPr lang="en-US" dirty="0"/>
              <a:t>Final Exam </a:t>
            </a:r>
            <a:r>
              <a:rPr lang="en-US" dirty="0">
                <a:solidFill>
                  <a:srgbClr val="FF0000"/>
                </a:solidFill>
              </a:rPr>
              <a:t>optional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653C935-E434-8CFA-3DEF-A00B94A01736}"/>
              </a:ext>
            </a:extLst>
          </p:cNvPr>
          <p:cNvSpPr txBox="1">
            <a:spLocks/>
          </p:cNvSpPr>
          <p:nvPr/>
        </p:nvSpPr>
        <p:spPr>
          <a:xfrm>
            <a:off x="5253789" y="1143000"/>
            <a:ext cx="6531810" cy="51816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10% (equal weights, drop 1)</a:t>
            </a:r>
          </a:p>
          <a:p>
            <a:r>
              <a:rPr lang="en-US" kern="0" dirty="0"/>
              <a:t>10% (equal weights, drop 1-2)</a:t>
            </a:r>
          </a:p>
          <a:p>
            <a:r>
              <a:rPr lang="en-US" kern="0" dirty="0"/>
              <a:t>30% (equal weights, no drops!)</a:t>
            </a:r>
          </a:p>
          <a:p>
            <a:r>
              <a:rPr lang="en-US" kern="0" dirty="0"/>
              <a:t>50% (3 times, no drops)</a:t>
            </a:r>
          </a:p>
          <a:p>
            <a:r>
              <a:rPr lang="en-US" kern="0" dirty="0"/>
              <a:t>Comprehensive, replaces lowest exam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76BDE0-75FB-D93A-0E18-4BD506C479C6}"/>
              </a:ext>
            </a:extLst>
          </p:cNvPr>
          <p:cNvSpPr txBox="1"/>
          <p:nvPr/>
        </p:nvSpPr>
        <p:spPr>
          <a:xfrm>
            <a:off x="609599" y="4120498"/>
            <a:ext cx="81173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  <a:tabLst>
                <a:tab pos="457200" algn="l"/>
                <a:tab pos="1485900" algn="l"/>
                <a:tab pos="2628900" algn="l"/>
                <a:tab pos="3771900" algn="l"/>
                <a:tab pos="4914900" algn="l"/>
                <a:tab pos="5943600" algn="l"/>
              </a:tabLst>
            </a:pP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[90, </a:t>
            </a:r>
            <a:r>
              <a:rPr lang="en-US" sz="2400" b="1" dirty="0">
                <a:latin typeface="Times-Roman"/>
                <a:ea typeface="Times New Roman" panose="02020603050405020304" pitchFamily="18" charset="0"/>
              </a:rPr>
              <a:t>93)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:  A</a:t>
            </a:r>
            <a:r>
              <a:rPr lang="en-US" sz="2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‒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;	[93, +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  <a:sym typeface="Symbol" panose="05050102010706020507" pitchFamily="18" charset="2"/>
              </a:rPr>
              <a:t>)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: A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  <a:tabLst>
                <a:tab pos="457200" algn="l"/>
                <a:tab pos="1485900" algn="l"/>
                <a:tab pos="2628900" algn="l"/>
                <a:tab pos="3771900" algn="l"/>
                <a:tab pos="4914900" algn="l"/>
                <a:tab pos="5943600" algn="l"/>
              </a:tabLst>
            </a:pP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[80, 8</a:t>
            </a:r>
            <a:r>
              <a:rPr lang="en-US" sz="2400" b="1" dirty="0">
                <a:latin typeface="Times-Roman"/>
                <a:ea typeface="Times New Roman" panose="02020603050405020304" pitchFamily="18" charset="0"/>
              </a:rPr>
              <a:t>3)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:  B</a:t>
            </a:r>
            <a:r>
              <a:rPr lang="en-US" sz="2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‒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;	[83, 87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:  </a:t>
            </a:r>
            <a:r>
              <a:rPr lang="en-US" sz="2400" b="1" dirty="0">
                <a:latin typeface="Times-Roman"/>
                <a:ea typeface="Times New Roman" panose="02020603050405020304" pitchFamily="18" charset="0"/>
              </a:rPr>
              <a:t>B;	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 [87, 90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:  </a:t>
            </a:r>
            <a:r>
              <a:rPr lang="en-US" sz="2400" b="1" dirty="0">
                <a:latin typeface="Times-Roman"/>
                <a:ea typeface="Times New Roman" panose="02020603050405020304" pitchFamily="18" charset="0"/>
              </a:rPr>
              <a:t>B+;</a:t>
            </a:r>
            <a:endParaRPr lang="en-US" sz="2400" b="1" dirty="0">
              <a:effectLst/>
              <a:latin typeface="Times-Roman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  <a:tabLst>
                <a:tab pos="457200" algn="l"/>
                <a:tab pos="1485900" algn="l"/>
                <a:tab pos="2628900" algn="l"/>
                <a:tab pos="3771900" algn="l"/>
                <a:tab pos="4914900" algn="l"/>
                <a:tab pos="5943600" algn="l"/>
              </a:tabLst>
            </a:pP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[70, 7</a:t>
            </a:r>
            <a:r>
              <a:rPr lang="en-US" sz="2400" b="1" dirty="0">
                <a:latin typeface="Times-Roman"/>
                <a:ea typeface="Times New Roman" panose="02020603050405020304" pitchFamily="18" charset="0"/>
              </a:rPr>
              <a:t>3)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:  C</a:t>
            </a:r>
            <a:r>
              <a:rPr lang="en-US" sz="2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‒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;	[73, 77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:  C</a:t>
            </a:r>
            <a:r>
              <a:rPr lang="en-US" sz="2400" b="1" dirty="0">
                <a:latin typeface="Times-Roman"/>
                <a:ea typeface="Times New Roman" panose="02020603050405020304" pitchFamily="18" charset="0"/>
              </a:rPr>
              <a:t>;	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 [77, 80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:  C</a:t>
            </a:r>
            <a:r>
              <a:rPr lang="en-US" sz="2400" b="1" dirty="0">
                <a:latin typeface="Times-Roman"/>
                <a:ea typeface="Times New Roman" panose="02020603050405020304" pitchFamily="18" charset="0"/>
              </a:rPr>
              <a:t>+;</a:t>
            </a:r>
            <a:endParaRPr lang="en-US" sz="2400" b="1" dirty="0">
              <a:effectLst/>
              <a:latin typeface="Times-Roman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  <a:tabLst>
                <a:tab pos="457200" algn="l"/>
                <a:tab pos="1485900" algn="l"/>
                <a:tab pos="2628900" algn="l"/>
                <a:tab pos="3771900" algn="l"/>
                <a:tab pos="4914900" algn="l"/>
                <a:tab pos="5943600" algn="l"/>
              </a:tabLst>
            </a:pP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[60, 6</a:t>
            </a:r>
            <a:r>
              <a:rPr lang="en-US" sz="2400" b="1" dirty="0">
                <a:latin typeface="Times-Roman"/>
                <a:ea typeface="Times New Roman" panose="02020603050405020304" pitchFamily="18" charset="0"/>
              </a:rPr>
              <a:t>3)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:  D</a:t>
            </a:r>
            <a:r>
              <a:rPr lang="en-US" sz="2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‒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;	[63, 67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:  D</a:t>
            </a:r>
            <a:r>
              <a:rPr lang="en-US" sz="2400" b="1" dirty="0">
                <a:latin typeface="Times-Roman"/>
                <a:ea typeface="Times New Roman" panose="02020603050405020304" pitchFamily="18" charset="0"/>
              </a:rPr>
              <a:t>;	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 [67, 70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:  D</a:t>
            </a:r>
            <a:r>
              <a:rPr lang="en-US" sz="2400" b="1" dirty="0">
                <a:latin typeface="Times-Roman"/>
                <a:ea typeface="Times New Roman" panose="02020603050405020304" pitchFamily="18" charset="0"/>
              </a:rPr>
              <a:t>+;</a:t>
            </a:r>
            <a:endParaRPr lang="en-US" sz="2400" b="1" dirty="0">
              <a:effectLst/>
              <a:latin typeface="Times-Roman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  <a:tabLst>
                <a:tab pos="457200" algn="l"/>
                <a:tab pos="1485900" algn="l"/>
                <a:tab pos="2628900" algn="l"/>
                <a:tab pos="3771900" algn="l"/>
                <a:tab pos="4914900" algn="l"/>
                <a:tab pos="5943600" algn="l"/>
              </a:tabLst>
            </a:pPr>
            <a:r>
              <a:rPr lang="en-US" sz="2400" b="1" dirty="0">
                <a:effectLst/>
                <a:latin typeface="Times-Roman"/>
                <a:ea typeface="Times New Roman" panose="02020603050405020304" pitchFamily="18" charset="0"/>
              </a:rPr>
              <a:t>below 60:  F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159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97B405-D54E-E7A1-33EA-D75578C8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277600" cy="5181600"/>
          </a:xfrm>
        </p:spPr>
        <p:txBody>
          <a:bodyPr/>
          <a:lstStyle/>
          <a:p>
            <a:r>
              <a:rPr lang="en-US" dirty="0"/>
              <a:t>Refer to schedule posted on Teams and/or Canvas</a:t>
            </a:r>
          </a:p>
          <a:p>
            <a:pPr lvl="1"/>
            <a:r>
              <a:rPr lang="en-US" dirty="0"/>
              <a:t>Updates regularly, keep checking!</a:t>
            </a:r>
          </a:p>
          <a:p>
            <a:pPr lvl="1"/>
            <a:endParaRPr lang="en-US" dirty="0"/>
          </a:p>
          <a:p>
            <a:r>
              <a:rPr lang="en-US" dirty="0"/>
              <a:t>Some “lecture” materials will be up to the student to review outside of class</a:t>
            </a:r>
          </a:p>
          <a:p>
            <a:pPr lvl="1"/>
            <a:r>
              <a:rPr lang="en-US" dirty="0"/>
              <a:t>Significant parts of class time are reserved for hands-on demonstration &amp; assistance if needed</a:t>
            </a:r>
          </a:p>
          <a:p>
            <a:pPr lvl="1"/>
            <a:r>
              <a:rPr lang="en-US" dirty="0"/>
              <a:t>Talk to me if you have any problems</a:t>
            </a:r>
          </a:p>
        </p:txBody>
      </p:sp>
    </p:spTree>
    <p:extLst>
      <p:ext uri="{BB962C8B-B14F-4D97-AF65-F5344CB8AC3E}">
        <p14:creationId xmlns:p14="http://schemas.microsoft.com/office/powerpoint/2010/main" val="1594911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Time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97B405-D54E-E7A1-33EA-D75578C8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277600" cy="5181600"/>
          </a:xfrm>
        </p:spPr>
        <p:txBody>
          <a:bodyPr/>
          <a:lstStyle/>
          <a:p>
            <a:r>
              <a:rPr lang="en-US" dirty="0"/>
              <a:t>Everyone is expected to</a:t>
            </a:r>
          </a:p>
          <a:p>
            <a:pPr lvl="1"/>
            <a:r>
              <a:rPr lang="en-US" dirty="0"/>
              <a:t>Have their own </a:t>
            </a:r>
            <a:r>
              <a:rPr lang="en-US" dirty="0" err="1"/>
              <a:t>LauchPad</a:t>
            </a:r>
            <a:r>
              <a:rPr lang="en-US" dirty="0"/>
              <a:t> and other supplies</a:t>
            </a:r>
          </a:p>
          <a:p>
            <a:pPr lvl="1"/>
            <a:r>
              <a:rPr lang="en-US" dirty="0"/>
              <a:t>Have </a:t>
            </a:r>
            <a:r>
              <a:rPr lang="en-US" dirty="0" err="1"/>
              <a:t>uVision</a:t>
            </a:r>
            <a:r>
              <a:rPr lang="en-US" dirty="0"/>
              <a:t> installed on an available machine</a:t>
            </a:r>
          </a:p>
          <a:p>
            <a:pPr lvl="1"/>
            <a:r>
              <a:rPr lang="en-US" dirty="0"/>
              <a:t>Have access to basic equipment (will inform in advance if needed)</a:t>
            </a:r>
          </a:p>
          <a:p>
            <a:pPr lvl="2"/>
            <a:r>
              <a:rPr lang="en-US" dirty="0"/>
              <a:t>LEDs</a:t>
            </a:r>
          </a:p>
          <a:p>
            <a:pPr lvl="2"/>
            <a:r>
              <a:rPr lang="en-US" dirty="0"/>
              <a:t>Resistors</a:t>
            </a:r>
          </a:p>
          <a:p>
            <a:pPr lvl="2"/>
            <a:r>
              <a:rPr lang="en-US" dirty="0"/>
              <a:t>Multimeter</a:t>
            </a:r>
          </a:p>
        </p:txBody>
      </p:sp>
    </p:spTree>
    <p:extLst>
      <p:ext uri="{BB962C8B-B14F-4D97-AF65-F5344CB8AC3E}">
        <p14:creationId xmlns:p14="http://schemas.microsoft.com/office/powerpoint/2010/main" val="1227299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Teams and Canvas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97B405-D54E-E7A1-33EA-D75578C8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838200"/>
            <a:ext cx="11306978" cy="51816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Class Team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Access teams through Microsoft Teams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set your notifications to alert you to class posts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Most class information and announcements will be posted here first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0AC70-2845-46F2-8AB1-D6F99DF4B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535" y="2365514"/>
            <a:ext cx="727732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23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Teams and Canvas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84714BC9-E473-FB63-A93D-B6F0A95A60A7}"/>
              </a:ext>
            </a:extLst>
          </p:cNvPr>
          <p:cNvSpPr txBox="1">
            <a:spLocks/>
          </p:cNvSpPr>
          <p:nvPr/>
        </p:nvSpPr>
        <p:spPr>
          <a:xfrm>
            <a:off x="304800" y="944697"/>
            <a:ext cx="4079914" cy="2847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>
                <a:solidFill>
                  <a:srgbClr val="FF0000"/>
                </a:solidFill>
              </a:rPr>
              <a:t>Canvas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Labs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Homework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Online Quizzes/Exams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Grade 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Notifications will also be posted here if possible.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206E2A-CD29-4CE2-BEB5-BC04821B2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670" y="859734"/>
            <a:ext cx="594446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9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ChatGPT</a:t>
            </a:r>
            <a:r>
              <a:rPr lang="en-US" dirty="0"/>
              <a:t>/AI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298" y="1045437"/>
            <a:ext cx="11353801" cy="4767125"/>
          </a:xfrm>
        </p:spPr>
        <p:txBody>
          <a:bodyPr>
            <a:normAutofit/>
          </a:bodyPr>
          <a:lstStyle/>
          <a:p>
            <a:r>
              <a:rPr lang="en-US" dirty="0"/>
              <a:t>is </a:t>
            </a:r>
            <a:r>
              <a:rPr lang="en-US" b="1" dirty="0"/>
              <a:t>Allowed</a:t>
            </a:r>
            <a:r>
              <a:rPr lang="en-US" dirty="0"/>
              <a:t> and </a:t>
            </a:r>
            <a:r>
              <a:rPr lang="en-US" b="1" dirty="0"/>
              <a:t>Recommended</a:t>
            </a:r>
            <a:r>
              <a:rPr lang="en-US" dirty="0"/>
              <a:t> to use</a:t>
            </a:r>
          </a:p>
          <a:p>
            <a:r>
              <a:rPr lang="en-US" dirty="0"/>
              <a:t>is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b="1" dirty="0"/>
              <a:t> </a:t>
            </a:r>
            <a:r>
              <a:rPr lang="en-US" dirty="0"/>
              <a:t>allowed to generate code and report directly</a:t>
            </a:r>
          </a:p>
          <a:p>
            <a:r>
              <a:rPr lang="en-US" altLang="zh-CN" dirty="0"/>
              <a:t>Consequences</a:t>
            </a:r>
            <a:endParaRPr lang="en-US" dirty="0"/>
          </a:p>
          <a:p>
            <a:pPr lvl="1"/>
            <a:r>
              <a:rPr lang="en-US" dirty="0"/>
              <a:t>You can </a:t>
            </a:r>
            <a:r>
              <a:rPr lang="en-US" b="1" dirty="0"/>
              <a:t>NOT</a:t>
            </a:r>
            <a:r>
              <a:rPr lang="en-US" dirty="0"/>
              <a:t> use computer/iPad in the Exams 2/3 and Final (still be open-book)</a:t>
            </a:r>
          </a:p>
          <a:p>
            <a:pPr lvl="1"/>
            <a:r>
              <a:rPr lang="en-US" dirty="0"/>
              <a:t>Randomly pick students to explain their codes if a computer is needed (Exam #1)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859A1-5523-F508-6C21-A49EE582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0656" y="6356350"/>
            <a:ext cx="65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B5D9913-6A20-4518-A50E-84B793E3CEA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4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97B405-D54E-E7A1-33EA-D75578C8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277600" cy="518160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Buy Textbook</a:t>
            </a:r>
          </a:p>
          <a:p>
            <a:pPr marL="457200" indent="-457200">
              <a:buAutoNum type="arabicPeriod"/>
            </a:pPr>
            <a:r>
              <a:rPr lang="en-US" dirty="0"/>
              <a:t>Buy </a:t>
            </a:r>
            <a:r>
              <a:rPr lang="en-US" dirty="0" err="1"/>
              <a:t>LaunchPad</a:t>
            </a:r>
            <a:r>
              <a:rPr lang="en-US" dirty="0"/>
              <a:t> (we can use the software simulator at beginning, you have some time)</a:t>
            </a:r>
          </a:p>
          <a:p>
            <a:pPr marL="457200" indent="-457200">
              <a:buAutoNum type="arabicPeriod"/>
            </a:pPr>
            <a:r>
              <a:rPr lang="en-US" dirty="0"/>
              <a:t>Complete </a:t>
            </a:r>
            <a:r>
              <a:rPr lang="en-US" dirty="0" err="1"/>
              <a:t>Prereq</a:t>
            </a:r>
            <a:r>
              <a:rPr lang="en-US" dirty="0"/>
              <a:t> Quiz on Canvas</a:t>
            </a:r>
          </a:p>
          <a:p>
            <a:pPr marL="457200" indent="-457200">
              <a:buAutoNum type="arabicPeriod"/>
            </a:pPr>
            <a:r>
              <a:rPr lang="en-US" dirty="0"/>
              <a:t>Complete AHA Quiz on Canvas</a:t>
            </a:r>
          </a:p>
          <a:p>
            <a:pPr marL="457200" indent="-457200">
              <a:buAutoNum type="arabicPeriod"/>
            </a:pPr>
            <a:r>
              <a:rPr lang="en-US" dirty="0"/>
              <a:t>Install </a:t>
            </a:r>
            <a:r>
              <a:rPr lang="en-US" dirty="0" err="1"/>
              <a:t>uVision</a:t>
            </a:r>
            <a:r>
              <a:rPr lang="en-US" dirty="0"/>
              <a:t> &amp; other software</a:t>
            </a:r>
          </a:p>
          <a:p>
            <a:pPr marL="857241" lvl="1" indent="-457200">
              <a:buAutoNum type="arabicPeriod"/>
            </a:pPr>
            <a:r>
              <a:rPr lang="en-US" dirty="0"/>
              <a:t>Guidance coming soon. </a:t>
            </a:r>
          </a:p>
        </p:txBody>
      </p:sp>
    </p:spTree>
    <p:extLst>
      <p:ext uri="{BB962C8B-B14F-4D97-AF65-F5344CB8AC3E}">
        <p14:creationId xmlns:p14="http://schemas.microsoft.com/office/powerpoint/2010/main" val="1673938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81323108-9638-4873-8902-6C5A4BC0485F}"/>
              </a:ext>
            </a:extLst>
          </p:cNvPr>
          <p:cNvSpPr/>
          <p:nvPr/>
        </p:nvSpPr>
        <p:spPr>
          <a:xfrm>
            <a:off x="153713" y="1054479"/>
            <a:ext cx="4277791" cy="48376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B7624C-9F91-4A22-9153-7CE68DE5B308}"/>
              </a:ext>
            </a:extLst>
          </p:cNvPr>
          <p:cNvSpPr/>
          <p:nvPr/>
        </p:nvSpPr>
        <p:spPr>
          <a:xfrm>
            <a:off x="5628494" y="4033049"/>
            <a:ext cx="6462831" cy="27373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5B85A6-46BE-4B79-9691-1E71C26BD771}"/>
              </a:ext>
            </a:extLst>
          </p:cNvPr>
          <p:cNvSpPr/>
          <p:nvPr/>
        </p:nvSpPr>
        <p:spPr>
          <a:xfrm>
            <a:off x="5407675" y="124650"/>
            <a:ext cx="6462831" cy="31225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D1E2A-BB09-4040-9877-3AB066B24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Research Interests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C4B14B-30C1-FAB0-C7FD-4D8196CB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0656" y="6356350"/>
            <a:ext cx="65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B5D9913-6A20-4518-A50E-84B793E3CEA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C89FB8-D740-5610-EE93-9F834DA03B19}"/>
              </a:ext>
            </a:extLst>
          </p:cNvPr>
          <p:cNvSpPr txBox="1"/>
          <p:nvPr/>
        </p:nvSpPr>
        <p:spPr>
          <a:xfrm>
            <a:off x="4577159" y="3437228"/>
            <a:ext cx="1661032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Applied EM</a:t>
            </a:r>
            <a:endParaRPr lang="en-US" sz="2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2DC24C-704F-4214-BED8-9EF941E338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61904" y="124649"/>
            <a:ext cx="3932695" cy="2784938"/>
          </a:xfrm>
          <a:prstGeom prst="rect">
            <a:avLst/>
          </a:prstGeom>
        </p:spPr>
      </p:pic>
      <p:pic>
        <p:nvPicPr>
          <p:cNvPr id="1026" name="Picture 2" descr="A Comprehensive Guide to Well Logging - Esimtech">
            <a:extLst>
              <a:ext uri="{FF2B5EF4-FFF2-40B4-BE49-F238E27FC236}">
                <a16:creationId xmlns:a16="http://schemas.microsoft.com/office/drawing/2014/main" id="{0F5D70DE-3353-4AA1-A03C-FD458592A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683" y="245528"/>
            <a:ext cx="1828800" cy="130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DE264C-1072-4773-AD4D-6657BEA692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702" r="12822"/>
          <a:stretch/>
        </p:blipFill>
        <p:spPr>
          <a:xfrm>
            <a:off x="335727" y="1214342"/>
            <a:ext cx="2003031" cy="3568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C59F7C-2B1A-4CA9-A9ED-16A86525C31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517" r="5794"/>
          <a:stretch/>
        </p:blipFill>
        <p:spPr>
          <a:xfrm>
            <a:off x="2457795" y="2062817"/>
            <a:ext cx="1854669" cy="35612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7F51C2-B9D8-4BD1-B635-470D8CDBB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302" y="4120876"/>
            <a:ext cx="5273497" cy="21764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DA95DA-0DC4-476A-8E9A-57D4E8BFE040}"/>
              </a:ext>
            </a:extLst>
          </p:cNvPr>
          <p:cNvSpPr txBox="1"/>
          <p:nvPr/>
        </p:nvSpPr>
        <p:spPr>
          <a:xfrm>
            <a:off x="616838" y="5024440"/>
            <a:ext cx="1163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MR Safety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216F00-9797-45D0-BDD3-05E056815F18}"/>
              </a:ext>
            </a:extLst>
          </p:cNvPr>
          <p:cNvSpPr txBox="1"/>
          <p:nvPr/>
        </p:nvSpPr>
        <p:spPr>
          <a:xfrm>
            <a:off x="7715045" y="631564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EM and AI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7E736B-EA06-429D-8FE6-7AA507C35EA1}"/>
              </a:ext>
            </a:extLst>
          </p:cNvPr>
          <p:cNvSpPr txBox="1"/>
          <p:nvPr/>
        </p:nvSpPr>
        <p:spPr>
          <a:xfrm>
            <a:off x="7667607" y="2881725"/>
            <a:ext cx="1396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Well Logging</a:t>
            </a:r>
            <a:endParaRPr lang="en-US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FF189F-9C99-427A-AB10-79D8EF537702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5407675" y="2228474"/>
            <a:ext cx="1507851" cy="120875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30BD29F-45AE-4E9A-9C2B-AA7A051EF1ED}"/>
              </a:ext>
            </a:extLst>
          </p:cNvPr>
          <p:cNvCxnSpPr>
            <a:cxnSpLocks/>
          </p:cNvCxnSpPr>
          <p:nvPr/>
        </p:nvCxnSpPr>
        <p:spPr>
          <a:xfrm>
            <a:off x="5807348" y="3898893"/>
            <a:ext cx="576498" cy="55662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D45512-149B-4966-9981-02903D689D52}"/>
              </a:ext>
            </a:extLst>
          </p:cNvPr>
          <p:cNvCxnSpPr>
            <a:cxnSpLocks/>
          </p:cNvCxnSpPr>
          <p:nvPr/>
        </p:nvCxnSpPr>
        <p:spPr>
          <a:xfrm flipH="1">
            <a:off x="4389249" y="3898893"/>
            <a:ext cx="561910" cy="60855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882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B.S. Electronic Engr – Tsinghua Univ</a:t>
            </a:r>
          </a:p>
          <a:p>
            <a:r>
              <a:rPr lang="en-US" sz="2000" dirty="0"/>
              <a:t>Ph.D. Electronic  Engr – Tsinghua Univ</a:t>
            </a:r>
          </a:p>
          <a:p>
            <a:endParaRPr lang="en-US" dirty="0"/>
          </a:p>
          <a:p>
            <a:r>
              <a:rPr lang="en-US" sz="2400" dirty="0"/>
              <a:t>Background</a:t>
            </a:r>
            <a:endParaRPr lang="en-US" dirty="0"/>
          </a:p>
          <a:p>
            <a:pPr lvl="1"/>
            <a:r>
              <a:rPr lang="en-US" sz="2000" dirty="0"/>
              <a:t>Computational electromagnetics</a:t>
            </a:r>
          </a:p>
          <a:p>
            <a:pPr lvl="1"/>
            <a:r>
              <a:rPr lang="en-US" sz="2000" dirty="0"/>
              <a:t>Antenna and wireless propagation</a:t>
            </a:r>
          </a:p>
          <a:p>
            <a:pPr lvl="1"/>
            <a:r>
              <a:rPr lang="en-US" sz="2000" dirty="0"/>
              <a:t>Applied EM in biomedical engineering</a:t>
            </a:r>
          </a:p>
          <a:p>
            <a:pPr lvl="1"/>
            <a:endParaRPr lang="en-US" sz="2000" dirty="0"/>
          </a:p>
          <a:p>
            <a:r>
              <a:rPr lang="en-US" sz="2400" dirty="0"/>
              <a:t>Personal</a:t>
            </a:r>
          </a:p>
          <a:p>
            <a:pPr lvl="1"/>
            <a:r>
              <a:rPr lang="en-US" sz="2000" dirty="0"/>
              <a:t>Reading, tennis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8A414-8E62-B1B1-C090-A832FED1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0656" y="6356350"/>
            <a:ext cx="653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B5D9913-6A20-4518-A50E-84B793E3CEAE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7" name="Picture 16" descr="A building with many flags&#10;&#10;Description automatically generated">
            <a:extLst>
              <a:ext uri="{FF2B5EF4-FFF2-40B4-BE49-F238E27FC236}">
                <a16:creationId xmlns:a16="http://schemas.microsoft.com/office/drawing/2014/main" id="{11DE72F3-3011-EEDC-1393-F6493E20EB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805" y="1655249"/>
            <a:ext cx="3657600" cy="2743200"/>
          </a:xfrm>
          <a:prstGeom prst="rect">
            <a:avLst/>
          </a:prstGeom>
        </p:spPr>
      </p:pic>
      <p:pic>
        <p:nvPicPr>
          <p:cNvPr id="21" name="Picture 20" descr="A child standing next to a white board&#10;&#10;Description automatically generated">
            <a:extLst>
              <a:ext uri="{FF2B5EF4-FFF2-40B4-BE49-F238E27FC236}">
                <a16:creationId xmlns:a16="http://schemas.microsoft.com/office/drawing/2014/main" id="{E417D1F7-FEF3-0F54-BB03-4267470DC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976" y="3749674"/>
            <a:ext cx="3656652" cy="2743200"/>
          </a:xfrm>
          <a:prstGeom prst="rect">
            <a:avLst/>
          </a:prstGeom>
        </p:spPr>
      </p:pic>
      <p:pic>
        <p:nvPicPr>
          <p:cNvPr id="19" name="Picture 18" descr="Two girls posing for a picture in front of a statue of a panther&#10;&#10;Description automatically generated">
            <a:extLst>
              <a:ext uri="{FF2B5EF4-FFF2-40B4-BE49-F238E27FC236}">
                <a16:creationId xmlns:a16="http://schemas.microsoft.com/office/drawing/2014/main" id="{DA7A3382-A932-3BBA-96B1-2FA34DF31B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104" y="3978275"/>
            <a:ext cx="3656652" cy="2743200"/>
          </a:xfrm>
          <a:prstGeom prst="rect">
            <a:avLst/>
          </a:prstGeom>
        </p:spPr>
      </p:pic>
      <p:pic>
        <p:nvPicPr>
          <p:cNvPr id="13" name="Picture 12" descr="A large white and grey archway with Marble Arch in the background&#10;&#10;Description automatically generated">
            <a:extLst>
              <a:ext uri="{FF2B5EF4-FFF2-40B4-BE49-F238E27FC236}">
                <a16:creationId xmlns:a16="http://schemas.microsoft.com/office/drawing/2014/main" id="{54EDEC17-5BF6-CFBD-BB46-6A8A9C7679B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37"/>
          <a:stretch/>
        </p:blipFill>
        <p:spPr>
          <a:xfrm>
            <a:off x="5915920" y="59681"/>
            <a:ext cx="3191375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1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Stay foolish, stay hungry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8C24A-5FBF-0194-4782-ADAE83506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111111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333333"/>
                </a:solidFill>
                <a:latin typeface="myriad-pro"/>
              </a:rPr>
              <a:t>“If people never did silly things nothing intelligent would ever get done.”</a:t>
            </a:r>
            <a:br>
              <a:rPr lang="en-US" dirty="0"/>
            </a:br>
            <a:r>
              <a:rPr lang="en-US" dirty="0"/>
              <a:t>								</a:t>
            </a:r>
            <a:r>
              <a:rPr lang="en-US" b="0" i="0" dirty="0">
                <a:solidFill>
                  <a:srgbClr val="181818"/>
                </a:solidFill>
                <a:effectLst/>
                <a:latin typeface="Merriweather" panose="00000500000000000000" pitchFamily="2" charset="0"/>
              </a:rPr>
              <a:t>―  </a:t>
            </a:r>
            <a:r>
              <a:rPr lang="en-US" dirty="0">
                <a:solidFill>
                  <a:srgbClr val="111111"/>
                </a:solidFill>
                <a:latin typeface="Roboto" panose="02000000000000000000" pitchFamily="2" charset="0"/>
              </a:rPr>
              <a:t>Ludwig Wittgenstein</a:t>
            </a:r>
          </a:p>
          <a:p>
            <a:pPr marL="0" indent="0">
              <a:buNone/>
            </a:pPr>
            <a:endParaRPr lang="en-US" dirty="0">
              <a:solidFill>
                <a:srgbClr val="111111"/>
              </a:solidFill>
              <a:latin typeface="Roboto" panose="02000000000000000000" pitchFamily="2" charset="0"/>
            </a:endParaRPr>
          </a:p>
          <a:p>
            <a:pPr algn="r">
              <a:buFont typeface="Wingdings" panose="05000000000000000000" pitchFamily="2" charset="2"/>
              <a:buChar char="n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960839"/>
      </p:ext>
    </p:extLst>
  </p:cSld>
  <p:clrMapOvr>
    <a:masterClrMapping/>
  </p:clrMapOvr>
</p:sld>
</file>

<file path=ppt/theme/theme1.xml><?xml version="1.0" encoding="utf-8"?>
<a:theme xmlns:a="http://schemas.openxmlformats.org/drawingml/2006/main" name="UH ECOM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PS.potx" id="{CE41128D-6EB0-4D0A-BE39-61CAA54AB745}" vid="{38FD15AE-3AD1-4AD1-AA2E-47F4A362D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2FB37E47E1D843BC52574BCDE96A0F" ma:contentTypeVersion="3" ma:contentTypeDescription="Create a new document." ma:contentTypeScope="" ma:versionID="876989e2c60c7ad05a5017c76f23c2ec">
  <xsd:schema xmlns:xsd="http://www.w3.org/2001/XMLSchema" xmlns:xs="http://www.w3.org/2001/XMLSchema" xmlns:p="http://schemas.microsoft.com/office/2006/metadata/properties" xmlns:ns2="e099cec4-e547-44fa-ac68-43ad6ea61fbb" targetNamespace="http://schemas.microsoft.com/office/2006/metadata/properties" ma:root="true" ma:fieldsID="66e5c7ed2332263e707c3b4990332721" ns2:_="">
    <xsd:import namespace="e099cec4-e547-44fa-ac68-43ad6ea61f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9cec4-e547-44fa-ac68-43ad6ea61f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E50C27-F217-49F0-B388-D9BFAF51FF4F}"/>
</file>

<file path=customXml/itemProps2.xml><?xml version="1.0" encoding="utf-8"?>
<ds:datastoreItem xmlns:ds="http://schemas.openxmlformats.org/officeDocument/2006/customXml" ds:itemID="{30A1D59E-1541-478D-8CD2-EF0748929494}"/>
</file>

<file path=customXml/itemProps3.xml><?xml version="1.0" encoding="utf-8"?>
<ds:datastoreItem xmlns:ds="http://schemas.openxmlformats.org/officeDocument/2006/customXml" ds:itemID="{1A15CE12-572B-4802-863A-0F7BA866710F}"/>
</file>

<file path=docProps/app.xml><?xml version="1.0" encoding="utf-8"?>
<Properties xmlns="http://schemas.openxmlformats.org/officeDocument/2006/extended-properties" xmlns:vt="http://schemas.openxmlformats.org/officeDocument/2006/docPropsVTypes">
  <Template>APS</Template>
  <TotalTime>2932</TotalTime>
  <Words>1171</Words>
  <Application>Microsoft Office PowerPoint</Application>
  <PresentationFormat>Widescreen</PresentationFormat>
  <Paragraphs>230</Paragraphs>
  <Slides>25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Milo Medium</vt:lpstr>
      <vt:lpstr>myriad-pro</vt:lpstr>
      <vt:lpstr>Times-Roman</vt:lpstr>
      <vt:lpstr>Arial</vt:lpstr>
      <vt:lpstr>Calibri</vt:lpstr>
      <vt:lpstr>Merriweather</vt:lpstr>
      <vt:lpstr>Roboto</vt:lpstr>
      <vt:lpstr>Segoe UI</vt:lpstr>
      <vt:lpstr>Source Sans Pro</vt:lpstr>
      <vt:lpstr>Times New Roman</vt:lpstr>
      <vt:lpstr>Wingdings</vt:lpstr>
      <vt:lpstr>UH ECOMS</vt:lpstr>
      <vt:lpstr>ECE 3436 Microprocessor Systems  Notes 1: Introduction </vt:lpstr>
      <vt:lpstr>Today’s agenda in ECE 3436</vt:lpstr>
      <vt:lpstr>Why Study Microprocessor Systems </vt:lpstr>
      <vt:lpstr>STAFF</vt:lpstr>
      <vt:lpstr>Calendar check</vt:lpstr>
      <vt:lpstr>Announcements</vt:lpstr>
      <vt:lpstr>Announcements</vt:lpstr>
      <vt:lpstr>Attendance</vt:lpstr>
      <vt:lpstr>Prereq. Review</vt:lpstr>
      <vt:lpstr>ECE 3436 Prerequisites</vt:lpstr>
      <vt:lpstr>Academic honesty agreement</vt:lpstr>
      <vt:lpstr>Syllabus</vt:lpstr>
      <vt:lpstr>Textbooks</vt:lpstr>
      <vt:lpstr>Platform</vt:lpstr>
      <vt:lpstr>Labs</vt:lpstr>
      <vt:lpstr>Grading (tentative)</vt:lpstr>
      <vt:lpstr>Schedule overview</vt:lpstr>
      <vt:lpstr>Class Time</vt:lpstr>
      <vt:lpstr>Teams and Canvas</vt:lpstr>
      <vt:lpstr>Teams and Canvas</vt:lpstr>
      <vt:lpstr>ChatGPT/AI policy</vt:lpstr>
      <vt:lpstr>To-Do List</vt:lpstr>
      <vt:lpstr>Research Interests</vt:lpstr>
      <vt:lpstr>About Me</vt:lpstr>
      <vt:lpstr>Stay foolish, stay hungry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RF-induced Heating Comparison between TEM and Birdcage Coils for Circular External Fixator</dc:title>
  <dc:creator>Jianfeng</dc:creator>
  <cp:lastModifiedBy>Zheng, Jianfeng</cp:lastModifiedBy>
  <cp:revision>896</cp:revision>
  <dcterms:created xsi:type="dcterms:W3CDTF">2017-07-10T15:25:03Z</dcterms:created>
  <dcterms:modified xsi:type="dcterms:W3CDTF">2026-01-20T21:35:38Z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0x010100B62FB37E47E1D843BC52574BCDE96A0F</vt:lpwstr>
  </property>
</Properties>
</file>