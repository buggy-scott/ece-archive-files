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60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30" r:id="rId20"/>
    <p:sldId id="331" r:id="rId21"/>
    <p:sldId id="333" r:id="rId22"/>
    <p:sldId id="334" r:id="rId23"/>
    <p:sldId id="335" r:id="rId2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15" autoAdjust="0"/>
    <p:restoredTop sz="78692" autoAdjust="0"/>
  </p:normalViewPr>
  <p:slideViewPr>
    <p:cSldViewPr snapToGrid="0">
      <p:cViewPr varScale="1">
        <p:scale>
          <a:sx n="128" d="100"/>
          <a:sy n="128" d="100"/>
        </p:scale>
        <p:origin x="10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AAC67-9EFC-4764-AEA9-7B0E6270BFD0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F15EE-D758-4B17-9108-4577B4B43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16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02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C103-859C-11A6-9D8B-3CCE3AE9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73377-3E88-2301-2B3D-0556FD6A5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13157-9D3A-7F59-20B3-A47616EA7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8AF1D-6C7B-80A6-A906-609B468D1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35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9F401-9ECD-1347-E85B-D323D330C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8BA03-A31C-5002-6E6E-C72D5D317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3A94B-5F53-C833-7CF5-7798C7029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38F52-A024-0CE8-2824-7AA717775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35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6E420-E679-7D06-56C0-D054FE0F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9A5A9-0A34-E2E7-2ACF-C9F471CB0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6C23E-6E70-AA27-216F-243330C0F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34024-5485-A111-50D2-9B7F6B472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5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19A6B-595B-16F6-1E2F-3A262ED7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D0B82-52E9-3036-3469-B72F0F956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E3F41-5DCD-1A08-9A99-53DBE11BF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6E3FB-64C4-0D53-0531-C7533EDD9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79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7DCD9-8545-7E98-7CB4-FEFD9D32B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9F480-D65A-7723-B4E4-1E272E10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0DB71C-422A-A5B4-D9EE-3E2C9D229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3A801-58D9-7671-4C8D-588C86BC5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5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gcroft\Documents\Logos\UHnoYATP onelin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753" y="6492875"/>
            <a:ext cx="324612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01980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6172200"/>
            <a:ext cx="11684000" cy="76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914400" y="1760566"/>
            <a:ext cx="10363200" cy="1668439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828800" y="3733800"/>
            <a:ext cx="85344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41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5181600"/>
          </a:xfrm>
          <a:prstGeom prst="rect">
            <a:avLst/>
          </a:prstGeom>
        </p:spPr>
        <p:txBody>
          <a:bodyPr/>
          <a:lstStyle>
            <a:lvl1pPr marL="342891" indent="-342891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3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22665" y="6535899"/>
            <a:ext cx="845069" cy="295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ea typeface="Gulim" panose="020B0600000101010101" pitchFamily="34" charset="-127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04799" y="237251"/>
            <a:ext cx="1148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Slide Title</a:t>
            </a: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endParaRPr lang="en-US" altLang="ko-KR" sz="3200"/>
          </a:p>
        </p:txBody>
      </p:sp>
      <p:sp>
        <p:nvSpPr>
          <p:cNvPr id="8" name="Rectangle 7"/>
          <p:cNvSpPr/>
          <p:nvPr/>
        </p:nvSpPr>
        <p:spPr>
          <a:xfrm>
            <a:off x="304800" y="755537"/>
            <a:ext cx="115824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7" name="Picture 4" descr="C:\Users\Xin\Desktop\UH_ECE.png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465" y="6315075"/>
            <a:ext cx="38100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76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zheng4@central.u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05080"/>
            <a:ext cx="10363200" cy="253663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olidFill>
                  <a:srgbClr val="0070C0"/>
                </a:solidFill>
              </a:rPr>
              <a:t>ECE 3436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Microprocessor Systems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Notes 5</a:t>
            </a:r>
            <a:r>
              <a:rPr lang="en-US" altLang="zh-CN" dirty="0"/>
              <a:t>a</a:t>
            </a:r>
            <a:r>
              <a:rPr lang="en-US" dirty="0"/>
              <a:t>: Shift, Rotate, &amp; Logical Operations</a:t>
            </a:r>
            <a:br>
              <a:rPr lang="en-US" sz="24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29000"/>
            <a:ext cx="853440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Ph.D. Jianfeng Zheng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Dept. ECE, Univ. of Houston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Email: </a:t>
            </a:r>
            <a:r>
              <a:rPr lang="en-US" sz="2000" b="0" dirty="0">
                <a:solidFill>
                  <a:srgbClr val="0070C0"/>
                </a:solidFill>
                <a:hlinkClick r:id="rId3"/>
              </a:rPr>
              <a:t>jzheng4@central.uh.edu</a:t>
            </a:r>
            <a:endParaRPr lang="en-US" sz="2000" b="0" dirty="0">
              <a:solidFill>
                <a:srgbClr val="0070C0"/>
              </a:solidFill>
            </a:endParaRPr>
          </a:p>
          <a:p>
            <a:r>
              <a:rPr lang="en-US" altLang="zh-CN" sz="2000" b="0" dirty="0">
                <a:solidFill>
                  <a:srgbClr val="0070C0"/>
                </a:solidFill>
              </a:rPr>
              <a:t>Feb 17</a:t>
            </a:r>
            <a:r>
              <a:rPr lang="en-US" sz="2000" b="0" dirty="0">
                <a:solidFill>
                  <a:srgbClr val="0070C0"/>
                </a:solidFill>
              </a:rPr>
              <a:t>,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50EA8-C668-2709-CA47-CBC7A8D8E96A}"/>
              </a:ext>
            </a:extLst>
          </p:cNvPr>
          <p:cNvSpPr txBox="1"/>
          <p:nvPr/>
        </p:nvSpPr>
        <p:spPr>
          <a:xfrm>
            <a:off x="88135" y="5486400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Adapted from notes by </a:t>
            </a:r>
            <a:r>
              <a:rPr lang="en-US" b="1" i="0" dirty="0">
                <a:solidFill>
                  <a:srgbClr val="222222"/>
                </a:solidFill>
                <a:effectLst/>
                <a:latin typeface="Milo Medium"/>
              </a:rPr>
              <a:t>Dr. Diana De La Rosa-Pohl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27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in ECE 3436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F626-9A92-1FA8-DAC2-8CBEA8D4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zh-CN" dirty="0"/>
              <a:t>Review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altLang="zh-CN" dirty="0"/>
              <a:t>,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Z</a:t>
            </a:r>
            <a:r>
              <a:rPr lang="en-US" altLang="zh-CN" dirty="0"/>
              <a:t>,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altLang="zh-CN" dirty="0"/>
              <a:t>, and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altLang="zh-CN" dirty="0"/>
              <a:t> condition flags.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Perform </a:t>
            </a:r>
            <a:r>
              <a:rPr lang="en-US" dirty="0">
                <a:solidFill>
                  <a:srgbClr val="FF0000"/>
                </a:solidFill>
              </a:rPr>
              <a:t>shift</a:t>
            </a:r>
            <a:r>
              <a:rPr lang="en-US" dirty="0"/>
              <a:t> operations on register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Perform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rotate</a:t>
            </a:r>
            <a:r>
              <a:rPr lang="en-US" dirty="0">
                <a:sym typeface="Wingdings" panose="05000000000000000000" pitchFamily="2" charset="2"/>
              </a:rPr>
              <a:t> operations on register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Perform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logical</a:t>
            </a:r>
            <a:r>
              <a:rPr lang="en-US" dirty="0">
                <a:sym typeface="Wingdings" panose="05000000000000000000" pitchFamily="2" charset="2"/>
              </a:rPr>
              <a:t> operations on register data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40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849E-D4CD-5BD4-A2A7-ACBEAAC6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E851-3EF9-7C69-7FCF-BAB50B6B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instructions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F11E9E-E7C9-4E88-C917-11EE74B19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038171"/>
              </p:ext>
            </p:extLst>
          </p:nvPr>
        </p:nvGraphicFramePr>
        <p:xfrm>
          <a:off x="1272345" y="1204364"/>
          <a:ext cx="5888112" cy="792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508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14F94F0-B912-2F68-2A0D-728F886A9DB7}"/>
              </a:ext>
            </a:extLst>
          </p:cNvPr>
          <p:cNvSpPr txBox="1"/>
          <p:nvPr/>
        </p:nvSpPr>
        <p:spPr>
          <a:xfrm>
            <a:off x="462670" y="1204364"/>
            <a:ext cx="651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R1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F76F63C-AB26-601B-6287-99F7610D56A6}"/>
              </a:ext>
            </a:extLst>
          </p:cNvPr>
          <p:cNvSpPr txBox="1">
            <a:spLocks/>
          </p:cNvSpPr>
          <p:nvPr/>
        </p:nvSpPr>
        <p:spPr>
          <a:xfrm>
            <a:off x="462670" y="2765469"/>
            <a:ext cx="5791200" cy="288816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LSL</a:t>
            </a:r>
            <a:r>
              <a:rPr lang="en-US" kern="0" dirty="0"/>
              <a:t> – logical shift left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LSR</a:t>
            </a:r>
            <a:r>
              <a:rPr lang="en-US" kern="0" dirty="0"/>
              <a:t> – logical shift right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ASR</a:t>
            </a:r>
            <a:r>
              <a:rPr lang="en-US" kern="0" dirty="0"/>
              <a:t> – arithmetic shift right</a:t>
            </a:r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2DB5D87-0AED-591E-4F1A-43847341F39A}"/>
              </a:ext>
            </a:extLst>
          </p:cNvPr>
          <p:cNvSpPr txBox="1">
            <a:spLocks/>
          </p:cNvSpPr>
          <p:nvPr/>
        </p:nvSpPr>
        <p:spPr>
          <a:xfrm>
            <a:off x="5721642" y="2765468"/>
            <a:ext cx="5791200" cy="288816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LSL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Ans </a:t>
            </a:r>
            <a:r>
              <a:rPr lang="en-US" kern="0" dirty="0">
                <a:sym typeface="Wingdings" panose="05000000000000000000" pitchFamily="2" charset="2"/>
              </a:rPr>
              <a:t> 1001.0000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LSR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Ans </a:t>
            </a:r>
            <a:r>
              <a:rPr lang="en-US" kern="0" dirty="0">
                <a:sym typeface="Wingdings" panose="05000000000000000000" pitchFamily="2" charset="2"/>
              </a:rPr>
              <a:t> 0010.1100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ASR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Ans </a:t>
            </a:r>
            <a:r>
              <a:rPr lang="en-US" kern="0" dirty="0">
                <a:sym typeface="Wingdings" panose="05000000000000000000" pitchFamily="2" charset="2"/>
              </a:rPr>
              <a:t> 1111.1011</a:t>
            </a:r>
            <a:endParaRPr lang="en-US" kern="0" dirty="0"/>
          </a:p>
          <a:p>
            <a:pPr marL="914388" lvl="1" indent="-457200">
              <a:buFontTx/>
              <a:buAutoNum type="arabicPeriod"/>
            </a:pPr>
            <a:endParaRPr lang="en-US" kern="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99854F4-CD76-4C0D-4714-55EC6A7C145A}"/>
              </a:ext>
            </a:extLst>
          </p:cNvPr>
          <p:cNvSpPr txBox="1">
            <a:spLocks/>
          </p:cNvSpPr>
          <p:nvPr/>
        </p:nvSpPr>
        <p:spPr>
          <a:xfrm>
            <a:off x="7742700" y="1143404"/>
            <a:ext cx="2104684" cy="4572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8-bit example</a:t>
            </a:r>
          </a:p>
        </p:txBody>
      </p:sp>
    </p:spTree>
    <p:extLst>
      <p:ext uri="{BB962C8B-B14F-4D97-AF65-F5344CB8AC3E}">
        <p14:creationId xmlns:p14="http://schemas.microsoft.com/office/powerpoint/2010/main" val="135671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BA50-1561-24B6-AEAE-4EB78E1F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FFED3-A684-153E-F900-10DC1B31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instructions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07C72E-F049-F5AB-22FA-C0C779EF9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715684"/>
              </p:ext>
            </p:extLst>
          </p:nvPr>
        </p:nvGraphicFramePr>
        <p:xfrm>
          <a:off x="1272345" y="1204364"/>
          <a:ext cx="5888112" cy="792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508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EE8B860-D96D-3FB4-0F5A-FBF94F1867B8}"/>
              </a:ext>
            </a:extLst>
          </p:cNvPr>
          <p:cNvSpPr txBox="1"/>
          <p:nvPr/>
        </p:nvSpPr>
        <p:spPr>
          <a:xfrm>
            <a:off x="462670" y="1204364"/>
            <a:ext cx="651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2B96BE-7F0E-2CC9-6858-FDB90068765E}"/>
              </a:ext>
            </a:extLst>
          </p:cNvPr>
          <p:cNvSpPr txBox="1">
            <a:spLocks/>
          </p:cNvSpPr>
          <p:nvPr/>
        </p:nvSpPr>
        <p:spPr>
          <a:xfrm>
            <a:off x="462670" y="2292961"/>
            <a:ext cx="5791200" cy="27010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What is the result in R0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ASR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Ans </a:t>
            </a:r>
            <a:r>
              <a:rPr lang="en-US" kern="0" dirty="0">
                <a:sym typeface="Wingdings" panose="05000000000000000000" pitchFamily="2" charset="2"/>
              </a:rPr>
              <a:t> 0000.0110 or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Ans  1110.0110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21635E-CF05-08CC-78B2-4D7D898C86AE}"/>
              </a:ext>
            </a:extLst>
          </p:cNvPr>
          <p:cNvSpPr txBox="1">
            <a:spLocks/>
          </p:cNvSpPr>
          <p:nvPr/>
        </p:nvSpPr>
        <p:spPr>
          <a:xfrm>
            <a:off x="7742700" y="1143404"/>
            <a:ext cx="2104684" cy="4572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8-bit example</a:t>
            </a:r>
          </a:p>
        </p:txBody>
      </p:sp>
    </p:spTree>
    <p:extLst>
      <p:ext uri="{BB962C8B-B14F-4D97-AF65-F5344CB8AC3E}">
        <p14:creationId xmlns:p14="http://schemas.microsoft.com/office/powerpoint/2010/main" val="1964159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5D90D-EC9B-10C0-9BD6-25993E05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D1207-0AF4-A42A-97CB-C34075C47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instructions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22C32-3752-EAFE-FA57-DF7C2DA0B843}"/>
              </a:ext>
            </a:extLst>
          </p:cNvPr>
          <p:cNvSpPr txBox="1"/>
          <p:nvPr/>
        </p:nvSpPr>
        <p:spPr>
          <a:xfrm>
            <a:off x="462669" y="1204364"/>
            <a:ext cx="7280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R1 = 1100.1001.0000.0001.0011.0010.0001.1001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11BD91-6D84-CE47-09BE-260BD24298CE}"/>
              </a:ext>
            </a:extLst>
          </p:cNvPr>
          <p:cNvSpPr txBox="1">
            <a:spLocks/>
          </p:cNvSpPr>
          <p:nvPr/>
        </p:nvSpPr>
        <p:spPr>
          <a:xfrm>
            <a:off x="462669" y="2292961"/>
            <a:ext cx="7854854" cy="27010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What is the result in R0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ASR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Ans </a:t>
            </a:r>
            <a:r>
              <a:rPr lang="en-US" kern="0" dirty="0">
                <a:sym typeface="Wingdings" panose="05000000000000000000" pitchFamily="2" charset="2"/>
              </a:rPr>
              <a:t> 111</a:t>
            </a:r>
            <a:r>
              <a:rPr lang="en-US" kern="0" dirty="0"/>
              <a:t>1.1001.0010.0000.0010.0110.0100.0011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603E4E5-FDAF-FC4A-5B8B-30317183746B}"/>
              </a:ext>
            </a:extLst>
          </p:cNvPr>
          <p:cNvSpPr txBox="1">
            <a:spLocks/>
          </p:cNvSpPr>
          <p:nvPr/>
        </p:nvSpPr>
        <p:spPr>
          <a:xfrm>
            <a:off x="7742700" y="1143404"/>
            <a:ext cx="2649808" cy="4572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32-bit example</a:t>
            </a:r>
          </a:p>
        </p:txBody>
      </p:sp>
    </p:spTree>
    <p:extLst>
      <p:ext uri="{BB962C8B-B14F-4D97-AF65-F5344CB8AC3E}">
        <p14:creationId xmlns:p14="http://schemas.microsoft.com/office/powerpoint/2010/main" val="293570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5721E-6759-F542-EDA9-442052C1F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9041E-2118-4A73-C99A-050C402B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Multiplication (LSL)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2385176-F8D6-9763-E1E9-F6D9AE70F79A}"/>
              </a:ext>
            </a:extLst>
          </p:cNvPr>
          <p:cNvSpPr txBox="1">
            <a:spLocks/>
          </p:cNvSpPr>
          <p:nvPr/>
        </p:nvSpPr>
        <p:spPr>
          <a:xfrm>
            <a:off x="304799" y="1237884"/>
            <a:ext cx="7854854" cy="27010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Logical Shift Left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Multiply by 2 (for each shift)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Multiply by powers of 2 only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 EX.: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LSL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1F573D-2E26-62CA-947B-CF70ABEBB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841100"/>
              </p:ext>
            </p:extLst>
          </p:nvPr>
        </p:nvGraphicFramePr>
        <p:xfrm>
          <a:off x="5897487" y="1468133"/>
          <a:ext cx="5888112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7E4D3B-D859-D4FE-8504-3D8D8739B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863113"/>
              </p:ext>
            </p:extLst>
          </p:nvPr>
        </p:nvGraphicFramePr>
        <p:xfrm>
          <a:off x="5897487" y="2758350"/>
          <a:ext cx="5888112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F4C152-F2C4-EE4C-3217-8874912A77DF}"/>
              </a:ext>
            </a:extLst>
          </p:cNvPr>
          <p:cNvCxnSpPr>
            <a:cxnSpLocks/>
          </p:cNvCxnSpPr>
          <p:nvPr/>
        </p:nvCxnSpPr>
        <p:spPr bwMode="auto">
          <a:xfrm flipH="1">
            <a:off x="6981092" y="1864373"/>
            <a:ext cx="1441939" cy="8939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BF7A0A-DEC5-5E57-74C8-25C8A13C8DBE}"/>
              </a:ext>
            </a:extLst>
          </p:cNvPr>
          <p:cNvCxnSpPr>
            <a:cxnSpLocks/>
          </p:cNvCxnSpPr>
          <p:nvPr/>
        </p:nvCxnSpPr>
        <p:spPr bwMode="auto">
          <a:xfrm flipH="1">
            <a:off x="6260122" y="1839617"/>
            <a:ext cx="1441939" cy="8939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D700FB-F509-244F-EEBE-EB171AB7CB22}"/>
              </a:ext>
            </a:extLst>
          </p:cNvPr>
          <p:cNvCxnSpPr>
            <a:cxnSpLocks/>
          </p:cNvCxnSpPr>
          <p:nvPr/>
        </p:nvCxnSpPr>
        <p:spPr bwMode="auto">
          <a:xfrm flipH="1">
            <a:off x="9999784" y="1857290"/>
            <a:ext cx="1441939" cy="8939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ACE7125-077C-02B8-2331-44F06A7BF93A}"/>
              </a:ext>
            </a:extLst>
          </p:cNvPr>
          <p:cNvSpPr txBox="1">
            <a:spLocks/>
          </p:cNvSpPr>
          <p:nvPr/>
        </p:nvSpPr>
        <p:spPr>
          <a:xfrm>
            <a:off x="8709071" y="2010149"/>
            <a:ext cx="1395243" cy="62790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</a:t>
            </a:r>
            <a:endParaRPr lang="en-US" kern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633DE0-4469-4474-4934-790DB947AF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010" b="41110"/>
          <a:stretch/>
        </p:blipFill>
        <p:spPr>
          <a:xfrm>
            <a:off x="304799" y="3367534"/>
            <a:ext cx="6038850" cy="424063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C5CAC33-EF2D-42EA-AA0B-39FA0E9F3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406651"/>
              </p:ext>
            </p:extLst>
          </p:nvPr>
        </p:nvGraphicFramePr>
        <p:xfrm>
          <a:off x="3804923" y="4151897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87C3E41-F292-BC73-6148-2BE2666C7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360703"/>
              </p:ext>
            </p:extLst>
          </p:nvPr>
        </p:nvGraphicFramePr>
        <p:xfrm>
          <a:off x="9848167" y="4151897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FA16590-7928-45E1-3710-6C846D0CCF2F}"/>
              </a:ext>
            </a:extLst>
          </p:cNvPr>
          <p:cNvSpPr txBox="1">
            <a:spLocks/>
          </p:cNvSpPr>
          <p:nvPr/>
        </p:nvSpPr>
        <p:spPr>
          <a:xfrm>
            <a:off x="10727260" y="4519907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0n31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30E4211-4576-A022-1F07-DA45FB2FB3EF}"/>
              </a:ext>
            </a:extLst>
          </p:cNvPr>
          <p:cNvSpPr txBox="1">
            <a:spLocks/>
          </p:cNvSpPr>
          <p:nvPr/>
        </p:nvSpPr>
        <p:spPr>
          <a:xfrm>
            <a:off x="260977" y="4519907"/>
            <a:ext cx="3142159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Logical Shift Left</a:t>
            </a:r>
          </a:p>
          <a:p>
            <a:pPr marL="0" indent="0">
              <a:buNone/>
            </a:pPr>
            <a:r>
              <a:rPr lang="en-US" kern="0" dirty="0"/>
              <a:t>LSL</a:t>
            </a:r>
          </a:p>
          <a:p>
            <a:pPr marL="0" indent="0">
              <a:buNone/>
            </a:pPr>
            <a:endParaRPr lang="en-US" kern="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8AA7FF-9300-89DF-DF41-36361A409523}"/>
              </a:ext>
            </a:extLst>
          </p:cNvPr>
          <p:cNvCxnSpPr>
            <a:cxnSpLocks/>
          </p:cNvCxnSpPr>
          <p:nvPr/>
        </p:nvCxnSpPr>
        <p:spPr bwMode="auto">
          <a:xfrm>
            <a:off x="3667125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9AB69AA-EBC8-CB9E-A4E1-B7FAB0FCE070}"/>
              </a:ext>
            </a:extLst>
          </p:cNvPr>
          <p:cNvCxnSpPr>
            <a:cxnSpLocks/>
          </p:cNvCxnSpPr>
          <p:nvPr/>
        </p:nvCxnSpPr>
        <p:spPr bwMode="auto">
          <a:xfrm>
            <a:off x="4152900" y="4945689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332B01F-B15C-FE02-93FA-A259E6002091}"/>
              </a:ext>
            </a:extLst>
          </p:cNvPr>
          <p:cNvCxnSpPr>
            <a:cxnSpLocks/>
          </p:cNvCxnSpPr>
          <p:nvPr/>
        </p:nvCxnSpPr>
        <p:spPr bwMode="auto">
          <a:xfrm>
            <a:off x="4638675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D21F7D-64A9-DA0F-49FF-71989D579A61}"/>
              </a:ext>
            </a:extLst>
          </p:cNvPr>
          <p:cNvCxnSpPr>
            <a:cxnSpLocks/>
          </p:cNvCxnSpPr>
          <p:nvPr/>
        </p:nvCxnSpPr>
        <p:spPr bwMode="auto">
          <a:xfrm>
            <a:off x="5133975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E4F9BE5-EE4A-8EB3-C7B4-6312CFE3381B}"/>
              </a:ext>
            </a:extLst>
          </p:cNvPr>
          <p:cNvCxnSpPr>
            <a:cxnSpLocks/>
          </p:cNvCxnSpPr>
          <p:nvPr/>
        </p:nvCxnSpPr>
        <p:spPr bwMode="auto">
          <a:xfrm>
            <a:off x="5619750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49B5B1D-7D51-D4BB-758D-BF993657EF4D}"/>
              </a:ext>
            </a:extLst>
          </p:cNvPr>
          <p:cNvCxnSpPr>
            <a:cxnSpLocks/>
          </p:cNvCxnSpPr>
          <p:nvPr/>
        </p:nvCxnSpPr>
        <p:spPr bwMode="auto">
          <a:xfrm>
            <a:off x="6105525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211FBAD-E056-5E20-D93A-48D696F2A1C9}"/>
              </a:ext>
            </a:extLst>
          </p:cNvPr>
          <p:cNvCxnSpPr>
            <a:cxnSpLocks/>
          </p:cNvCxnSpPr>
          <p:nvPr/>
        </p:nvCxnSpPr>
        <p:spPr bwMode="auto">
          <a:xfrm>
            <a:off x="6600825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3909285-7EB1-DE0D-49EA-0E98ACB9046D}"/>
              </a:ext>
            </a:extLst>
          </p:cNvPr>
          <p:cNvCxnSpPr>
            <a:cxnSpLocks/>
          </p:cNvCxnSpPr>
          <p:nvPr/>
        </p:nvCxnSpPr>
        <p:spPr bwMode="auto">
          <a:xfrm>
            <a:off x="8067675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7B32F3D-7E61-8B9E-E179-534CEA1467CC}"/>
              </a:ext>
            </a:extLst>
          </p:cNvPr>
          <p:cNvCxnSpPr>
            <a:cxnSpLocks/>
          </p:cNvCxnSpPr>
          <p:nvPr/>
        </p:nvCxnSpPr>
        <p:spPr bwMode="auto">
          <a:xfrm>
            <a:off x="8553450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EB6F4C-FE53-613E-9E08-A0FEFBAC39F8}"/>
              </a:ext>
            </a:extLst>
          </p:cNvPr>
          <p:cNvCxnSpPr>
            <a:cxnSpLocks/>
          </p:cNvCxnSpPr>
          <p:nvPr/>
        </p:nvCxnSpPr>
        <p:spPr bwMode="auto">
          <a:xfrm>
            <a:off x="10048875" y="4943937"/>
            <a:ext cx="481726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2158FFE-F7C2-8480-472C-01623E2410D8}"/>
              </a:ext>
            </a:extLst>
          </p:cNvPr>
          <p:cNvCxnSpPr>
            <a:cxnSpLocks/>
          </p:cNvCxnSpPr>
          <p:nvPr/>
        </p:nvCxnSpPr>
        <p:spPr bwMode="auto">
          <a:xfrm flipV="1">
            <a:off x="3676650" y="4391301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6CD6A4E-CA26-D200-4EE7-A0FA13117820}"/>
              </a:ext>
            </a:extLst>
          </p:cNvPr>
          <p:cNvCxnSpPr>
            <a:cxnSpLocks/>
          </p:cNvCxnSpPr>
          <p:nvPr/>
        </p:nvCxnSpPr>
        <p:spPr bwMode="auto">
          <a:xfrm flipH="1">
            <a:off x="3676650" y="4391301"/>
            <a:ext cx="686139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7DC4727-7EA5-98BE-2734-E3421B0A5F24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38042" y="4391301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36E37DE-33E5-62F2-40A9-78BC69B06EF3}"/>
              </a:ext>
            </a:extLst>
          </p:cNvPr>
          <p:cNvSpPr txBox="1"/>
          <p:nvPr/>
        </p:nvSpPr>
        <p:spPr>
          <a:xfrm>
            <a:off x="9245697" y="4713104"/>
            <a:ext cx="575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00F5DFE-9F10-C10D-21A6-EF02CF821EC9}"/>
              </a:ext>
            </a:extLst>
          </p:cNvPr>
          <p:cNvCxnSpPr>
            <a:cxnSpLocks/>
          </p:cNvCxnSpPr>
          <p:nvPr/>
        </p:nvCxnSpPr>
        <p:spPr bwMode="auto">
          <a:xfrm>
            <a:off x="9026771" y="495392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947464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DB5FF-4D7C-A720-3303-4360EE903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A2024-133F-B17A-C301-5643C29E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Multiplication (LSL)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4CB11-E504-21AA-497D-61769B8274A9}"/>
              </a:ext>
            </a:extLst>
          </p:cNvPr>
          <p:cNvSpPr txBox="1">
            <a:spLocks/>
          </p:cNvSpPr>
          <p:nvPr/>
        </p:nvSpPr>
        <p:spPr>
          <a:xfrm>
            <a:off x="304799" y="1237885"/>
            <a:ext cx="7854854" cy="945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FF0000"/>
                </a:solidFill>
              </a:rPr>
              <a:t>4-bit</a:t>
            </a:r>
            <a:r>
              <a:rPr lang="en-US" kern="0" dirty="0"/>
              <a:t> Practice (</a:t>
            </a:r>
            <a:r>
              <a:rPr lang="en-US" kern="0" dirty="0">
                <a:solidFill>
                  <a:srgbClr val="FF0000"/>
                </a:solidFill>
              </a:rPr>
              <a:t>single</a:t>
            </a:r>
            <a:r>
              <a:rPr lang="en-US" kern="0" dirty="0"/>
              <a:t> shift to left)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59FFEC-B6E3-F8BD-2AE4-C42B9C6CA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416758"/>
              </p:ext>
            </p:extLst>
          </p:nvPr>
        </p:nvGraphicFramePr>
        <p:xfrm>
          <a:off x="1288170" y="221111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635B8D-2720-D721-1E2D-368C47AF4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718077"/>
              </p:ext>
            </p:extLst>
          </p:nvPr>
        </p:nvGraphicFramePr>
        <p:xfrm>
          <a:off x="1288170" y="2933771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67E696-C8D1-5028-D389-84C47A656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151204"/>
              </p:ext>
            </p:extLst>
          </p:nvPr>
        </p:nvGraphicFramePr>
        <p:xfrm>
          <a:off x="6687625" y="221111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41C10F-52FB-45E1-816E-B3BBBA766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765932"/>
              </p:ext>
            </p:extLst>
          </p:nvPr>
        </p:nvGraphicFramePr>
        <p:xfrm>
          <a:off x="6687625" y="2933771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DAA39CD-417A-4A4E-C7C6-697F1F412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105988"/>
              </p:ext>
            </p:extLst>
          </p:nvPr>
        </p:nvGraphicFramePr>
        <p:xfrm>
          <a:off x="1288170" y="4216487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7848AD7-7B72-F756-F979-44299CC73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765743"/>
              </p:ext>
            </p:extLst>
          </p:nvPr>
        </p:nvGraphicFramePr>
        <p:xfrm>
          <a:off x="1288170" y="493914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6CB6AC6-0544-CBE3-6247-7F898D914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174929"/>
              </p:ext>
            </p:extLst>
          </p:nvPr>
        </p:nvGraphicFramePr>
        <p:xfrm>
          <a:off x="6687625" y="4216487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406E0E0-8E2F-AF3F-E6A1-CA9163BD0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012980"/>
              </p:ext>
            </p:extLst>
          </p:nvPr>
        </p:nvGraphicFramePr>
        <p:xfrm>
          <a:off x="6687625" y="493914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DE5A42-5D97-BC49-B231-BBF7AEC6B262}"/>
              </a:ext>
            </a:extLst>
          </p:cNvPr>
          <p:cNvSpPr txBox="1">
            <a:spLocks/>
          </p:cNvSpPr>
          <p:nvPr/>
        </p:nvSpPr>
        <p:spPr>
          <a:xfrm>
            <a:off x="456026" y="221111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D3D5702-3CB2-CC5E-FB63-15815DF48BC5}"/>
              </a:ext>
            </a:extLst>
          </p:cNvPr>
          <p:cNvSpPr txBox="1">
            <a:spLocks/>
          </p:cNvSpPr>
          <p:nvPr/>
        </p:nvSpPr>
        <p:spPr>
          <a:xfrm>
            <a:off x="456025" y="4216486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#2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1E467ED-8FBD-31A0-C4F8-76D26588E7C9}"/>
              </a:ext>
            </a:extLst>
          </p:cNvPr>
          <p:cNvSpPr txBox="1">
            <a:spLocks/>
          </p:cNvSpPr>
          <p:nvPr/>
        </p:nvSpPr>
        <p:spPr>
          <a:xfrm>
            <a:off x="5738446" y="221111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#3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AC2F813-14BF-70B1-77EF-4DA7F39CE09C}"/>
              </a:ext>
            </a:extLst>
          </p:cNvPr>
          <p:cNvSpPr txBox="1">
            <a:spLocks/>
          </p:cNvSpPr>
          <p:nvPr/>
        </p:nvSpPr>
        <p:spPr>
          <a:xfrm>
            <a:off x="5738445" y="4216486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936D2D-5805-03B6-4CA4-AC2E6F7D0AF5}"/>
              </a:ext>
            </a:extLst>
          </p:cNvPr>
          <p:cNvSpPr txBox="1">
            <a:spLocks/>
          </p:cNvSpPr>
          <p:nvPr/>
        </p:nvSpPr>
        <p:spPr>
          <a:xfrm>
            <a:off x="4349262" y="2210348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98703-FB22-F0EB-78E9-CAAD988F17A2}"/>
              </a:ext>
            </a:extLst>
          </p:cNvPr>
          <p:cNvSpPr txBox="1">
            <a:spLocks/>
          </p:cNvSpPr>
          <p:nvPr/>
        </p:nvSpPr>
        <p:spPr>
          <a:xfrm>
            <a:off x="4349261" y="421572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+6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92DAA0E-560A-DD59-5D48-349736484D68}"/>
              </a:ext>
            </a:extLst>
          </p:cNvPr>
          <p:cNvSpPr txBox="1">
            <a:spLocks/>
          </p:cNvSpPr>
          <p:nvPr/>
        </p:nvSpPr>
        <p:spPr>
          <a:xfrm>
            <a:off x="9865752" y="221111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+3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D01AF69-3D27-7D08-4C89-3EB4DB065BE4}"/>
              </a:ext>
            </a:extLst>
          </p:cNvPr>
          <p:cNvSpPr txBox="1">
            <a:spLocks/>
          </p:cNvSpPr>
          <p:nvPr/>
        </p:nvSpPr>
        <p:spPr>
          <a:xfrm>
            <a:off x="9865751" y="4216486"/>
            <a:ext cx="1634587" cy="26759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+15 or </a:t>
            </a:r>
            <a:r>
              <a:rPr lang="en-US" kern="0" dirty="0">
                <a:sym typeface="Symbol" panose="05050102010706020507" pitchFamily="18" charset="2"/>
              </a:rPr>
              <a:t>1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653692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1924-4645-EC00-0008-8E8AA24A9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F64D-3270-E072-8D36-84A1C316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Multiplication (LSL)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A79A1E-957C-2131-B621-6F33CC509F38}"/>
              </a:ext>
            </a:extLst>
          </p:cNvPr>
          <p:cNvSpPr txBox="1">
            <a:spLocks/>
          </p:cNvSpPr>
          <p:nvPr/>
        </p:nvSpPr>
        <p:spPr>
          <a:xfrm>
            <a:off x="304799" y="1237885"/>
            <a:ext cx="7854854" cy="945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FF0000"/>
                </a:solidFill>
              </a:rPr>
              <a:t>8-bit</a:t>
            </a:r>
            <a:r>
              <a:rPr lang="en-US" kern="0" dirty="0"/>
              <a:t> Practice (</a:t>
            </a:r>
            <a:r>
              <a:rPr lang="en-US" kern="0" dirty="0">
                <a:solidFill>
                  <a:srgbClr val="FF0000"/>
                </a:solidFill>
              </a:rPr>
              <a:t>single</a:t>
            </a:r>
            <a:r>
              <a:rPr lang="en-US" kern="0" dirty="0"/>
              <a:t> shift to left)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7BBB9A-EA48-F650-0BAD-41559D819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901632"/>
              </p:ext>
            </p:extLst>
          </p:nvPr>
        </p:nvGraphicFramePr>
        <p:xfrm>
          <a:off x="1019908" y="2211114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AFEF2F8-E1A2-AB4E-A14A-4044D7962B3A}"/>
              </a:ext>
            </a:extLst>
          </p:cNvPr>
          <p:cNvSpPr txBox="1">
            <a:spLocks/>
          </p:cNvSpPr>
          <p:nvPr/>
        </p:nvSpPr>
        <p:spPr>
          <a:xfrm>
            <a:off x="304799" y="2211113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9285AB9-681E-0016-CF3D-CAADA01D5D2C}"/>
              </a:ext>
            </a:extLst>
          </p:cNvPr>
          <p:cNvSpPr txBox="1">
            <a:spLocks/>
          </p:cNvSpPr>
          <p:nvPr/>
        </p:nvSpPr>
        <p:spPr>
          <a:xfrm>
            <a:off x="5216770" y="2182945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+64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A4BCBF0-4691-8A93-ED02-3AAD370EB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44833"/>
              </p:ext>
            </p:extLst>
          </p:nvPr>
        </p:nvGraphicFramePr>
        <p:xfrm>
          <a:off x="1019908" y="3032760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E410D0-6342-0F4B-1CFE-C1872CDB4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631990"/>
              </p:ext>
            </p:extLst>
          </p:nvPr>
        </p:nvGraphicFramePr>
        <p:xfrm>
          <a:off x="1019908" y="4402229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135FB88-0732-F95B-2D48-9CCF63BE6002}"/>
              </a:ext>
            </a:extLst>
          </p:cNvPr>
          <p:cNvSpPr txBox="1">
            <a:spLocks/>
          </p:cNvSpPr>
          <p:nvPr/>
        </p:nvSpPr>
        <p:spPr>
          <a:xfrm>
            <a:off x="304799" y="4402228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#2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DCC9170-5F32-A88C-92A1-C76BAF1B3B3A}"/>
              </a:ext>
            </a:extLst>
          </p:cNvPr>
          <p:cNvSpPr txBox="1">
            <a:spLocks/>
          </p:cNvSpPr>
          <p:nvPr/>
        </p:nvSpPr>
        <p:spPr>
          <a:xfrm>
            <a:off x="5216770" y="4374060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+17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F9B132B-2408-1644-97D2-2C3CE30F9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376743"/>
              </p:ext>
            </p:extLst>
          </p:nvPr>
        </p:nvGraphicFramePr>
        <p:xfrm>
          <a:off x="1019908" y="5223875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D05F798-73CC-3510-3462-0D59F58D4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47736"/>
              </p:ext>
            </p:extLst>
          </p:nvPr>
        </p:nvGraphicFramePr>
        <p:xfrm>
          <a:off x="6547340" y="2211114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10D9768-0322-F074-A7BB-E8EC201A1EBD}"/>
              </a:ext>
            </a:extLst>
          </p:cNvPr>
          <p:cNvSpPr txBox="1">
            <a:spLocks/>
          </p:cNvSpPr>
          <p:nvPr/>
        </p:nvSpPr>
        <p:spPr>
          <a:xfrm>
            <a:off x="5832231" y="2211113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#3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B824304A-140A-D9A7-71DF-8CB2BE68B5D5}"/>
              </a:ext>
            </a:extLst>
          </p:cNvPr>
          <p:cNvSpPr txBox="1">
            <a:spLocks/>
          </p:cNvSpPr>
          <p:nvPr/>
        </p:nvSpPr>
        <p:spPr>
          <a:xfrm>
            <a:off x="10744202" y="2182945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+128 or </a:t>
            </a:r>
            <a:r>
              <a:rPr lang="en-US" kern="0" dirty="0">
                <a:sym typeface="Symbol" panose="05050102010706020507" pitchFamily="18" charset="2"/>
              </a:rPr>
              <a:t>128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53410BA-2CBD-DE2D-B2DF-C20B2B86B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047271"/>
              </p:ext>
            </p:extLst>
          </p:nvPr>
        </p:nvGraphicFramePr>
        <p:xfrm>
          <a:off x="6547340" y="3032760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FCF6555-91B0-1F3C-3CAB-E3DB7C2FD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016965"/>
              </p:ext>
            </p:extLst>
          </p:nvPr>
        </p:nvGraphicFramePr>
        <p:xfrm>
          <a:off x="6547340" y="4402229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C2506A4-A495-1F1B-34BF-E3F4B3DA7FE4}"/>
              </a:ext>
            </a:extLst>
          </p:cNvPr>
          <p:cNvSpPr txBox="1">
            <a:spLocks/>
          </p:cNvSpPr>
          <p:nvPr/>
        </p:nvSpPr>
        <p:spPr>
          <a:xfrm>
            <a:off x="5832231" y="4402228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8D37D8D-76D9-48FD-4B9D-77812D7BA3F7}"/>
              </a:ext>
            </a:extLst>
          </p:cNvPr>
          <p:cNvSpPr txBox="1">
            <a:spLocks/>
          </p:cNvSpPr>
          <p:nvPr/>
        </p:nvSpPr>
        <p:spPr>
          <a:xfrm>
            <a:off x="10744202" y="4374060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+255 or </a:t>
            </a:r>
            <a:r>
              <a:rPr lang="en-US" kern="0" dirty="0">
                <a:sym typeface="Symbol" panose="05050102010706020507" pitchFamily="18" charset="2"/>
              </a:rPr>
              <a:t>1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B774EA7-E040-DEB2-AD1D-E4E3D293E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058329"/>
              </p:ext>
            </p:extLst>
          </p:nvPr>
        </p:nvGraphicFramePr>
        <p:xfrm>
          <a:off x="6547340" y="5223875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179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8F8D-9549-6D6C-1575-C0402198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BD45-21B0-A63F-22C2-92BB2E9C8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Unsigned Shift Division (LSR)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C187E18-A182-F530-627A-5A714D954FC8}"/>
              </a:ext>
            </a:extLst>
          </p:cNvPr>
          <p:cNvSpPr txBox="1">
            <a:spLocks/>
          </p:cNvSpPr>
          <p:nvPr/>
        </p:nvSpPr>
        <p:spPr>
          <a:xfrm>
            <a:off x="304799" y="1237884"/>
            <a:ext cx="7854854" cy="27010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Logical Shift Right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Divide by 2 (for each shift)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Divide by powers of 2 only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 EX.: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LSR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E4732F-C712-208B-0066-EB8E864F48B4}"/>
              </a:ext>
            </a:extLst>
          </p:cNvPr>
          <p:cNvGraphicFramePr>
            <a:graphicFrameLocks noGrp="1"/>
          </p:cNvGraphicFramePr>
          <p:nvPr/>
        </p:nvGraphicFramePr>
        <p:xfrm>
          <a:off x="5897487" y="1468133"/>
          <a:ext cx="5888112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98EBA7-FB99-9360-D12C-FD07482B6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334403"/>
              </p:ext>
            </p:extLst>
          </p:nvPr>
        </p:nvGraphicFramePr>
        <p:xfrm>
          <a:off x="5897487" y="2758350"/>
          <a:ext cx="5888112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237E83-D2CC-19EA-BC53-5FE7AC438578}"/>
              </a:ext>
            </a:extLst>
          </p:cNvPr>
          <p:cNvCxnSpPr>
            <a:cxnSpLocks/>
          </p:cNvCxnSpPr>
          <p:nvPr/>
        </p:nvCxnSpPr>
        <p:spPr bwMode="auto">
          <a:xfrm>
            <a:off x="6981092" y="1864373"/>
            <a:ext cx="1354016" cy="8939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A06ED2-8166-211F-29F5-CF3CDF739DC0}"/>
              </a:ext>
            </a:extLst>
          </p:cNvPr>
          <p:cNvCxnSpPr>
            <a:cxnSpLocks/>
          </p:cNvCxnSpPr>
          <p:nvPr/>
        </p:nvCxnSpPr>
        <p:spPr bwMode="auto">
          <a:xfrm>
            <a:off x="6260122" y="1864373"/>
            <a:ext cx="1371601" cy="8939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4773D9-F942-36A3-5A8C-F06CD9D37D88}"/>
              </a:ext>
            </a:extLst>
          </p:cNvPr>
          <p:cNvCxnSpPr>
            <a:cxnSpLocks/>
          </p:cNvCxnSpPr>
          <p:nvPr/>
        </p:nvCxnSpPr>
        <p:spPr bwMode="auto">
          <a:xfrm>
            <a:off x="9999784" y="1864373"/>
            <a:ext cx="1377462" cy="8939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194776-52CA-511B-C609-7C59F37A9595}"/>
              </a:ext>
            </a:extLst>
          </p:cNvPr>
          <p:cNvSpPr txBox="1">
            <a:spLocks/>
          </p:cNvSpPr>
          <p:nvPr/>
        </p:nvSpPr>
        <p:spPr>
          <a:xfrm>
            <a:off x="8709071" y="2010149"/>
            <a:ext cx="1395243" cy="62790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</a:t>
            </a:r>
            <a:endParaRPr lang="en-US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E030E-471B-AFBE-67B2-A550CD7839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856"/>
          <a:stretch/>
        </p:blipFill>
        <p:spPr>
          <a:xfrm>
            <a:off x="304799" y="3196538"/>
            <a:ext cx="6038850" cy="50148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ACDFDA-C260-6ADA-9B25-CC068A0B6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360115"/>
              </p:ext>
            </p:extLst>
          </p:nvPr>
        </p:nvGraphicFramePr>
        <p:xfrm>
          <a:off x="3848745" y="4169202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213549-4BE5-369C-825C-E9AC045CF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264579"/>
              </p:ext>
            </p:extLst>
          </p:nvPr>
        </p:nvGraphicFramePr>
        <p:xfrm>
          <a:off x="9891989" y="4169202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B903CCE-F93B-7CC8-A897-90160E16C7BA}"/>
              </a:ext>
            </a:extLst>
          </p:cNvPr>
          <p:cNvSpPr txBox="1">
            <a:spLocks/>
          </p:cNvSpPr>
          <p:nvPr/>
        </p:nvSpPr>
        <p:spPr>
          <a:xfrm>
            <a:off x="10771082" y="4537212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1n32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21B386A-7ED4-E444-72C6-A7BA2CB373F5}"/>
              </a:ext>
            </a:extLst>
          </p:cNvPr>
          <p:cNvSpPr txBox="1">
            <a:spLocks/>
          </p:cNvSpPr>
          <p:nvPr/>
        </p:nvSpPr>
        <p:spPr>
          <a:xfrm>
            <a:off x="304799" y="4537212"/>
            <a:ext cx="2860045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Logical Shift Right</a:t>
            </a:r>
          </a:p>
          <a:p>
            <a:pPr marL="0" indent="0">
              <a:buNone/>
            </a:pPr>
            <a:r>
              <a:rPr lang="en-US" kern="0" dirty="0"/>
              <a:t>LSR</a:t>
            </a:r>
          </a:p>
          <a:p>
            <a:pPr marL="0" indent="0">
              <a:buNone/>
            </a:pPr>
            <a:endParaRPr lang="en-US" kern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747202-E78B-F740-9793-D486DE282CC8}"/>
              </a:ext>
            </a:extLst>
          </p:cNvPr>
          <p:cNvSpPr txBox="1"/>
          <p:nvPr/>
        </p:nvSpPr>
        <p:spPr>
          <a:xfrm>
            <a:off x="3304791" y="4731286"/>
            <a:ext cx="575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986798-3032-99CF-475C-34B3AF665B0D}"/>
              </a:ext>
            </a:extLst>
          </p:cNvPr>
          <p:cNvCxnSpPr>
            <a:cxnSpLocks/>
          </p:cNvCxnSpPr>
          <p:nvPr/>
        </p:nvCxnSpPr>
        <p:spPr bwMode="auto">
          <a:xfrm>
            <a:off x="3710947" y="4962118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13A92B-6130-27C2-4376-EC07FAC689C5}"/>
              </a:ext>
            </a:extLst>
          </p:cNvPr>
          <p:cNvCxnSpPr>
            <a:cxnSpLocks/>
          </p:cNvCxnSpPr>
          <p:nvPr/>
        </p:nvCxnSpPr>
        <p:spPr bwMode="auto">
          <a:xfrm>
            <a:off x="4196722" y="4962994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D817FC-3B56-653C-3E07-FA42ACDC05A0}"/>
              </a:ext>
            </a:extLst>
          </p:cNvPr>
          <p:cNvCxnSpPr>
            <a:cxnSpLocks/>
          </p:cNvCxnSpPr>
          <p:nvPr/>
        </p:nvCxnSpPr>
        <p:spPr bwMode="auto">
          <a:xfrm>
            <a:off x="4682497" y="4962118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06042D-90CD-98FD-5EDC-800D00422520}"/>
              </a:ext>
            </a:extLst>
          </p:cNvPr>
          <p:cNvCxnSpPr>
            <a:cxnSpLocks/>
          </p:cNvCxnSpPr>
          <p:nvPr/>
        </p:nvCxnSpPr>
        <p:spPr bwMode="auto">
          <a:xfrm>
            <a:off x="5177797" y="4961242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57F8B2-629B-EF6A-FA5E-E91A2AD19BAB}"/>
              </a:ext>
            </a:extLst>
          </p:cNvPr>
          <p:cNvCxnSpPr>
            <a:cxnSpLocks/>
          </p:cNvCxnSpPr>
          <p:nvPr/>
        </p:nvCxnSpPr>
        <p:spPr bwMode="auto">
          <a:xfrm>
            <a:off x="5663572" y="4962118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F667CA-3230-578E-A51E-AEB50CC56FE6}"/>
              </a:ext>
            </a:extLst>
          </p:cNvPr>
          <p:cNvCxnSpPr>
            <a:cxnSpLocks/>
          </p:cNvCxnSpPr>
          <p:nvPr/>
        </p:nvCxnSpPr>
        <p:spPr bwMode="auto">
          <a:xfrm>
            <a:off x="6149347" y="4961242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597DBC-64C4-62D9-5080-A88B5B6ED9C7}"/>
              </a:ext>
            </a:extLst>
          </p:cNvPr>
          <p:cNvCxnSpPr>
            <a:cxnSpLocks/>
          </p:cNvCxnSpPr>
          <p:nvPr/>
        </p:nvCxnSpPr>
        <p:spPr bwMode="auto">
          <a:xfrm>
            <a:off x="6644647" y="4961242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514DD4F-8FE5-2DCB-7742-D81C8CE78208}"/>
              </a:ext>
            </a:extLst>
          </p:cNvPr>
          <p:cNvCxnSpPr>
            <a:cxnSpLocks/>
          </p:cNvCxnSpPr>
          <p:nvPr/>
        </p:nvCxnSpPr>
        <p:spPr bwMode="auto">
          <a:xfrm>
            <a:off x="8111497" y="4962118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6884B8-19F4-EE93-B5A2-789C89E67A13}"/>
              </a:ext>
            </a:extLst>
          </p:cNvPr>
          <p:cNvCxnSpPr>
            <a:cxnSpLocks/>
          </p:cNvCxnSpPr>
          <p:nvPr/>
        </p:nvCxnSpPr>
        <p:spPr bwMode="auto">
          <a:xfrm>
            <a:off x="8597272" y="4961242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3C9DE4-F79D-8995-EDA7-6167DF3373F1}"/>
              </a:ext>
            </a:extLst>
          </p:cNvPr>
          <p:cNvCxnSpPr>
            <a:cxnSpLocks/>
          </p:cNvCxnSpPr>
          <p:nvPr/>
        </p:nvCxnSpPr>
        <p:spPr bwMode="auto">
          <a:xfrm>
            <a:off x="9066171" y="4961242"/>
            <a:ext cx="107010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422584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448A1-DC0C-78B9-4421-CD81F080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D101-8EE7-0249-DA86-328C207E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Unsigned Shift Division (LSR)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5208B7-5329-47AF-00FC-0FF3B2D0E473}"/>
              </a:ext>
            </a:extLst>
          </p:cNvPr>
          <p:cNvSpPr txBox="1">
            <a:spLocks/>
          </p:cNvSpPr>
          <p:nvPr/>
        </p:nvSpPr>
        <p:spPr>
          <a:xfrm>
            <a:off x="304799" y="1237885"/>
            <a:ext cx="7854854" cy="945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FF0000"/>
                </a:solidFill>
              </a:rPr>
              <a:t>4-bit</a:t>
            </a:r>
            <a:r>
              <a:rPr lang="en-US" kern="0" dirty="0"/>
              <a:t> Practice (</a:t>
            </a:r>
            <a:r>
              <a:rPr lang="en-US" kern="0" dirty="0">
                <a:solidFill>
                  <a:srgbClr val="FF0000"/>
                </a:solidFill>
              </a:rPr>
              <a:t>single</a:t>
            </a:r>
            <a:r>
              <a:rPr lang="en-US" kern="0" dirty="0"/>
              <a:t> shift to right)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ADE74D-01C4-EE58-DF91-AB7FEED6C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606998"/>
              </p:ext>
            </p:extLst>
          </p:nvPr>
        </p:nvGraphicFramePr>
        <p:xfrm>
          <a:off x="1288170" y="221111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51727C-1D13-92F1-91FC-A697BA0AA917}"/>
              </a:ext>
            </a:extLst>
          </p:cNvPr>
          <p:cNvGraphicFramePr>
            <a:graphicFrameLocks noGrp="1"/>
          </p:cNvGraphicFramePr>
          <p:nvPr/>
        </p:nvGraphicFramePr>
        <p:xfrm>
          <a:off x="1288170" y="2933771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E97E75-6DCF-3567-3811-B7C2FE215A1B}"/>
              </a:ext>
            </a:extLst>
          </p:cNvPr>
          <p:cNvGraphicFramePr>
            <a:graphicFrameLocks noGrp="1"/>
          </p:cNvGraphicFramePr>
          <p:nvPr/>
        </p:nvGraphicFramePr>
        <p:xfrm>
          <a:off x="6687625" y="221111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D9488D-1BF6-424C-9DE2-67034E51D514}"/>
              </a:ext>
            </a:extLst>
          </p:cNvPr>
          <p:cNvGraphicFramePr>
            <a:graphicFrameLocks noGrp="1"/>
          </p:cNvGraphicFramePr>
          <p:nvPr/>
        </p:nvGraphicFramePr>
        <p:xfrm>
          <a:off x="6687625" y="2933771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24686A-4376-B6DF-15F1-65894CDDB4C7}"/>
              </a:ext>
            </a:extLst>
          </p:cNvPr>
          <p:cNvGraphicFramePr>
            <a:graphicFrameLocks noGrp="1"/>
          </p:cNvGraphicFramePr>
          <p:nvPr/>
        </p:nvGraphicFramePr>
        <p:xfrm>
          <a:off x="1288170" y="4216487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310BD99-E799-E1C2-FF33-9220761DA68D}"/>
              </a:ext>
            </a:extLst>
          </p:cNvPr>
          <p:cNvGraphicFramePr>
            <a:graphicFrameLocks noGrp="1"/>
          </p:cNvGraphicFramePr>
          <p:nvPr/>
        </p:nvGraphicFramePr>
        <p:xfrm>
          <a:off x="1288170" y="493914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39CD505-A11D-B9C9-3E2E-F248D18A9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098165"/>
              </p:ext>
            </p:extLst>
          </p:nvPr>
        </p:nvGraphicFramePr>
        <p:xfrm>
          <a:off x="6687625" y="4216487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D52CCA5-9648-6FC2-DF95-C658D634E1F2}"/>
              </a:ext>
            </a:extLst>
          </p:cNvPr>
          <p:cNvGraphicFramePr>
            <a:graphicFrameLocks noGrp="1"/>
          </p:cNvGraphicFramePr>
          <p:nvPr/>
        </p:nvGraphicFramePr>
        <p:xfrm>
          <a:off x="6687625" y="493914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D5BBBCB-7DBC-612E-80B1-12A5D83DED40}"/>
              </a:ext>
            </a:extLst>
          </p:cNvPr>
          <p:cNvSpPr txBox="1">
            <a:spLocks/>
          </p:cNvSpPr>
          <p:nvPr/>
        </p:nvSpPr>
        <p:spPr>
          <a:xfrm>
            <a:off x="456026" y="221111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6692644-B3B6-B925-4CA2-C9D5A0B1594A}"/>
              </a:ext>
            </a:extLst>
          </p:cNvPr>
          <p:cNvSpPr txBox="1">
            <a:spLocks/>
          </p:cNvSpPr>
          <p:nvPr/>
        </p:nvSpPr>
        <p:spPr>
          <a:xfrm>
            <a:off x="456025" y="4216486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#2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AA3397C-7227-8462-F5F0-1B8A715969EE}"/>
              </a:ext>
            </a:extLst>
          </p:cNvPr>
          <p:cNvSpPr txBox="1">
            <a:spLocks/>
          </p:cNvSpPr>
          <p:nvPr/>
        </p:nvSpPr>
        <p:spPr>
          <a:xfrm>
            <a:off x="5738446" y="221111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#3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65E2B84-5EF6-75BC-F0F0-DAD513432922}"/>
              </a:ext>
            </a:extLst>
          </p:cNvPr>
          <p:cNvSpPr txBox="1">
            <a:spLocks/>
          </p:cNvSpPr>
          <p:nvPr/>
        </p:nvSpPr>
        <p:spPr>
          <a:xfrm>
            <a:off x="5738445" y="4216486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C80F9C9-22F6-0AB2-996D-BD159D769F20}"/>
              </a:ext>
            </a:extLst>
          </p:cNvPr>
          <p:cNvSpPr txBox="1">
            <a:spLocks/>
          </p:cNvSpPr>
          <p:nvPr/>
        </p:nvSpPr>
        <p:spPr>
          <a:xfrm>
            <a:off x="4349262" y="2210348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78A0D38-3A88-4C18-96D1-DF9F3F53FB51}"/>
              </a:ext>
            </a:extLst>
          </p:cNvPr>
          <p:cNvSpPr txBox="1">
            <a:spLocks/>
          </p:cNvSpPr>
          <p:nvPr/>
        </p:nvSpPr>
        <p:spPr>
          <a:xfrm>
            <a:off x="4349261" y="421572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+6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9EF8C3F-1437-B431-F948-72A217F8F30F}"/>
              </a:ext>
            </a:extLst>
          </p:cNvPr>
          <p:cNvSpPr txBox="1">
            <a:spLocks/>
          </p:cNvSpPr>
          <p:nvPr/>
        </p:nvSpPr>
        <p:spPr>
          <a:xfrm>
            <a:off x="9865752" y="221111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+3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F65FD74-216F-9C52-644A-F5A4D9AE24CA}"/>
              </a:ext>
            </a:extLst>
          </p:cNvPr>
          <p:cNvSpPr txBox="1">
            <a:spLocks/>
          </p:cNvSpPr>
          <p:nvPr/>
        </p:nvSpPr>
        <p:spPr>
          <a:xfrm>
            <a:off x="9865751" y="4216486"/>
            <a:ext cx="1634587" cy="39547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+7</a:t>
            </a:r>
          </a:p>
        </p:txBody>
      </p:sp>
    </p:spTree>
    <p:extLst>
      <p:ext uri="{BB962C8B-B14F-4D97-AF65-F5344CB8AC3E}">
        <p14:creationId xmlns:p14="http://schemas.microsoft.com/office/powerpoint/2010/main" val="214699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9EC3-E33A-30C1-D222-804E75DB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5EF8-F961-012A-0039-CA2ED07FD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Unsigned Shift Division (LSR)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4D7DFE-7231-C532-4B0B-27606FE37A0A}"/>
              </a:ext>
            </a:extLst>
          </p:cNvPr>
          <p:cNvSpPr txBox="1">
            <a:spLocks/>
          </p:cNvSpPr>
          <p:nvPr/>
        </p:nvSpPr>
        <p:spPr>
          <a:xfrm>
            <a:off x="304799" y="1237885"/>
            <a:ext cx="7854854" cy="945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FF0000"/>
                </a:solidFill>
              </a:rPr>
              <a:t>8-bit</a:t>
            </a:r>
            <a:r>
              <a:rPr lang="en-US" kern="0" dirty="0"/>
              <a:t> Practice (</a:t>
            </a:r>
            <a:r>
              <a:rPr lang="en-US" kern="0" dirty="0">
                <a:solidFill>
                  <a:srgbClr val="FF0000"/>
                </a:solidFill>
              </a:rPr>
              <a:t>single</a:t>
            </a:r>
            <a:r>
              <a:rPr lang="en-US" kern="0" dirty="0"/>
              <a:t> shift to right)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E2CD6E-DC2A-9C2D-97FC-0BC4AD513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647693"/>
              </p:ext>
            </p:extLst>
          </p:nvPr>
        </p:nvGraphicFramePr>
        <p:xfrm>
          <a:off x="879228" y="2211114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BCEA322-FDB5-B414-BA36-83D183A90B3D}"/>
              </a:ext>
            </a:extLst>
          </p:cNvPr>
          <p:cNvSpPr txBox="1">
            <a:spLocks/>
          </p:cNvSpPr>
          <p:nvPr/>
        </p:nvSpPr>
        <p:spPr>
          <a:xfrm>
            <a:off x="164119" y="2211113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299633-4061-B136-A83E-439F7EFD19C2}"/>
              </a:ext>
            </a:extLst>
          </p:cNvPr>
          <p:cNvSpPr txBox="1">
            <a:spLocks/>
          </p:cNvSpPr>
          <p:nvPr/>
        </p:nvSpPr>
        <p:spPr>
          <a:xfrm>
            <a:off x="5005750" y="2182945"/>
            <a:ext cx="879230" cy="42440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+136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A6BFCD2-AF74-1C3A-4FAA-853C67CB7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14967"/>
              </p:ext>
            </p:extLst>
          </p:nvPr>
        </p:nvGraphicFramePr>
        <p:xfrm>
          <a:off x="879228" y="3032760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96610AA-B378-AF6D-1569-F47D7709C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869045"/>
              </p:ext>
            </p:extLst>
          </p:nvPr>
        </p:nvGraphicFramePr>
        <p:xfrm>
          <a:off x="879228" y="4402229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DF6412E-6BFE-D337-B470-2541CBA79835}"/>
              </a:ext>
            </a:extLst>
          </p:cNvPr>
          <p:cNvSpPr txBox="1">
            <a:spLocks/>
          </p:cNvSpPr>
          <p:nvPr/>
        </p:nvSpPr>
        <p:spPr>
          <a:xfrm>
            <a:off x="164119" y="4402228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#2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D5B98F4-DA87-8E53-AA7F-69ED4B3FA1B2}"/>
              </a:ext>
            </a:extLst>
          </p:cNvPr>
          <p:cNvSpPr txBox="1">
            <a:spLocks/>
          </p:cNvSpPr>
          <p:nvPr/>
        </p:nvSpPr>
        <p:spPr>
          <a:xfrm>
            <a:off x="5005750" y="4374060"/>
            <a:ext cx="879230" cy="42440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+102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723899E-5A34-CDF0-2C46-0037421D7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781985"/>
              </p:ext>
            </p:extLst>
          </p:nvPr>
        </p:nvGraphicFramePr>
        <p:xfrm>
          <a:off x="879228" y="5223875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7D8AF32-D791-C715-C4A4-BA7A93E88BDA}"/>
              </a:ext>
            </a:extLst>
          </p:cNvPr>
          <p:cNvGraphicFramePr>
            <a:graphicFrameLocks noGrp="1"/>
          </p:cNvGraphicFramePr>
          <p:nvPr/>
        </p:nvGraphicFramePr>
        <p:xfrm>
          <a:off x="6547340" y="2211114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5DEACF7-1586-93AA-D369-C021D5546DAD}"/>
              </a:ext>
            </a:extLst>
          </p:cNvPr>
          <p:cNvSpPr txBox="1">
            <a:spLocks/>
          </p:cNvSpPr>
          <p:nvPr/>
        </p:nvSpPr>
        <p:spPr>
          <a:xfrm>
            <a:off x="5832231" y="2211113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#3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EF317B6-A79B-E392-BE8C-7ABF5D2A007F}"/>
              </a:ext>
            </a:extLst>
          </p:cNvPr>
          <p:cNvSpPr txBox="1">
            <a:spLocks/>
          </p:cNvSpPr>
          <p:nvPr/>
        </p:nvSpPr>
        <p:spPr>
          <a:xfrm>
            <a:off x="10744202" y="2182945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+128 or </a:t>
            </a:r>
            <a:r>
              <a:rPr lang="en-US" kern="0" dirty="0">
                <a:sym typeface="Symbol" panose="05050102010706020507" pitchFamily="18" charset="2"/>
              </a:rPr>
              <a:t>128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44B8BE6-9485-A8B3-FB8A-850EDB49D7DD}"/>
              </a:ext>
            </a:extLst>
          </p:cNvPr>
          <p:cNvGraphicFramePr>
            <a:graphicFrameLocks noGrp="1"/>
          </p:cNvGraphicFramePr>
          <p:nvPr/>
        </p:nvGraphicFramePr>
        <p:xfrm>
          <a:off x="6547340" y="3032760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D0C8BA2-C0B9-87A7-CA38-28A84821D4CC}"/>
              </a:ext>
            </a:extLst>
          </p:cNvPr>
          <p:cNvGraphicFramePr>
            <a:graphicFrameLocks noGrp="1"/>
          </p:cNvGraphicFramePr>
          <p:nvPr/>
        </p:nvGraphicFramePr>
        <p:xfrm>
          <a:off x="6547340" y="4402229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AF050A81-88DA-3780-2993-E1F335ECD907}"/>
              </a:ext>
            </a:extLst>
          </p:cNvPr>
          <p:cNvSpPr txBox="1">
            <a:spLocks/>
          </p:cNvSpPr>
          <p:nvPr/>
        </p:nvSpPr>
        <p:spPr>
          <a:xfrm>
            <a:off x="5832231" y="4402228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6EBCEC7-1B36-2BCA-3191-D34E6282E07E}"/>
              </a:ext>
            </a:extLst>
          </p:cNvPr>
          <p:cNvSpPr txBox="1">
            <a:spLocks/>
          </p:cNvSpPr>
          <p:nvPr/>
        </p:nvSpPr>
        <p:spPr>
          <a:xfrm>
            <a:off x="10744202" y="4374060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+255 or </a:t>
            </a:r>
            <a:r>
              <a:rPr lang="en-US" kern="0" dirty="0">
                <a:sym typeface="Symbol" panose="05050102010706020507" pitchFamily="18" charset="2"/>
              </a:rPr>
              <a:t>1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2358E57-C92C-9A0A-4CD0-090EE522BA83}"/>
              </a:ext>
            </a:extLst>
          </p:cNvPr>
          <p:cNvGraphicFramePr>
            <a:graphicFrameLocks noGrp="1"/>
          </p:cNvGraphicFramePr>
          <p:nvPr/>
        </p:nvGraphicFramePr>
        <p:xfrm>
          <a:off x="6547340" y="5223875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364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E9555-6327-B255-90F2-78C0563F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590E-0CA7-C4D3-3FE5-887F1FBB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Shift Division (ASR)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CAECCB-0917-2F97-902B-B2392DD898C6}"/>
              </a:ext>
            </a:extLst>
          </p:cNvPr>
          <p:cNvSpPr txBox="1">
            <a:spLocks/>
          </p:cNvSpPr>
          <p:nvPr/>
        </p:nvSpPr>
        <p:spPr>
          <a:xfrm>
            <a:off x="304799" y="1237884"/>
            <a:ext cx="7854854" cy="27010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Arithmetic Shift Right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Divide by 2 (for each shift)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Divide by powers of 2 only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 EX.: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ASR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#1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8ACF67-F4BD-E78A-DA36-12556B93E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514584"/>
              </p:ext>
            </p:extLst>
          </p:nvPr>
        </p:nvGraphicFramePr>
        <p:xfrm>
          <a:off x="5897487" y="1468133"/>
          <a:ext cx="5888112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17E594-54B6-8EC0-F1C4-8A508BE1E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877378"/>
              </p:ext>
            </p:extLst>
          </p:nvPr>
        </p:nvGraphicFramePr>
        <p:xfrm>
          <a:off x="5897487" y="2758350"/>
          <a:ext cx="5888112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AB946C-4E03-ED2C-3834-2E8B79C36F16}"/>
              </a:ext>
            </a:extLst>
          </p:cNvPr>
          <p:cNvCxnSpPr>
            <a:cxnSpLocks/>
          </p:cNvCxnSpPr>
          <p:nvPr/>
        </p:nvCxnSpPr>
        <p:spPr bwMode="auto">
          <a:xfrm>
            <a:off x="6981092" y="1864373"/>
            <a:ext cx="738554" cy="8939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B6C885-C4D0-0FDC-A8E5-B9FF27F92D4C}"/>
              </a:ext>
            </a:extLst>
          </p:cNvPr>
          <p:cNvCxnSpPr>
            <a:cxnSpLocks/>
          </p:cNvCxnSpPr>
          <p:nvPr/>
        </p:nvCxnSpPr>
        <p:spPr bwMode="auto">
          <a:xfrm>
            <a:off x="6260122" y="1864373"/>
            <a:ext cx="720970" cy="8939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29AB12-6CF1-24AD-A1E5-BD1BE19FE04B}"/>
              </a:ext>
            </a:extLst>
          </p:cNvPr>
          <p:cNvCxnSpPr>
            <a:cxnSpLocks/>
          </p:cNvCxnSpPr>
          <p:nvPr/>
        </p:nvCxnSpPr>
        <p:spPr bwMode="auto">
          <a:xfrm>
            <a:off x="10744200" y="1864373"/>
            <a:ext cx="633046" cy="8939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3C706BD-A321-C88B-FF11-6D8905B556E5}"/>
              </a:ext>
            </a:extLst>
          </p:cNvPr>
          <p:cNvSpPr txBox="1">
            <a:spLocks/>
          </p:cNvSpPr>
          <p:nvPr/>
        </p:nvSpPr>
        <p:spPr>
          <a:xfrm>
            <a:off x="8709071" y="2010149"/>
            <a:ext cx="1395243" cy="62790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</a:t>
            </a:r>
            <a:endParaRPr lang="en-US" kern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D9D024-974A-6588-BBE8-1BE66D381371}"/>
              </a:ext>
            </a:extLst>
          </p:cNvPr>
          <p:cNvCxnSpPr>
            <a:cxnSpLocks/>
          </p:cNvCxnSpPr>
          <p:nvPr/>
        </p:nvCxnSpPr>
        <p:spPr bwMode="auto">
          <a:xfrm>
            <a:off x="9987670" y="1864372"/>
            <a:ext cx="633046" cy="8939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4DAADEA-D166-BAB1-8369-E663FC2AE6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371" b="58989"/>
          <a:stretch/>
        </p:blipFill>
        <p:spPr>
          <a:xfrm>
            <a:off x="304799" y="3265620"/>
            <a:ext cx="6038850" cy="46579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FEE820-C12E-F6BC-8571-8B220DDA7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324279"/>
              </p:ext>
            </p:extLst>
          </p:nvPr>
        </p:nvGraphicFramePr>
        <p:xfrm>
          <a:off x="3804923" y="4337693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4D08C0-DEBC-B628-B222-DF909C52C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965822"/>
              </p:ext>
            </p:extLst>
          </p:nvPr>
        </p:nvGraphicFramePr>
        <p:xfrm>
          <a:off x="9848167" y="4337693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B6F5C79-08F6-90B1-25A3-F68DE1034E60}"/>
              </a:ext>
            </a:extLst>
          </p:cNvPr>
          <p:cNvSpPr txBox="1">
            <a:spLocks/>
          </p:cNvSpPr>
          <p:nvPr/>
        </p:nvSpPr>
        <p:spPr>
          <a:xfrm>
            <a:off x="10727260" y="4705703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1n32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B7D546-5E24-81CC-6EAF-EBDC34097EA8}"/>
              </a:ext>
            </a:extLst>
          </p:cNvPr>
          <p:cNvSpPr txBox="1">
            <a:spLocks/>
          </p:cNvSpPr>
          <p:nvPr/>
        </p:nvSpPr>
        <p:spPr>
          <a:xfrm>
            <a:off x="260977" y="4705703"/>
            <a:ext cx="3142159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Arithmetic Shift Right</a:t>
            </a:r>
          </a:p>
          <a:p>
            <a:pPr marL="0" indent="0">
              <a:buNone/>
            </a:pPr>
            <a:r>
              <a:rPr lang="en-US" kern="0" dirty="0"/>
              <a:t>ASR</a:t>
            </a:r>
          </a:p>
          <a:p>
            <a:pPr marL="0" indent="0">
              <a:buNone/>
            </a:pPr>
            <a:endParaRPr lang="en-US" kern="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A27606-37D4-C52E-B718-5AC70C9F3C9E}"/>
              </a:ext>
            </a:extLst>
          </p:cNvPr>
          <p:cNvCxnSpPr>
            <a:cxnSpLocks/>
          </p:cNvCxnSpPr>
          <p:nvPr/>
        </p:nvCxnSpPr>
        <p:spPr bwMode="auto">
          <a:xfrm>
            <a:off x="3667125" y="5130609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BE0761-CDD7-D440-55F9-45A7BC34CA4D}"/>
              </a:ext>
            </a:extLst>
          </p:cNvPr>
          <p:cNvCxnSpPr>
            <a:cxnSpLocks/>
          </p:cNvCxnSpPr>
          <p:nvPr/>
        </p:nvCxnSpPr>
        <p:spPr bwMode="auto">
          <a:xfrm>
            <a:off x="4152900" y="5131485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8ED08B-B34C-8528-1532-08B2DA053BF4}"/>
              </a:ext>
            </a:extLst>
          </p:cNvPr>
          <p:cNvCxnSpPr>
            <a:cxnSpLocks/>
          </p:cNvCxnSpPr>
          <p:nvPr/>
        </p:nvCxnSpPr>
        <p:spPr bwMode="auto">
          <a:xfrm>
            <a:off x="4638675" y="5130609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D97DC9-905C-7AAF-B31B-45CDC1D0CC2B}"/>
              </a:ext>
            </a:extLst>
          </p:cNvPr>
          <p:cNvCxnSpPr>
            <a:cxnSpLocks/>
          </p:cNvCxnSpPr>
          <p:nvPr/>
        </p:nvCxnSpPr>
        <p:spPr bwMode="auto">
          <a:xfrm>
            <a:off x="5133975" y="512973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6163DB-F3AC-C044-CEC5-8987D3CA76D0}"/>
              </a:ext>
            </a:extLst>
          </p:cNvPr>
          <p:cNvCxnSpPr>
            <a:cxnSpLocks/>
          </p:cNvCxnSpPr>
          <p:nvPr/>
        </p:nvCxnSpPr>
        <p:spPr bwMode="auto">
          <a:xfrm>
            <a:off x="5619750" y="5130609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466723-6728-0684-B730-D13B45C7B9D3}"/>
              </a:ext>
            </a:extLst>
          </p:cNvPr>
          <p:cNvCxnSpPr>
            <a:cxnSpLocks/>
          </p:cNvCxnSpPr>
          <p:nvPr/>
        </p:nvCxnSpPr>
        <p:spPr bwMode="auto">
          <a:xfrm>
            <a:off x="6105525" y="512973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01FCC7-B10F-CF1A-4035-A517C06915DC}"/>
              </a:ext>
            </a:extLst>
          </p:cNvPr>
          <p:cNvCxnSpPr>
            <a:cxnSpLocks/>
          </p:cNvCxnSpPr>
          <p:nvPr/>
        </p:nvCxnSpPr>
        <p:spPr bwMode="auto">
          <a:xfrm>
            <a:off x="6600825" y="512973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75D3B0A-AFAC-F8A7-4DDE-2DC1DA611AF2}"/>
              </a:ext>
            </a:extLst>
          </p:cNvPr>
          <p:cNvCxnSpPr>
            <a:cxnSpLocks/>
          </p:cNvCxnSpPr>
          <p:nvPr/>
        </p:nvCxnSpPr>
        <p:spPr bwMode="auto">
          <a:xfrm>
            <a:off x="8067675" y="5130609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D46658-238C-423E-190E-B1955A83B138}"/>
              </a:ext>
            </a:extLst>
          </p:cNvPr>
          <p:cNvCxnSpPr>
            <a:cxnSpLocks/>
          </p:cNvCxnSpPr>
          <p:nvPr/>
        </p:nvCxnSpPr>
        <p:spPr bwMode="auto">
          <a:xfrm>
            <a:off x="8553450" y="512973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66B3CE-CA83-4A2D-E1ED-697D9DA66E92}"/>
              </a:ext>
            </a:extLst>
          </p:cNvPr>
          <p:cNvCxnSpPr>
            <a:cxnSpLocks/>
          </p:cNvCxnSpPr>
          <p:nvPr/>
        </p:nvCxnSpPr>
        <p:spPr bwMode="auto">
          <a:xfrm>
            <a:off x="9022349" y="5129733"/>
            <a:ext cx="107010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DA5A17B-4A97-0341-807A-DBD1FFF5B22D}"/>
              </a:ext>
            </a:extLst>
          </p:cNvPr>
          <p:cNvCxnSpPr>
            <a:cxnSpLocks/>
          </p:cNvCxnSpPr>
          <p:nvPr/>
        </p:nvCxnSpPr>
        <p:spPr bwMode="auto">
          <a:xfrm flipV="1">
            <a:off x="3667125" y="4577097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BFC39B-69EE-69EE-CC99-EEA96F016DE7}"/>
              </a:ext>
            </a:extLst>
          </p:cNvPr>
          <p:cNvCxnSpPr>
            <a:cxnSpLocks/>
          </p:cNvCxnSpPr>
          <p:nvPr/>
        </p:nvCxnSpPr>
        <p:spPr bwMode="auto">
          <a:xfrm flipH="1">
            <a:off x="3667125" y="4577097"/>
            <a:ext cx="393917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E26FF8D-653D-EBC9-48E8-07785D75E1FB}"/>
              </a:ext>
            </a:extLst>
          </p:cNvPr>
          <p:cNvCxnSpPr>
            <a:cxnSpLocks/>
          </p:cNvCxnSpPr>
          <p:nvPr/>
        </p:nvCxnSpPr>
        <p:spPr bwMode="auto">
          <a:xfrm flipV="1">
            <a:off x="4061042" y="4577097"/>
            <a:ext cx="0" cy="33493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29742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AF500-93E2-B6FD-E803-DBA54A24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5E931-C288-367B-4324-022A0EAF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Shift Division (ASR)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984765-7332-A310-7ADC-E08518A46126}"/>
              </a:ext>
            </a:extLst>
          </p:cNvPr>
          <p:cNvSpPr txBox="1">
            <a:spLocks/>
          </p:cNvSpPr>
          <p:nvPr/>
        </p:nvSpPr>
        <p:spPr>
          <a:xfrm>
            <a:off x="304799" y="1237885"/>
            <a:ext cx="7854854" cy="945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FF0000"/>
                </a:solidFill>
              </a:rPr>
              <a:t>4-bit</a:t>
            </a:r>
            <a:r>
              <a:rPr lang="en-US" kern="0" dirty="0"/>
              <a:t> Two’s Complement Practice (</a:t>
            </a:r>
            <a:r>
              <a:rPr lang="en-US" kern="0" dirty="0">
                <a:solidFill>
                  <a:srgbClr val="FF0000"/>
                </a:solidFill>
              </a:rPr>
              <a:t>single</a:t>
            </a:r>
            <a:r>
              <a:rPr lang="en-US" kern="0" dirty="0"/>
              <a:t> shift to right)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A24180-22F5-86B1-2BA3-73C7432830C1}"/>
              </a:ext>
            </a:extLst>
          </p:cNvPr>
          <p:cNvGraphicFramePr>
            <a:graphicFrameLocks noGrp="1"/>
          </p:cNvGraphicFramePr>
          <p:nvPr/>
        </p:nvGraphicFramePr>
        <p:xfrm>
          <a:off x="1288170" y="221111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5B838C-0961-1D8B-C1D0-CC363830BB14}"/>
              </a:ext>
            </a:extLst>
          </p:cNvPr>
          <p:cNvGraphicFramePr>
            <a:graphicFrameLocks noGrp="1"/>
          </p:cNvGraphicFramePr>
          <p:nvPr/>
        </p:nvGraphicFramePr>
        <p:xfrm>
          <a:off x="1288170" y="2933771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A50DCA-979B-F7D0-7893-FFB4C441E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673371"/>
              </p:ext>
            </p:extLst>
          </p:nvPr>
        </p:nvGraphicFramePr>
        <p:xfrm>
          <a:off x="6687625" y="221111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547CAC3-D553-B186-0016-A114E2742232}"/>
              </a:ext>
            </a:extLst>
          </p:cNvPr>
          <p:cNvGraphicFramePr>
            <a:graphicFrameLocks noGrp="1"/>
          </p:cNvGraphicFramePr>
          <p:nvPr/>
        </p:nvGraphicFramePr>
        <p:xfrm>
          <a:off x="6687625" y="2933771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9EE9F9-BA9E-FC79-4B62-F61FE695B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769026"/>
              </p:ext>
            </p:extLst>
          </p:nvPr>
        </p:nvGraphicFramePr>
        <p:xfrm>
          <a:off x="1288170" y="4216487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835A198-4EA8-58A5-D1D1-169291ECC4B8}"/>
              </a:ext>
            </a:extLst>
          </p:cNvPr>
          <p:cNvGraphicFramePr>
            <a:graphicFrameLocks noGrp="1"/>
          </p:cNvGraphicFramePr>
          <p:nvPr/>
        </p:nvGraphicFramePr>
        <p:xfrm>
          <a:off x="1288170" y="493914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75ADB95-3D74-6547-B3DF-6998F5AB1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158524"/>
              </p:ext>
            </p:extLst>
          </p:nvPr>
        </p:nvGraphicFramePr>
        <p:xfrm>
          <a:off x="6687625" y="4216487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78C352F-A560-FD03-692E-B2756FAC3D49}"/>
              </a:ext>
            </a:extLst>
          </p:cNvPr>
          <p:cNvGraphicFramePr>
            <a:graphicFrameLocks noGrp="1"/>
          </p:cNvGraphicFramePr>
          <p:nvPr/>
        </p:nvGraphicFramePr>
        <p:xfrm>
          <a:off x="6687625" y="4939144"/>
          <a:ext cx="294405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BE0AF13-D18F-8B82-B02E-147AE06DFEC1}"/>
              </a:ext>
            </a:extLst>
          </p:cNvPr>
          <p:cNvSpPr txBox="1">
            <a:spLocks/>
          </p:cNvSpPr>
          <p:nvPr/>
        </p:nvSpPr>
        <p:spPr>
          <a:xfrm>
            <a:off x="456026" y="221111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3FEB757-997B-6947-AC07-1CFC575AEE7A}"/>
              </a:ext>
            </a:extLst>
          </p:cNvPr>
          <p:cNvSpPr txBox="1">
            <a:spLocks/>
          </p:cNvSpPr>
          <p:nvPr/>
        </p:nvSpPr>
        <p:spPr>
          <a:xfrm>
            <a:off x="456025" y="4216486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#2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D0BAA3C-AB3A-8EA4-E11F-176E4923F56C}"/>
              </a:ext>
            </a:extLst>
          </p:cNvPr>
          <p:cNvSpPr txBox="1">
            <a:spLocks/>
          </p:cNvSpPr>
          <p:nvPr/>
        </p:nvSpPr>
        <p:spPr>
          <a:xfrm>
            <a:off x="5738446" y="221111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#3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1F546D6-7900-0A8D-7141-727B08868DD6}"/>
              </a:ext>
            </a:extLst>
          </p:cNvPr>
          <p:cNvSpPr txBox="1">
            <a:spLocks/>
          </p:cNvSpPr>
          <p:nvPr/>
        </p:nvSpPr>
        <p:spPr>
          <a:xfrm>
            <a:off x="5738445" y="4216486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FBD8620-B251-7E08-31FD-FF242BD58EE2}"/>
              </a:ext>
            </a:extLst>
          </p:cNvPr>
          <p:cNvSpPr txBox="1">
            <a:spLocks/>
          </p:cNvSpPr>
          <p:nvPr/>
        </p:nvSpPr>
        <p:spPr>
          <a:xfrm>
            <a:off x="4349262" y="2210348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8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9B0510E-BC14-DFDC-1C8B-FCEB85F6E5A5}"/>
              </a:ext>
            </a:extLst>
          </p:cNvPr>
          <p:cNvSpPr txBox="1">
            <a:spLocks/>
          </p:cNvSpPr>
          <p:nvPr/>
        </p:nvSpPr>
        <p:spPr>
          <a:xfrm>
            <a:off x="4349261" y="421572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?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B84EA5-7917-B7D8-5F2A-5D64D06A0737}"/>
              </a:ext>
            </a:extLst>
          </p:cNvPr>
          <p:cNvSpPr txBox="1">
            <a:spLocks/>
          </p:cNvSpPr>
          <p:nvPr/>
        </p:nvSpPr>
        <p:spPr>
          <a:xfrm>
            <a:off x="9865752" y="2211112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3</a:t>
            </a:r>
            <a:endParaRPr lang="en-US" kern="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E7418B2-3C11-326E-F889-CC98289147A6}"/>
              </a:ext>
            </a:extLst>
          </p:cNvPr>
          <p:cNvSpPr txBox="1">
            <a:spLocks/>
          </p:cNvSpPr>
          <p:nvPr/>
        </p:nvSpPr>
        <p:spPr>
          <a:xfrm>
            <a:off x="9865751" y="4216486"/>
            <a:ext cx="1634587" cy="39547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7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23707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DD04-E008-0F3E-0D9B-636FA152D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D1DD-3BAC-6F78-E680-FBA47C70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Shift Division (ASR)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2C4C21-9660-F384-7897-4F3918CA64BC}"/>
              </a:ext>
            </a:extLst>
          </p:cNvPr>
          <p:cNvSpPr txBox="1">
            <a:spLocks/>
          </p:cNvSpPr>
          <p:nvPr/>
        </p:nvSpPr>
        <p:spPr>
          <a:xfrm>
            <a:off x="304799" y="1237885"/>
            <a:ext cx="7854854" cy="94506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FF0000"/>
                </a:solidFill>
              </a:rPr>
              <a:t>8-bit</a:t>
            </a:r>
            <a:r>
              <a:rPr lang="en-US" kern="0" dirty="0"/>
              <a:t> Practice (</a:t>
            </a:r>
            <a:r>
              <a:rPr lang="en-US" kern="0" dirty="0">
                <a:solidFill>
                  <a:srgbClr val="FF0000"/>
                </a:solidFill>
              </a:rPr>
              <a:t>single</a:t>
            </a:r>
            <a:r>
              <a:rPr lang="en-US" kern="0" dirty="0"/>
              <a:t> shift to right)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9DF0B3-479D-3860-7988-F655A390D795}"/>
              </a:ext>
            </a:extLst>
          </p:cNvPr>
          <p:cNvGraphicFramePr>
            <a:graphicFrameLocks noGrp="1"/>
          </p:cNvGraphicFramePr>
          <p:nvPr/>
        </p:nvGraphicFramePr>
        <p:xfrm>
          <a:off x="879228" y="2211114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0CC7FFD-A6E0-EE37-F4FC-427B7C8DFB4D}"/>
              </a:ext>
            </a:extLst>
          </p:cNvPr>
          <p:cNvSpPr txBox="1">
            <a:spLocks/>
          </p:cNvSpPr>
          <p:nvPr/>
        </p:nvSpPr>
        <p:spPr>
          <a:xfrm>
            <a:off x="164119" y="2211113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#1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B5F4CFF-8EAD-DAFF-372E-7BFE7D3FA1A5}"/>
              </a:ext>
            </a:extLst>
          </p:cNvPr>
          <p:cNvSpPr txBox="1">
            <a:spLocks/>
          </p:cNvSpPr>
          <p:nvPr/>
        </p:nvSpPr>
        <p:spPr>
          <a:xfrm>
            <a:off x="5005750" y="2182945"/>
            <a:ext cx="879230" cy="42440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120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D3D033E-FCCA-BEC6-A1D7-F01BDB05F8E0}"/>
              </a:ext>
            </a:extLst>
          </p:cNvPr>
          <p:cNvGraphicFramePr>
            <a:graphicFrameLocks noGrp="1"/>
          </p:cNvGraphicFramePr>
          <p:nvPr/>
        </p:nvGraphicFramePr>
        <p:xfrm>
          <a:off x="879228" y="3032760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CE55E23-2DF3-4AAA-78A7-682CAA512DBA}"/>
              </a:ext>
            </a:extLst>
          </p:cNvPr>
          <p:cNvGraphicFramePr>
            <a:graphicFrameLocks noGrp="1"/>
          </p:cNvGraphicFramePr>
          <p:nvPr/>
        </p:nvGraphicFramePr>
        <p:xfrm>
          <a:off x="879228" y="4402229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08441C7-A16A-174A-ED14-7FCCC408E78F}"/>
              </a:ext>
            </a:extLst>
          </p:cNvPr>
          <p:cNvSpPr txBox="1">
            <a:spLocks/>
          </p:cNvSpPr>
          <p:nvPr/>
        </p:nvSpPr>
        <p:spPr>
          <a:xfrm>
            <a:off x="164119" y="4402228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#2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6DAF67E-0992-EC12-9ED3-99600E0F2744}"/>
              </a:ext>
            </a:extLst>
          </p:cNvPr>
          <p:cNvSpPr txBox="1">
            <a:spLocks/>
          </p:cNvSpPr>
          <p:nvPr/>
        </p:nvSpPr>
        <p:spPr>
          <a:xfrm>
            <a:off x="5005750" y="4374060"/>
            <a:ext cx="879230" cy="42440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+102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C74BD3B-7CE0-2929-DB7B-B43EFDDF9BC5}"/>
              </a:ext>
            </a:extLst>
          </p:cNvPr>
          <p:cNvGraphicFramePr>
            <a:graphicFrameLocks noGrp="1"/>
          </p:cNvGraphicFramePr>
          <p:nvPr/>
        </p:nvGraphicFramePr>
        <p:xfrm>
          <a:off x="879228" y="5223875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EEB2796-0D48-5F0C-C4F3-23E63334F7BC}"/>
              </a:ext>
            </a:extLst>
          </p:cNvPr>
          <p:cNvGraphicFramePr>
            <a:graphicFrameLocks noGrp="1"/>
          </p:cNvGraphicFramePr>
          <p:nvPr/>
        </p:nvGraphicFramePr>
        <p:xfrm>
          <a:off x="6547340" y="2211114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F03F5EE-52F3-9E10-B1A4-D1B1B0215109}"/>
              </a:ext>
            </a:extLst>
          </p:cNvPr>
          <p:cNvSpPr txBox="1">
            <a:spLocks/>
          </p:cNvSpPr>
          <p:nvPr/>
        </p:nvSpPr>
        <p:spPr>
          <a:xfrm>
            <a:off x="5832231" y="2211113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#3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6795648D-F8CC-AC6A-1AF6-090F30D54818}"/>
              </a:ext>
            </a:extLst>
          </p:cNvPr>
          <p:cNvSpPr txBox="1">
            <a:spLocks/>
          </p:cNvSpPr>
          <p:nvPr/>
        </p:nvSpPr>
        <p:spPr>
          <a:xfrm>
            <a:off x="10744202" y="2182945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128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5829FFE-EE9A-5BFD-307C-42DA0442C612}"/>
              </a:ext>
            </a:extLst>
          </p:cNvPr>
          <p:cNvGraphicFramePr>
            <a:graphicFrameLocks noGrp="1"/>
          </p:cNvGraphicFramePr>
          <p:nvPr/>
        </p:nvGraphicFramePr>
        <p:xfrm>
          <a:off x="6547340" y="3032760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0440E0A6-C971-1292-2242-3D73021044FF}"/>
              </a:ext>
            </a:extLst>
          </p:cNvPr>
          <p:cNvGraphicFramePr>
            <a:graphicFrameLocks noGrp="1"/>
          </p:cNvGraphicFramePr>
          <p:nvPr/>
        </p:nvGraphicFramePr>
        <p:xfrm>
          <a:off x="6547340" y="4402229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55436956-FAD7-56F8-24F3-F5E5FC7F3827}"/>
              </a:ext>
            </a:extLst>
          </p:cNvPr>
          <p:cNvSpPr txBox="1">
            <a:spLocks/>
          </p:cNvSpPr>
          <p:nvPr/>
        </p:nvSpPr>
        <p:spPr>
          <a:xfrm>
            <a:off x="5832231" y="4402228"/>
            <a:ext cx="715109" cy="39624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1" kern="0" dirty="0">
                <a:solidFill>
                  <a:srgbClr val="FF0000"/>
                </a:solidFill>
              </a:rPr>
              <a:t>#4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154A92A-127E-F636-8670-8B99CBF4CB9D}"/>
              </a:ext>
            </a:extLst>
          </p:cNvPr>
          <p:cNvSpPr txBox="1">
            <a:spLocks/>
          </p:cNvSpPr>
          <p:nvPr/>
        </p:nvSpPr>
        <p:spPr>
          <a:xfrm>
            <a:off x="10744202" y="4374060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1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1597518-ABE7-16D8-4814-21555CE42499}"/>
              </a:ext>
            </a:extLst>
          </p:cNvPr>
          <p:cNvGraphicFramePr>
            <a:graphicFrameLocks noGrp="1"/>
          </p:cNvGraphicFramePr>
          <p:nvPr/>
        </p:nvGraphicFramePr>
        <p:xfrm>
          <a:off x="6547340" y="5223875"/>
          <a:ext cx="4097216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152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751132847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4235161369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92642183"/>
                    </a:ext>
                  </a:extLst>
                </a:gridCol>
                <a:gridCol w="512152">
                  <a:extLst>
                    <a:ext uri="{9D8B030D-6E8A-4147-A177-3AD203B41FA5}">
                      <a16:colId xmlns:a16="http://schemas.microsoft.com/office/drawing/2014/main" val="35392438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075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770D5-3BD3-E6B0-7A8B-E0A1A4747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6E25-A623-89A4-BEDF-AEE1917E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Operations w/carry bit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13FE45-F77E-63E5-DB75-67CC948A6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926327"/>
              </p:ext>
            </p:extLst>
          </p:nvPr>
        </p:nvGraphicFramePr>
        <p:xfrm>
          <a:off x="3804923" y="998660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5B8E73-81A4-4DDC-FF02-802B9F33B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22692"/>
              </p:ext>
            </p:extLst>
          </p:nvPr>
        </p:nvGraphicFramePr>
        <p:xfrm>
          <a:off x="9848167" y="998660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192CB6-DB5D-90BE-A39E-F26126CC831F}"/>
              </a:ext>
            </a:extLst>
          </p:cNvPr>
          <p:cNvSpPr txBox="1">
            <a:spLocks/>
          </p:cNvSpPr>
          <p:nvPr/>
        </p:nvSpPr>
        <p:spPr>
          <a:xfrm>
            <a:off x="10727260" y="1366670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1n32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1A78F2-8061-06D1-2EFB-AE62BC5F2340}"/>
              </a:ext>
            </a:extLst>
          </p:cNvPr>
          <p:cNvSpPr txBox="1">
            <a:spLocks/>
          </p:cNvSpPr>
          <p:nvPr/>
        </p:nvSpPr>
        <p:spPr>
          <a:xfrm>
            <a:off x="260977" y="1366670"/>
            <a:ext cx="2860045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Logical Shift Right</a:t>
            </a:r>
          </a:p>
          <a:p>
            <a:pPr marL="0" indent="0">
              <a:buNone/>
            </a:pPr>
            <a:r>
              <a:rPr lang="en-US" kern="0" dirty="0"/>
              <a:t>LSR</a:t>
            </a:r>
          </a:p>
          <a:p>
            <a:pPr marL="0" indent="0">
              <a:buNone/>
            </a:pPr>
            <a:endParaRPr lang="en-US" kern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CF9C0-E4E9-D741-4F92-54418100D615}"/>
              </a:ext>
            </a:extLst>
          </p:cNvPr>
          <p:cNvSpPr txBox="1"/>
          <p:nvPr/>
        </p:nvSpPr>
        <p:spPr>
          <a:xfrm>
            <a:off x="3260969" y="1560744"/>
            <a:ext cx="575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F7C2EA-0329-C2B0-7033-F86388A6279C}"/>
              </a:ext>
            </a:extLst>
          </p:cNvPr>
          <p:cNvCxnSpPr>
            <a:cxnSpLocks/>
          </p:cNvCxnSpPr>
          <p:nvPr/>
        </p:nvCxnSpPr>
        <p:spPr bwMode="auto">
          <a:xfrm>
            <a:off x="3667125" y="1791576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F9C1C5-0056-03BF-B795-77BB471A2110}"/>
              </a:ext>
            </a:extLst>
          </p:cNvPr>
          <p:cNvCxnSpPr>
            <a:cxnSpLocks/>
          </p:cNvCxnSpPr>
          <p:nvPr/>
        </p:nvCxnSpPr>
        <p:spPr bwMode="auto">
          <a:xfrm>
            <a:off x="4152900" y="1792452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6B639E-42F0-8A71-E38A-0512F59CB97F}"/>
              </a:ext>
            </a:extLst>
          </p:cNvPr>
          <p:cNvCxnSpPr>
            <a:cxnSpLocks/>
          </p:cNvCxnSpPr>
          <p:nvPr/>
        </p:nvCxnSpPr>
        <p:spPr bwMode="auto">
          <a:xfrm>
            <a:off x="4638675" y="1791576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60E701-06DA-B61E-1BCE-FF7F7930B0F5}"/>
              </a:ext>
            </a:extLst>
          </p:cNvPr>
          <p:cNvCxnSpPr>
            <a:cxnSpLocks/>
          </p:cNvCxnSpPr>
          <p:nvPr/>
        </p:nvCxnSpPr>
        <p:spPr bwMode="auto">
          <a:xfrm>
            <a:off x="5133975" y="1790700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D57C7D-1029-0C8D-78E7-6ED1875A78A9}"/>
              </a:ext>
            </a:extLst>
          </p:cNvPr>
          <p:cNvCxnSpPr>
            <a:cxnSpLocks/>
          </p:cNvCxnSpPr>
          <p:nvPr/>
        </p:nvCxnSpPr>
        <p:spPr bwMode="auto">
          <a:xfrm>
            <a:off x="5619750" y="1791576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E277C0-9D5F-A9A0-E4AC-20574B698B33}"/>
              </a:ext>
            </a:extLst>
          </p:cNvPr>
          <p:cNvCxnSpPr>
            <a:cxnSpLocks/>
          </p:cNvCxnSpPr>
          <p:nvPr/>
        </p:nvCxnSpPr>
        <p:spPr bwMode="auto">
          <a:xfrm>
            <a:off x="6105525" y="1790700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7A3F498-9A32-5F52-5946-65D3112F13AE}"/>
              </a:ext>
            </a:extLst>
          </p:cNvPr>
          <p:cNvCxnSpPr>
            <a:cxnSpLocks/>
          </p:cNvCxnSpPr>
          <p:nvPr/>
        </p:nvCxnSpPr>
        <p:spPr bwMode="auto">
          <a:xfrm>
            <a:off x="6600825" y="1790700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0F75CE2-2476-DD0E-0EA0-1E3E63A931F8}"/>
              </a:ext>
            </a:extLst>
          </p:cNvPr>
          <p:cNvCxnSpPr>
            <a:cxnSpLocks/>
          </p:cNvCxnSpPr>
          <p:nvPr/>
        </p:nvCxnSpPr>
        <p:spPr bwMode="auto">
          <a:xfrm>
            <a:off x="8067675" y="1791576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9841567-5420-F192-A5C7-4AB5F5E95B27}"/>
              </a:ext>
            </a:extLst>
          </p:cNvPr>
          <p:cNvCxnSpPr>
            <a:cxnSpLocks/>
          </p:cNvCxnSpPr>
          <p:nvPr/>
        </p:nvCxnSpPr>
        <p:spPr bwMode="auto">
          <a:xfrm>
            <a:off x="8553450" y="1790700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545C5E-D9A6-0F9D-2B0D-2DB7A32BB903}"/>
              </a:ext>
            </a:extLst>
          </p:cNvPr>
          <p:cNvCxnSpPr>
            <a:cxnSpLocks/>
          </p:cNvCxnSpPr>
          <p:nvPr/>
        </p:nvCxnSpPr>
        <p:spPr bwMode="auto">
          <a:xfrm>
            <a:off x="9022349" y="1790700"/>
            <a:ext cx="107010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5007743-5E37-08AF-E4D5-0E0806413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750419"/>
              </p:ext>
            </p:extLst>
          </p:nvPr>
        </p:nvGraphicFramePr>
        <p:xfrm>
          <a:off x="3804923" y="2551421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D0B12446-3A2E-58FF-0F50-DEA4A99C4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039028"/>
              </p:ext>
            </p:extLst>
          </p:nvPr>
        </p:nvGraphicFramePr>
        <p:xfrm>
          <a:off x="9848167" y="2551421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911273D3-9119-6CE4-EFDA-533157C4F2E4}"/>
              </a:ext>
            </a:extLst>
          </p:cNvPr>
          <p:cNvSpPr txBox="1">
            <a:spLocks/>
          </p:cNvSpPr>
          <p:nvPr/>
        </p:nvSpPr>
        <p:spPr>
          <a:xfrm>
            <a:off x="10727260" y="2919431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1n32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BC91AAA8-0782-5304-6BDB-4E4B667DFFCE}"/>
              </a:ext>
            </a:extLst>
          </p:cNvPr>
          <p:cNvSpPr txBox="1">
            <a:spLocks/>
          </p:cNvSpPr>
          <p:nvPr/>
        </p:nvSpPr>
        <p:spPr>
          <a:xfrm>
            <a:off x="260977" y="2919431"/>
            <a:ext cx="3142159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Arithmetic Shift Right</a:t>
            </a:r>
          </a:p>
          <a:p>
            <a:pPr marL="0" indent="0">
              <a:buNone/>
            </a:pPr>
            <a:r>
              <a:rPr lang="en-US" kern="0" dirty="0"/>
              <a:t>ASR</a:t>
            </a:r>
          </a:p>
          <a:p>
            <a:pPr marL="0" indent="0">
              <a:buNone/>
            </a:pPr>
            <a:endParaRPr lang="en-US" kern="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737C8A1-D0F7-2C8E-C06F-1068B694B055}"/>
              </a:ext>
            </a:extLst>
          </p:cNvPr>
          <p:cNvCxnSpPr>
            <a:cxnSpLocks/>
          </p:cNvCxnSpPr>
          <p:nvPr/>
        </p:nvCxnSpPr>
        <p:spPr bwMode="auto">
          <a:xfrm>
            <a:off x="3667125" y="33443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6D40CC3-2425-FB18-F570-DF42BDE63075}"/>
              </a:ext>
            </a:extLst>
          </p:cNvPr>
          <p:cNvCxnSpPr>
            <a:cxnSpLocks/>
          </p:cNvCxnSpPr>
          <p:nvPr/>
        </p:nvCxnSpPr>
        <p:spPr bwMode="auto">
          <a:xfrm>
            <a:off x="4152900" y="33452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0496642-E2AC-F4CE-4C40-CFE49797B87A}"/>
              </a:ext>
            </a:extLst>
          </p:cNvPr>
          <p:cNvCxnSpPr>
            <a:cxnSpLocks/>
          </p:cNvCxnSpPr>
          <p:nvPr/>
        </p:nvCxnSpPr>
        <p:spPr bwMode="auto">
          <a:xfrm>
            <a:off x="4638675" y="33443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D30EBC-0B8E-D499-AF67-D33DB86E107A}"/>
              </a:ext>
            </a:extLst>
          </p:cNvPr>
          <p:cNvCxnSpPr>
            <a:cxnSpLocks/>
          </p:cNvCxnSpPr>
          <p:nvPr/>
        </p:nvCxnSpPr>
        <p:spPr bwMode="auto">
          <a:xfrm>
            <a:off x="5133975" y="334346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834AF90-2D73-BACC-8A41-A571F45CE918}"/>
              </a:ext>
            </a:extLst>
          </p:cNvPr>
          <p:cNvCxnSpPr>
            <a:cxnSpLocks/>
          </p:cNvCxnSpPr>
          <p:nvPr/>
        </p:nvCxnSpPr>
        <p:spPr bwMode="auto">
          <a:xfrm>
            <a:off x="5619750" y="33443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CA02297-A5A5-4077-5214-55EA71DED311}"/>
              </a:ext>
            </a:extLst>
          </p:cNvPr>
          <p:cNvCxnSpPr>
            <a:cxnSpLocks/>
          </p:cNvCxnSpPr>
          <p:nvPr/>
        </p:nvCxnSpPr>
        <p:spPr bwMode="auto">
          <a:xfrm>
            <a:off x="6105525" y="334346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19E4E7E-6C1A-1F37-42F4-B29A14D3C3EC}"/>
              </a:ext>
            </a:extLst>
          </p:cNvPr>
          <p:cNvCxnSpPr>
            <a:cxnSpLocks/>
          </p:cNvCxnSpPr>
          <p:nvPr/>
        </p:nvCxnSpPr>
        <p:spPr bwMode="auto">
          <a:xfrm>
            <a:off x="6600825" y="334346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5013B1C-05A4-FF40-20B0-4C356F879572}"/>
              </a:ext>
            </a:extLst>
          </p:cNvPr>
          <p:cNvCxnSpPr>
            <a:cxnSpLocks/>
          </p:cNvCxnSpPr>
          <p:nvPr/>
        </p:nvCxnSpPr>
        <p:spPr bwMode="auto">
          <a:xfrm>
            <a:off x="8067675" y="33443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5CB03EB-EF63-24FC-A198-429DF8DA6AE6}"/>
              </a:ext>
            </a:extLst>
          </p:cNvPr>
          <p:cNvCxnSpPr>
            <a:cxnSpLocks/>
          </p:cNvCxnSpPr>
          <p:nvPr/>
        </p:nvCxnSpPr>
        <p:spPr bwMode="auto">
          <a:xfrm>
            <a:off x="8553450" y="334346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59FA8F6-7CAB-2B6D-D48E-41FBD6A50258}"/>
              </a:ext>
            </a:extLst>
          </p:cNvPr>
          <p:cNvCxnSpPr>
            <a:cxnSpLocks/>
          </p:cNvCxnSpPr>
          <p:nvPr/>
        </p:nvCxnSpPr>
        <p:spPr bwMode="auto">
          <a:xfrm>
            <a:off x="9022349" y="3343461"/>
            <a:ext cx="107010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EE829DA-4009-B8D7-4F35-3DEDFF023BE0}"/>
              </a:ext>
            </a:extLst>
          </p:cNvPr>
          <p:cNvCxnSpPr>
            <a:cxnSpLocks/>
          </p:cNvCxnSpPr>
          <p:nvPr/>
        </p:nvCxnSpPr>
        <p:spPr bwMode="auto">
          <a:xfrm flipV="1">
            <a:off x="3667125" y="2790825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C585655-3BE2-BF98-8E09-CB9C72CFBEC8}"/>
              </a:ext>
            </a:extLst>
          </p:cNvPr>
          <p:cNvCxnSpPr>
            <a:cxnSpLocks/>
          </p:cNvCxnSpPr>
          <p:nvPr/>
        </p:nvCxnSpPr>
        <p:spPr bwMode="auto">
          <a:xfrm flipH="1">
            <a:off x="3667125" y="2790825"/>
            <a:ext cx="393917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A6DE505-171E-178D-ED47-D307BA4FAC33}"/>
              </a:ext>
            </a:extLst>
          </p:cNvPr>
          <p:cNvCxnSpPr>
            <a:cxnSpLocks/>
          </p:cNvCxnSpPr>
          <p:nvPr/>
        </p:nvCxnSpPr>
        <p:spPr bwMode="auto">
          <a:xfrm flipV="1">
            <a:off x="4061042" y="2790825"/>
            <a:ext cx="0" cy="33493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B798E377-A70D-891C-49A5-78FED7F8E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063859"/>
              </p:ext>
            </p:extLst>
          </p:nvPr>
        </p:nvGraphicFramePr>
        <p:xfrm>
          <a:off x="3804923" y="4151897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CE8B34A1-9B5A-285A-7B5D-2CA075529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756226"/>
              </p:ext>
            </p:extLst>
          </p:nvPr>
        </p:nvGraphicFramePr>
        <p:xfrm>
          <a:off x="9848167" y="4151897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0352993C-7D82-4330-9490-088ED8CBECAF}"/>
              </a:ext>
            </a:extLst>
          </p:cNvPr>
          <p:cNvSpPr txBox="1">
            <a:spLocks/>
          </p:cNvSpPr>
          <p:nvPr/>
        </p:nvSpPr>
        <p:spPr>
          <a:xfrm>
            <a:off x="10727260" y="4519907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0n31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CA50372E-3D89-BCF5-6765-3CB42F043DFB}"/>
              </a:ext>
            </a:extLst>
          </p:cNvPr>
          <p:cNvSpPr txBox="1">
            <a:spLocks/>
          </p:cNvSpPr>
          <p:nvPr/>
        </p:nvSpPr>
        <p:spPr>
          <a:xfrm>
            <a:off x="260977" y="4519907"/>
            <a:ext cx="3142159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Logical Shift Left</a:t>
            </a:r>
          </a:p>
          <a:p>
            <a:pPr marL="0" indent="0">
              <a:buNone/>
            </a:pPr>
            <a:r>
              <a:rPr lang="en-US" kern="0" dirty="0"/>
              <a:t>LSL</a:t>
            </a:r>
          </a:p>
          <a:p>
            <a:pPr marL="0" indent="0">
              <a:buNone/>
            </a:pPr>
            <a:endParaRPr lang="en-US" kern="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1EEABB6-7FC4-AC4D-CD9F-FCFC80F69DF5}"/>
              </a:ext>
            </a:extLst>
          </p:cNvPr>
          <p:cNvCxnSpPr>
            <a:cxnSpLocks/>
          </p:cNvCxnSpPr>
          <p:nvPr/>
        </p:nvCxnSpPr>
        <p:spPr bwMode="auto">
          <a:xfrm>
            <a:off x="3667125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403F0BA-6308-0037-FEA8-21D3DCE71D29}"/>
              </a:ext>
            </a:extLst>
          </p:cNvPr>
          <p:cNvCxnSpPr>
            <a:cxnSpLocks/>
          </p:cNvCxnSpPr>
          <p:nvPr/>
        </p:nvCxnSpPr>
        <p:spPr bwMode="auto">
          <a:xfrm>
            <a:off x="4152900" y="4945689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FD55471-90BA-655E-F15F-38463C1B6013}"/>
              </a:ext>
            </a:extLst>
          </p:cNvPr>
          <p:cNvCxnSpPr>
            <a:cxnSpLocks/>
          </p:cNvCxnSpPr>
          <p:nvPr/>
        </p:nvCxnSpPr>
        <p:spPr bwMode="auto">
          <a:xfrm>
            <a:off x="4638675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57F661E-6877-6595-9A9B-9E9DE77EA2C5}"/>
              </a:ext>
            </a:extLst>
          </p:cNvPr>
          <p:cNvCxnSpPr>
            <a:cxnSpLocks/>
          </p:cNvCxnSpPr>
          <p:nvPr/>
        </p:nvCxnSpPr>
        <p:spPr bwMode="auto">
          <a:xfrm>
            <a:off x="5133975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095EB30-2B93-5CA8-20AA-0CF6AB85FB02}"/>
              </a:ext>
            </a:extLst>
          </p:cNvPr>
          <p:cNvCxnSpPr>
            <a:cxnSpLocks/>
          </p:cNvCxnSpPr>
          <p:nvPr/>
        </p:nvCxnSpPr>
        <p:spPr bwMode="auto">
          <a:xfrm>
            <a:off x="5619750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5244DFB-5358-62B5-53D3-8E1EB82BF431}"/>
              </a:ext>
            </a:extLst>
          </p:cNvPr>
          <p:cNvCxnSpPr>
            <a:cxnSpLocks/>
          </p:cNvCxnSpPr>
          <p:nvPr/>
        </p:nvCxnSpPr>
        <p:spPr bwMode="auto">
          <a:xfrm>
            <a:off x="6105525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5C0CA3B-B0CE-8010-D8FC-201E820A67BA}"/>
              </a:ext>
            </a:extLst>
          </p:cNvPr>
          <p:cNvCxnSpPr>
            <a:cxnSpLocks/>
          </p:cNvCxnSpPr>
          <p:nvPr/>
        </p:nvCxnSpPr>
        <p:spPr bwMode="auto">
          <a:xfrm>
            <a:off x="6600825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86D210-65A6-8AE9-638E-467A24DEC3C8}"/>
              </a:ext>
            </a:extLst>
          </p:cNvPr>
          <p:cNvCxnSpPr>
            <a:cxnSpLocks/>
          </p:cNvCxnSpPr>
          <p:nvPr/>
        </p:nvCxnSpPr>
        <p:spPr bwMode="auto">
          <a:xfrm>
            <a:off x="8067675" y="494481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F16B68F-B4FD-71F1-4253-C4D11F798D1B}"/>
              </a:ext>
            </a:extLst>
          </p:cNvPr>
          <p:cNvCxnSpPr>
            <a:cxnSpLocks/>
          </p:cNvCxnSpPr>
          <p:nvPr/>
        </p:nvCxnSpPr>
        <p:spPr bwMode="auto">
          <a:xfrm>
            <a:off x="8553450" y="494393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B5A61D2-1474-98E8-38C3-3C0DF2B4C7A6}"/>
              </a:ext>
            </a:extLst>
          </p:cNvPr>
          <p:cNvCxnSpPr>
            <a:cxnSpLocks/>
          </p:cNvCxnSpPr>
          <p:nvPr/>
        </p:nvCxnSpPr>
        <p:spPr bwMode="auto">
          <a:xfrm>
            <a:off x="10048875" y="4943937"/>
            <a:ext cx="481726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0D1F996-120B-5E58-EB6B-BEE3C0345D0E}"/>
              </a:ext>
            </a:extLst>
          </p:cNvPr>
          <p:cNvCxnSpPr>
            <a:cxnSpLocks/>
          </p:cNvCxnSpPr>
          <p:nvPr/>
        </p:nvCxnSpPr>
        <p:spPr bwMode="auto">
          <a:xfrm flipV="1">
            <a:off x="3676650" y="4391301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8A69724-FD3E-E73D-466B-D711763D401E}"/>
              </a:ext>
            </a:extLst>
          </p:cNvPr>
          <p:cNvCxnSpPr>
            <a:cxnSpLocks/>
          </p:cNvCxnSpPr>
          <p:nvPr/>
        </p:nvCxnSpPr>
        <p:spPr bwMode="auto">
          <a:xfrm flipH="1">
            <a:off x="3676650" y="4391301"/>
            <a:ext cx="686139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8812FE4-6542-245A-2766-F67E6AC3EB79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38042" y="4391301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C83AA0F-9F7F-3F7C-902B-B6255BB21266}"/>
              </a:ext>
            </a:extLst>
          </p:cNvPr>
          <p:cNvSpPr txBox="1"/>
          <p:nvPr/>
        </p:nvSpPr>
        <p:spPr>
          <a:xfrm>
            <a:off x="9245697" y="4713104"/>
            <a:ext cx="575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01A6A77-C893-9570-4179-76F30A9415A7}"/>
              </a:ext>
            </a:extLst>
          </p:cNvPr>
          <p:cNvCxnSpPr>
            <a:cxnSpLocks/>
          </p:cNvCxnSpPr>
          <p:nvPr/>
        </p:nvCxnSpPr>
        <p:spPr bwMode="auto">
          <a:xfrm>
            <a:off x="9026771" y="495392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F4619449-6003-2607-354D-405DCDE9F459}"/>
              </a:ext>
            </a:extLst>
          </p:cNvPr>
          <p:cNvSpPr txBox="1">
            <a:spLocks/>
          </p:cNvSpPr>
          <p:nvPr/>
        </p:nvSpPr>
        <p:spPr>
          <a:xfrm>
            <a:off x="1167495" y="5619663"/>
            <a:ext cx="9363106" cy="92475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Use the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ASR </a:t>
            </a:r>
            <a:r>
              <a:rPr lang="en-US" kern="0" dirty="0"/>
              <a:t>instruction when manipulating signed numbers, and use the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LSR </a:t>
            </a:r>
            <a:r>
              <a:rPr lang="en-US" kern="0" dirty="0"/>
              <a:t>instruction when shifting unsigned numbers.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771301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808E2-F280-4F43-4A19-F155219E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5857D-B6D2-514B-2295-5FA37218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Rotate operations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91D846-8AE0-21CF-899F-224BB04DA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43729"/>
              </p:ext>
            </p:extLst>
          </p:nvPr>
        </p:nvGraphicFramePr>
        <p:xfrm>
          <a:off x="1272345" y="1204364"/>
          <a:ext cx="5888112" cy="792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6014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736014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508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905E1B-C8DD-972A-6FC5-B685B6F91317}"/>
              </a:ext>
            </a:extLst>
          </p:cNvPr>
          <p:cNvSpPr txBox="1"/>
          <p:nvPr/>
        </p:nvSpPr>
        <p:spPr>
          <a:xfrm>
            <a:off x="462670" y="1204364"/>
            <a:ext cx="651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A59097-4A82-23BA-7B2D-DF7D48CEDD28}"/>
              </a:ext>
            </a:extLst>
          </p:cNvPr>
          <p:cNvSpPr txBox="1">
            <a:spLocks/>
          </p:cNvSpPr>
          <p:nvPr/>
        </p:nvSpPr>
        <p:spPr>
          <a:xfrm>
            <a:off x="462670" y="2765469"/>
            <a:ext cx="5791200" cy="288816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ROR</a:t>
            </a:r>
            <a:r>
              <a:rPr lang="en-US" kern="0" dirty="0"/>
              <a:t> – rotate right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RRX</a:t>
            </a:r>
            <a:r>
              <a:rPr lang="en-US" kern="0" dirty="0"/>
              <a:t> – rotate right w/extend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A9E820-3357-4673-7ED8-3D7C9A63ADB6}"/>
              </a:ext>
            </a:extLst>
          </p:cNvPr>
          <p:cNvSpPr txBox="1">
            <a:spLocks/>
          </p:cNvSpPr>
          <p:nvPr/>
        </p:nvSpPr>
        <p:spPr>
          <a:xfrm>
            <a:off x="5721642" y="2765468"/>
            <a:ext cx="5791200" cy="288816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ROR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Ans </a:t>
            </a:r>
            <a:r>
              <a:rPr lang="en-US" kern="0" dirty="0">
                <a:sym typeface="Wingdings" panose="05000000000000000000" pitchFamily="2" charset="2"/>
              </a:rPr>
              <a:t> ??</a:t>
            </a:r>
          </a:p>
          <a:p>
            <a:pPr marL="457188" lvl="1" indent="0">
              <a:buNone/>
            </a:pP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 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RRX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endParaRPr lang="en-US" kern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Ans </a:t>
            </a:r>
            <a:r>
              <a:rPr lang="en-US" kern="0" dirty="0">
                <a:sym typeface="Wingdings" panose="05000000000000000000" pitchFamily="2" charset="2"/>
              </a:rPr>
              <a:t> ??</a:t>
            </a:r>
            <a:endParaRPr lang="en-US" kern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3B24A6-7D59-DAB5-8C37-0A7F0D9EFD8E}"/>
              </a:ext>
            </a:extLst>
          </p:cNvPr>
          <p:cNvSpPr txBox="1">
            <a:spLocks/>
          </p:cNvSpPr>
          <p:nvPr/>
        </p:nvSpPr>
        <p:spPr>
          <a:xfrm>
            <a:off x="7742700" y="1143404"/>
            <a:ext cx="2104684" cy="4572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8-bit example</a:t>
            </a:r>
          </a:p>
        </p:txBody>
      </p:sp>
    </p:spTree>
    <p:extLst>
      <p:ext uri="{BB962C8B-B14F-4D97-AF65-F5344CB8AC3E}">
        <p14:creationId xmlns:p14="http://schemas.microsoft.com/office/powerpoint/2010/main" val="3447416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CFB97-1AA8-CAA4-EB7E-3CF8B4EE5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E142-A827-69B1-B6E7-8FDADD7A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Rotate Operations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4C7F498-8DC3-1CEA-443C-2FF8C2559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051999"/>
              </p:ext>
            </p:extLst>
          </p:nvPr>
        </p:nvGraphicFramePr>
        <p:xfrm>
          <a:off x="3804923" y="1966205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0F26465-5438-4CAB-CAE2-D1B24988F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999294"/>
              </p:ext>
            </p:extLst>
          </p:nvPr>
        </p:nvGraphicFramePr>
        <p:xfrm>
          <a:off x="9848167" y="1966205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F60ED1DD-DE14-15A7-5C83-24A14C788E77}"/>
              </a:ext>
            </a:extLst>
          </p:cNvPr>
          <p:cNvSpPr txBox="1">
            <a:spLocks/>
          </p:cNvSpPr>
          <p:nvPr/>
        </p:nvSpPr>
        <p:spPr>
          <a:xfrm>
            <a:off x="10727260" y="2334215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1n32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317D7D4-AB47-11A7-D2FD-93CDC452E76F}"/>
              </a:ext>
            </a:extLst>
          </p:cNvPr>
          <p:cNvSpPr txBox="1">
            <a:spLocks/>
          </p:cNvSpPr>
          <p:nvPr/>
        </p:nvSpPr>
        <p:spPr>
          <a:xfrm>
            <a:off x="260977" y="2334215"/>
            <a:ext cx="3142159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Rotate Shift Right</a:t>
            </a:r>
          </a:p>
          <a:p>
            <a:pPr marL="0" indent="0">
              <a:buNone/>
            </a:pPr>
            <a:r>
              <a:rPr lang="en-US" kern="0" dirty="0"/>
              <a:t>ROR</a:t>
            </a:r>
          </a:p>
          <a:p>
            <a:pPr marL="0" indent="0">
              <a:buNone/>
            </a:pPr>
            <a:endParaRPr lang="en-US" kern="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713BF9A-4FE6-8EE6-C691-7FFACE6A2D8B}"/>
              </a:ext>
            </a:extLst>
          </p:cNvPr>
          <p:cNvCxnSpPr>
            <a:cxnSpLocks/>
          </p:cNvCxnSpPr>
          <p:nvPr/>
        </p:nvCxnSpPr>
        <p:spPr bwMode="auto">
          <a:xfrm>
            <a:off x="3667125" y="27591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E4EA5A7-0CE1-4217-C531-B4B772BFECE5}"/>
              </a:ext>
            </a:extLst>
          </p:cNvPr>
          <p:cNvCxnSpPr>
            <a:cxnSpLocks/>
          </p:cNvCxnSpPr>
          <p:nvPr/>
        </p:nvCxnSpPr>
        <p:spPr bwMode="auto">
          <a:xfrm>
            <a:off x="4152900" y="275999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4C07EDE-54E1-E38C-2F5D-A1F8DE8F4563}"/>
              </a:ext>
            </a:extLst>
          </p:cNvPr>
          <p:cNvCxnSpPr>
            <a:cxnSpLocks/>
          </p:cNvCxnSpPr>
          <p:nvPr/>
        </p:nvCxnSpPr>
        <p:spPr bwMode="auto">
          <a:xfrm>
            <a:off x="4638675" y="27591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F87D128-911C-A4AE-29DB-8FAE6868A9A4}"/>
              </a:ext>
            </a:extLst>
          </p:cNvPr>
          <p:cNvCxnSpPr>
            <a:cxnSpLocks/>
          </p:cNvCxnSpPr>
          <p:nvPr/>
        </p:nvCxnSpPr>
        <p:spPr bwMode="auto">
          <a:xfrm>
            <a:off x="5133975" y="2758245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B245198-189C-E755-5766-06D34F068080}"/>
              </a:ext>
            </a:extLst>
          </p:cNvPr>
          <p:cNvCxnSpPr>
            <a:cxnSpLocks/>
          </p:cNvCxnSpPr>
          <p:nvPr/>
        </p:nvCxnSpPr>
        <p:spPr bwMode="auto">
          <a:xfrm>
            <a:off x="5619750" y="27591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80B23B6-DB0D-52D2-27A9-CC0794DE6110}"/>
              </a:ext>
            </a:extLst>
          </p:cNvPr>
          <p:cNvCxnSpPr>
            <a:cxnSpLocks/>
          </p:cNvCxnSpPr>
          <p:nvPr/>
        </p:nvCxnSpPr>
        <p:spPr bwMode="auto">
          <a:xfrm>
            <a:off x="6105525" y="2758245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880BFC-4411-ECD3-9003-6A1ECA666567}"/>
              </a:ext>
            </a:extLst>
          </p:cNvPr>
          <p:cNvCxnSpPr>
            <a:cxnSpLocks/>
          </p:cNvCxnSpPr>
          <p:nvPr/>
        </p:nvCxnSpPr>
        <p:spPr bwMode="auto">
          <a:xfrm>
            <a:off x="6600825" y="2758245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70B2D45-4EC3-E392-A46B-E8E328001F3E}"/>
              </a:ext>
            </a:extLst>
          </p:cNvPr>
          <p:cNvCxnSpPr>
            <a:cxnSpLocks/>
          </p:cNvCxnSpPr>
          <p:nvPr/>
        </p:nvCxnSpPr>
        <p:spPr bwMode="auto">
          <a:xfrm>
            <a:off x="8067675" y="27591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160E55F-50BD-5F90-4A4B-0561F0340C3F}"/>
              </a:ext>
            </a:extLst>
          </p:cNvPr>
          <p:cNvCxnSpPr>
            <a:cxnSpLocks/>
          </p:cNvCxnSpPr>
          <p:nvPr/>
        </p:nvCxnSpPr>
        <p:spPr bwMode="auto">
          <a:xfrm>
            <a:off x="8553450" y="2758245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7F8F38-7053-A9C2-76BD-920F716DF8B8}"/>
              </a:ext>
            </a:extLst>
          </p:cNvPr>
          <p:cNvCxnSpPr>
            <a:cxnSpLocks/>
          </p:cNvCxnSpPr>
          <p:nvPr/>
        </p:nvCxnSpPr>
        <p:spPr bwMode="auto">
          <a:xfrm>
            <a:off x="9022349" y="2758245"/>
            <a:ext cx="107010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FEE5DBD-98E5-45C0-C981-0BCDCB51BB7A}"/>
              </a:ext>
            </a:extLst>
          </p:cNvPr>
          <p:cNvCxnSpPr>
            <a:cxnSpLocks/>
          </p:cNvCxnSpPr>
          <p:nvPr/>
        </p:nvCxnSpPr>
        <p:spPr bwMode="auto">
          <a:xfrm flipV="1">
            <a:off x="3667125" y="2205609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6D2B481-389D-DF1F-BC46-E1A5B580EA39}"/>
              </a:ext>
            </a:extLst>
          </p:cNvPr>
          <p:cNvCxnSpPr>
            <a:cxnSpLocks/>
          </p:cNvCxnSpPr>
          <p:nvPr/>
        </p:nvCxnSpPr>
        <p:spPr bwMode="auto">
          <a:xfrm flipH="1">
            <a:off x="3667125" y="2205609"/>
            <a:ext cx="5770589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C17D283-14DC-2B8F-1E2E-4D33AA9B3FB2}"/>
              </a:ext>
            </a:extLst>
          </p:cNvPr>
          <p:cNvCxnSpPr>
            <a:cxnSpLocks/>
          </p:cNvCxnSpPr>
          <p:nvPr/>
        </p:nvCxnSpPr>
        <p:spPr bwMode="auto">
          <a:xfrm flipV="1">
            <a:off x="9437714" y="2205609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C5551DCF-4F42-A667-9944-ECE51F3F8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278494"/>
              </p:ext>
            </p:extLst>
          </p:nvPr>
        </p:nvGraphicFramePr>
        <p:xfrm>
          <a:off x="3804923" y="3566681"/>
          <a:ext cx="537424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4281315730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540368857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453302114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961373618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877978792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3084749841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148688698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858314539"/>
                    </a:ext>
                  </a:extLst>
                </a:gridCol>
                <a:gridCol w="488568">
                  <a:extLst>
                    <a:ext uri="{9D8B030D-6E8A-4147-A177-3AD203B41FA5}">
                      <a16:colId xmlns:a16="http://schemas.microsoft.com/office/drawing/2014/main" val="2113041097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21C29B18-49D3-E9AD-303D-98B3F4FA7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09019"/>
              </p:ext>
            </p:extLst>
          </p:nvPr>
        </p:nvGraphicFramePr>
        <p:xfrm>
          <a:off x="9848167" y="3566681"/>
          <a:ext cx="488568" cy="1217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568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</a:tblGrid>
              <a:tr h="47478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1437683"/>
                  </a:ext>
                </a:extLst>
              </a:tr>
              <a:tr h="743041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</a:tbl>
          </a:graphicData>
        </a:graphic>
      </p:graphicFrame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8B16B6B5-7438-3D11-4EA4-D93FE84C39A6}"/>
              </a:ext>
            </a:extLst>
          </p:cNvPr>
          <p:cNvSpPr txBox="1">
            <a:spLocks/>
          </p:cNvSpPr>
          <p:nvPr/>
        </p:nvSpPr>
        <p:spPr>
          <a:xfrm>
            <a:off x="10727260" y="3934691"/>
            <a:ext cx="1330570" cy="8498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>
                <a:sym typeface="Symbol" panose="05050102010706020507" pitchFamily="18" charset="2"/>
              </a:rPr>
              <a:t>0n31</a:t>
            </a:r>
            <a:endParaRPr lang="en-US" kern="0" dirty="0"/>
          </a:p>
          <a:p>
            <a:pPr>
              <a:buFont typeface="Wingdings" panose="05000000000000000000" pitchFamily="2" charset="2"/>
              <a:buChar char="v"/>
            </a:pPr>
            <a:endParaRPr lang="en-US" kern="0" dirty="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ABE9D951-4612-FBF1-D399-13D1BDE54136}"/>
              </a:ext>
            </a:extLst>
          </p:cNvPr>
          <p:cNvSpPr txBox="1">
            <a:spLocks/>
          </p:cNvSpPr>
          <p:nvPr/>
        </p:nvSpPr>
        <p:spPr>
          <a:xfrm>
            <a:off x="260977" y="3934691"/>
            <a:ext cx="3579846" cy="102159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Rotate Right Extended</a:t>
            </a:r>
          </a:p>
          <a:p>
            <a:pPr marL="0" indent="0">
              <a:buNone/>
            </a:pPr>
            <a:r>
              <a:rPr lang="en-US" kern="0" dirty="0"/>
              <a:t>RRX</a:t>
            </a:r>
          </a:p>
          <a:p>
            <a:pPr marL="0" indent="0">
              <a:buNone/>
            </a:pPr>
            <a:endParaRPr lang="en-US" kern="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E4DBA0B-039E-59C5-3B17-DE83C53737E8}"/>
              </a:ext>
            </a:extLst>
          </p:cNvPr>
          <p:cNvCxnSpPr>
            <a:cxnSpLocks/>
          </p:cNvCxnSpPr>
          <p:nvPr/>
        </p:nvCxnSpPr>
        <p:spPr bwMode="auto">
          <a:xfrm>
            <a:off x="3667125" y="435959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C590513-1A73-E80F-33F5-D78E62692F48}"/>
              </a:ext>
            </a:extLst>
          </p:cNvPr>
          <p:cNvCxnSpPr>
            <a:cxnSpLocks/>
          </p:cNvCxnSpPr>
          <p:nvPr/>
        </p:nvCxnSpPr>
        <p:spPr bwMode="auto">
          <a:xfrm>
            <a:off x="4152900" y="4360473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7C88F25-F47A-DD44-8623-F6465BA46E1E}"/>
              </a:ext>
            </a:extLst>
          </p:cNvPr>
          <p:cNvCxnSpPr>
            <a:cxnSpLocks/>
          </p:cNvCxnSpPr>
          <p:nvPr/>
        </p:nvCxnSpPr>
        <p:spPr bwMode="auto">
          <a:xfrm>
            <a:off x="4638675" y="435959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9C3334A-D6E2-9B73-D3F6-CD246778471D}"/>
              </a:ext>
            </a:extLst>
          </p:cNvPr>
          <p:cNvCxnSpPr>
            <a:cxnSpLocks/>
          </p:cNvCxnSpPr>
          <p:nvPr/>
        </p:nvCxnSpPr>
        <p:spPr bwMode="auto">
          <a:xfrm>
            <a:off x="5133975" y="43587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7E2C7DA-9ABB-AB9C-5348-0169E0D0043D}"/>
              </a:ext>
            </a:extLst>
          </p:cNvPr>
          <p:cNvCxnSpPr>
            <a:cxnSpLocks/>
          </p:cNvCxnSpPr>
          <p:nvPr/>
        </p:nvCxnSpPr>
        <p:spPr bwMode="auto">
          <a:xfrm>
            <a:off x="5619750" y="435959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A9D1B30-BDE9-6C9B-B14A-EF662566032B}"/>
              </a:ext>
            </a:extLst>
          </p:cNvPr>
          <p:cNvCxnSpPr>
            <a:cxnSpLocks/>
          </p:cNvCxnSpPr>
          <p:nvPr/>
        </p:nvCxnSpPr>
        <p:spPr bwMode="auto">
          <a:xfrm>
            <a:off x="6105525" y="43587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CDE8AD0-D900-09B0-FE7F-1FD8B622FB62}"/>
              </a:ext>
            </a:extLst>
          </p:cNvPr>
          <p:cNvCxnSpPr>
            <a:cxnSpLocks/>
          </p:cNvCxnSpPr>
          <p:nvPr/>
        </p:nvCxnSpPr>
        <p:spPr bwMode="auto">
          <a:xfrm>
            <a:off x="6600825" y="43587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2A77237-E872-9E76-644D-FA7EE330E84D}"/>
              </a:ext>
            </a:extLst>
          </p:cNvPr>
          <p:cNvCxnSpPr>
            <a:cxnSpLocks/>
          </p:cNvCxnSpPr>
          <p:nvPr/>
        </p:nvCxnSpPr>
        <p:spPr bwMode="auto">
          <a:xfrm>
            <a:off x="8067675" y="4359597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1C0B372-A333-B4C9-66BA-4483E427C0CD}"/>
              </a:ext>
            </a:extLst>
          </p:cNvPr>
          <p:cNvCxnSpPr>
            <a:cxnSpLocks/>
          </p:cNvCxnSpPr>
          <p:nvPr/>
        </p:nvCxnSpPr>
        <p:spPr bwMode="auto">
          <a:xfrm>
            <a:off x="8553450" y="4358721"/>
            <a:ext cx="313644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FB3315B-D8B1-4FCB-D00A-270046D41F3C}"/>
              </a:ext>
            </a:extLst>
          </p:cNvPr>
          <p:cNvCxnSpPr>
            <a:cxnSpLocks/>
          </p:cNvCxnSpPr>
          <p:nvPr/>
        </p:nvCxnSpPr>
        <p:spPr bwMode="auto">
          <a:xfrm>
            <a:off x="10217888" y="4358721"/>
            <a:ext cx="312713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025C878-8FF0-F7DB-540A-2BF527D1C891}"/>
              </a:ext>
            </a:extLst>
          </p:cNvPr>
          <p:cNvCxnSpPr>
            <a:cxnSpLocks/>
          </p:cNvCxnSpPr>
          <p:nvPr/>
        </p:nvCxnSpPr>
        <p:spPr bwMode="auto">
          <a:xfrm flipV="1">
            <a:off x="3676650" y="3806085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BA988D6-6E10-EB8D-35EA-F4F6329D8FF8}"/>
              </a:ext>
            </a:extLst>
          </p:cNvPr>
          <p:cNvCxnSpPr>
            <a:cxnSpLocks/>
          </p:cNvCxnSpPr>
          <p:nvPr/>
        </p:nvCxnSpPr>
        <p:spPr bwMode="auto">
          <a:xfrm flipH="1">
            <a:off x="3676650" y="3806085"/>
            <a:ext cx="6861392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054DC42-F4ED-458F-2546-6E35E212634E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38042" y="3806085"/>
            <a:ext cx="0" cy="55263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31F6FD5-26BB-C6FB-2ED7-6F8E83750363}"/>
              </a:ext>
            </a:extLst>
          </p:cNvPr>
          <p:cNvCxnSpPr>
            <a:cxnSpLocks/>
          </p:cNvCxnSpPr>
          <p:nvPr/>
        </p:nvCxnSpPr>
        <p:spPr bwMode="auto">
          <a:xfrm>
            <a:off x="9026771" y="4368707"/>
            <a:ext cx="1065680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33438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13A3-6BFC-B17C-C00A-67232107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6DFB0-E9A8-0645-058A-6DFE1896E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37251"/>
            <a:ext cx="5163313" cy="457200"/>
          </a:xfrm>
        </p:spPr>
        <p:txBody>
          <a:bodyPr/>
          <a:lstStyle/>
          <a:p>
            <a:r>
              <a:rPr lang="en-US" dirty="0"/>
              <a:t>Inverter (Not) Truth Table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CB93096-9D6B-51ED-EEC7-DEB23B89C417}"/>
              </a:ext>
            </a:extLst>
          </p:cNvPr>
          <p:cNvSpPr txBox="1">
            <a:spLocks/>
          </p:cNvSpPr>
          <p:nvPr/>
        </p:nvSpPr>
        <p:spPr>
          <a:xfrm>
            <a:off x="462670" y="5010913"/>
            <a:ext cx="5163313" cy="131673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Assembly Instructions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MVN{S} 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;Rd=~op2</a:t>
            </a:r>
          </a:p>
        </p:txBody>
      </p:sp>
      <p:pic>
        <p:nvPicPr>
          <p:cNvPr id="1026" name="Picture 2" descr="Introduction to digital logic • EgoMachines">
            <a:extLst>
              <a:ext uri="{FF2B5EF4-FFF2-40B4-BE49-F238E27FC236}">
                <a16:creationId xmlns:a16="http://schemas.microsoft.com/office/drawing/2014/main" id="{8734DEC4-2F60-0A50-9432-A42C3289F1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92" t="73333" r="23032"/>
          <a:stretch/>
        </p:blipFill>
        <p:spPr bwMode="auto">
          <a:xfrm>
            <a:off x="304799" y="1004106"/>
            <a:ext cx="3913632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FA411C-8A8A-890F-CDA7-D4DC04230705}"/>
              </a:ext>
            </a:extLst>
          </p:cNvPr>
          <p:cNvSpPr txBox="1">
            <a:spLocks/>
          </p:cNvSpPr>
          <p:nvPr/>
        </p:nvSpPr>
        <p:spPr>
          <a:xfrm>
            <a:off x="304799" y="812915"/>
            <a:ext cx="3627121" cy="8878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Symbol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A8A3DF-8413-B052-E085-31061B55E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787763"/>
              </p:ext>
            </p:extLst>
          </p:nvPr>
        </p:nvGraphicFramePr>
        <p:xfrm>
          <a:off x="622028" y="2867748"/>
          <a:ext cx="1846852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3426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923426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In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Out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040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027083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739A2B3-0F9E-2E08-14A6-F67686741FD6}"/>
              </a:ext>
            </a:extLst>
          </p:cNvPr>
          <p:cNvSpPr txBox="1">
            <a:spLocks/>
          </p:cNvSpPr>
          <p:nvPr/>
        </p:nvSpPr>
        <p:spPr bwMode="auto">
          <a:xfrm>
            <a:off x="6253870" y="237251"/>
            <a:ext cx="5163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r>
              <a:rPr lang="en-US" altLang="zh-CN" kern="0" dirty="0"/>
              <a:t>And</a:t>
            </a:r>
            <a:r>
              <a:rPr lang="en-US" kern="0" dirty="0"/>
              <a:t> Truth Table</a:t>
            </a:r>
          </a:p>
        </p:txBody>
      </p:sp>
      <p:pic>
        <p:nvPicPr>
          <p:cNvPr id="9" name="Picture 2" descr="Introduction to digital logic • EgoMachines">
            <a:extLst>
              <a:ext uri="{FF2B5EF4-FFF2-40B4-BE49-F238E27FC236}">
                <a16:creationId xmlns:a16="http://schemas.microsoft.com/office/drawing/2014/main" id="{C74383A4-E4E8-362B-167B-A1F4F1201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98" b="78133"/>
          <a:stretch/>
        </p:blipFill>
        <p:spPr bwMode="auto">
          <a:xfrm>
            <a:off x="5938130" y="1266188"/>
            <a:ext cx="3154616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1571D5-4CB4-FD1A-538F-E871EC07F273}"/>
              </a:ext>
            </a:extLst>
          </p:cNvPr>
          <p:cNvSpPr txBox="1">
            <a:spLocks/>
          </p:cNvSpPr>
          <p:nvPr/>
        </p:nvSpPr>
        <p:spPr>
          <a:xfrm>
            <a:off x="5938130" y="5010913"/>
            <a:ext cx="4723774" cy="131673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Assembly Instructions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AND{S} 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;Rd=Rn&amp;op2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C934BFB-687B-7391-D311-056F7A2ABBB7}"/>
              </a:ext>
            </a:extLst>
          </p:cNvPr>
          <p:cNvSpPr txBox="1">
            <a:spLocks/>
          </p:cNvSpPr>
          <p:nvPr/>
        </p:nvSpPr>
        <p:spPr>
          <a:xfrm>
            <a:off x="5780259" y="812915"/>
            <a:ext cx="3913632" cy="8878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Symbol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1A7697A-6D28-9DB6-2C54-E9434B570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40902"/>
              </p:ext>
            </p:extLst>
          </p:nvPr>
        </p:nvGraphicFramePr>
        <p:xfrm>
          <a:off x="6097488" y="2721444"/>
          <a:ext cx="2995257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8419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998419">
                  <a:extLst>
                    <a:ext uri="{9D8B030D-6E8A-4147-A177-3AD203B41FA5}">
                      <a16:colId xmlns:a16="http://schemas.microsoft.com/office/drawing/2014/main" val="652543126"/>
                    </a:ext>
                  </a:extLst>
                </a:gridCol>
                <a:gridCol w="998419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err="1"/>
                        <a:t>In_A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In_B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Out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040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92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79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027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53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AF9FE-6785-0780-2371-3E730AB28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Introduction to digital logic • EgoMachines">
            <a:extLst>
              <a:ext uri="{FF2B5EF4-FFF2-40B4-BE49-F238E27FC236}">
                <a16:creationId xmlns:a16="http://schemas.microsoft.com/office/drawing/2014/main" id="{B255CDA6-79D1-4C8D-A5D1-82B63C24CC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72" r="65198" b="27162"/>
          <a:stretch/>
        </p:blipFill>
        <p:spPr bwMode="auto">
          <a:xfrm>
            <a:off x="5938129" y="1238347"/>
            <a:ext cx="3154616" cy="149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ntroduction to digital logic • EgoMachines">
            <a:extLst>
              <a:ext uri="{FF2B5EF4-FFF2-40B4-BE49-F238E27FC236}">
                <a16:creationId xmlns:a16="http://schemas.microsoft.com/office/drawing/2014/main" id="{79A1D8F4-8B01-E1A0-815D-1530F463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66" r="65198" b="52267"/>
          <a:stretch/>
        </p:blipFill>
        <p:spPr bwMode="auto">
          <a:xfrm>
            <a:off x="542348" y="1274924"/>
            <a:ext cx="3154616" cy="149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37152A-B9E7-F690-4C67-83DD5F7B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37251"/>
            <a:ext cx="5163313" cy="457200"/>
          </a:xfrm>
        </p:spPr>
        <p:txBody>
          <a:bodyPr/>
          <a:lstStyle/>
          <a:p>
            <a:r>
              <a:rPr lang="en-US" dirty="0"/>
              <a:t>OR Truth Table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65B205-121A-ED6D-22D9-6B4C83B7D4E3}"/>
              </a:ext>
            </a:extLst>
          </p:cNvPr>
          <p:cNvSpPr txBox="1">
            <a:spLocks/>
          </p:cNvSpPr>
          <p:nvPr/>
        </p:nvSpPr>
        <p:spPr bwMode="auto">
          <a:xfrm>
            <a:off x="4663440" y="237251"/>
            <a:ext cx="675374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r>
              <a:rPr lang="en-US" altLang="zh-CN" kern="0" dirty="0"/>
              <a:t>Exclusive OR (XOR)</a:t>
            </a:r>
            <a:r>
              <a:rPr lang="en-US" kern="0" dirty="0"/>
              <a:t> Truth Table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D891BF-327F-2006-4C9D-0CE9B8203774}"/>
              </a:ext>
            </a:extLst>
          </p:cNvPr>
          <p:cNvSpPr txBox="1">
            <a:spLocks/>
          </p:cNvSpPr>
          <p:nvPr/>
        </p:nvSpPr>
        <p:spPr>
          <a:xfrm>
            <a:off x="5780259" y="4992625"/>
            <a:ext cx="4632334" cy="131673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Assembly Instructions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EOR{S} 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;Rd=Rn^op2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C45C89F-05AE-646B-8B0D-F0AE9A74C364}"/>
              </a:ext>
            </a:extLst>
          </p:cNvPr>
          <p:cNvSpPr txBox="1">
            <a:spLocks/>
          </p:cNvSpPr>
          <p:nvPr/>
        </p:nvSpPr>
        <p:spPr>
          <a:xfrm>
            <a:off x="5780259" y="794627"/>
            <a:ext cx="3455181" cy="8878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Symbol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9F13CFF-6ABD-653A-D050-4227149A8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038462"/>
              </p:ext>
            </p:extLst>
          </p:nvPr>
        </p:nvGraphicFramePr>
        <p:xfrm>
          <a:off x="6097488" y="2703156"/>
          <a:ext cx="2995257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8419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998419">
                  <a:extLst>
                    <a:ext uri="{9D8B030D-6E8A-4147-A177-3AD203B41FA5}">
                      <a16:colId xmlns:a16="http://schemas.microsoft.com/office/drawing/2014/main" val="652543126"/>
                    </a:ext>
                  </a:extLst>
                </a:gridCol>
                <a:gridCol w="998419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err="1"/>
                        <a:t>In_A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In_B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Out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040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92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79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027083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F1D809-0032-1FA5-055A-33A758A88FDC}"/>
              </a:ext>
            </a:extLst>
          </p:cNvPr>
          <p:cNvSpPr txBox="1">
            <a:spLocks/>
          </p:cNvSpPr>
          <p:nvPr/>
        </p:nvSpPr>
        <p:spPr>
          <a:xfrm>
            <a:off x="462670" y="4992625"/>
            <a:ext cx="4632334" cy="131673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Assembly Instructions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ORR{S} 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;Rd=Rn|op2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4E141B-B71B-BDE0-352E-FDEBD17FC8AE}"/>
              </a:ext>
            </a:extLst>
          </p:cNvPr>
          <p:cNvSpPr txBox="1">
            <a:spLocks/>
          </p:cNvSpPr>
          <p:nvPr/>
        </p:nvSpPr>
        <p:spPr>
          <a:xfrm>
            <a:off x="304799" y="794627"/>
            <a:ext cx="3663697" cy="8878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Symbol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23E8A7-C594-C0EA-E15B-6F361AF6A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665175"/>
              </p:ext>
            </p:extLst>
          </p:nvPr>
        </p:nvGraphicFramePr>
        <p:xfrm>
          <a:off x="622028" y="2703156"/>
          <a:ext cx="2995257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8419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998419">
                  <a:extLst>
                    <a:ext uri="{9D8B030D-6E8A-4147-A177-3AD203B41FA5}">
                      <a16:colId xmlns:a16="http://schemas.microsoft.com/office/drawing/2014/main" val="652543126"/>
                    </a:ext>
                  </a:extLst>
                </a:gridCol>
                <a:gridCol w="998419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err="1"/>
                        <a:t>In_A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In_B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Out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040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92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79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027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693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9DFB0-8794-BF5D-DC4F-9C1FCAB5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E7EA4BC-9476-F624-82FF-FE9873CD44B9}"/>
              </a:ext>
            </a:extLst>
          </p:cNvPr>
          <p:cNvGrpSpPr/>
          <p:nvPr/>
        </p:nvGrpSpPr>
        <p:grpSpPr>
          <a:xfrm>
            <a:off x="6284780" y="1293212"/>
            <a:ext cx="3154616" cy="1499617"/>
            <a:chOff x="6284780" y="1585820"/>
            <a:chExt cx="3154616" cy="1499617"/>
          </a:xfrm>
        </p:grpSpPr>
        <p:pic>
          <p:nvPicPr>
            <p:cNvPr id="18" name="Picture 2" descr="Introduction to digital logic • EgoMachines">
              <a:extLst>
                <a:ext uri="{FF2B5EF4-FFF2-40B4-BE49-F238E27FC236}">
                  <a16:creationId xmlns:a16="http://schemas.microsoft.com/office/drawing/2014/main" id="{D607D97F-48EF-F25E-E4E5-2AEDE02892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866" r="65198" b="52267"/>
            <a:stretch/>
          </p:blipFill>
          <p:spPr bwMode="auto">
            <a:xfrm>
              <a:off x="6284780" y="1585820"/>
              <a:ext cx="3154616" cy="1499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2BC63D7-6D16-7A8D-0054-5E46E64D7BFF}"/>
                </a:ext>
              </a:extLst>
            </p:cNvPr>
            <p:cNvSpPr/>
            <p:nvPr/>
          </p:nvSpPr>
          <p:spPr bwMode="auto">
            <a:xfrm>
              <a:off x="6894290" y="2441319"/>
              <a:ext cx="255843" cy="259007"/>
            </a:xfrm>
            <a:prstGeom prst="ellipse">
              <a:avLst/>
            </a:prstGeom>
            <a:solidFill>
              <a:srgbClr val="FFFFFF"/>
            </a:solidFill>
            <a:ln w="571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339725" marR="0" indent="-339725" algn="l" defTabSz="4572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C68F98C-2F64-AFF0-0467-F301BAADB32A}"/>
              </a:ext>
            </a:extLst>
          </p:cNvPr>
          <p:cNvGrpSpPr/>
          <p:nvPr/>
        </p:nvGrpSpPr>
        <p:grpSpPr>
          <a:xfrm>
            <a:off x="462671" y="1266681"/>
            <a:ext cx="3154616" cy="1499616"/>
            <a:chOff x="462671" y="1559289"/>
            <a:chExt cx="3154616" cy="1499616"/>
          </a:xfrm>
        </p:grpSpPr>
        <p:pic>
          <p:nvPicPr>
            <p:cNvPr id="3" name="Picture 2" descr="Introduction to digital logic • EgoMachines">
              <a:extLst>
                <a:ext uri="{FF2B5EF4-FFF2-40B4-BE49-F238E27FC236}">
                  <a16:creationId xmlns:a16="http://schemas.microsoft.com/office/drawing/2014/main" id="{C1AC0BE9-DC46-C82A-4236-ACF30F80A6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98" b="78133"/>
            <a:stretch/>
          </p:blipFill>
          <p:spPr bwMode="auto">
            <a:xfrm>
              <a:off x="462671" y="1559289"/>
              <a:ext cx="3154616" cy="1499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61584F5-49A9-C631-E710-76F978ACC3D8}"/>
                </a:ext>
              </a:extLst>
            </p:cNvPr>
            <p:cNvSpPr/>
            <p:nvPr/>
          </p:nvSpPr>
          <p:spPr bwMode="auto">
            <a:xfrm>
              <a:off x="1097279" y="2435324"/>
              <a:ext cx="255843" cy="259007"/>
            </a:xfrm>
            <a:prstGeom prst="ellipse">
              <a:avLst/>
            </a:prstGeom>
            <a:solidFill>
              <a:srgbClr val="FFFFFF"/>
            </a:solidFill>
            <a:ln w="571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339725" marR="0" indent="-339725" algn="l" defTabSz="4572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300ABD-FA60-AF72-8F0B-6D7C3B4B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37251"/>
            <a:ext cx="5163313" cy="457200"/>
          </a:xfrm>
        </p:spPr>
        <p:txBody>
          <a:bodyPr/>
          <a:lstStyle/>
          <a:p>
            <a:r>
              <a:rPr lang="en-US" dirty="0"/>
              <a:t>BIT Clear Truth Table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8E4495-AA4D-1728-FBC6-5741BF355880}"/>
              </a:ext>
            </a:extLst>
          </p:cNvPr>
          <p:cNvSpPr txBox="1">
            <a:spLocks/>
          </p:cNvSpPr>
          <p:nvPr/>
        </p:nvSpPr>
        <p:spPr>
          <a:xfrm>
            <a:off x="462671" y="5011406"/>
            <a:ext cx="4328785" cy="131673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Assembly Instructions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BIC{S} 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;Rd=Rn&amp;(~op2)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562CC0-1D89-6439-0835-A6CC42E75737}"/>
              </a:ext>
            </a:extLst>
          </p:cNvPr>
          <p:cNvSpPr txBox="1">
            <a:spLocks/>
          </p:cNvSpPr>
          <p:nvPr/>
        </p:nvSpPr>
        <p:spPr>
          <a:xfrm>
            <a:off x="304800" y="813408"/>
            <a:ext cx="3343396" cy="8878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Symbol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730EF96-BD35-BFC2-1BB1-50B61082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614163"/>
              </p:ext>
            </p:extLst>
          </p:nvPr>
        </p:nvGraphicFramePr>
        <p:xfrm>
          <a:off x="622029" y="2721937"/>
          <a:ext cx="2995257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8419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998419">
                  <a:extLst>
                    <a:ext uri="{9D8B030D-6E8A-4147-A177-3AD203B41FA5}">
                      <a16:colId xmlns:a16="http://schemas.microsoft.com/office/drawing/2014/main" val="652543126"/>
                    </a:ext>
                  </a:extLst>
                </a:gridCol>
                <a:gridCol w="998419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err="1"/>
                        <a:t>In_A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In_B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Out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040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92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79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027083"/>
                  </a:ext>
                </a:extLst>
              </a:tr>
            </a:tbl>
          </a:graphicData>
        </a:graphic>
      </p:graphicFrame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A9D24A8-E17E-7847-4B60-5AA21C7C4881}"/>
              </a:ext>
            </a:extLst>
          </p:cNvPr>
          <p:cNvSpPr txBox="1">
            <a:spLocks/>
          </p:cNvSpPr>
          <p:nvPr/>
        </p:nvSpPr>
        <p:spPr>
          <a:xfrm>
            <a:off x="6205102" y="5010913"/>
            <a:ext cx="4328785" cy="131673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Assembly Instructions</a:t>
            </a:r>
          </a:p>
          <a:p>
            <a:pPr marL="0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ORN{S} 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;Rd=Rn|(~op2)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58E4E5-6EE1-B1FD-1BF9-B5D5373156DC}"/>
              </a:ext>
            </a:extLst>
          </p:cNvPr>
          <p:cNvSpPr txBox="1">
            <a:spLocks/>
          </p:cNvSpPr>
          <p:nvPr/>
        </p:nvSpPr>
        <p:spPr>
          <a:xfrm>
            <a:off x="6047231" y="812915"/>
            <a:ext cx="3392165" cy="88786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altLang="zh-CN" kern="0" dirty="0"/>
              <a:t>Symbol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0C4D95C-A3EE-301D-0900-9A0F4EDFC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861045"/>
              </p:ext>
            </p:extLst>
          </p:nvPr>
        </p:nvGraphicFramePr>
        <p:xfrm>
          <a:off x="6364460" y="2721444"/>
          <a:ext cx="2995257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8419">
                  <a:extLst>
                    <a:ext uri="{9D8B030D-6E8A-4147-A177-3AD203B41FA5}">
                      <a16:colId xmlns:a16="http://schemas.microsoft.com/office/drawing/2014/main" val="3648925529"/>
                    </a:ext>
                  </a:extLst>
                </a:gridCol>
                <a:gridCol w="998419">
                  <a:extLst>
                    <a:ext uri="{9D8B030D-6E8A-4147-A177-3AD203B41FA5}">
                      <a16:colId xmlns:a16="http://schemas.microsoft.com/office/drawing/2014/main" val="652543126"/>
                    </a:ext>
                  </a:extLst>
                </a:gridCol>
                <a:gridCol w="998419">
                  <a:extLst>
                    <a:ext uri="{9D8B030D-6E8A-4147-A177-3AD203B41FA5}">
                      <a16:colId xmlns:a16="http://schemas.microsoft.com/office/drawing/2014/main" val="4222583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err="1"/>
                        <a:t>In_A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In_B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Out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58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040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921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79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027083"/>
                  </a:ext>
                </a:extLst>
              </a:tr>
            </a:tbl>
          </a:graphicData>
        </a:graphic>
      </p:graphicFrame>
      <p:sp>
        <p:nvSpPr>
          <p:cNvPr id="24" name="Title 1">
            <a:extLst>
              <a:ext uri="{FF2B5EF4-FFF2-40B4-BE49-F238E27FC236}">
                <a16:creationId xmlns:a16="http://schemas.microsoft.com/office/drawing/2014/main" id="{6F50E99E-1AE1-7D1D-08D1-99EAF85D948B}"/>
              </a:ext>
            </a:extLst>
          </p:cNvPr>
          <p:cNvSpPr txBox="1">
            <a:spLocks/>
          </p:cNvSpPr>
          <p:nvPr/>
        </p:nvSpPr>
        <p:spPr bwMode="auto">
          <a:xfrm>
            <a:off x="6047231" y="237251"/>
            <a:ext cx="5163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5pPr>
            <a:lvl6pPr marL="457189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377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r>
              <a:rPr lang="en-US" kern="0" dirty="0"/>
              <a:t>OR NOT Truth Table</a:t>
            </a:r>
          </a:p>
        </p:txBody>
      </p:sp>
    </p:spTree>
    <p:extLst>
      <p:ext uri="{BB962C8B-B14F-4D97-AF65-F5344CB8AC3E}">
        <p14:creationId xmlns:p14="http://schemas.microsoft.com/office/powerpoint/2010/main" val="2198566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1AA4C-4EAA-3C46-530A-3BAD84F6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7B9A-BE24-042A-7374-4EB7F9D6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37251"/>
            <a:ext cx="5163313" cy="457200"/>
          </a:xfrm>
        </p:spPr>
        <p:txBody>
          <a:bodyPr/>
          <a:lstStyle/>
          <a:p>
            <a:r>
              <a:rPr lang="en-US" dirty="0"/>
              <a:t>Quick Quiz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6D6F36-ADCF-FAC9-E13C-DB9C64E1F60F}"/>
              </a:ext>
            </a:extLst>
          </p:cNvPr>
          <p:cNvSpPr txBox="1">
            <a:spLocks/>
          </p:cNvSpPr>
          <p:nvPr/>
        </p:nvSpPr>
        <p:spPr>
          <a:xfrm>
            <a:off x="304800" y="954956"/>
            <a:ext cx="7120128" cy="411082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How do you …?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FF0000"/>
                </a:solidFill>
              </a:rPr>
              <a:t>SET</a:t>
            </a:r>
            <a:r>
              <a:rPr lang="en-US" kern="0" dirty="0"/>
              <a:t> specific bits (to True) in a register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/>
              <a:t> 2 Ways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FF0000"/>
                </a:solidFill>
              </a:rPr>
              <a:t>CLEAR</a:t>
            </a:r>
            <a:r>
              <a:rPr lang="en-US" kern="0" dirty="0"/>
              <a:t> specific bits (to False) in a register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/>
              <a:t> 2 Ways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kern="0" dirty="0">
                <a:solidFill>
                  <a:srgbClr val="FF0000"/>
                </a:solidFill>
              </a:rPr>
              <a:t>Toggle</a:t>
            </a:r>
            <a:r>
              <a:rPr lang="en-US" kern="0" dirty="0"/>
              <a:t> (flip) bits in a register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/>
              <a:t> 2 Ways </a:t>
            </a:r>
          </a:p>
          <a:p>
            <a:pPr lvl="2">
              <a:buFont typeface="Wingdings" panose="05000000000000000000" pitchFamily="2" charset="2"/>
              <a:buChar char="v"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290642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0C818-3F09-52D9-1674-F7DAED45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53E1-5CA3-97E0-2CDD-FF522DF8A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37251"/>
            <a:ext cx="5163313" cy="457200"/>
          </a:xfrm>
        </p:spPr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19197B-82F3-5E2C-6629-FEDF41FF6D6F}"/>
              </a:ext>
            </a:extLst>
          </p:cNvPr>
          <p:cNvSpPr txBox="1">
            <a:spLocks/>
          </p:cNvSpPr>
          <p:nvPr/>
        </p:nvSpPr>
        <p:spPr>
          <a:xfrm>
            <a:off x="304800" y="954956"/>
            <a:ext cx="7120128" cy="411082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Logical operations without setting flags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R4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0xFF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R5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ORR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R6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EOR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R7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BIC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R8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ORN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R9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CE55BC-18C4-C58D-4D3F-F85B6955B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908069"/>
              </p:ext>
            </p:extLst>
          </p:nvPr>
        </p:nvGraphicFramePr>
        <p:xfrm>
          <a:off x="6629400" y="1264920"/>
          <a:ext cx="4800600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551">
                  <a:extLst>
                    <a:ext uri="{9D8B030D-6E8A-4147-A177-3AD203B41FA5}">
                      <a16:colId xmlns:a16="http://schemas.microsoft.com/office/drawing/2014/main" val="3031398481"/>
                    </a:ext>
                  </a:extLst>
                </a:gridCol>
                <a:gridCol w="3592049">
                  <a:extLst>
                    <a:ext uri="{9D8B030D-6E8A-4147-A177-3AD203B41FA5}">
                      <a16:colId xmlns:a16="http://schemas.microsoft.com/office/drawing/2014/main" val="32115526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0000…0101 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33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0000…1101 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04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0000…0111 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8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0000…1111 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035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934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801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672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915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94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715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839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6D71-4E35-D221-7839-3A7DD367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046AB-B87C-AF21-1DB9-6EF58704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37250"/>
            <a:ext cx="7772401" cy="467599"/>
          </a:xfrm>
        </p:spPr>
        <p:txBody>
          <a:bodyPr/>
          <a:lstStyle/>
          <a:p>
            <a:r>
              <a:rPr lang="en-US" dirty="0"/>
              <a:t>Logical Operations Recap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939C6F-EAA6-B6DF-2233-2D90B771DCE4}"/>
              </a:ext>
            </a:extLst>
          </p:cNvPr>
          <p:cNvSpPr txBox="1">
            <a:spLocks/>
          </p:cNvSpPr>
          <p:nvPr/>
        </p:nvSpPr>
        <p:spPr>
          <a:xfrm>
            <a:off x="304800" y="3981450"/>
            <a:ext cx="11125202" cy="2639300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Logical operations</a:t>
            </a:r>
          </a:p>
          <a:p>
            <a:pPr marL="457188" lvl="1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AND{S} 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;Rd=Rn&amp;op2, Clear bits where B=0</a:t>
            </a:r>
          </a:p>
          <a:p>
            <a:pPr marL="457188" lvl="1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ORR{S} 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;Rd=Rn|op2, Set bits where B=1</a:t>
            </a:r>
          </a:p>
          <a:p>
            <a:pPr marL="457188" lvl="1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EOR{S} 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;Rd=Rn^op2, Toggle bits where B=1</a:t>
            </a:r>
          </a:p>
          <a:p>
            <a:pPr marL="457188" lvl="1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BIC{S} 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;Rd=Rn&amp;(~op2), Clear bits where B=1</a:t>
            </a:r>
          </a:p>
          <a:p>
            <a:pPr marL="457188" lvl="1" indent="0">
              <a:buNone/>
            </a:pP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ORN{S} {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,} 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&lt;op2&gt;</a:t>
            </a:r>
            <a:r>
              <a:rPr lang="en-US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;Rd=Rn|(~op2), Set bits where B=0</a:t>
            </a:r>
            <a:endParaRPr lang="en-US" kern="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84BF69-91BA-81C9-8026-5C16E78FF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372177"/>
              </p:ext>
            </p:extLst>
          </p:nvPr>
        </p:nvGraphicFramePr>
        <p:xfrm>
          <a:off x="304799" y="902970"/>
          <a:ext cx="11125203" cy="301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1">
                  <a:extLst>
                    <a:ext uri="{9D8B030D-6E8A-4147-A177-3AD203B41FA5}">
                      <a16:colId xmlns:a16="http://schemas.microsoft.com/office/drawing/2014/main" val="303139848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626017880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211552665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60438112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344730516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1549631198"/>
                    </a:ext>
                  </a:extLst>
                </a:gridCol>
                <a:gridCol w="1619252">
                  <a:extLst>
                    <a:ext uri="{9D8B030D-6E8A-4147-A177-3AD203B41FA5}">
                      <a16:colId xmlns:a16="http://schemas.microsoft.com/office/drawing/2014/main" val="1389027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  <a:p>
                      <a:pPr algn="ctr"/>
                      <a:r>
                        <a:rPr lang="en-US" sz="2400" dirty="0"/>
                        <a:t>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  <a:p>
                      <a:pPr algn="ctr"/>
                      <a:r>
                        <a:rPr lang="en-US" sz="2400" dirty="0"/>
                        <a:t>Operand2 </a:t>
                      </a:r>
                    </a:p>
                    <a:p>
                      <a:pPr algn="ctr"/>
                      <a:r>
                        <a:rPr lang="en-US" sz="2400" dirty="0"/>
                        <a:t>(Mask)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A&amp;B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A|B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ORR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A^B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EOR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A&amp;(~B)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BIC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A|(~B)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ORN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133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04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98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035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116147"/>
      </p:ext>
    </p:extLst>
  </p:cSld>
  <p:clrMapOvr>
    <a:masterClrMapping/>
  </p:clrMapOvr>
</p:sld>
</file>

<file path=ppt/theme/theme1.xml><?xml version="1.0" encoding="utf-8"?>
<a:theme xmlns:a="http://schemas.openxmlformats.org/drawingml/2006/main" name="UH ECOM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PS.potx" id="{CE41128D-6EB0-4D0A-BE39-61CAA54AB745}" vid="{38FD15AE-3AD1-4AD1-AA2E-47F4A362D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2FB37E47E1D843BC52574BCDE96A0F" ma:contentTypeVersion="3" ma:contentTypeDescription="Create a new document." ma:contentTypeScope="" ma:versionID="876989e2c60c7ad05a5017c76f23c2ec">
  <xsd:schema xmlns:xsd="http://www.w3.org/2001/XMLSchema" xmlns:xs="http://www.w3.org/2001/XMLSchema" xmlns:p="http://schemas.microsoft.com/office/2006/metadata/properties" xmlns:ns2="e099cec4-e547-44fa-ac68-43ad6ea61fbb" targetNamespace="http://schemas.microsoft.com/office/2006/metadata/properties" ma:root="true" ma:fieldsID="66e5c7ed2332263e707c3b4990332721" ns2:_="">
    <xsd:import namespace="e099cec4-e547-44fa-ac68-43ad6ea61f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9cec4-e547-44fa-ac68-43ad6ea61f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62A9B4-D086-4AC8-B502-5387049C7287}"/>
</file>

<file path=customXml/itemProps2.xml><?xml version="1.0" encoding="utf-8"?>
<ds:datastoreItem xmlns:ds="http://schemas.openxmlformats.org/officeDocument/2006/customXml" ds:itemID="{6B41FCCA-27C6-4406-8E82-B72CD1854EEE}"/>
</file>

<file path=customXml/itemProps3.xml><?xml version="1.0" encoding="utf-8"?>
<ds:datastoreItem xmlns:ds="http://schemas.openxmlformats.org/officeDocument/2006/customXml" ds:itemID="{184A7FDA-1EF9-4BD4-8DC9-E05C0049D2BD}"/>
</file>

<file path=docProps/app.xml><?xml version="1.0" encoding="utf-8"?>
<Properties xmlns="http://schemas.openxmlformats.org/officeDocument/2006/extended-properties" xmlns:vt="http://schemas.openxmlformats.org/officeDocument/2006/docPropsVTypes">
  <Template>APS</Template>
  <TotalTime>4114</TotalTime>
  <Words>1500</Words>
  <Application>Microsoft Office PowerPoint</Application>
  <PresentationFormat>Widescreen</PresentationFormat>
  <Paragraphs>670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Milo Medium</vt:lpstr>
      <vt:lpstr>Arial</vt:lpstr>
      <vt:lpstr>Calibri</vt:lpstr>
      <vt:lpstr>Consolas</vt:lpstr>
      <vt:lpstr>Courier New</vt:lpstr>
      <vt:lpstr>Wingdings</vt:lpstr>
      <vt:lpstr>UH ECOMS</vt:lpstr>
      <vt:lpstr>ECE 3436 Microprocessor Systems  Notes 5a: Shift, Rotate, &amp; Logical Operations </vt:lpstr>
      <vt:lpstr>Today’s agenda in ECE 3436</vt:lpstr>
      <vt:lpstr>Shift instructions</vt:lpstr>
      <vt:lpstr>Shift instructions</vt:lpstr>
      <vt:lpstr>Shift instructions</vt:lpstr>
      <vt:lpstr>Shift Multiplication (LSL)</vt:lpstr>
      <vt:lpstr>Shift Multiplication (LSL)</vt:lpstr>
      <vt:lpstr>Shift Multiplication (LSL)</vt:lpstr>
      <vt:lpstr>Unsigned Shift Division (LSR) </vt:lpstr>
      <vt:lpstr>Unsigned Shift Division (LSR)</vt:lpstr>
      <vt:lpstr>Unsigned Shift Division (LSR)</vt:lpstr>
      <vt:lpstr>Signed Shift Division (ASR) </vt:lpstr>
      <vt:lpstr>Signed Shift Division (ASR)</vt:lpstr>
      <vt:lpstr>Signed Shift Division (ASR)</vt:lpstr>
      <vt:lpstr>Shift Operations w/carry bit</vt:lpstr>
      <vt:lpstr>Rotate operations</vt:lpstr>
      <vt:lpstr>Rotate Operations</vt:lpstr>
      <vt:lpstr>Inverter (Not) Truth Table</vt:lpstr>
      <vt:lpstr>OR Truth Table</vt:lpstr>
      <vt:lpstr>BIT Clear Truth Table</vt:lpstr>
      <vt:lpstr>Quick Quiz</vt:lpstr>
      <vt:lpstr>PRACTICE</vt:lpstr>
      <vt:lpstr>Logical Operations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RF-induced Heating Comparison between TEM and Birdcage Coils for Circular External Fixator</dc:title>
  <dc:creator>Jianfeng</dc:creator>
  <cp:lastModifiedBy>Zheng, Jianfeng</cp:lastModifiedBy>
  <cp:revision>1156</cp:revision>
  <dcterms:created xsi:type="dcterms:W3CDTF">2017-07-10T15:25:03Z</dcterms:created>
  <dcterms:modified xsi:type="dcterms:W3CDTF">2026-02-17T21:40:15Z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0x010100B62FB37E47E1D843BC52574BCDE96A0F</vt:lpwstr>
  </property>
</Properties>
</file>