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82" r:id="rId1"/>
  </p:sldMasterIdLst>
  <p:notesMasterIdLst>
    <p:notesMasterId r:id="rId48"/>
  </p:notesMasterIdLst>
  <p:handoutMasterIdLst>
    <p:handoutMasterId r:id="rId49"/>
  </p:handoutMasterIdLst>
  <p:sldIdLst>
    <p:sldId id="515" r:id="rId2"/>
    <p:sldId id="552" r:id="rId3"/>
    <p:sldId id="516" r:id="rId4"/>
    <p:sldId id="517" r:id="rId5"/>
    <p:sldId id="518" r:id="rId6"/>
    <p:sldId id="523" r:id="rId7"/>
    <p:sldId id="526" r:id="rId8"/>
    <p:sldId id="524" r:id="rId9"/>
    <p:sldId id="525" r:id="rId10"/>
    <p:sldId id="519" r:id="rId11"/>
    <p:sldId id="529" r:id="rId12"/>
    <p:sldId id="520" r:id="rId13"/>
    <p:sldId id="532" r:id="rId14"/>
    <p:sldId id="530" r:id="rId15"/>
    <p:sldId id="533" r:id="rId16"/>
    <p:sldId id="534" r:id="rId17"/>
    <p:sldId id="535" r:id="rId18"/>
    <p:sldId id="536" r:id="rId19"/>
    <p:sldId id="537" r:id="rId20"/>
    <p:sldId id="538" r:id="rId21"/>
    <p:sldId id="542" r:id="rId22"/>
    <p:sldId id="543" r:id="rId23"/>
    <p:sldId id="544" r:id="rId24"/>
    <p:sldId id="521" r:id="rId25"/>
    <p:sldId id="545" r:id="rId26"/>
    <p:sldId id="546" r:id="rId27"/>
    <p:sldId id="547" r:id="rId28"/>
    <p:sldId id="548" r:id="rId29"/>
    <p:sldId id="549" r:id="rId30"/>
    <p:sldId id="550" r:id="rId31"/>
    <p:sldId id="553" r:id="rId32"/>
    <p:sldId id="554" r:id="rId33"/>
    <p:sldId id="531" r:id="rId34"/>
    <p:sldId id="555" r:id="rId35"/>
    <p:sldId id="556" r:id="rId36"/>
    <p:sldId id="559" r:id="rId37"/>
    <p:sldId id="562" r:id="rId38"/>
    <p:sldId id="564" r:id="rId39"/>
    <p:sldId id="565" r:id="rId40"/>
    <p:sldId id="558" r:id="rId41"/>
    <p:sldId id="566" r:id="rId42"/>
    <p:sldId id="567" r:id="rId43"/>
    <p:sldId id="568" r:id="rId44"/>
    <p:sldId id="522" r:id="rId45"/>
    <p:sldId id="561" r:id="rId46"/>
    <p:sldId id="560" r:id="rId4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C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671" autoAdjust="0"/>
  </p:normalViewPr>
  <p:slideViewPr>
    <p:cSldViewPr>
      <p:cViewPr varScale="1">
        <p:scale>
          <a:sx n="87" d="100"/>
          <a:sy n="87" d="100"/>
        </p:scale>
        <p:origin x="-1062" y="-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r>
              <a:rPr lang="en-US"/>
              <a:t>Engineering Fundamentals - An Introduction to Engineering</a:t>
            </a:r>
          </a:p>
        </p:txBody>
      </p:sp>
      <p:sp>
        <p:nvSpPr>
          <p:cNvPr id="3072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072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r>
              <a:rPr lang="en-US" dirty="0"/>
              <a:t>©2011 Cengage Learning Engineering. All Rights Reserved. </a:t>
            </a:r>
          </a:p>
        </p:txBody>
      </p:sp>
      <p:sp>
        <p:nvSpPr>
          <p:cNvPr id="3072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BF25AC6-2336-4B42-B7AB-448B1D85F523}" type="slidenum">
              <a:rPr lang="en-US"/>
              <a:pPr>
                <a:defRPr/>
              </a:pPr>
              <a:t>‹#›</a:t>
            </a:fld>
            <a:endParaRPr lang="en-US"/>
          </a:p>
        </p:txBody>
      </p:sp>
    </p:spTree>
    <p:extLst>
      <p:ext uri="{BB962C8B-B14F-4D97-AF65-F5344CB8AC3E}">
        <p14:creationId xmlns:p14="http://schemas.microsoft.com/office/powerpoint/2010/main" val="26322081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r>
              <a:rPr lang="en-US"/>
              <a:t>Engineering Fundamentals - An Introduction to Engineering</a:t>
            </a:r>
          </a:p>
        </p:txBody>
      </p:sp>
      <p:sp>
        <p:nvSpPr>
          <p:cNvPr id="40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201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r>
              <a:rPr lang="en-US" dirty="0"/>
              <a:t>©2011 Cengage Learning Engineering. All Rights Reserved. </a:t>
            </a:r>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5A633749-6353-4824-94F5-2306CA13CC75}" type="slidenum">
              <a:rPr lang="en-US"/>
              <a:pPr>
                <a:defRPr/>
              </a:pPr>
              <a:t>‹#›</a:t>
            </a:fld>
            <a:endParaRPr lang="en-US"/>
          </a:p>
        </p:txBody>
      </p:sp>
    </p:spTree>
    <p:extLst>
      <p:ext uri="{BB962C8B-B14F-4D97-AF65-F5344CB8AC3E}">
        <p14:creationId xmlns:p14="http://schemas.microsoft.com/office/powerpoint/2010/main" val="2075892068"/>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167640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49998" y="583811"/>
            <a:ext cx="867454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914400"/>
            <a:ext cx="7776972" cy="1295400"/>
          </a:xfrm>
        </p:spPr>
        <p:txBody>
          <a:bodyPr anchor="t">
            <a:normAutofit/>
          </a:bodyPr>
          <a:lstStyle>
            <a:lvl1pPr>
              <a:defRPr sz="36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2514600"/>
            <a:ext cx="7848600" cy="3643674"/>
          </a:xfrm>
        </p:spPr>
        <p:txBody>
          <a:bodyPr>
            <a:normAutofit/>
          </a:bodyPr>
          <a:lstStyle>
            <a:lvl1pPr marL="0" indent="0" algn="ctr">
              <a:buNone/>
              <a:defRPr sz="20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a:xfrm>
            <a:off x="7381009" y="6321136"/>
            <a:ext cx="1161826" cy="365125"/>
          </a:xfrm>
        </p:spPr>
        <p:txBody>
          <a:bodyPr/>
          <a:lstStyle/>
          <a:p>
            <a:pPr>
              <a:defRPr/>
            </a:pPr>
            <a:fld id="{9A317C8B-6CCA-49DE-8503-CB6169078CD9}" type="slidenum">
              <a:rPr lang="en-US" smtClean="0"/>
              <a:pPr>
                <a:defRPr/>
              </a:pPr>
              <a:t>‹#›</a:t>
            </a:fld>
            <a:endParaRPr lang="en-US"/>
          </a:p>
        </p:txBody>
      </p:sp>
      <p:sp>
        <p:nvSpPr>
          <p:cNvPr id="17" name="TextBox 16"/>
          <p:cNvSpPr txBox="1"/>
          <p:nvPr userDrawn="1"/>
        </p:nvSpPr>
        <p:spPr>
          <a:xfrm>
            <a:off x="249998" y="228600"/>
            <a:ext cx="8636374" cy="276999"/>
          </a:xfrm>
          <a:prstGeom prst="rect">
            <a:avLst/>
          </a:prstGeom>
          <a:noFill/>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Verdana" panose="020B0604030504040204" pitchFamily="34" charset="0"/>
                <a:ea typeface="Verdana" panose="020B0604030504040204" pitchFamily="34" charset="0"/>
                <a:cs typeface="Verdana" panose="020B0604030504040204" pitchFamily="34" charset="0"/>
              </a:rPr>
              <a:t>Fundamentals</a:t>
            </a:r>
            <a:r>
              <a:rPr lang="en-US" sz="1200" baseline="0" dirty="0" smtClean="0">
                <a:latin typeface="Verdana" panose="020B0604030504040204" pitchFamily="34" charset="0"/>
                <a:ea typeface="Verdana" panose="020B0604030504040204" pitchFamily="34" charset="0"/>
                <a:cs typeface="Verdana" panose="020B0604030504040204" pitchFamily="34" charset="0"/>
              </a:rPr>
              <a:t> of Logic Design, 7</a:t>
            </a:r>
            <a:r>
              <a:rPr lang="en-US" sz="1200" baseline="30000" dirty="0" smtClean="0">
                <a:latin typeface="Verdana" panose="020B0604030504040204" pitchFamily="34" charset="0"/>
                <a:ea typeface="Verdana" panose="020B0604030504040204" pitchFamily="34" charset="0"/>
                <a:cs typeface="Verdana" panose="020B0604030504040204" pitchFamily="34" charset="0"/>
              </a:rPr>
              <a:t>th</a:t>
            </a:r>
            <a:r>
              <a:rPr lang="en-US" sz="1200" baseline="0" dirty="0" smtClean="0">
                <a:latin typeface="Verdana" panose="020B0604030504040204" pitchFamily="34" charset="0"/>
                <a:ea typeface="Verdana" panose="020B0604030504040204" pitchFamily="34" charset="0"/>
                <a:cs typeface="Verdana" panose="020B0604030504040204" pitchFamily="34" charset="0"/>
              </a:rPr>
              <a:t> edition					Roth/Kinney</a:t>
            </a:r>
            <a:endParaRPr lang="en-US" sz="1200" dirty="0">
              <a:latin typeface="Verdana" panose="020B0604030504040204" pitchFamily="34" charset="0"/>
              <a:ea typeface="Verdana" panose="020B0604030504040204" pitchFamily="34" charset="0"/>
              <a:cs typeface="Verdana" panose="020B0604030504040204" pitchFamily="34" charset="0"/>
            </a:endParaRPr>
          </a:p>
        </p:txBody>
      </p:sp>
      <p:sp>
        <p:nvSpPr>
          <p:cNvPr id="18" name="Rectangle 5"/>
          <p:cNvSpPr txBox="1">
            <a:spLocks noChangeArrowheads="1"/>
          </p:cNvSpPr>
          <p:nvPr userDrawn="1"/>
        </p:nvSpPr>
        <p:spPr bwMode="auto">
          <a:xfrm>
            <a:off x="685800" y="6341918"/>
            <a:ext cx="5791200" cy="365125"/>
          </a:xfrm>
          <a:prstGeom prst="rect">
            <a:avLst/>
          </a:prstGeom>
          <a:noFill/>
          <a:ln>
            <a:miter lim="800000"/>
            <a:headEnd/>
            <a:tailEnd/>
          </a:ln>
        </p:spPr>
        <p:txBody>
          <a:bodyPr vert="horz" wrap="square" lIns="91440" tIns="45720" rIns="91440" bIns="45720" numCol="1" rtlCol="0" anchor="ctr" anchorCtr="0" compatLnSpc="1">
            <a:prstTxWarp prst="textNoShape">
              <a:avLst/>
            </a:prstTxWarp>
          </a:bodyPr>
          <a:lstStyle>
            <a:defPPr>
              <a:defRPr lang="en-US"/>
            </a:defPPr>
            <a:lvl1pPr algn="l" rtl="0" fontAlgn="base">
              <a:spcBef>
                <a:spcPct val="0"/>
              </a:spcBef>
              <a:spcAft>
                <a:spcPct val="0"/>
              </a:spcAft>
              <a:defRPr sz="1000" kern="1200">
                <a:solidFill>
                  <a:schemeClr val="tx2"/>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r>
              <a:rPr lang="en-US" sz="1000" dirty="0" smtClean="0">
                <a:solidFill>
                  <a:schemeClr val="tx1"/>
                </a:solidFill>
              </a:rPr>
              <a:t>© 2014 Cengage Learning Engineering. All Rights Reserved.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p:txBody>
          <a:bodyPr/>
          <a:lstStyle/>
          <a:p>
            <a:pPr>
              <a:defRPr/>
            </a:pPr>
            <a:r>
              <a:rPr lang="en-US" dirty="0" smtClean="0"/>
              <a:t>© 2014 Cengage Learning Engineering. All Rights Reserved. </a:t>
            </a:r>
            <a:endParaRPr lang="en-US" dirty="0"/>
          </a:p>
        </p:txBody>
      </p:sp>
      <p:sp>
        <p:nvSpPr>
          <p:cNvPr id="6" name="Slide Number Placeholder 5"/>
          <p:cNvSpPr>
            <a:spLocks noGrp="1"/>
          </p:cNvSpPr>
          <p:nvPr>
            <p:ph type="sldNum" sz="quarter" idx="12"/>
          </p:nvPr>
        </p:nvSpPr>
        <p:spPr>
          <a:xfrm>
            <a:off x="7593121" y="6248400"/>
            <a:ext cx="1161826" cy="365125"/>
          </a:xfrm>
        </p:spPr>
        <p:txBody>
          <a:bodyPr/>
          <a:lstStyle/>
          <a:p>
            <a:pPr>
              <a:defRPr/>
            </a:pPr>
            <a:fld id="{E00E4866-B08E-48F7-AB9A-999B9985195A}" type="slidenum">
              <a:rPr lang="en-US" smtClean="0"/>
              <a:pPr>
                <a:defRPr/>
              </a:pPr>
              <a:t>‹#›</a:t>
            </a:fld>
            <a:endParaRPr lang="en-US" dirty="0"/>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453385" y="1373253"/>
            <a:ext cx="8229599" cy="1453297"/>
          </a:xfrm>
        </p:spPr>
        <p:txBody>
          <a:bodyPr vert="horz" anchor="ctr">
            <a:normAutofit/>
          </a:bodyPr>
          <a:lstStyle>
            <a:lvl1pPr algn="l">
              <a:defRPr sz="36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57200" y="3048000"/>
            <a:ext cx="8267700" cy="3048000"/>
          </a:xfrm>
        </p:spPr>
        <p:txBody>
          <a:bodyPr vert="horz"/>
          <a:lstStyle>
            <a:lvl1pPr>
              <a:buClr>
                <a:schemeClr val="accent1"/>
              </a:buClr>
              <a:defRPr>
                <a:latin typeface="Verdana" panose="020B0604030504040204" pitchFamily="34" charset="0"/>
                <a:ea typeface="Verdana" panose="020B0604030504040204" pitchFamily="34" charset="0"/>
                <a:cs typeface="Verdana" panose="020B0604030504040204" pitchFamily="34" charset="0"/>
              </a:defRPr>
            </a:lvl1pPr>
            <a:lvl2pPr>
              <a:buClr>
                <a:schemeClr val="accent1"/>
              </a:buClr>
              <a:defRPr>
                <a:latin typeface="Verdana" panose="020B0604030504040204" pitchFamily="34" charset="0"/>
                <a:ea typeface="Verdana" panose="020B0604030504040204" pitchFamily="34" charset="0"/>
                <a:cs typeface="Verdana" panose="020B0604030504040204" pitchFamily="34" charset="0"/>
              </a:defRPr>
            </a:lvl2pPr>
            <a:lvl3pPr>
              <a:buClr>
                <a:schemeClr val="accent1"/>
              </a:buClr>
              <a:defRPr>
                <a:latin typeface="Verdana" panose="020B0604030504040204" pitchFamily="34" charset="0"/>
                <a:ea typeface="Verdana" panose="020B0604030504040204" pitchFamily="34" charset="0"/>
                <a:cs typeface="Verdana" panose="020B0604030504040204" pitchFamily="34" charset="0"/>
              </a:defRPr>
            </a:lvl3pPr>
            <a:lvl4pPr>
              <a:buClr>
                <a:schemeClr val="accent1"/>
              </a:buClr>
              <a:defRPr>
                <a:latin typeface="Verdana" panose="020B0604030504040204" pitchFamily="34" charset="0"/>
                <a:ea typeface="Verdana" panose="020B0604030504040204" pitchFamily="34" charset="0"/>
                <a:cs typeface="Verdana" panose="020B0604030504040204" pitchFamily="34" charset="0"/>
              </a:defRPr>
            </a:lvl4pPr>
            <a:lvl5pPr>
              <a:buClr>
                <a:schemeClr val="accent1"/>
              </a:buClr>
              <a:defRPr>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4" name="TextBox 13"/>
          <p:cNvSpPr txBox="1"/>
          <p:nvPr userDrawn="1"/>
        </p:nvSpPr>
        <p:spPr>
          <a:xfrm>
            <a:off x="249998" y="228600"/>
            <a:ext cx="8636374" cy="276999"/>
          </a:xfrm>
          <a:prstGeom prst="rect">
            <a:avLst/>
          </a:prstGeom>
          <a:noFill/>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Verdana" panose="020B0604030504040204" pitchFamily="34" charset="0"/>
                <a:ea typeface="Verdana" panose="020B0604030504040204" pitchFamily="34" charset="0"/>
                <a:cs typeface="Verdana" panose="020B0604030504040204" pitchFamily="34" charset="0"/>
              </a:rPr>
              <a:t>Fundamentals</a:t>
            </a:r>
            <a:r>
              <a:rPr lang="en-US" sz="1200" baseline="0" dirty="0" smtClean="0">
                <a:latin typeface="Verdana" panose="020B0604030504040204" pitchFamily="34" charset="0"/>
                <a:ea typeface="Verdana" panose="020B0604030504040204" pitchFamily="34" charset="0"/>
                <a:cs typeface="Verdana" panose="020B0604030504040204" pitchFamily="34" charset="0"/>
              </a:rPr>
              <a:t> of Logic Design, 7</a:t>
            </a:r>
            <a:r>
              <a:rPr lang="en-US" sz="1200" baseline="30000" dirty="0" smtClean="0">
                <a:latin typeface="Verdana" panose="020B0604030504040204" pitchFamily="34" charset="0"/>
                <a:ea typeface="Verdana" panose="020B0604030504040204" pitchFamily="34" charset="0"/>
                <a:cs typeface="Verdana" panose="020B0604030504040204" pitchFamily="34" charset="0"/>
              </a:rPr>
              <a:t>th</a:t>
            </a:r>
            <a:r>
              <a:rPr lang="en-US" sz="1200" baseline="0" dirty="0" smtClean="0">
                <a:latin typeface="Verdana" panose="020B0604030504040204" pitchFamily="34" charset="0"/>
                <a:ea typeface="Verdana" panose="020B0604030504040204" pitchFamily="34" charset="0"/>
                <a:cs typeface="Verdana" panose="020B0604030504040204" pitchFamily="34" charset="0"/>
              </a:rPr>
              <a:t> edition					Roth/Kinney</a:t>
            </a:r>
            <a:endParaRPr lang="en-US" sz="1200" dirty="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a:defRPr sz="20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20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20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sz="20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sz="200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pPr>
              <a:defRPr/>
            </a:pPr>
            <a:r>
              <a:rPr lang="en-US" smtClean="0"/>
              <a:t>© 2015 Cengage Learning Engineering. All Rights Reserved. </a:t>
            </a:r>
            <a:endParaRPr lang="en-US" dirty="0"/>
          </a:p>
        </p:txBody>
      </p:sp>
      <p:sp>
        <p:nvSpPr>
          <p:cNvPr id="6" name="Slide Number Placeholder 5"/>
          <p:cNvSpPr>
            <a:spLocks noGrp="1"/>
          </p:cNvSpPr>
          <p:nvPr>
            <p:ph type="sldNum" sz="quarter" idx="12"/>
          </p:nvPr>
        </p:nvSpPr>
        <p:spPr>
          <a:xfrm>
            <a:off x="7772400" y="6248400"/>
            <a:ext cx="1161826" cy="365125"/>
          </a:xfrm>
        </p:spPr>
        <p:txBody>
          <a:bodyPr/>
          <a:lstStyle/>
          <a:p>
            <a:pPr>
              <a:defRPr/>
            </a:pPr>
            <a:fld id="{6CF2B64B-D533-4D11-BEAF-64879B32716C}" type="slidenum">
              <a:rPr lang="en-US" smtClean="0"/>
              <a:pPr>
                <a:defRPr/>
              </a:pPr>
              <a:t>‹#›</a:t>
            </a:fld>
            <a:endParaRPr lang="en-US"/>
          </a:p>
        </p:txBody>
      </p:sp>
      <p:sp>
        <p:nvSpPr>
          <p:cNvPr id="7" name="Title 6"/>
          <p:cNvSpPr>
            <a:spLocks noGrp="1"/>
          </p:cNvSpPr>
          <p:nvPr>
            <p:ph type="title"/>
          </p:nvPr>
        </p:nvSpPr>
        <p:spPr/>
        <p:txBody>
          <a:bodyPr>
            <a:normAutofit/>
          </a:bodyPr>
          <a:lstStyle>
            <a:lvl1pPr>
              <a:defRPr sz="3600"/>
            </a:lvl1pPr>
          </a:lstStyle>
          <a:p>
            <a:r>
              <a:rPr lang="en-US" dirty="0"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smtClean="0"/>
              <a:t>© 2015 Cengage Learning Engineering. All Rights Reserved. </a:t>
            </a:r>
            <a:endParaRPr lang="en-US" dirty="0"/>
          </a:p>
        </p:txBody>
      </p:sp>
      <p:sp>
        <p:nvSpPr>
          <p:cNvPr id="7" name="Slide Number Placeholder 6"/>
          <p:cNvSpPr>
            <a:spLocks noGrp="1"/>
          </p:cNvSpPr>
          <p:nvPr>
            <p:ph type="sldNum" sz="quarter" idx="12"/>
          </p:nvPr>
        </p:nvSpPr>
        <p:spPr/>
        <p:txBody>
          <a:bodyPr/>
          <a:lstStyle/>
          <a:p>
            <a:pPr>
              <a:defRPr/>
            </a:pPr>
            <a:fld id="{E9A81A81-69CC-4B61-9DAD-22D007F12F7A}" type="slidenum">
              <a:rPr lang="en-US" smtClean="0"/>
              <a:pPr>
                <a:defRPr/>
              </a:pPr>
              <a:t>‹#›</a:t>
            </a:fld>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1" name="Content Placeholder 10"/>
          <p:cNvSpPr>
            <a:spLocks noGrp="1"/>
          </p:cNvSpPr>
          <p:nvPr>
            <p:ph sz="quarter" idx="14"/>
          </p:nvPr>
        </p:nvSpPr>
        <p:spPr>
          <a:xfrm>
            <a:off x="4645152"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horz" anchor="t"/>
          <a:lstStyle>
            <a:lvl1pPr algn="l">
              <a:spcBef>
                <a:spcPts val="0"/>
              </a:spcBef>
              <a:defRPr>
                <a:latin typeface="Verdana" panose="020B0604030504040204" pitchFamily="34" charset="0"/>
                <a:ea typeface="Verdana" panose="020B0604030504040204" pitchFamily="34" charset="0"/>
                <a:cs typeface="Verdana" panose="020B0604030504040204" pitchFamily="34" charset="0"/>
              </a:defRPr>
            </a:lvl1pPr>
            <a:lvl2pPr algn="l">
              <a:defRPr>
                <a:latin typeface="Verdana" panose="020B0604030504040204" pitchFamily="34" charset="0"/>
                <a:ea typeface="Verdana" panose="020B0604030504040204" pitchFamily="34" charset="0"/>
                <a:cs typeface="Verdana" panose="020B0604030504040204" pitchFamily="34" charset="0"/>
              </a:defRPr>
            </a:lvl2pPr>
            <a:lvl3pPr algn="l">
              <a:defRPr>
                <a:latin typeface="Verdana" panose="020B0604030504040204" pitchFamily="34" charset="0"/>
                <a:ea typeface="Verdana" panose="020B0604030504040204" pitchFamily="34" charset="0"/>
                <a:cs typeface="Verdana" panose="020B0604030504040204" pitchFamily="34" charset="0"/>
              </a:defRPr>
            </a:lvl3pPr>
            <a:lvl4pPr algn="l">
              <a:defRPr>
                <a:latin typeface="Verdana" panose="020B0604030504040204" pitchFamily="34" charset="0"/>
                <a:ea typeface="Verdana" panose="020B0604030504040204" pitchFamily="34" charset="0"/>
                <a:cs typeface="Verdana" panose="020B0604030504040204" pitchFamily="34" charset="0"/>
              </a:defRPr>
            </a:lvl4pPr>
            <a:lvl5pPr algn="l">
              <a:defRPr>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pPr>
              <a:defRPr/>
            </a:pPr>
            <a:r>
              <a:rPr lang="en-US" smtClean="0"/>
              <a:t>© 2015 Cengage Learning Engineering. All Rights Reserved. </a:t>
            </a:r>
            <a:endParaRPr lang="en-US" dirty="0"/>
          </a:p>
        </p:txBody>
      </p:sp>
      <p:sp>
        <p:nvSpPr>
          <p:cNvPr id="6" name="Slide Number Placeholder 5"/>
          <p:cNvSpPr>
            <a:spLocks noGrp="1"/>
          </p:cNvSpPr>
          <p:nvPr>
            <p:ph type="sldNum" sz="quarter" idx="12"/>
          </p:nvPr>
        </p:nvSpPr>
        <p:spPr>
          <a:xfrm>
            <a:off x="7162800" y="6248400"/>
            <a:ext cx="1161826" cy="365125"/>
          </a:xfrm>
        </p:spPr>
        <p:txBody>
          <a:bodyPr/>
          <a:lstStyle/>
          <a:p>
            <a:pPr>
              <a:defRPr/>
            </a:pPr>
            <a:fld id="{3AB3C744-5926-4D44-9840-116E84E524F4}"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userDrawn="1"/>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pPr>
              <a:defRPr/>
            </a:pPr>
            <a:endParaRPr 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pPr>
              <a:defRPr/>
            </a:pPr>
            <a:r>
              <a:rPr lang="en-US" smtClean="0"/>
              <a:t>© 2015 Cengage Learning Engineering. All Rights Reserved. </a:t>
            </a:r>
            <a:endParaRPr lang="en-US" dirty="0"/>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pPr>
              <a:defRPr/>
            </a:pPr>
            <a:fld id="{70611092-5CFF-4C1B-A322-4AF5B78C5C7C}" type="slidenum">
              <a:rPr lang="en-US" smtClean="0"/>
              <a:pPr>
                <a:defRPr/>
              </a:pPr>
              <a:t>‹#›</a:t>
            </a:fld>
            <a:endParaRPr 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5" name="TextBox 14"/>
          <p:cNvSpPr txBox="1"/>
          <p:nvPr userDrawn="1"/>
        </p:nvSpPr>
        <p:spPr>
          <a:xfrm>
            <a:off x="249998" y="228600"/>
            <a:ext cx="8636374" cy="276999"/>
          </a:xfrm>
          <a:prstGeom prst="rect">
            <a:avLst/>
          </a:prstGeom>
          <a:noFill/>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latin typeface="Verdana" panose="020B0604030504040204" pitchFamily="34" charset="0"/>
                <a:ea typeface="Verdana" panose="020B0604030504040204" pitchFamily="34" charset="0"/>
                <a:cs typeface="Verdana" panose="020B0604030504040204" pitchFamily="34" charset="0"/>
              </a:rPr>
              <a:t>Fundamentals</a:t>
            </a:r>
            <a:r>
              <a:rPr lang="en-US" sz="1200" b="0" baseline="0" dirty="0" smtClean="0">
                <a:latin typeface="Verdana" panose="020B0604030504040204" pitchFamily="34" charset="0"/>
                <a:ea typeface="Verdana" panose="020B0604030504040204" pitchFamily="34" charset="0"/>
                <a:cs typeface="Verdana" panose="020B0604030504040204" pitchFamily="34" charset="0"/>
              </a:rPr>
              <a:t> of Logic Design, 7</a:t>
            </a:r>
            <a:r>
              <a:rPr lang="en-US" sz="1200" b="0" baseline="30000" dirty="0" smtClean="0">
                <a:latin typeface="Verdana" panose="020B0604030504040204" pitchFamily="34" charset="0"/>
                <a:ea typeface="Verdana" panose="020B0604030504040204" pitchFamily="34" charset="0"/>
                <a:cs typeface="Verdana" panose="020B0604030504040204" pitchFamily="34" charset="0"/>
              </a:rPr>
              <a:t>th</a:t>
            </a:r>
            <a:r>
              <a:rPr lang="en-US" sz="1200" b="0" baseline="0" dirty="0" smtClean="0">
                <a:latin typeface="Verdana" panose="020B0604030504040204" pitchFamily="34" charset="0"/>
                <a:ea typeface="Verdana" panose="020B0604030504040204" pitchFamily="34" charset="0"/>
                <a:cs typeface="Verdana" panose="020B0604030504040204" pitchFamily="34" charset="0"/>
              </a:rPr>
              <a:t> edition					Roth/Kinney</a:t>
            </a:r>
            <a:endParaRPr lang="en-US" sz="1200" b="0" dirty="0">
              <a:latin typeface="Verdana" panose="020B0604030504040204" pitchFamily="34" charset="0"/>
              <a:ea typeface="Verdana" panose="020B0604030504040204" pitchFamily="34" charset="0"/>
              <a:cs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4483" r:id="rId1"/>
    <p:sldLayoutId id="2147484493" r:id="rId2"/>
    <p:sldLayoutId id="2147484484" r:id="rId3"/>
    <p:sldLayoutId id="2147484486" r:id="rId4"/>
    <p:sldLayoutId id="2147484492" r:id="rId5"/>
  </p:sldLayoutIdLst>
  <p:hf hdr="0" dt="0"/>
  <p:txStyles>
    <p:titleStyle>
      <a:lvl1pPr algn="ctr" defTabSz="914400" rtl="0" eaLnBrk="1" latinLnBrk="0" hangingPunct="1">
        <a:spcBef>
          <a:spcPct val="0"/>
        </a:spcBef>
        <a:buNone/>
        <a:defRPr sz="3600" kern="1200">
          <a:solidFill>
            <a:srgbClr val="000000"/>
          </a:solidFill>
          <a:latin typeface="Verdana" panose="020B0604030504040204" pitchFamily="34" charset="0"/>
          <a:ea typeface="Verdana" panose="020B0604030504040204" pitchFamily="34" charset="0"/>
          <a:cs typeface="Verdana" panose="020B060403050404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576263" indent="-274320" algn="l" defTabSz="914400" rtl="0" eaLnBrk="1" latinLnBrk="0" hangingPunct="1">
        <a:spcBef>
          <a:spcPct val="20000"/>
        </a:spcBef>
        <a:buClr>
          <a:schemeClr val="accent1"/>
        </a:buClr>
        <a:buSzPct val="100000"/>
        <a:buFont typeface="Symbol" pitchFamily="18" charset="2"/>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143000" indent="-228600" algn="l" defTabSz="914400" rtl="0" eaLnBrk="1" latinLnBrk="0" hangingPunct="1">
        <a:spcBef>
          <a:spcPct val="20000"/>
        </a:spcBef>
        <a:buClr>
          <a:schemeClr val="accent1"/>
        </a:buClr>
        <a:buSzPct val="100000"/>
        <a:buFont typeface="Symbol" pitchFamily="18" charset="2"/>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463040" indent="-228600" algn="l" defTabSz="914400" rtl="0" eaLnBrk="1" latinLnBrk="0" hangingPunct="1">
        <a:spcBef>
          <a:spcPct val="20000"/>
        </a:spcBef>
        <a:buClr>
          <a:schemeClr val="accent1"/>
        </a:buClr>
        <a:buSzPct val="100000"/>
        <a:buFont typeface="Symbol" pitchFamily="18" charset="2"/>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36.emf"/></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9A317C8B-6CCA-49DE-8503-CB6169078CD9}" type="slidenum">
              <a:rPr lang="en-US" smtClean="0"/>
              <a:pPr>
                <a:defRPr/>
              </a:pPr>
              <a:t>1</a:t>
            </a:fld>
            <a:endParaRPr lang="en-US"/>
          </a:p>
        </p:txBody>
      </p:sp>
      <p:sp>
        <p:nvSpPr>
          <p:cNvPr id="10" name="TextBox 7"/>
          <p:cNvSpPr txBox="1">
            <a:spLocks noChangeArrowheads="1"/>
          </p:cNvSpPr>
          <p:nvPr/>
        </p:nvSpPr>
        <p:spPr bwMode="auto">
          <a:xfrm>
            <a:off x="5001491" y="2514600"/>
            <a:ext cx="3124200" cy="1200329"/>
          </a:xfrm>
          <a:prstGeom prst="rect">
            <a:avLst/>
          </a:prstGeom>
          <a:noFill/>
          <a:ln w="9525">
            <a:noFill/>
            <a:miter lim="800000"/>
            <a:headEnd/>
            <a:tailEnd/>
          </a:ln>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Introduction Number Systems and Conversion</a:t>
            </a:r>
          </a:p>
        </p:txBody>
      </p:sp>
      <p:sp>
        <p:nvSpPr>
          <p:cNvPr id="11" name="Title 1"/>
          <p:cNvSpPr txBox="1">
            <a:spLocks/>
          </p:cNvSpPr>
          <p:nvPr/>
        </p:nvSpPr>
        <p:spPr bwMode="auto">
          <a:xfrm>
            <a:off x="5029200" y="1510145"/>
            <a:ext cx="3261918" cy="928255"/>
          </a:xfrm>
          <a:prstGeom prst="rect">
            <a:avLst/>
          </a:prstGeom>
          <a:noFill/>
          <a:ln w="9525">
            <a:noFill/>
            <a:miter lim="800000"/>
            <a:headEnd/>
            <a:tailEnd/>
          </a:ln>
        </p:spPr>
        <p:txBody>
          <a:bodyPr anchor="b"/>
          <a:lstStyle/>
          <a:p>
            <a:pPr eaLnBrk="0" hangingPunct="0">
              <a:defRPr/>
            </a:pPr>
            <a:r>
              <a:rPr lang="en-US" sz="2400" b="1" cap="all" dirty="0" smtClean="0">
                <a:solidFill>
                  <a:schemeClr val="accent6">
                    <a:lumMod val="75000"/>
                  </a:schemeClr>
                </a:solidFill>
                <a:latin typeface="Verdana" panose="020B0604030504040204" pitchFamily="34" charset="0"/>
                <a:ea typeface="Verdana" panose="020B0604030504040204" pitchFamily="34" charset="0"/>
                <a:cs typeface="Verdana" panose="020B0604030504040204" pitchFamily="34" charset="0"/>
              </a:rPr>
              <a:t>Unit 1</a:t>
            </a:r>
            <a:endParaRPr lang="en-US" sz="2400" b="1" cap="all" dirty="0">
              <a:solidFill>
                <a:schemeClr val="accent6">
                  <a:lumMod val="75000"/>
                </a:schemeClr>
              </a:solidFill>
              <a:latin typeface="Verdana" panose="020B0604030504040204" pitchFamily="34" charset="0"/>
              <a:ea typeface="Verdana" panose="020B0604030504040204" pitchFamily="34" charset="0"/>
              <a:cs typeface="Verdana" panose="020B0604030504040204" pitchFamily="34" charset="0"/>
            </a:endParaRPr>
          </a:p>
        </p:txBody>
      </p:sp>
      <p:pic>
        <p:nvPicPr>
          <p:cNvPr id="12" name="Picture 11" descr="C:\Documents and Settings\debarati\My Documents\Cengage logo (new)\Cengage (R) logo.JPG"/>
          <p:cNvPicPr>
            <a:picLocks noChangeAspect="1" noChangeArrowheads="1"/>
          </p:cNvPicPr>
          <p:nvPr/>
        </p:nvPicPr>
        <p:blipFill>
          <a:blip r:embed="rId2" cstate="print"/>
          <a:srcRect/>
          <a:stretch>
            <a:fillRect/>
          </a:stretch>
        </p:blipFill>
        <p:spPr bwMode="auto">
          <a:xfrm>
            <a:off x="8001000" y="6226175"/>
            <a:ext cx="1143000" cy="479425"/>
          </a:xfrm>
          <a:prstGeom prst="rect">
            <a:avLst/>
          </a:prstGeom>
          <a:noFill/>
          <a:ln w="9525">
            <a:noFill/>
            <a:miter lim="800000"/>
            <a:headEnd/>
            <a:tailEnd/>
          </a:ln>
        </p:spPr>
      </p:pic>
      <p:pic>
        <p:nvPicPr>
          <p:cNvPr id="7" name="Picture 2" descr="H:\T DOCS\PPT JPEGS\Roth9781133628477.jpg"/>
          <p:cNvPicPr>
            <a:picLocks noChangeAspect="1" noChangeArrowheads="1"/>
          </p:cNvPicPr>
          <p:nvPr/>
        </p:nvPicPr>
        <p:blipFill>
          <a:blip r:embed="rId3" cstate="print"/>
          <a:srcRect/>
          <a:stretch>
            <a:fillRect/>
          </a:stretch>
        </p:blipFill>
        <p:spPr bwMode="auto">
          <a:xfrm>
            <a:off x="421892" y="1371600"/>
            <a:ext cx="3628735" cy="4191000"/>
          </a:xfrm>
          <a:prstGeom prst="rect">
            <a:avLst/>
          </a:prstGeom>
          <a:noFill/>
        </p:spPr>
      </p:pic>
    </p:spTree>
    <p:extLst>
      <p:ext uri="{BB962C8B-B14F-4D97-AF65-F5344CB8AC3E}">
        <p14:creationId xmlns:p14="http://schemas.microsoft.com/office/powerpoint/2010/main" val="3760629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9A317C8B-6CCA-49DE-8503-CB6169078CD9}" type="slidenum">
              <a:rPr lang="en-US" smtClean="0"/>
              <a:pPr>
                <a:defRPr/>
              </a:pPr>
              <a:t>2</a:t>
            </a:fld>
            <a:endParaRPr lang="en-US"/>
          </a:p>
        </p:txBody>
      </p:sp>
      <p:pic>
        <p:nvPicPr>
          <p:cNvPr id="12" name="Picture 11" descr="C:\Documents and Settings\debarati\My Documents\Cengage logo (new)\Cengage (R) logo.JPG"/>
          <p:cNvPicPr>
            <a:picLocks noChangeAspect="1" noChangeArrowheads="1"/>
          </p:cNvPicPr>
          <p:nvPr/>
        </p:nvPicPr>
        <p:blipFill>
          <a:blip r:embed="rId2" cstate="print"/>
          <a:srcRect/>
          <a:stretch>
            <a:fillRect/>
          </a:stretch>
        </p:blipFill>
        <p:spPr bwMode="auto">
          <a:xfrm>
            <a:off x="8001000" y="6226175"/>
            <a:ext cx="1143000" cy="479425"/>
          </a:xfrm>
          <a:prstGeom prst="rect">
            <a:avLst/>
          </a:prstGeom>
          <a:noFill/>
          <a:ln w="9525">
            <a:noFill/>
            <a:miter lim="800000"/>
            <a:headEnd/>
            <a:tailEnd/>
          </a:ln>
        </p:spPr>
      </p:pic>
      <p:sp>
        <p:nvSpPr>
          <p:cNvPr id="8" name="Rectangle 4"/>
          <p:cNvSpPr>
            <a:spLocks noChangeArrowheads="1"/>
          </p:cNvSpPr>
          <p:nvPr/>
        </p:nvSpPr>
        <p:spPr bwMode="auto">
          <a:xfrm>
            <a:off x="533400" y="1066799"/>
            <a:ext cx="8382000" cy="5234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tabLst>
                <a:tab pos="627063" algn="l"/>
              </a:tabLst>
              <a:defRPr sz="2400">
                <a:solidFill>
                  <a:schemeClr val="tx1"/>
                </a:solidFill>
                <a:latin typeface="Times New Roman" panose="02020603050405020304" pitchFamily="18" charset="0"/>
              </a:defRPr>
            </a:lvl1pPr>
            <a:lvl2pPr>
              <a:tabLst>
                <a:tab pos="627063" algn="l"/>
              </a:tabLst>
              <a:defRPr sz="2400">
                <a:solidFill>
                  <a:schemeClr val="tx1"/>
                </a:solidFill>
                <a:latin typeface="Times New Roman" panose="02020603050405020304" pitchFamily="18" charset="0"/>
              </a:defRPr>
            </a:lvl2pPr>
            <a:lvl3pPr>
              <a:tabLst>
                <a:tab pos="627063" algn="l"/>
              </a:tabLst>
              <a:defRPr sz="2400">
                <a:solidFill>
                  <a:schemeClr val="tx1"/>
                </a:solidFill>
                <a:latin typeface="Times New Roman" panose="02020603050405020304" pitchFamily="18" charset="0"/>
              </a:defRPr>
            </a:lvl3pPr>
            <a:lvl4pPr>
              <a:tabLst>
                <a:tab pos="627063" algn="l"/>
              </a:tabLst>
              <a:defRPr sz="2400">
                <a:solidFill>
                  <a:schemeClr val="tx1"/>
                </a:solidFill>
                <a:latin typeface="Times New Roman" panose="02020603050405020304" pitchFamily="18" charset="0"/>
              </a:defRPr>
            </a:lvl4pPr>
            <a:lvl5pPr>
              <a:tabLst>
                <a:tab pos="627063" algn="l"/>
              </a:tabLst>
              <a:defRPr sz="2400">
                <a:solidFill>
                  <a:schemeClr val="tx1"/>
                </a:solidFill>
                <a:latin typeface="Times New Roman" panose="02020603050405020304" pitchFamily="18" charset="0"/>
              </a:defRPr>
            </a:lvl5pPr>
            <a:lvl6pPr fontAlgn="base">
              <a:spcBef>
                <a:spcPct val="0"/>
              </a:spcBef>
              <a:spcAft>
                <a:spcPct val="0"/>
              </a:spcAft>
              <a:tabLst>
                <a:tab pos="627063" algn="l"/>
              </a:tabLst>
              <a:defRPr sz="2400">
                <a:solidFill>
                  <a:schemeClr val="tx1"/>
                </a:solidFill>
                <a:latin typeface="Times New Roman" panose="02020603050405020304" pitchFamily="18" charset="0"/>
              </a:defRPr>
            </a:lvl6pPr>
            <a:lvl7pPr fontAlgn="base">
              <a:spcBef>
                <a:spcPct val="0"/>
              </a:spcBef>
              <a:spcAft>
                <a:spcPct val="0"/>
              </a:spcAft>
              <a:tabLst>
                <a:tab pos="627063" algn="l"/>
              </a:tabLst>
              <a:defRPr sz="2400">
                <a:solidFill>
                  <a:schemeClr val="tx1"/>
                </a:solidFill>
                <a:latin typeface="Times New Roman" panose="02020603050405020304" pitchFamily="18" charset="0"/>
              </a:defRPr>
            </a:lvl7pPr>
            <a:lvl8pPr fontAlgn="base">
              <a:spcBef>
                <a:spcPct val="0"/>
              </a:spcBef>
              <a:spcAft>
                <a:spcPct val="0"/>
              </a:spcAft>
              <a:tabLst>
                <a:tab pos="627063" algn="l"/>
              </a:tabLst>
              <a:defRPr sz="2400">
                <a:solidFill>
                  <a:schemeClr val="tx1"/>
                </a:solidFill>
                <a:latin typeface="Times New Roman" panose="02020603050405020304" pitchFamily="18" charset="0"/>
              </a:defRPr>
            </a:lvl8pPr>
            <a:lvl9pPr fontAlgn="base">
              <a:spcBef>
                <a:spcPct val="0"/>
              </a:spcBef>
              <a:spcAft>
                <a:spcPct val="0"/>
              </a:spcAft>
              <a:tabLst>
                <a:tab pos="627063" algn="l"/>
              </a:tabLst>
              <a:defRPr sz="2400">
                <a:solidFill>
                  <a:schemeClr val="tx1"/>
                </a:solidFill>
                <a:latin typeface="Times New Roman" panose="02020603050405020304" pitchFamily="18" charset="0"/>
              </a:defRPr>
            </a:lvl9pPr>
          </a:lstStyle>
          <a:p>
            <a:r>
              <a:rPr lang="en-US" altLang="en-US" sz="2800" b="1" i="1" dirty="0">
                <a:latin typeface="Verdana" panose="020B0604030504040204" pitchFamily="34" charset="0"/>
                <a:ea typeface="Verdana" panose="020B0604030504040204" pitchFamily="34" charset="0"/>
                <a:cs typeface="Verdana" panose="020B0604030504040204" pitchFamily="34" charset="0"/>
              </a:rPr>
              <a:t>This chapter in the book includes:</a:t>
            </a:r>
            <a:endParaRPr lang="en-US" altLang="en-US" sz="2800" dirty="0">
              <a:solidFill>
                <a:schemeClr val="accent2"/>
              </a:solidFill>
              <a:latin typeface="Verdana" panose="020B0604030504040204" pitchFamily="34" charset="0"/>
              <a:ea typeface="Verdana" panose="020B0604030504040204" pitchFamily="34" charset="0"/>
              <a:cs typeface="Verdana" panose="020B0604030504040204" pitchFamily="34" charset="0"/>
            </a:endParaRPr>
          </a:p>
          <a:p>
            <a:r>
              <a:rPr lang="en-US" altLang="en-US" sz="2800" dirty="0">
                <a:solidFill>
                  <a:srgbClr val="006600"/>
                </a:solidFill>
                <a:latin typeface="Verdana" panose="020B0604030504040204" pitchFamily="34" charset="0"/>
                <a:ea typeface="Verdana" panose="020B0604030504040204" pitchFamily="34" charset="0"/>
                <a:cs typeface="Verdana" panose="020B0604030504040204" pitchFamily="34" charset="0"/>
              </a:rPr>
              <a:t>	Objectives</a:t>
            </a:r>
          </a:p>
          <a:p>
            <a:r>
              <a:rPr lang="en-US" altLang="en-US" sz="2800" dirty="0">
                <a:solidFill>
                  <a:srgbClr val="006600"/>
                </a:solidFill>
                <a:latin typeface="Verdana" panose="020B0604030504040204" pitchFamily="34" charset="0"/>
                <a:ea typeface="Verdana" panose="020B0604030504040204" pitchFamily="34" charset="0"/>
                <a:cs typeface="Verdana" panose="020B0604030504040204" pitchFamily="34" charset="0"/>
              </a:rPr>
              <a:t>	Study Guide</a:t>
            </a:r>
          </a:p>
          <a:p>
            <a:r>
              <a:rPr lang="en-US" altLang="en-US" sz="2800" dirty="0">
                <a:solidFill>
                  <a:srgbClr val="006600"/>
                </a:solidFill>
                <a:latin typeface="Verdana" panose="020B0604030504040204" pitchFamily="34" charset="0"/>
                <a:ea typeface="Verdana" panose="020B0604030504040204" pitchFamily="34" charset="0"/>
                <a:cs typeface="Verdana" panose="020B0604030504040204" pitchFamily="34" charset="0"/>
              </a:rPr>
              <a:t>1.1	Digital Systems and Switching Circuits</a:t>
            </a:r>
          </a:p>
          <a:p>
            <a:r>
              <a:rPr lang="en-US" altLang="en-US" sz="2800" dirty="0">
                <a:solidFill>
                  <a:srgbClr val="006600"/>
                </a:solidFill>
                <a:latin typeface="Verdana" panose="020B0604030504040204" pitchFamily="34" charset="0"/>
                <a:ea typeface="Verdana" panose="020B0604030504040204" pitchFamily="34" charset="0"/>
                <a:cs typeface="Verdana" panose="020B0604030504040204" pitchFamily="34" charset="0"/>
              </a:rPr>
              <a:t>1.2	Number Systems and Conversion</a:t>
            </a:r>
          </a:p>
          <a:p>
            <a:r>
              <a:rPr lang="en-US" altLang="en-US" sz="2800" dirty="0">
                <a:solidFill>
                  <a:srgbClr val="006600"/>
                </a:solidFill>
                <a:latin typeface="Verdana" panose="020B0604030504040204" pitchFamily="34" charset="0"/>
                <a:ea typeface="Verdana" panose="020B0604030504040204" pitchFamily="34" charset="0"/>
                <a:cs typeface="Verdana" panose="020B0604030504040204" pitchFamily="34" charset="0"/>
              </a:rPr>
              <a:t>1.3	Binary Arithmetic</a:t>
            </a:r>
          </a:p>
          <a:p>
            <a:r>
              <a:rPr lang="en-US" altLang="en-US" sz="2800" dirty="0">
                <a:solidFill>
                  <a:srgbClr val="006600"/>
                </a:solidFill>
                <a:latin typeface="Verdana" panose="020B0604030504040204" pitchFamily="34" charset="0"/>
                <a:ea typeface="Verdana" panose="020B0604030504040204" pitchFamily="34" charset="0"/>
                <a:cs typeface="Verdana" panose="020B0604030504040204" pitchFamily="34" charset="0"/>
              </a:rPr>
              <a:t>1.4	Representation of Negative Numbers</a:t>
            </a:r>
          </a:p>
          <a:p>
            <a:r>
              <a:rPr lang="en-US" altLang="en-US" sz="2800" dirty="0">
                <a:solidFill>
                  <a:srgbClr val="006600"/>
                </a:solidFill>
                <a:latin typeface="Verdana" panose="020B0604030504040204" pitchFamily="34" charset="0"/>
                <a:ea typeface="Verdana" panose="020B0604030504040204" pitchFamily="34" charset="0"/>
                <a:cs typeface="Verdana" panose="020B0604030504040204" pitchFamily="34" charset="0"/>
              </a:rPr>
              <a:t>1.5	Binary Codes</a:t>
            </a:r>
          </a:p>
          <a:p>
            <a:r>
              <a:rPr lang="en-US" altLang="en-US" sz="2800" dirty="0">
                <a:solidFill>
                  <a:srgbClr val="006600"/>
                </a:solidFill>
                <a:latin typeface="Verdana" panose="020B0604030504040204" pitchFamily="34" charset="0"/>
                <a:ea typeface="Verdana" panose="020B0604030504040204" pitchFamily="34" charset="0"/>
                <a:cs typeface="Verdana" panose="020B0604030504040204" pitchFamily="34" charset="0"/>
              </a:rPr>
              <a:t>	Problems</a:t>
            </a:r>
          </a:p>
        </p:txBody>
      </p:sp>
    </p:spTree>
    <p:extLst>
      <p:ext uri="{BB962C8B-B14F-4D97-AF65-F5344CB8AC3E}">
        <p14:creationId xmlns:p14="http://schemas.microsoft.com/office/powerpoint/2010/main" val="1380364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lstStyle/>
          <a:p>
            <a:r>
              <a:rPr lang="en-US" dirty="0" smtClean="0"/>
              <a:t>Learning Objectives</a:t>
            </a:r>
            <a:endParaRPr lang="en-US" dirty="0"/>
          </a:p>
        </p:txBody>
      </p:sp>
      <p:sp>
        <p:nvSpPr>
          <p:cNvPr id="3" name="Subtitle 2"/>
          <p:cNvSpPr>
            <a:spLocks noGrp="1"/>
          </p:cNvSpPr>
          <p:nvPr>
            <p:ph type="subTitle" idx="1"/>
          </p:nvPr>
        </p:nvSpPr>
        <p:spPr>
          <a:xfrm>
            <a:off x="681135" y="2057400"/>
            <a:ext cx="7848600" cy="3643674"/>
          </a:xfrm>
        </p:spPr>
        <p:txBody>
          <a:bodyPr/>
          <a:lstStyle/>
          <a:p>
            <a:pPr algn="l"/>
            <a:r>
              <a:rPr lang="en-US" b="1" dirty="0" smtClean="0"/>
              <a:t>Introduction:</a:t>
            </a:r>
            <a:endParaRPr lang="en-US" b="1" dirty="0"/>
          </a:p>
          <a:p>
            <a:pPr marL="342900" indent="-342900" algn="l">
              <a:buFont typeface="Wingdings" panose="05000000000000000000" pitchFamily="2" charset="2"/>
              <a:buChar char="v"/>
            </a:pPr>
            <a:r>
              <a:rPr lang="en-US" dirty="0"/>
              <a:t>To be able to explain the difference between analog and digital systems, as well as why digital systems are capable of greater accuracy</a:t>
            </a:r>
          </a:p>
          <a:p>
            <a:pPr marL="342900" indent="-342900" algn="l">
              <a:buFont typeface="Wingdings" panose="05000000000000000000" pitchFamily="2" charset="2"/>
              <a:buChar char="v"/>
            </a:pPr>
            <a:r>
              <a:rPr lang="en-US" dirty="0"/>
              <a:t>To be able to understand the difference between combinational and sequential circuits</a:t>
            </a:r>
          </a:p>
          <a:p>
            <a:pPr marL="342900" indent="-342900" algn="l">
              <a:buFont typeface="Wingdings" panose="05000000000000000000" pitchFamily="2" charset="2"/>
              <a:buChar char="v"/>
            </a:pPr>
            <a:r>
              <a:rPr lang="en-US" dirty="0"/>
              <a:t>To be able to explain why two-valued signals and binary numbers are commonly used in digital systems</a:t>
            </a:r>
          </a:p>
          <a:p>
            <a:endParaRPr lang="en-US"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a:t>
            </a:fld>
            <a:endParaRPr lang="en-US"/>
          </a:p>
        </p:txBody>
      </p:sp>
    </p:spTree>
    <p:extLst>
      <p:ext uri="{BB962C8B-B14F-4D97-AF65-F5344CB8AC3E}">
        <p14:creationId xmlns:p14="http://schemas.microsoft.com/office/powerpoint/2010/main" val="4225387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lstStyle/>
          <a:p>
            <a:r>
              <a:rPr lang="en-US" dirty="0" smtClean="0"/>
              <a:t>Learning Objectives</a:t>
            </a:r>
            <a:endParaRPr lang="en-US" dirty="0"/>
          </a:p>
        </p:txBody>
      </p:sp>
      <p:sp>
        <p:nvSpPr>
          <p:cNvPr id="3" name="Subtitle 2"/>
          <p:cNvSpPr>
            <a:spLocks noGrp="1"/>
          </p:cNvSpPr>
          <p:nvPr>
            <p:ph type="subTitle" idx="1"/>
          </p:nvPr>
        </p:nvSpPr>
        <p:spPr>
          <a:xfrm>
            <a:off x="685800" y="1903268"/>
            <a:ext cx="7848600" cy="4419600"/>
          </a:xfrm>
        </p:spPr>
        <p:txBody>
          <a:bodyPr>
            <a:normAutofit fontScale="92500" lnSpcReduction="10000"/>
          </a:bodyPr>
          <a:lstStyle/>
          <a:p>
            <a:pPr algn="l"/>
            <a:r>
              <a:rPr lang="en-US" b="1" dirty="0" smtClean="0"/>
              <a:t>Number Systems and Conversion:</a:t>
            </a:r>
          </a:p>
          <a:p>
            <a:pPr algn="l"/>
            <a:r>
              <a:rPr lang="en-US" dirty="0" smtClean="0"/>
              <a:t>To be able to solve the following types of problems: </a:t>
            </a:r>
          </a:p>
          <a:p>
            <a:pPr marL="342900" indent="-342900" algn="l">
              <a:buFont typeface="Wingdings" panose="05000000000000000000" pitchFamily="2" charset="2"/>
              <a:buChar char="v"/>
            </a:pPr>
            <a:r>
              <a:rPr lang="en-US" dirty="0" smtClean="0"/>
              <a:t>Given </a:t>
            </a:r>
            <a:r>
              <a:rPr lang="en-US" dirty="0"/>
              <a:t>a positive integer, fraction, or mixed number in any base (2 through 16); </a:t>
            </a:r>
            <a:r>
              <a:rPr lang="en-US" dirty="0" smtClean="0"/>
              <a:t>convert </a:t>
            </a:r>
            <a:r>
              <a:rPr lang="en-US" dirty="0"/>
              <a:t>to any other base. </a:t>
            </a:r>
            <a:r>
              <a:rPr lang="en-US" dirty="0" smtClean="0"/>
              <a:t>Justify </a:t>
            </a:r>
            <a:r>
              <a:rPr lang="en-US" dirty="0"/>
              <a:t>the procedure </a:t>
            </a:r>
            <a:r>
              <a:rPr lang="en-US" dirty="0" smtClean="0"/>
              <a:t>using a </a:t>
            </a:r>
            <a:r>
              <a:rPr lang="en-US" dirty="0"/>
              <a:t>power series </a:t>
            </a:r>
            <a:r>
              <a:rPr lang="en-US" dirty="0" smtClean="0"/>
              <a:t>expansion </a:t>
            </a:r>
            <a:r>
              <a:rPr lang="en-US" dirty="0"/>
              <a:t>for the number</a:t>
            </a:r>
            <a:r>
              <a:rPr lang="en-US" dirty="0" smtClean="0"/>
              <a:t>.</a:t>
            </a:r>
          </a:p>
          <a:p>
            <a:pPr marL="342900" indent="-342900" algn="l">
              <a:buFont typeface="Wingdings" panose="05000000000000000000" pitchFamily="2" charset="2"/>
              <a:buChar char="v"/>
            </a:pPr>
            <a:r>
              <a:rPr lang="en-US" dirty="0" smtClean="0"/>
              <a:t>Add</a:t>
            </a:r>
            <a:r>
              <a:rPr lang="en-US" dirty="0"/>
              <a:t>, subtract, multiply, and divide positive binary numbers. Explain the </a:t>
            </a:r>
            <a:r>
              <a:rPr lang="en-US" dirty="0" smtClean="0"/>
              <a:t>addition </a:t>
            </a:r>
            <a:r>
              <a:rPr lang="en-US" dirty="0"/>
              <a:t>and subtraction process in terms of carries and borrows</a:t>
            </a:r>
            <a:r>
              <a:rPr lang="en-US" dirty="0" smtClean="0"/>
              <a:t>.</a:t>
            </a:r>
          </a:p>
          <a:p>
            <a:pPr marL="342900" indent="-342900" algn="l">
              <a:buFont typeface="Wingdings" panose="05000000000000000000" pitchFamily="2" charset="2"/>
              <a:buChar char="v"/>
            </a:pPr>
            <a:r>
              <a:rPr lang="en-US" dirty="0" smtClean="0"/>
              <a:t>Write </a:t>
            </a:r>
            <a:r>
              <a:rPr lang="en-US" dirty="0"/>
              <a:t>negative binary numbers in sign and magnitude, 1’s complement, and </a:t>
            </a:r>
            <a:r>
              <a:rPr lang="en-US" dirty="0" smtClean="0"/>
              <a:t>2’s </a:t>
            </a:r>
            <a:r>
              <a:rPr lang="en-US" dirty="0"/>
              <a:t>complement forms. Add signed binary numbers using 1’s complement </a:t>
            </a:r>
            <a:r>
              <a:rPr lang="en-US" dirty="0" smtClean="0"/>
              <a:t>and </a:t>
            </a:r>
            <a:r>
              <a:rPr lang="en-US" dirty="0"/>
              <a:t>2’s complement arithmetic. Justify </a:t>
            </a:r>
            <a:r>
              <a:rPr lang="en-US" dirty="0" smtClean="0"/>
              <a:t>the methods used and identify overflows.</a:t>
            </a:r>
          </a:p>
          <a:p>
            <a:pPr marL="342900" indent="-342900" algn="l">
              <a:buFont typeface="Wingdings" panose="05000000000000000000" pitchFamily="2" charset="2"/>
              <a:buChar char="v"/>
            </a:pPr>
            <a:r>
              <a:rPr lang="en-US" dirty="0" smtClean="0"/>
              <a:t>Represent </a:t>
            </a:r>
            <a:r>
              <a:rPr lang="en-US" dirty="0"/>
              <a:t>a decimal number in binary-coded-decimal (BCD), 6-3-1-1 code, </a:t>
            </a:r>
            <a:r>
              <a:rPr lang="en-US" dirty="0" smtClean="0"/>
              <a:t>excess-3 </a:t>
            </a:r>
            <a:r>
              <a:rPr lang="en-US" dirty="0"/>
              <a:t>code, etc. Given a set of weights, construct a weighted code.</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4</a:t>
            </a:fld>
            <a:endParaRPr lang="en-US"/>
          </a:p>
        </p:txBody>
      </p:sp>
    </p:spTree>
    <p:extLst>
      <p:ext uri="{BB962C8B-B14F-4D97-AF65-F5344CB8AC3E}">
        <p14:creationId xmlns:p14="http://schemas.microsoft.com/office/powerpoint/2010/main" val="435770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Digital Systems and Switching Circuits</a:t>
            </a:r>
            <a:endParaRPr lang="en-US" dirty="0"/>
          </a:p>
        </p:txBody>
      </p:sp>
      <p:sp>
        <p:nvSpPr>
          <p:cNvPr id="3" name="Subtitle 2"/>
          <p:cNvSpPr>
            <a:spLocks noGrp="1"/>
          </p:cNvSpPr>
          <p:nvPr>
            <p:ph type="subTitle" idx="1"/>
          </p:nvPr>
        </p:nvSpPr>
        <p:spPr>
          <a:xfrm>
            <a:off x="685800" y="2305226"/>
            <a:ext cx="7848600" cy="3866973"/>
          </a:xfrm>
        </p:spPr>
        <p:txBody>
          <a:bodyPr>
            <a:normAutofit fontScale="92500" lnSpcReduction="20000"/>
          </a:bodyPr>
          <a:lstStyle/>
          <a:p>
            <a:pPr algn="l"/>
            <a:r>
              <a:rPr lang="en-US" b="1" dirty="0" smtClean="0"/>
              <a:t>Digital and Analog Systems:</a:t>
            </a:r>
          </a:p>
          <a:p>
            <a:pPr marL="342900" indent="-342900" algn="l">
              <a:buFont typeface="Wingdings" panose="05000000000000000000" pitchFamily="2" charset="2"/>
              <a:buChar char="v"/>
            </a:pPr>
            <a:r>
              <a:rPr lang="en-US" dirty="0" smtClean="0"/>
              <a:t>Digital </a:t>
            </a:r>
            <a:r>
              <a:rPr lang="en-US" dirty="0"/>
              <a:t>systems are used extensively in computation and data processing, control </a:t>
            </a:r>
            <a:r>
              <a:rPr lang="en-US" dirty="0" smtClean="0"/>
              <a:t>systems</a:t>
            </a:r>
            <a:r>
              <a:rPr lang="en-US" dirty="0"/>
              <a:t>, communications, and measurement. </a:t>
            </a:r>
            <a:endParaRPr lang="en-US" dirty="0" smtClean="0"/>
          </a:p>
          <a:p>
            <a:pPr marL="342900" indent="-342900" algn="l">
              <a:buFont typeface="Wingdings" panose="05000000000000000000" pitchFamily="2" charset="2"/>
              <a:buChar char="v"/>
            </a:pPr>
            <a:r>
              <a:rPr lang="en-US" dirty="0" smtClean="0"/>
              <a:t>In a </a:t>
            </a:r>
            <a:r>
              <a:rPr lang="en-US" b="1" dirty="0" smtClean="0">
                <a:solidFill>
                  <a:schemeClr val="bg1">
                    <a:lumMod val="50000"/>
                  </a:schemeClr>
                </a:solidFill>
              </a:rPr>
              <a:t>digital system</a:t>
            </a:r>
            <a:r>
              <a:rPr lang="en-US" dirty="0" smtClean="0"/>
              <a:t>, physical quantities can only assume discrete values.</a:t>
            </a:r>
          </a:p>
          <a:p>
            <a:pPr marL="342900" indent="-342900" algn="l">
              <a:buFont typeface="Wingdings" panose="05000000000000000000" pitchFamily="2" charset="2"/>
              <a:buChar char="v"/>
            </a:pPr>
            <a:r>
              <a:rPr lang="en-US" dirty="0" smtClean="0"/>
              <a:t>In an </a:t>
            </a:r>
            <a:r>
              <a:rPr lang="en-US" b="1" dirty="0" smtClean="0">
                <a:solidFill>
                  <a:schemeClr val="bg1">
                    <a:lumMod val="50000"/>
                  </a:schemeClr>
                </a:solidFill>
              </a:rPr>
              <a:t>analog system</a:t>
            </a:r>
            <a:r>
              <a:rPr lang="en-US" dirty="0" smtClean="0"/>
              <a:t>, physical quantities or signals can vary continuously over a specified range. </a:t>
            </a:r>
          </a:p>
          <a:p>
            <a:pPr marL="342900" indent="-342900" algn="l">
              <a:buFont typeface="Wingdings" panose="05000000000000000000" pitchFamily="2" charset="2"/>
              <a:buChar char="v"/>
            </a:pPr>
            <a:r>
              <a:rPr lang="en-US" dirty="0" smtClean="0"/>
              <a:t>In many </a:t>
            </a:r>
            <a:r>
              <a:rPr lang="en-US" dirty="0"/>
              <a:t>cases </a:t>
            </a:r>
            <a:r>
              <a:rPr lang="en-US" dirty="0" smtClean="0"/>
              <a:t>digital systems </a:t>
            </a:r>
            <a:r>
              <a:rPr lang="en-US" dirty="0"/>
              <a:t>can be </a:t>
            </a:r>
            <a:r>
              <a:rPr lang="en-US" dirty="0" smtClean="0"/>
              <a:t>designed </a:t>
            </a:r>
            <a:r>
              <a:rPr lang="en-US" dirty="0"/>
              <a:t>so that for a given input, the output is exactly correct. </a:t>
            </a:r>
            <a:endParaRPr lang="en-US" dirty="0" smtClean="0"/>
          </a:p>
          <a:p>
            <a:pPr marL="342900" indent="-342900" algn="l">
              <a:buFont typeface="Wingdings" panose="05000000000000000000" pitchFamily="2" charset="2"/>
              <a:buChar char="v"/>
            </a:pPr>
            <a:r>
              <a:rPr lang="en-US" dirty="0" smtClean="0"/>
              <a:t>The output </a:t>
            </a:r>
            <a:r>
              <a:rPr lang="en-US" dirty="0"/>
              <a:t>of an analog </a:t>
            </a:r>
            <a:r>
              <a:rPr lang="en-US" dirty="0" smtClean="0"/>
              <a:t>system </a:t>
            </a:r>
            <a:r>
              <a:rPr lang="en-US" dirty="0"/>
              <a:t>might </a:t>
            </a:r>
            <a:r>
              <a:rPr lang="en-US" dirty="0" smtClean="0"/>
              <a:t>have </a:t>
            </a:r>
            <a:r>
              <a:rPr lang="en-US" dirty="0"/>
              <a:t>an error ranging from a fraction of one percent to a few </a:t>
            </a:r>
            <a:r>
              <a:rPr lang="en-US" dirty="0" err="1" smtClean="0"/>
              <a:t>percents</a:t>
            </a:r>
            <a:r>
              <a:rPr lang="en-US" dirty="0" smtClean="0"/>
              <a:t> because these systems do not work with discrete quantities.</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5</a:t>
            </a:fld>
            <a:endParaRPr lang="en-US"/>
          </a:p>
        </p:txBody>
      </p:sp>
    </p:spTree>
    <p:extLst>
      <p:ext uri="{BB962C8B-B14F-4D97-AF65-F5344CB8AC3E}">
        <p14:creationId xmlns:p14="http://schemas.microsoft.com/office/powerpoint/2010/main" val="2394988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Digital Systems and Switching Circuits</a:t>
            </a:r>
            <a:endParaRPr lang="en-US" dirty="0"/>
          </a:p>
        </p:txBody>
      </p:sp>
      <p:sp>
        <p:nvSpPr>
          <p:cNvPr id="3" name="Subtitle 2"/>
          <p:cNvSpPr>
            <a:spLocks noGrp="1"/>
          </p:cNvSpPr>
          <p:nvPr>
            <p:ph type="subTitle" idx="1"/>
          </p:nvPr>
        </p:nvSpPr>
        <p:spPr>
          <a:xfrm>
            <a:off x="694235" y="2314558"/>
            <a:ext cx="7848600" cy="3643674"/>
          </a:xfrm>
        </p:spPr>
        <p:txBody>
          <a:bodyPr>
            <a:normAutofit/>
          </a:bodyPr>
          <a:lstStyle/>
          <a:p>
            <a:pPr algn="l"/>
            <a:r>
              <a:rPr lang="en-US" b="1" dirty="0" smtClean="0"/>
              <a:t>Design of digital systems:</a:t>
            </a:r>
          </a:p>
          <a:p>
            <a:pPr marL="342900" indent="-342900" algn="l">
              <a:buFont typeface="Wingdings" panose="05000000000000000000" pitchFamily="2" charset="2"/>
              <a:buChar char="v"/>
            </a:pPr>
            <a:r>
              <a:rPr lang="en-US" b="1" dirty="0" smtClean="0">
                <a:solidFill>
                  <a:schemeClr val="bg1">
                    <a:lumMod val="50000"/>
                  </a:schemeClr>
                </a:solidFill>
              </a:rPr>
              <a:t>System design</a:t>
            </a:r>
            <a:r>
              <a:rPr lang="en-US" dirty="0">
                <a:solidFill>
                  <a:schemeClr val="bg1">
                    <a:lumMod val="50000"/>
                  </a:schemeClr>
                </a:solidFill>
              </a:rPr>
              <a:t>: </a:t>
            </a:r>
            <a:r>
              <a:rPr lang="en-US" dirty="0"/>
              <a:t>breaking the overall </a:t>
            </a:r>
            <a:r>
              <a:rPr lang="en-US" dirty="0" smtClean="0"/>
              <a:t>system </a:t>
            </a:r>
            <a:r>
              <a:rPr lang="en-US" dirty="0"/>
              <a:t>into subsystems and specifying the characteristics of each </a:t>
            </a:r>
            <a:r>
              <a:rPr lang="en-US" dirty="0" smtClean="0"/>
              <a:t>subsystem.</a:t>
            </a:r>
          </a:p>
          <a:p>
            <a:pPr marL="342900" indent="-342900" algn="l">
              <a:buFont typeface="Wingdings" panose="05000000000000000000" pitchFamily="2" charset="2"/>
              <a:buChar char="v"/>
            </a:pPr>
            <a:r>
              <a:rPr lang="en-US" b="1" dirty="0" smtClean="0">
                <a:solidFill>
                  <a:schemeClr val="bg1">
                    <a:lumMod val="50000"/>
                  </a:schemeClr>
                </a:solidFill>
              </a:rPr>
              <a:t>Logic design: </a:t>
            </a:r>
            <a:r>
              <a:rPr lang="en-US" dirty="0" smtClean="0"/>
              <a:t>determining how to interconnect basic logic building blocks to perform a specific function.</a:t>
            </a:r>
          </a:p>
          <a:p>
            <a:pPr marL="342900" indent="-342900" algn="l">
              <a:buFont typeface="Wingdings" panose="05000000000000000000" pitchFamily="2" charset="2"/>
              <a:buChar char="v"/>
            </a:pPr>
            <a:r>
              <a:rPr lang="en-US" b="1" dirty="0" smtClean="0">
                <a:solidFill>
                  <a:schemeClr val="bg1">
                    <a:lumMod val="50000"/>
                  </a:schemeClr>
                </a:solidFill>
              </a:rPr>
              <a:t>Circuit design: </a:t>
            </a:r>
            <a:r>
              <a:rPr lang="en-US" dirty="0" smtClean="0"/>
              <a:t>specifying the interconnection of specific hardware components to form a gate, flip-flop or other logic building block.</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6</a:t>
            </a:fld>
            <a:endParaRPr lang="en-US"/>
          </a:p>
        </p:txBody>
      </p:sp>
    </p:spTree>
    <p:extLst>
      <p:ext uri="{BB962C8B-B14F-4D97-AF65-F5344CB8AC3E}">
        <p14:creationId xmlns:p14="http://schemas.microsoft.com/office/powerpoint/2010/main" val="3429859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Digital Systems and Switching Circuits</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Switching circuits:</a:t>
            </a:r>
          </a:p>
          <a:p>
            <a:pPr marL="342900" indent="-342900" algn="l">
              <a:buFont typeface="Wingdings" panose="05000000000000000000" pitchFamily="2" charset="2"/>
              <a:buChar char="v"/>
            </a:pPr>
            <a:r>
              <a:rPr lang="en-US" dirty="0" smtClean="0"/>
              <a:t>A </a:t>
            </a:r>
            <a:r>
              <a:rPr lang="en-US" b="1" dirty="0" smtClean="0">
                <a:solidFill>
                  <a:schemeClr val="bg1">
                    <a:lumMod val="50000"/>
                  </a:schemeClr>
                </a:solidFill>
              </a:rPr>
              <a:t>switching circuit </a:t>
            </a:r>
            <a:r>
              <a:rPr lang="en-US" dirty="0" smtClean="0"/>
              <a:t>has one or more inputs and one or more outputs which take on discrete values.</a:t>
            </a:r>
          </a:p>
          <a:p>
            <a:pPr marL="342900" indent="-342900" algn="l">
              <a:buFont typeface="Wingdings" panose="05000000000000000000" pitchFamily="2" charset="2"/>
              <a:buChar char="v"/>
            </a:pPr>
            <a:r>
              <a:rPr lang="en-US" dirty="0" smtClean="0"/>
              <a:t>In </a:t>
            </a:r>
            <a:r>
              <a:rPr lang="en-US" b="1" dirty="0" smtClean="0">
                <a:solidFill>
                  <a:schemeClr val="bg1">
                    <a:lumMod val="50000"/>
                  </a:schemeClr>
                </a:solidFill>
              </a:rPr>
              <a:t>combinational circuits</a:t>
            </a:r>
            <a:r>
              <a:rPr lang="en-US" dirty="0" smtClean="0"/>
              <a:t>, output values of circuit only depend on the present values of inputs, not past.</a:t>
            </a:r>
          </a:p>
          <a:p>
            <a:pPr marL="342900" indent="-342900" algn="l">
              <a:buFont typeface="Wingdings" panose="05000000000000000000" pitchFamily="2" charset="2"/>
              <a:buChar char="v"/>
            </a:pPr>
            <a:r>
              <a:rPr lang="en-US" dirty="0" smtClean="0"/>
              <a:t>In </a:t>
            </a:r>
            <a:r>
              <a:rPr lang="en-US" b="1" dirty="0" smtClean="0">
                <a:solidFill>
                  <a:schemeClr val="bg1">
                    <a:lumMod val="50000"/>
                  </a:schemeClr>
                </a:solidFill>
              </a:rPr>
              <a:t>sequential circuits</a:t>
            </a:r>
            <a:r>
              <a:rPr lang="en-US" dirty="0" smtClean="0"/>
              <a:t>, output values of circuit depend on both past and present input values. For this reason, sequential circuits are said to have “memory”, because they must remember past sequence of inputs.</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7</a:t>
            </a:fld>
            <a:endParaRPr lang="en-US"/>
          </a:p>
        </p:txBody>
      </p:sp>
    </p:spTree>
    <p:extLst>
      <p:ext uri="{BB962C8B-B14F-4D97-AF65-F5344CB8AC3E}">
        <p14:creationId xmlns:p14="http://schemas.microsoft.com/office/powerpoint/2010/main" val="65643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Digital Systems and Switching Circuits</a:t>
            </a:r>
            <a:endParaRPr lang="en-US" dirty="0"/>
          </a:p>
        </p:txBody>
      </p:sp>
      <p:sp>
        <p:nvSpPr>
          <p:cNvPr id="3" name="Subtitle 2"/>
          <p:cNvSpPr>
            <a:spLocks noGrp="1"/>
          </p:cNvSpPr>
          <p:nvPr>
            <p:ph type="subTitle" idx="1"/>
          </p:nvPr>
        </p:nvSpPr>
        <p:spPr>
          <a:xfrm>
            <a:off x="681135" y="5105400"/>
            <a:ext cx="7848600" cy="595674"/>
          </a:xfrm>
        </p:spPr>
        <p:txBody>
          <a:bodyPr>
            <a:normAutofit/>
          </a:bodyPr>
          <a:lstStyle/>
          <a:p>
            <a:r>
              <a:rPr lang="en-US" dirty="0" smtClean="0"/>
              <a:t>Figure 1-1: Switching circuit</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8</a:t>
            </a:fld>
            <a:endParaRPr lang="en-US"/>
          </a:p>
        </p:txBody>
      </p:sp>
      <p:pic>
        <p:nvPicPr>
          <p:cNvPr id="5"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362200"/>
            <a:ext cx="7696200" cy="1973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2122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Digital Systems and Switching Circuits</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Building Blocks of Switching Circuits:</a:t>
            </a:r>
          </a:p>
          <a:p>
            <a:pPr marL="342900" indent="-342900" algn="l">
              <a:buFont typeface="Wingdings" panose="05000000000000000000" pitchFamily="2" charset="2"/>
              <a:buChar char="v"/>
            </a:pPr>
            <a:r>
              <a:rPr lang="en-US" dirty="0" smtClean="0"/>
              <a:t>Basic building block of combinational circuits: </a:t>
            </a:r>
            <a:r>
              <a:rPr lang="en-US" b="1" dirty="0" smtClean="0">
                <a:solidFill>
                  <a:schemeClr val="bg1">
                    <a:lumMod val="50000"/>
                  </a:schemeClr>
                </a:solidFill>
              </a:rPr>
              <a:t>logic gate</a:t>
            </a:r>
          </a:p>
          <a:p>
            <a:pPr marL="342900" indent="-342900" algn="l">
              <a:buFont typeface="Wingdings" panose="05000000000000000000" pitchFamily="2" charset="2"/>
              <a:buChar char="v"/>
            </a:pPr>
            <a:r>
              <a:rPr lang="en-US" dirty="0" smtClean="0"/>
              <a:t>Basic building block of sequential circuits: </a:t>
            </a:r>
            <a:r>
              <a:rPr lang="en-US" b="1" dirty="0" smtClean="0">
                <a:solidFill>
                  <a:schemeClr val="bg1">
                    <a:lumMod val="50000"/>
                  </a:schemeClr>
                </a:solidFill>
              </a:rPr>
              <a:t>flip-flop</a:t>
            </a:r>
          </a:p>
          <a:p>
            <a:pPr marL="342900" indent="-342900" algn="l">
              <a:buFont typeface="Wingdings" panose="05000000000000000000" pitchFamily="2" charset="2"/>
              <a:buChar char="v"/>
            </a:pPr>
            <a:r>
              <a:rPr lang="en-US" dirty="0" smtClean="0"/>
              <a:t>Switching devices used in digital systems are usually two-state devices, meaning the output can only assume one of two discrete values, i.e. relays, diodes and transistors. </a:t>
            </a:r>
          </a:p>
          <a:p>
            <a:pPr marL="342900" indent="-342900" algn="l">
              <a:buFont typeface="Wingdings" panose="05000000000000000000" pitchFamily="2" charset="2"/>
              <a:buChar char="v"/>
            </a:pPr>
            <a:r>
              <a:rPr lang="en-US" dirty="0" smtClean="0"/>
              <a:t>Because the outputs of most switching devices assume only two different values, it is natural to use </a:t>
            </a:r>
            <a:r>
              <a:rPr lang="en-US" b="1" dirty="0" smtClean="0">
                <a:solidFill>
                  <a:schemeClr val="bg1">
                    <a:lumMod val="50000"/>
                  </a:schemeClr>
                </a:solidFill>
              </a:rPr>
              <a:t>binary</a:t>
            </a:r>
            <a:r>
              <a:rPr lang="en-US" dirty="0" smtClean="0"/>
              <a:t> numbers internally in digital systems. </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9</a:t>
            </a:fld>
            <a:endParaRPr lang="en-US"/>
          </a:p>
        </p:txBody>
      </p:sp>
    </p:spTree>
    <p:extLst>
      <p:ext uri="{BB962C8B-B14F-4D97-AF65-F5344CB8AC3E}">
        <p14:creationId xmlns:p14="http://schemas.microsoft.com/office/powerpoint/2010/main" val="3544989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Number Systems and Conversion</a:t>
            </a:r>
            <a:endParaRPr lang="en-US" dirty="0"/>
          </a:p>
        </p:txBody>
      </p:sp>
      <p:sp>
        <p:nvSpPr>
          <p:cNvPr id="3" name="Subtitle 2"/>
          <p:cNvSpPr>
            <a:spLocks noGrp="1"/>
          </p:cNvSpPr>
          <p:nvPr>
            <p:ph type="subTitle" idx="1"/>
          </p:nvPr>
        </p:nvSpPr>
        <p:spPr>
          <a:xfrm>
            <a:off x="710682" y="1676400"/>
            <a:ext cx="7848600" cy="3643674"/>
          </a:xfrm>
        </p:spPr>
        <p:txBody>
          <a:bodyPr>
            <a:normAutofit/>
          </a:bodyPr>
          <a:lstStyle/>
          <a:p>
            <a:pPr algn="l"/>
            <a:r>
              <a:rPr lang="en-US" b="1" dirty="0" smtClean="0"/>
              <a:t>Explanation of decimal and binary numbers:</a:t>
            </a:r>
            <a:endParaRPr lang="en-US" b="1" dirty="0"/>
          </a:p>
          <a:p>
            <a:pPr marL="342900" indent="-342900" algn="l">
              <a:buFont typeface="Wingdings" panose="05000000000000000000" pitchFamily="2" charset="2"/>
              <a:buChar char="v"/>
            </a:pPr>
            <a:r>
              <a:rPr lang="en-US" dirty="0" smtClean="0"/>
              <a:t>When we write decimal (base 10) numbers, we use a positional notation; each digit is multiplied by an appropriate power of 10 depending on its position in the number.</a:t>
            </a:r>
          </a:p>
          <a:p>
            <a:pPr marL="342900" indent="-342900" algn="l">
              <a:buFont typeface="Wingdings" panose="05000000000000000000" pitchFamily="2" charset="2"/>
              <a:buChar char="v"/>
            </a:pPr>
            <a:endParaRPr lang="en-US" dirty="0" smtClean="0"/>
          </a:p>
          <a:p>
            <a:pPr algn="l"/>
            <a:endParaRPr lang="en-US" dirty="0" smtClean="0"/>
          </a:p>
          <a:p>
            <a:pPr marL="342900" indent="-342900" algn="l">
              <a:buFont typeface="Wingdings" panose="05000000000000000000" pitchFamily="2" charset="2"/>
              <a:buChar char="v"/>
            </a:pPr>
            <a:r>
              <a:rPr lang="en-US" dirty="0" smtClean="0"/>
              <a:t>When we write binary (base 2) numbers, each digit is multiplied by an appropriate power of 2 on its position in the number.</a:t>
            </a:r>
          </a:p>
          <a:p>
            <a:pPr algn="l"/>
            <a:endParaRPr lang="en-US"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10</a:t>
            </a:fld>
            <a:endParaRPr lang="en-US"/>
          </a:p>
        </p:txBody>
      </p:sp>
      <p:pic>
        <p:nvPicPr>
          <p:cNvPr id="5" name="Picture 4"/>
          <p:cNvPicPr>
            <a:picLocks noChangeAspect="1"/>
          </p:cNvPicPr>
          <p:nvPr/>
        </p:nvPicPr>
        <p:blipFill rotWithShape="1">
          <a:blip r:embed="rId2"/>
          <a:srcRect l="11170" t="31915" r="15715" b="56162"/>
          <a:stretch/>
        </p:blipFill>
        <p:spPr>
          <a:xfrm>
            <a:off x="689923" y="3453934"/>
            <a:ext cx="8153692" cy="584666"/>
          </a:xfrm>
          <a:prstGeom prst="rect">
            <a:avLst/>
          </a:prstGeom>
        </p:spPr>
      </p:pic>
      <p:pic>
        <p:nvPicPr>
          <p:cNvPr id="6" name="Picture 5"/>
          <p:cNvPicPr>
            <a:picLocks noChangeAspect="1"/>
          </p:cNvPicPr>
          <p:nvPr/>
        </p:nvPicPr>
        <p:blipFill rotWithShape="1">
          <a:blip r:embed="rId2"/>
          <a:srcRect l="11089" t="67699" r="14203" b="11062"/>
          <a:stretch/>
        </p:blipFill>
        <p:spPr>
          <a:xfrm>
            <a:off x="838201" y="5054133"/>
            <a:ext cx="7725319" cy="965667"/>
          </a:xfrm>
          <a:prstGeom prst="rect">
            <a:avLst/>
          </a:prstGeom>
        </p:spPr>
      </p:pic>
    </p:spTree>
    <p:extLst>
      <p:ext uri="{BB962C8B-B14F-4D97-AF65-F5344CB8AC3E}">
        <p14:creationId xmlns:p14="http://schemas.microsoft.com/office/powerpoint/2010/main" val="741392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Number Systems and Conversion</a:t>
            </a:r>
            <a:endParaRPr lang="en-US" dirty="0"/>
          </a:p>
        </p:txBody>
      </p:sp>
      <p:sp>
        <p:nvSpPr>
          <p:cNvPr id="3" name="Subtitle 2"/>
          <p:cNvSpPr>
            <a:spLocks noGrp="1"/>
          </p:cNvSpPr>
          <p:nvPr>
            <p:ph type="subTitle" idx="1"/>
          </p:nvPr>
        </p:nvSpPr>
        <p:spPr>
          <a:xfrm>
            <a:off x="710682" y="1676400"/>
            <a:ext cx="7848600" cy="3643674"/>
          </a:xfrm>
        </p:spPr>
        <p:txBody>
          <a:bodyPr>
            <a:normAutofit/>
          </a:bodyPr>
          <a:lstStyle/>
          <a:p>
            <a:pPr algn="l"/>
            <a:r>
              <a:rPr lang="en-US" b="1" dirty="0" smtClean="0"/>
              <a:t>Power series expansion in any number system of base R:</a:t>
            </a:r>
            <a:endParaRPr lang="en-US" b="1"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11</a:t>
            </a:fld>
            <a:endParaRPr lang="en-US"/>
          </a:p>
        </p:txBody>
      </p:sp>
      <p:pic>
        <p:nvPicPr>
          <p:cNvPr id="7" name="Picture 6"/>
          <p:cNvPicPr>
            <a:picLocks noChangeAspect="1"/>
          </p:cNvPicPr>
          <p:nvPr/>
        </p:nvPicPr>
        <p:blipFill>
          <a:blip r:embed="rId2"/>
          <a:stretch>
            <a:fillRect/>
          </a:stretch>
        </p:blipFill>
        <p:spPr>
          <a:xfrm>
            <a:off x="533400" y="2639008"/>
            <a:ext cx="8483290" cy="2999792"/>
          </a:xfrm>
          <a:prstGeom prst="rect">
            <a:avLst/>
          </a:prstGeom>
        </p:spPr>
      </p:pic>
      <p:sp>
        <p:nvSpPr>
          <p:cNvPr id="8" name="Rectangle 7"/>
          <p:cNvSpPr/>
          <p:nvPr/>
        </p:nvSpPr>
        <p:spPr>
          <a:xfrm>
            <a:off x="5257800" y="5320074"/>
            <a:ext cx="3048000" cy="394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1575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Number Systems and Conversion</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Example:</a:t>
            </a:r>
          </a:p>
          <a:p>
            <a:pPr algn="l"/>
            <a:r>
              <a:rPr lang="en-US" dirty="0" smtClean="0"/>
              <a:t>Using the previous slide, the following conversion can be made from base 8 to base 10.</a:t>
            </a:r>
          </a:p>
          <a:p>
            <a:pPr algn="l"/>
            <a:endParaRPr lang="en-US" b="1"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12</a:t>
            </a:fld>
            <a:endParaRPr lang="en-US"/>
          </a:p>
        </p:txBody>
      </p:sp>
      <p:pic>
        <p:nvPicPr>
          <p:cNvPr id="5" name="Picture 4"/>
          <p:cNvPicPr>
            <a:picLocks noChangeAspect="1"/>
          </p:cNvPicPr>
          <p:nvPr/>
        </p:nvPicPr>
        <p:blipFill rotWithShape="1">
          <a:blip r:embed="rId2"/>
          <a:srcRect t="5882"/>
          <a:stretch/>
        </p:blipFill>
        <p:spPr>
          <a:xfrm>
            <a:off x="681135" y="3110570"/>
            <a:ext cx="8237934" cy="1219200"/>
          </a:xfrm>
          <a:prstGeom prst="rect">
            <a:avLst/>
          </a:prstGeom>
        </p:spPr>
      </p:pic>
      <p:cxnSp>
        <p:nvCxnSpPr>
          <p:cNvPr id="7" name="Straight Arrow Connector 6"/>
          <p:cNvCxnSpPr/>
          <p:nvPr/>
        </p:nvCxnSpPr>
        <p:spPr>
          <a:xfrm>
            <a:off x="1242374" y="3573740"/>
            <a:ext cx="1" cy="869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911452" y="4461658"/>
            <a:ext cx="627095" cy="646331"/>
          </a:xfrm>
          <a:prstGeom prst="rect">
            <a:avLst/>
          </a:prstGeom>
          <a:noFill/>
          <a:ln>
            <a:solidFill>
              <a:schemeClr val="accent1"/>
            </a:solidFill>
          </a:ln>
        </p:spPr>
        <p:txBody>
          <a:bodyPr wrap="none" rtlCol="0">
            <a:spAutoFit/>
          </a:bodyPr>
          <a:lstStyle/>
          <a:p>
            <a:r>
              <a:rPr lang="en-US" dirty="0" err="1" smtClean="0"/>
              <a:t>i</a:t>
            </a:r>
            <a:r>
              <a:rPr lang="en-US" dirty="0" smtClean="0"/>
              <a:t>=2</a:t>
            </a:r>
          </a:p>
          <a:p>
            <a:r>
              <a:rPr lang="en-US" dirty="0" err="1" smtClean="0"/>
              <a:t>a</a:t>
            </a:r>
            <a:r>
              <a:rPr lang="en-US" baseline="-25000" dirty="0" err="1" smtClean="0"/>
              <a:t>i</a:t>
            </a:r>
            <a:r>
              <a:rPr lang="en-US" dirty="0" smtClean="0"/>
              <a:t>=1</a:t>
            </a:r>
            <a:endParaRPr lang="en-US" dirty="0"/>
          </a:p>
        </p:txBody>
      </p:sp>
      <p:cxnSp>
        <p:nvCxnSpPr>
          <p:cNvPr id="9" name="Straight Arrow Connector 8"/>
          <p:cNvCxnSpPr/>
          <p:nvPr/>
        </p:nvCxnSpPr>
        <p:spPr>
          <a:xfrm>
            <a:off x="1392078" y="3532983"/>
            <a:ext cx="482056" cy="1970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607434" y="5534405"/>
            <a:ext cx="609462" cy="646331"/>
          </a:xfrm>
          <a:prstGeom prst="rect">
            <a:avLst/>
          </a:prstGeom>
          <a:noFill/>
          <a:ln>
            <a:solidFill>
              <a:schemeClr val="accent1"/>
            </a:solidFill>
          </a:ln>
        </p:spPr>
        <p:txBody>
          <a:bodyPr wrap="none" rtlCol="0">
            <a:spAutoFit/>
          </a:bodyPr>
          <a:lstStyle/>
          <a:p>
            <a:r>
              <a:rPr lang="en-US" dirty="0" err="1" smtClean="0"/>
              <a:t>i</a:t>
            </a:r>
            <a:r>
              <a:rPr lang="en-US" dirty="0" smtClean="0"/>
              <a:t>=1</a:t>
            </a:r>
          </a:p>
          <a:p>
            <a:r>
              <a:rPr lang="en-US" dirty="0" err="1" smtClean="0"/>
              <a:t>a</a:t>
            </a:r>
            <a:r>
              <a:rPr lang="en-US" baseline="-25000" dirty="0" err="1" smtClean="0"/>
              <a:t>i</a:t>
            </a:r>
            <a:r>
              <a:rPr lang="en-US" dirty="0" smtClean="0"/>
              <a:t>=4</a:t>
            </a:r>
            <a:endParaRPr lang="en-US" dirty="0"/>
          </a:p>
        </p:txBody>
      </p:sp>
      <p:cxnSp>
        <p:nvCxnSpPr>
          <p:cNvPr id="12" name="Straight Arrow Connector 11"/>
          <p:cNvCxnSpPr/>
          <p:nvPr/>
        </p:nvCxnSpPr>
        <p:spPr>
          <a:xfrm>
            <a:off x="1529734" y="3573053"/>
            <a:ext cx="1689867" cy="16624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334000" y="3982622"/>
            <a:ext cx="609462" cy="646331"/>
          </a:xfrm>
          <a:prstGeom prst="rect">
            <a:avLst/>
          </a:prstGeom>
          <a:noFill/>
          <a:ln>
            <a:solidFill>
              <a:schemeClr val="accent1"/>
            </a:solidFill>
          </a:ln>
        </p:spPr>
        <p:txBody>
          <a:bodyPr wrap="none" rtlCol="0">
            <a:spAutoFit/>
          </a:bodyPr>
          <a:lstStyle/>
          <a:p>
            <a:r>
              <a:rPr lang="en-US" dirty="0" err="1" smtClean="0"/>
              <a:t>i</a:t>
            </a:r>
            <a:r>
              <a:rPr lang="en-US" dirty="0" smtClean="0"/>
              <a:t>=-1</a:t>
            </a:r>
          </a:p>
          <a:p>
            <a:r>
              <a:rPr lang="en-US" dirty="0" err="1" smtClean="0"/>
              <a:t>a</a:t>
            </a:r>
            <a:r>
              <a:rPr lang="en-US" baseline="-25000" dirty="0" err="1" smtClean="0"/>
              <a:t>i</a:t>
            </a:r>
            <a:r>
              <a:rPr lang="en-US" dirty="0" smtClean="0"/>
              <a:t>=3</a:t>
            </a:r>
            <a:endParaRPr lang="en-US" dirty="0"/>
          </a:p>
        </p:txBody>
      </p:sp>
      <p:sp>
        <p:nvSpPr>
          <p:cNvPr id="16" name="TextBox 15"/>
          <p:cNvSpPr txBox="1"/>
          <p:nvPr/>
        </p:nvSpPr>
        <p:spPr>
          <a:xfrm>
            <a:off x="3219601" y="5006719"/>
            <a:ext cx="609462" cy="646331"/>
          </a:xfrm>
          <a:prstGeom prst="rect">
            <a:avLst/>
          </a:prstGeom>
          <a:noFill/>
          <a:ln>
            <a:solidFill>
              <a:schemeClr val="accent1"/>
            </a:solidFill>
          </a:ln>
        </p:spPr>
        <p:txBody>
          <a:bodyPr wrap="none" rtlCol="0">
            <a:spAutoFit/>
          </a:bodyPr>
          <a:lstStyle/>
          <a:p>
            <a:r>
              <a:rPr lang="en-US" dirty="0" err="1" smtClean="0"/>
              <a:t>i</a:t>
            </a:r>
            <a:r>
              <a:rPr lang="en-US" dirty="0" smtClean="0"/>
              <a:t>=0</a:t>
            </a:r>
          </a:p>
          <a:p>
            <a:r>
              <a:rPr lang="en-US" dirty="0" err="1" smtClean="0"/>
              <a:t>a</a:t>
            </a:r>
            <a:r>
              <a:rPr lang="en-US" baseline="-25000" dirty="0" err="1" smtClean="0"/>
              <a:t>i</a:t>
            </a:r>
            <a:r>
              <a:rPr lang="en-US" dirty="0" smtClean="0"/>
              <a:t>=7</a:t>
            </a:r>
            <a:endParaRPr lang="en-US" dirty="0"/>
          </a:p>
        </p:txBody>
      </p:sp>
      <p:cxnSp>
        <p:nvCxnSpPr>
          <p:cNvPr id="28" name="Elbow Connector 27"/>
          <p:cNvCxnSpPr/>
          <p:nvPr/>
        </p:nvCxnSpPr>
        <p:spPr>
          <a:xfrm>
            <a:off x="1752600" y="3573053"/>
            <a:ext cx="3581400" cy="61572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5951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Number Systems and Conversion</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Conversion to other bases:</a:t>
            </a:r>
          </a:p>
          <a:p>
            <a:pPr algn="l"/>
            <a:endParaRPr lang="en-US" b="1" dirty="0" smtClean="0"/>
          </a:p>
          <a:p>
            <a:pPr algn="l"/>
            <a:endParaRPr lang="en-US" b="1" dirty="0"/>
          </a:p>
          <a:p>
            <a:pPr algn="l"/>
            <a:endParaRPr lang="en-US" b="1" dirty="0" smtClean="0"/>
          </a:p>
          <a:p>
            <a:pPr algn="l"/>
            <a:endParaRPr lang="en-US" b="1" dirty="0"/>
          </a:p>
          <a:p>
            <a:pPr algn="l"/>
            <a:endParaRPr lang="en-US" b="1" dirty="0" smtClean="0"/>
          </a:p>
          <a:p>
            <a:pPr algn="l"/>
            <a:endParaRPr lang="en-US" b="1" dirty="0"/>
          </a:p>
          <a:p>
            <a:pPr algn="l"/>
            <a:endParaRPr lang="en-US" b="1" dirty="0" smtClean="0"/>
          </a:p>
          <a:p>
            <a:pPr algn="l"/>
            <a:endParaRPr lang="en-US" b="1" dirty="0"/>
          </a:p>
          <a:p>
            <a:pPr algn="l"/>
            <a:endParaRPr lang="en-US" b="1" dirty="0" smtClean="0"/>
          </a:p>
          <a:p>
            <a:pPr algn="l"/>
            <a:endParaRPr lang="en-US" b="1"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13</a:t>
            </a:fld>
            <a:endParaRPr lang="en-US"/>
          </a:p>
        </p:txBody>
      </p:sp>
      <p:pic>
        <p:nvPicPr>
          <p:cNvPr id="5" name="Picture 4"/>
          <p:cNvPicPr>
            <a:picLocks noChangeAspect="1"/>
          </p:cNvPicPr>
          <p:nvPr/>
        </p:nvPicPr>
        <p:blipFill>
          <a:blip r:embed="rId2"/>
          <a:stretch>
            <a:fillRect/>
          </a:stretch>
        </p:blipFill>
        <p:spPr>
          <a:xfrm>
            <a:off x="323022" y="2771774"/>
            <a:ext cx="8675001" cy="2333626"/>
          </a:xfrm>
          <a:prstGeom prst="rect">
            <a:avLst/>
          </a:prstGeom>
        </p:spPr>
      </p:pic>
      <p:sp>
        <p:nvSpPr>
          <p:cNvPr id="6" name="Rectangle 5"/>
          <p:cNvSpPr/>
          <p:nvPr/>
        </p:nvSpPr>
        <p:spPr>
          <a:xfrm>
            <a:off x="1345306" y="4787534"/>
            <a:ext cx="7417694" cy="5715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873403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Number Systems and Conversion</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Bases greater than 10:</a:t>
            </a:r>
          </a:p>
          <a:p>
            <a:pPr algn="l"/>
            <a:r>
              <a:rPr lang="en-US" dirty="0" smtClean="0"/>
              <a:t>For bases greater than 10, more than 10 symbols are needed to represent the digits. </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14</a:t>
            </a:fld>
            <a:endParaRPr lang="en-US"/>
          </a:p>
        </p:txBody>
      </p:sp>
      <p:sp>
        <p:nvSpPr>
          <p:cNvPr id="10" name="Rectangle 9"/>
          <p:cNvSpPr/>
          <p:nvPr/>
        </p:nvSpPr>
        <p:spPr>
          <a:xfrm>
            <a:off x="325262" y="4038600"/>
            <a:ext cx="8513938"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33400" y="3581400"/>
            <a:ext cx="6858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p:cNvPicPr>
            <a:picLocks noChangeAspect="1"/>
          </p:cNvPicPr>
          <p:nvPr/>
        </p:nvPicPr>
        <p:blipFill>
          <a:blip r:embed="rId2"/>
          <a:stretch>
            <a:fillRect/>
          </a:stretch>
        </p:blipFill>
        <p:spPr>
          <a:xfrm>
            <a:off x="533400" y="3786851"/>
            <a:ext cx="8580288" cy="1699067"/>
          </a:xfrm>
          <a:prstGeom prst="rect">
            <a:avLst/>
          </a:prstGeom>
        </p:spPr>
      </p:pic>
      <p:sp>
        <p:nvSpPr>
          <p:cNvPr id="21" name="Rectangle 20"/>
          <p:cNvSpPr/>
          <p:nvPr/>
        </p:nvSpPr>
        <p:spPr>
          <a:xfrm>
            <a:off x="570640" y="3605454"/>
            <a:ext cx="665338" cy="4572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020630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Number Systems and Conversion</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Conversion of </a:t>
            </a:r>
            <a:r>
              <a:rPr lang="en-US" b="1" dirty="0"/>
              <a:t>a decimal integer to base R using the </a:t>
            </a:r>
            <a:r>
              <a:rPr lang="en-US" b="1" dirty="0" smtClean="0"/>
              <a:t>division method:</a:t>
            </a:r>
            <a:endParaRPr lang="en-US" b="1" dirty="0"/>
          </a:p>
          <a:p>
            <a:pPr algn="l"/>
            <a:r>
              <a:rPr lang="en-US" dirty="0" smtClean="0"/>
              <a:t>The base R equivalent of a decimal integer N is as follows (from previous slides):</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15</a:t>
            </a:fld>
            <a:endParaRPr lang="en-US"/>
          </a:p>
        </p:txBody>
      </p:sp>
      <p:sp>
        <p:nvSpPr>
          <p:cNvPr id="10" name="Rectangle 9"/>
          <p:cNvSpPr/>
          <p:nvPr/>
        </p:nvSpPr>
        <p:spPr>
          <a:xfrm>
            <a:off x="325262" y="4038600"/>
            <a:ext cx="8513938"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33400" y="3581400"/>
            <a:ext cx="6858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570640" y="3605454"/>
            <a:ext cx="665338" cy="4572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5" name="Picture 4"/>
          <p:cNvPicPr>
            <a:picLocks noChangeAspect="1"/>
          </p:cNvPicPr>
          <p:nvPr/>
        </p:nvPicPr>
        <p:blipFill rotWithShape="1">
          <a:blip r:embed="rId2"/>
          <a:srcRect b="48514"/>
          <a:stretch/>
        </p:blipFill>
        <p:spPr>
          <a:xfrm>
            <a:off x="570640" y="4101462"/>
            <a:ext cx="7908471" cy="2219674"/>
          </a:xfrm>
          <a:prstGeom prst="rect">
            <a:avLst/>
          </a:prstGeom>
        </p:spPr>
      </p:pic>
      <p:pic>
        <p:nvPicPr>
          <p:cNvPr id="6" name="Picture 5"/>
          <p:cNvPicPr>
            <a:picLocks noChangeAspect="1"/>
          </p:cNvPicPr>
          <p:nvPr/>
        </p:nvPicPr>
        <p:blipFill rotWithShape="1">
          <a:blip r:embed="rId3"/>
          <a:srcRect t="46227" b="13773"/>
          <a:stretch/>
        </p:blipFill>
        <p:spPr>
          <a:xfrm>
            <a:off x="486052" y="3473769"/>
            <a:ext cx="8657948" cy="672462"/>
          </a:xfrm>
          <a:prstGeom prst="rect">
            <a:avLst/>
          </a:prstGeom>
        </p:spPr>
      </p:pic>
    </p:spTree>
    <p:extLst>
      <p:ext uri="{BB962C8B-B14F-4D97-AF65-F5344CB8AC3E}">
        <p14:creationId xmlns:p14="http://schemas.microsoft.com/office/powerpoint/2010/main" val="746663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Number Systems and Conversion</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Conversion of </a:t>
            </a:r>
            <a:r>
              <a:rPr lang="en-US" b="1" dirty="0"/>
              <a:t>a decimal integer to base R using the </a:t>
            </a:r>
            <a:r>
              <a:rPr lang="en-US" b="1" dirty="0" smtClean="0"/>
              <a:t>division method (continued):</a:t>
            </a:r>
            <a:endParaRPr lang="en-US" b="1"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16</a:t>
            </a:fld>
            <a:endParaRPr lang="en-US"/>
          </a:p>
        </p:txBody>
      </p:sp>
      <p:sp>
        <p:nvSpPr>
          <p:cNvPr id="10" name="Rectangle 9"/>
          <p:cNvSpPr/>
          <p:nvPr/>
        </p:nvSpPr>
        <p:spPr>
          <a:xfrm>
            <a:off x="325262" y="4038600"/>
            <a:ext cx="8513938"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33400" y="3581400"/>
            <a:ext cx="6858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570640" y="3605454"/>
            <a:ext cx="665338" cy="4572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5" name="Picture 4"/>
          <p:cNvPicPr>
            <a:picLocks noChangeAspect="1"/>
          </p:cNvPicPr>
          <p:nvPr/>
        </p:nvPicPr>
        <p:blipFill rotWithShape="1">
          <a:blip r:embed="rId2"/>
          <a:srcRect t="54034"/>
          <a:stretch/>
        </p:blipFill>
        <p:spPr>
          <a:xfrm>
            <a:off x="762000" y="3200400"/>
            <a:ext cx="7497924" cy="1878827"/>
          </a:xfrm>
          <a:prstGeom prst="rect">
            <a:avLst/>
          </a:prstGeom>
        </p:spPr>
      </p:pic>
    </p:spTree>
    <p:extLst>
      <p:ext uri="{BB962C8B-B14F-4D97-AF65-F5344CB8AC3E}">
        <p14:creationId xmlns:p14="http://schemas.microsoft.com/office/powerpoint/2010/main" val="4133607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Number Systems and Conversion</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Example 1: Conversion of decimal integer to binary</a:t>
            </a:r>
            <a:endParaRPr lang="en-US" b="1"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17</a:t>
            </a:fld>
            <a:endParaRPr lang="en-US"/>
          </a:p>
        </p:txBody>
      </p:sp>
      <p:sp>
        <p:nvSpPr>
          <p:cNvPr id="10" name="Rectangle 9"/>
          <p:cNvSpPr/>
          <p:nvPr/>
        </p:nvSpPr>
        <p:spPr>
          <a:xfrm>
            <a:off x="325262" y="4038600"/>
            <a:ext cx="8513938"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33400" y="3581400"/>
            <a:ext cx="6858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570640" y="3605454"/>
            <a:ext cx="665338" cy="4572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6" name="Picture 5"/>
          <p:cNvPicPr>
            <a:picLocks noChangeAspect="1"/>
          </p:cNvPicPr>
          <p:nvPr/>
        </p:nvPicPr>
        <p:blipFill>
          <a:blip r:embed="rId2"/>
          <a:stretch>
            <a:fillRect/>
          </a:stretch>
        </p:blipFill>
        <p:spPr>
          <a:xfrm>
            <a:off x="681135" y="2514600"/>
            <a:ext cx="8114768" cy="2743200"/>
          </a:xfrm>
          <a:prstGeom prst="rect">
            <a:avLst/>
          </a:prstGeom>
        </p:spPr>
      </p:pic>
    </p:spTree>
    <p:extLst>
      <p:ext uri="{BB962C8B-B14F-4D97-AF65-F5344CB8AC3E}">
        <p14:creationId xmlns:p14="http://schemas.microsoft.com/office/powerpoint/2010/main" val="1862653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Number Systems and Conversion</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Conversion of </a:t>
            </a:r>
            <a:r>
              <a:rPr lang="en-US" b="1" dirty="0"/>
              <a:t>a decimal </a:t>
            </a:r>
            <a:r>
              <a:rPr lang="en-US" b="1" dirty="0" smtClean="0"/>
              <a:t>fraction F to </a:t>
            </a:r>
            <a:r>
              <a:rPr lang="en-US" b="1" dirty="0"/>
              <a:t>base R using </a:t>
            </a:r>
            <a:r>
              <a:rPr lang="en-US" b="1" dirty="0" smtClean="0"/>
              <a:t>successive multiplications:</a:t>
            </a:r>
            <a:endParaRPr lang="en-US" b="1"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18</a:t>
            </a:fld>
            <a:endParaRPr lang="en-US"/>
          </a:p>
        </p:txBody>
      </p:sp>
      <p:sp>
        <p:nvSpPr>
          <p:cNvPr id="10" name="Rectangle 9"/>
          <p:cNvSpPr/>
          <p:nvPr/>
        </p:nvSpPr>
        <p:spPr>
          <a:xfrm>
            <a:off x="325262" y="4038600"/>
            <a:ext cx="8513938"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33400" y="3581400"/>
            <a:ext cx="6858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570640" y="3605454"/>
            <a:ext cx="665338" cy="4572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6" name="Picture 5"/>
          <p:cNvPicPr>
            <a:picLocks noChangeAspect="1"/>
          </p:cNvPicPr>
          <p:nvPr/>
        </p:nvPicPr>
        <p:blipFill>
          <a:blip r:embed="rId2"/>
          <a:stretch>
            <a:fillRect/>
          </a:stretch>
        </p:blipFill>
        <p:spPr>
          <a:xfrm>
            <a:off x="681135" y="2971799"/>
            <a:ext cx="7929465" cy="3111371"/>
          </a:xfrm>
          <a:prstGeom prst="rect">
            <a:avLst/>
          </a:prstGeom>
        </p:spPr>
      </p:pic>
    </p:spTree>
    <p:extLst>
      <p:ext uri="{BB962C8B-B14F-4D97-AF65-F5344CB8AC3E}">
        <p14:creationId xmlns:p14="http://schemas.microsoft.com/office/powerpoint/2010/main" val="2412522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Number Systems and Conversion</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a:t>Conversion of a decimal fraction F to base R using successive </a:t>
            </a:r>
            <a:r>
              <a:rPr lang="en-US" b="1" dirty="0" smtClean="0"/>
              <a:t>multiplications (continued):</a:t>
            </a:r>
            <a:endParaRPr lang="en-US" b="1"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19</a:t>
            </a:fld>
            <a:endParaRPr lang="en-US"/>
          </a:p>
        </p:txBody>
      </p:sp>
      <p:sp>
        <p:nvSpPr>
          <p:cNvPr id="10" name="Rectangle 9"/>
          <p:cNvSpPr/>
          <p:nvPr/>
        </p:nvSpPr>
        <p:spPr>
          <a:xfrm>
            <a:off x="325262" y="4038600"/>
            <a:ext cx="8513938"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33400" y="3581400"/>
            <a:ext cx="6858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570640" y="3605454"/>
            <a:ext cx="665338" cy="4572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6" name="Picture 5"/>
          <p:cNvPicPr>
            <a:picLocks noChangeAspect="1"/>
          </p:cNvPicPr>
          <p:nvPr/>
        </p:nvPicPr>
        <p:blipFill>
          <a:blip r:embed="rId2"/>
          <a:stretch>
            <a:fillRect/>
          </a:stretch>
        </p:blipFill>
        <p:spPr>
          <a:xfrm>
            <a:off x="643813" y="2890837"/>
            <a:ext cx="7889822" cy="2138363"/>
          </a:xfrm>
          <a:prstGeom prst="rect">
            <a:avLst/>
          </a:prstGeom>
        </p:spPr>
      </p:pic>
    </p:spTree>
    <p:extLst>
      <p:ext uri="{BB962C8B-B14F-4D97-AF65-F5344CB8AC3E}">
        <p14:creationId xmlns:p14="http://schemas.microsoft.com/office/powerpoint/2010/main" val="42935451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Number Systems and Conversion</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Example 2: Conversion </a:t>
            </a:r>
            <a:r>
              <a:rPr lang="en-US" b="1" dirty="0"/>
              <a:t>of a decimal fraction F to base R using successive </a:t>
            </a:r>
            <a:r>
              <a:rPr lang="en-US" b="1" dirty="0" smtClean="0"/>
              <a:t>multiplications</a:t>
            </a:r>
            <a:endParaRPr lang="en-US" b="1"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20</a:t>
            </a:fld>
            <a:endParaRPr lang="en-US"/>
          </a:p>
        </p:txBody>
      </p:sp>
      <p:sp>
        <p:nvSpPr>
          <p:cNvPr id="10" name="Rectangle 9"/>
          <p:cNvSpPr/>
          <p:nvPr/>
        </p:nvSpPr>
        <p:spPr>
          <a:xfrm>
            <a:off x="325262" y="4038600"/>
            <a:ext cx="8513938"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33400" y="3581400"/>
            <a:ext cx="6858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570640" y="3605454"/>
            <a:ext cx="665338" cy="4572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p:cNvPicPr>
            <a:picLocks noChangeAspect="1"/>
          </p:cNvPicPr>
          <p:nvPr/>
        </p:nvPicPr>
        <p:blipFill>
          <a:blip r:embed="rId2"/>
          <a:stretch>
            <a:fillRect/>
          </a:stretch>
        </p:blipFill>
        <p:spPr>
          <a:xfrm>
            <a:off x="679580" y="3048000"/>
            <a:ext cx="8217243" cy="2514600"/>
          </a:xfrm>
          <a:prstGeom prst="rect">
            <a:avLst/>
          </a:prstGeom>
        </p:spPr>
      </p:pic>
    </p:spTree>
    <p:extLst>
      <p:ext uri="{BB962C8B-B14F-4D97-AF65-F5344CB8AC3E}">
        <p14:creationId xmlns:p14="http://schemas.microsoft.com/office/powerpoint/2010/main" val="25268627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Number Systems and Conversion</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Example 3: Conversion </a:t>
            </a:r>
            <a:r>
              <a:rPr lang="en-US" b="1" dirty="0"/>
              <a:t>of a decimal fraction F to base R using successive </a:t>
            </a:r>
            <a:r>
              <a:rPr lang="en-US" b="1" dirty="0" smtClean="0"/>
              <a:t>multiplications</a:t>
            </a:r>
            <a:endParaRPr lang="en-US" b="1"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21</a:t>
            </a:fld>
            <a:endParaRPr lang="en-US"/>
          </a:p>
        </p:txBody>
      </p:sp>
      <p:sp>
        <p:nvSpPr>
          <p:cNvPr id="10" name="Rectangle 9"/>
          <p:cNvSpPr/>
          <p:nvPr/>
        </p:nvSpPr>
        <p:spPr>
          <a:xfrm>
            <a:off x="325262" y="4038600"/>
            <a:ext cx="8513938"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33400" y="3581400"/>
            <a:ext cx="6858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570640" y="3605454"/>
            <a:ext cx="665338" cy="4572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6" name="Picture 5"/>
          <p:cNvPicPr>
            <a:picLocks noChangeAspect="1"/>
          </p:cNvPicPr>
          <p:nvPr/>
        </p:nvPicPr>
        <p:blipFill>
          <a:blip r:embed="rId2"/>
          <a:stretch>
            <a:fillRect/>
          </a:stretch>
        </p:blipFill>
        <p:spPr>
          <a:xfrm>
            <a:off x="681135" y="2982154"/>
            <a:ext cx="8489094" cy="3338981"/>
          </a:xfrm>
          <a:prstGeom prst="rect">
            <a:avLst/>
          </a:prstGeom>
        </p:spPr>
      </p:pic>
    </p:spTree>
    <p:extLst>
      <p:ext uri="{BB962C8B-B14F-4D97-AF65-F5344CB8AC3E}">
        <p14:creationId xmlns:p14="http://schemas.microsoft.com/office/powerpoint/2010/main" val="1751154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Number Systems and Conversion</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Example </a:t>
            </a:r>
            <a:r>
              <a:rPr lang="en-US" b="1" dirty="0"/>
              <a:t>4</a:t>
            </a:r>
            <a:r>
              <a:rPr lang="en-US" b="1" dirty="0" smtClean="0"/>
              <a:t>: Conversion between two bases other than decimal</a:t>
            </a:r>
            <a:endParaRPr lang="en-US" b="1"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22</a:t>
            </a:fld>
            <a:endParaRPr lang="en-US"/>
          </a:p>
        </p:txBody>
      </p:sp>
      <p:sp>
        <p:nvSpPr>
          <p:cNvPr id="10" name="Rectangle 9"/>
          <p:cNvSpPr/>
          <p:nvPr/>
        </p:nvSpPr>
        <p:spPr>
          <a:xfrm>
            <a:off x="325262" y="4038600"/>
            <a:ext cx="8513938"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33400" y="3581400"/>
            <a:ext cx="6858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570640" y="3605454"/>
            <a:ext cx="665338" cy="4572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5" name="Picture 4"/>
          <p:cNvPicPr>
            <a:picLocks noChangeAspect="1"/>
          </p:cNvPicPr>
          <p:nvPr/>
        </p:nvPicPr>
        <p:blipFill>
          <a:blip r:embed="rId2"/>
          <a:stretch>
            <a:fillRect/>
          </a:stretch>
        </p:blipFill>
        <p:spPr>
          <a:xfrm>
            <a:off x="570640" y="2819400"/>
            <a:ext cx="7892132" cy="3341714"/>
          </a:xfrm>
          <a:prstGeom prst="rect">
            <a:avLst/>
          </a:prstGeom>
        </p:spPr>
      </p:pic>
    </p:spTree>
    <p:extLst>
      <p:ext uri="{BB962C8B-B14F-4D97-AF65-F5344CB8AC3E}">
        <p14:creationId xmlns:p14="http://schemas.microsoft.com/office/powerpoint/2010/main" val="1838645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Number Systems and Conversion</a:t>
            </a:r>
            <a:endParaRPr lang="en-US" dirty="0"/>
          </a:p>
        </p:txBody>
      </p:sp>
      <p:sp>
        <p:nvSpPr>
          <p:cNvPr id="3" name="Subtitle 2"/>
          <p:cNvSpPr>
            <a:spLocks noGrp="1"/>
          </p:cNvSpPr>
          <p:nvPr>
            <p:ph type="subTitle" idx="1"/>
          </p:nvPr>
        </p:nvSpPr>
        <p:spPr>
          <a:xfrm>
            <a:off x="687685" y="1835763"/>
            <a:ext cx="7848600" cy="3643674"/>
          </a:xfrm>
        </p:spPr>
        <p:txBody>
          <a:bodyPr>
            <a:normAutofit/>
          </a:bodyPr>
          <a:lstStyle/>
          <a:p>
            <a:pPr algn="l"/>
            <a:r>
              <a:rPr lang="en-US" b="1" dirty="0" smtClean="0"/>
              <a:t>Conversion from binary to hexadecimal and binary to octal:</a:t>
            </a:r>
          </a:p>
          <a:p>
            <a:pPr algn="l"/>
            <a:r>
              <a:rPr lang="en-US" b="1" dirty="0" smtClean="0"/>
              <a:t> </a:t>
            </a:r>
          </a:p>
          <a:p>
            <a:pPr algn="l"/>
            <a:endParaRPr lang="en-US" b="1" dirty="0"/>
          </a:p>
          <a:p>
            <a:pPr algn="l"/>
            <a:endParaRPr lang="en-US" b="1" u="sng" dirty="0" smtClean="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23</a:t>
            </a:fld>
            <a:endParaRPr lang="en-US"/>
          </a:p>
        </p:txBody>
      </p:sp>
      <p:sp>
        <p:nvSpPr>
          <p:cNvPr id="11" name="Text Box 6"/>
          <p:cNvSpPr txBox="1">
            <a:spLocks noChangeArrowheads="1"/>
          </p:cNvSpPr>
          <p:nvPr/>
        </p:nvSpPr>
        <p:spPr bwMode="auto">
          <a:xfrm>
            <a:off x="681135" y="2525062"/>
            <a:ext cx="78617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dirty="0"/>
              <a:t>Conversion from binary to hexadecimal (and conversely) can be done by inspection because each hexadecimal digit corresponds to exactly four binary digits (bits</a:t>
            </a:r>
            <a:r>
              <a:rPr lang="en-US" altLang="en-US" sz="2000" dirty="0" smtClean="0"/>
              <a:t>).</a:t>
            </a:r>
          </a:p>
          <a:p>
            <a:endParaRPr lang="en-US" altLang="en-US" sz="2000" dirty="0"/>
          </a:p>
          <a:p>
            <a:endParaRPr lang="en-US" altLang="en-US" sz="2000" dirty="0" smtClean="0"/>
          </a:p>
          <a:p>
            <a:endParaRPr lang="en-US" altLang="en-US" sz="2000" dirty="0"/>
          </a:p>
          <a:p>
            <a:r>
              <a:rPr lang="en-US" altLang="en-US" sz="2000" dirty="0" smtClean="0"/>
              <a:t>A similar conversion can be done from binary to octal, base 8 (and conversely), except each octal digit corresponds to three binary digits, instead of four.</a:t>
            </a:r>
          </a:p>
          <a:p>
            <a:endParaRPr lang="en-US" altLang="en-US" sz="2000" dirty="0" smtClean="0"/>
          </a:p>
          <a:p>
            <a:r>
              <a:rPr lang="en-US" altLang="en-US" sz="2000" dirty="0" smtClean="0"/>
              <a:t>100101101011010</a:t>
            </a:r>
            <a:r>
              <a:rPr lang="en-US" altLang="en-US" sz="2000" baseline="-25000" dirty="0" smtClean="0"/>
              <a:t>2</a:t>
            </a:r>
            <a:r>
              <a:rPr lang="en-US" altLang="en-US" sz="2000" dirty="0" smtClean="0"/>
              <a:t>= 100    101    101    011    010 = 45532</a:t>
            </a:r>
            <a:r>
              <a:rPr lang="en-US" altLang="en-US" sz="2000" baseline="-25000" dirty="0" smtClean="0"/>
              <a:t>8</a:t>
            </a:r>
            <a:endParaRPr lang="en-US" altLang="en-US" sz="2000" baseline="-25000" dirty="0"/>
          </a:p>
          <a:p>
            <a:endParaRPr lang="en-US" altLang="en-US" sz="2000" dirty="0"/>
          </a:p>
        </p:txBody>
      </p:sp>
      <p:pic>
        <p:nvPicPr>
          <p:cNvPr id="1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657600"/>
            <a:ext cx="6705600" cy="657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52266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smtClean="0"/>
              <a:t>Binary Arithmetic</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Introduction and Binary Addition:</a:t>
            </a:r>
          </a:p>
          <a:p>
            <a:pPr algn="l"/>
            <a:r>
              <a:rPr lang="en-US" dirty="0" smtClean="0"/>
              <a:t>For simplicity, arithmetic in digital systems is performed in binary (base 2).</a:t>
            </a:r>
          </a:p>
          <a:p>
            <a:pPr algn="l"/>
            <a:endParaRPr lang="en-US" dirty="0" smtClean="0"/>
          </a:p>
          <a:p>
            <a:pPr algn="l"/>
            <a:r>
              <a:rPr lang="en-US" dirty="0" smtClean="0"/>
              <a:t>Addition table for binary:</a:t>
            </a:r>
          </a:p>
          <a:p>
            <a:pPr algn="l"/>
            <a:endParaRPr lang="en-US"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24</a:t>
            </a:fld>
            <a:endParaRPr lang="en-US"/>
          </a:p>
        </p:txBody>
      </p:sp>
      <p:pic>
        <p:nvPicPr>
          <p:cNvPr id="5" name="Picture 4"/>
          <p:cNvPicPr>
            <a:picLocks noChangeAspect="1"/>
          </p:cNvPicPr>
          <p:nvPr/>
        </p:nvPicPr>
        <p:blipFill rotWithShape="1">
          <a:blip r:embed="rId2"/>
          <a:srcRect t="7314" b="-1"/>
          <a:stretch/>
        </p:blipFill>
        <p:spPr>
          <a:xfrm>
            <a:off x="820310" y="4038600"/>
            <a:ext cx="8018890" cy="1946922"/>
          </a:xfrm>
          <a:prstGeom prst="rect">
            <a:avLst/>
          </a:prstGeom>
        </p:spPr>
      </p:pic>
    </p:spTree>
    <p:extLst>
      <p:ext uri="{BB962C8B-B14F-4D97-AF65-F5344CB8AC3E}">
        <p14:creationId xmlns:p14="http://schemas.microsoft.com/office/powerpoint/2010/main" val="1341842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smtClean="0"/>
              <a:t>Binary Arithmetic</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Example 5: Binary addition</a:t>
            </a:r>
            <a:endParaRPr lang="en-US" b="1"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25</a:t>
            </a:fld>
            <a:endParaRPr lang="en-US"/>
          </a:p>
        </p:txBody>
      </p:sp>
      <p:pic>
        <p:nvPicPr>
          <p:cNvPr id="6" name="Picture 5"/>
          <p:cNvPicPr>
            <a:picLocks noChangeAspect="1"/>
          </p:cNvPicPr>
          <p:nvPr/>
        </p:nvPicPr>
        <p:blipFill>
          <a:blip r:embed="rId2"/>
          <a:stretch>
            <a:fillRect/>
          </a:stretch>
        </p:blipFill>
        <p:spPr>
          <a:xfrm>
            <a:off x="824742" y="2971800"/>
            <a:ext cx="7561385" cy="2438400"/>
          </a:xfrm>
          <a:prstGeom prst="rect">
            <a:avLst/>
          </a:prstGeom>
        </p:spPr>
      </p:pic>
    </p:spTree>
    <p:extLst>
      <p:ext uri="{BB962C8B-B14F-4D97-AF65-F5344CB8AC3E}">
        <p14:creationId xmlns:p14="http://schemas.microsoft.com/office/powerpoint/2010/main" val="3183823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smtClean="0"/>
              <a:t>Binary Arithmetic</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Binary Subtraction:</a:t>
            </a:r>
          </a:p>
          <a:p>
            <a:pPr algn="l"/>
            <a:endParaRPr lang="en-US" dirty="0" smtClean="0"/>
          </a:p>
          <a:p>
            <a:pPr algn="l"/>
            <a:r>
              <a:rPr lang="en-US" dirty="0" smtClean="0"/>
              <a:t>Subtraction table for binary:</a:t>
            </a:r>
          </a:p>
          <a:p>
            <a:pPr algn="l"/>
            <a:endParaRPr lang="en-US"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26</a:t>
            </a:fld>
            <a:endParaRPr lang="en-US"/>
          </a:p>
        </p:txBody>
      </p:sp>
      <p:pic>
        <p:nvPicPr>
          <p:cNvPr id="6" name="Picture 5"/>
          <p:cNvPicPr>
            <a:picLocks noChangeAspect="1"/>
          </p:cNvPicPr>
          <p:nvPr/>
        </p:nvPicPr>
        <p:blipFill rotWithShape="1">
          <a:blip r:embed="rId2"/>
          <a:srcRect l="15187" r="7297"/>
          <a:stretch/>
        </p:blipFill>
        <p:spPr>
          <a:xfrm>
            <a:off x="681134" y="3429000"/>
            <a:ext cx="7700865" cy="2406520"/>
          </a:xfrm>
          <a:prstGeom prst="rect">
            <a:avLst/>
          </a:prstGeom>
        </p:spPr>
      </p:pic>
    </p:spTree>
    <p:extLst>
      <p:ext uri="{BB962C8B-B14F-4D97-AF65-F5344CB8AC3E}">
        <p14:creationId xmlns:p14="http://schemas.microsoft.com/office/powerpoint/2010/main" val="1286718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smtClean="0"/>
              <a:t>Binary Arithmetic</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Example 6: Subtractions in Binary</a:t>
            </a:r>
          </a:p>
          <a:p>
            <a:pPr algn="l"/>
            <a:endParaRPr lang="en-US" b="1" dirty="0"/>
          </a:p>
          <a:p>
            <a:pPr algn="l"/>
            <a:endParaRPr lang="en-US" b="1" dirty="0" smtClean="0"/>
          </a:p>
          <a:p>
            <a:pPr algn="l"/>
            <a:endParaRPr lang="en-US" b="1" dirty="0"/>
          </a:p>
          <a:p>
            <a:pPr algn="l"/>
            <a:endParaRPr lang="en-US" b="1" dirty="0" smtClean="0"/>
          </a:p>
          <a:p>
            <a:pPr algn="l"/>
            <a:endParaRPr lang="en-US" b="1" dirty="0"/>
          </a:p>
          <a:p>
            <a:pPr algn="l"/>
            <a:endParaRPr lang="en-US" b="1" dirty="0" smtClean="0"/>
          </a:p>
          <a:p>
            <a:pPr algn="l"/>
            <a:endParaRPr lang="en-US" b="1" dirty="0"/>
          </a:p>
          <a:p>
            <a:pPr algn="l"/>
            <a:r>
              <a:rPr lang="en-US" sz="1800" dirty="0" smtClean="0"/>
              <a:t>Notice how in (b), the borrow propagates from column to column.</a:t>
            </a:r>
            <a:endParaRPr lang="en-US" sz="1800"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27</a:t>
            </a:fld>
            <a:endParaRPr lang="en-US"/>
          </a:p>
        </p:txBody>
      </p:sp>
      <p:pic>
        <p:nvPicPr>
          <p:cNvPr id="6" name="Picture 5"/>
          <p:cNvPicPr>
            <a:picLocks noChangeAspect="1"/>
          </p:cNvPicPr>
          <p:nvPr/>
        </p:nvPicPr>
        <p:blipFill>
          <a:blip r:embed="rId2"/>
          <a:stretch>
            <a:fillRect/>
          </a:stretch>
        </p:blipFill>
        <p:spPr>
          <a:xfrm>
            <a:off x="675409" y="2590800"/>
            <a:ext cx="8423564" cy="1981200"/>
          </a:xfrm>
          <a:prstGeom prst="rect">
            <a:avLst/>
          </a:prstGeom>
        </p:spPr>
      </p:pic>
    </p:spTree>
    <p:extLst>
      <p:ext uri="{BB962C8B-B14F-4D97-AF65-F5344CB8AC3E}">
        <p14:creationId xmlns:p14="http://schemas.microsoft.com/office/powerpoint/2010/main" val="2793174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smtClean="0"/>
              <a:t>Binary Arithmetic</a:t>
            </a:r>
            <a:endParaRPr lang="en-US"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28</a:t>
            </a:fld>
            <a:endParaRPr lang="en-US"/>
          </a:p>
        </p:txBody>
      </p:sp>
      <p:pic>
        <p:nvPicPr>
          <p:cNvPr id="7" name="Picture 6"/>
          <p:cNvPicPr>
            <a:picLocks noChangeAspect="1"/>
          </p:cNvPicPr>
          <p:nvPr/>
        </p:nvPicPr>
        <p:blipFill rotWithShape="1">
          <a:blip r:embed="rId2"/>
          <a:srcRect l="30270" t="16012" r="43784"/>
          <a:stretch/>
        </p:blipFill>
        <p:spPr>
          <a:xfrm>
            <a:off x="2514599" y="3581399"/>
            <a:ext cx="3733801" cy="2003519"/>
          </a:xfrm>
          <a:prstGeom prst="rect">
            <a:avLst/>
          </a:prstGeom>
        </p:spPr>
      </p:pic>
      <p:sp>
        <p:nvSpPr>
          <p:cNvPr id="8" name="Subtitle 2"/>
          <p:cNvSpPr>
            <a:spLocks noGrp="1"/>
          </p:cNvSpPr>
          <p:nvPr>
            <p:ph type="subTitle" idx="1"/>
          </p:nvPr>
        </p:nvSpPr>
        <p:spPr>
          <a:xfrm>
            <a:off x="681135" y="2057400"/>
            <a:ext cx="7848600" cy="3643674"/>
          </a:xfrm>
        </p:spPr>
        <p:txBody>
          <a:bodyPr>
            <a:normAutofit/>
          </a:bodyPr>
          <a:lstStyle/>
          <a:p>
            <a:pPr algn="l"/>
            <a:r>
              <a:rPr lang="en-US" b="1" dirty="0" smtClean="0"/>
              <a:t>Binary Multiplication:</a:t>
            </a:r>
          </a:p>
          <a:p>
            <a:pPr algn="l"/>
            <a:endParaRPr lang="en-US" dirty="0" smtClean="0"/>
          </a:p>
          <a:p>
            <a:pPr algn="l"/>
            <a:r>
              <a:rPr lang="en-US" dirty="0" smtClean="0"/>
              <a:t>Multiplication table for binary:</a:t>
            </a:r>
          </a:p>
          <a:p>
            <a:pPr algn="l"/>
            <a:endParaRPr lang="en-US" dirty="0"/>
          </a:p>
        </p:txBody>
      </p:sp>
    </p:spTree>
    <p:extLst>
      <p:ext uri="{BB962C8B-B14F-4D97-AF65-F5344CB8AC3E}">
        <p14:creationId xmlns:p14="http://schemas.microsoft.com/office/powerpoint/2010/main" val="4860729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smtClean="0"/>
              <a:t>Binary Arithmetic</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Example 7: Binary Multiplication</a:t>
            </a:r>
            <a:endParaRPr lang="en-US" b="1"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29</a:t>
            </a:fld>
            <a:endParaRPr lang="en-US"/>
          </a:p>
        </p:txBody>
      </p:sp>
      <p:sp>
        <p:nvSpPr>
          <p:cNvPr id="5" name="Rectangle 4"/>
          <p:cNvSpPr>
            <a:spLocks noChangeArrowheads="1"/>
          </p:cNvSpPr>
          <p:nvPr/>
        </p:nvSpPr>
        <p:spPr bwMode="auto">
          <a:xfrm>
            <a:off x="0" y="2525062"/>
            <a:ext cx="9144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sz="2000" dirty="0" smtClean="0">
                <a:solidFill>
                  <a:srgbClr val="000000"/>
                </a:solidFill>
                <a:latin typeface="Verdana" panose="020B0604030504040204" pitchFamily="34" charset="0"/>
                <a:ea typeface="Verdana" panose="020B0604030504040204" pitchFamily="34" charset="0"/>
                <a:cs typeface="Verdana" panose="020B0604030504040204" pitchFamily="34" charset="0"/>
              </a:rPr>
              <a:t>13</a:t>
            </a:r>
            <a:r>
              <a:rPr lang="en-US" altLang="en-US" sz="2000" baseline="-30000" dirty="0" smtClean="0">
                <a:solidFill>
                  <a:srgbClr val="000000"/>
                </a:solidFill>
                <a:latin typeface="Verdana" panose="020B0604030504040204" pitchFamily="34" charset="0"/>
                <a:ea typeface="Verdana" panose="020B0604030504040204" pitchFamily="34" charset="0"/>
                <a:cs typeface="Verdana" panose="020B0604030504040204" pitchFamily="34" charset="0"/>
              </a:rPr>
              <a:t>10</a:t>
            </a:r>
            <a:r>
              <a:rPr lang="en-US" altLang="en-US" sz="2000" dirty="0" smtClean="0">
                <a:solidFill>
                  <a:srgbClr val="000000"/>
                </a:solidFill>
                <a:latin typeface="Verdana" panose="020B0604030504040204" pitchFamily="34" charset="0"/>
                <a:ea typeface="Verdana" panose="020B0604030504040204" pitchFamily="34" charset="0"/>
                <a:cs typeface="Verdana" panose="020B0604030504040204" pitchFamily="34" charset="0"/>
              </a:rPr>
              <a:t> </a:t>
            </a:r>
            <a:r>
              <a:rPr lang="en-US" alt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by 11</a:t>
            </a:r>
            <a:r>
              <a:rPr lang="en-US" altLang="en-US" sz="2000" baseline="-30000" dirty="0">
                <a:solidFill>
                  <a:srgbClr val="000000"/>
                </a:solidFill>
                <a:latin typeface="Verdana" panose="020B0604030504040204" pitchFamily="34" charset="0"/>
                <a:ea typeface="Verdana" panose="020B0604030504040204" pitchFamily="34" charset="0"/>
                <a:cs typeface="Verdana" panose="020B0604030504040204" pitchFamily="34" charset="0"/>
              </a:rPr>
              <a:t>10</a:t>
            </a:r>
            <a:r>
              <a:rPr lang="en-US" alt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 in binary:</a:t>
            </a:r>
            <a:endParaRPr lang="en-US" alt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3019190"/>
            <a:ext cx="3032375" cy="3149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65526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smtClean="0"/>
              <a:t>Binary Arithmetic</a:t>
            </a:r>
            <a:endParaRPr lang="en-US"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30</a:t>
            </a:fld>
            <a:endParaRPr lang="en-US"/>
          </a:p>
        </p:txBody>
      </p:sp>
      <p:pic>
        <p:nvPicPr>
          <p:cNvPr id="7" name="Picture 6"/>
          <p:cNvPicPr>
            <a:picLocks noChangeAspect="1"/>
          </p:cNvPicPr>
          <p:nvPr/>
        </p:nvPicPr>
        <p:blipFill>
          <a:blip r:embed="rId2"/>
          <a:stretch>
            <a:fillRect/>
          </a:stretch>
        </p:blipFill>
        <p:spPr>
          <a:xfrm>
            <a:off x="1143000" y="1509048"/>
            <a:ext cx="6683701" cy="4739352"/>
          </a:xfrm>
          <a:prstGeom prst="rect">
            <a:avLst/>
          </a:prstGeom>
        </p:spPr>
      </p:pic>
    </p:spTree>
    <p:extLst>
      <p:ext uri="{BB962C8B-B14F-4D97-AF65-F5344CB8AC3E}">
        <p14:creationId xmlns:p14="http://schemas.microsoft.com/office/powerpoint/2010/main" val="35469779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smtClean="0"/>
              <a:t>Binary Arithmetic</a:t>
            </a:r>
            <a:endParaRPr lang="en-US" dirty="0"/>
          </a:p>
        </p:txBody>
      </p:sp>
      <p:sp>
        <p:nvSpPr>
          <p:cNvPr id="3" name="Subtitle 2"/>
          <p:cNvSpPr>
            <a:spLocks noGrp="1"/>
          </p:cNvSpPr>
          <p:nvPr>
            <p:ph type="subTitle" idx="1"/>
          </p:nvPr>
        </p:nvSpPr>
        <p:spPr>
          <a:xfrm>
            <a:off x="681135" y="2057400"/>
            <a:ext cx="7848600" cy="4191000"/>
          </a:xfrm>
        </p:spPr>
        <p:txBody>
          <a:bodyPr>
            <a:normAutofit fontScale="92500" lnSpcReduction="10000"/>
          </a:bodyPr>
          <a:lstStyle/>
          <a:p>
            <a:pPr algn="l"/>
            <a:r>
              <a:rPr lang="en-US" b="1" dirty="0" smtClean="0"/>
              <a:t>Binary Division:</a:t>
            </a:r>
          </a:p>
          <a:p>
            <a:pPr marL="342900" indent="-342900" algn="l">
              <a:spcBef>
                <a:spcPct val="50000"/>
              </a:spcBef>
              <a:buFont typeface="Wingdings" panose="05000000000000000000" pitchFamily="2" charset="2"/>
              <a:buChar char="v"/>
            </a:pPr>
            <a:r>
              <a:rPr lang="en-US" altLang="en-US" dirty="0"/>
              <a:t>Binary division is similar to decimal division, except it is much easier because the only two possible quotient digits are 0 and 1.</a:t>
            </a:r>
          </a:p>
          <a:p>
            <a:pPr marL="342900" indent="-342900" algn="l">
              <a:spcBef>
                <a:spcPct val="50000"/>
              </a:spcBef>
              <a:buFont typeface="Wingdings" panose="05000000000000000000" pitchFamily="2" charset="2"/>
              <a:buChar char="v"/>
            </a:pPr>
            <a:r>
              <a:rPr lang="en-US" altLang="en-US" dirty="0"/>
              <a:t>We start division by comparing the divisor with the upper bits of the dividend. </a:t>
            </a:r>
          </a:p>
          <a:p>
            <a:pPr marL="342900" indent="-342900" algn="l">
              <a:spcBef>
                <a:spcPct val="50000"/>
              </a:spcBef>
              <a:buFont typeface="Wingdings" panose="05000000000000000000" pitchFamily="2" charset="2"/>
              <a:buChar char="v"/>
            </a:pPr>
            <a:r>
              <a:rPr lang="en-US" altLang="en-US" dirty="0"/>
              <a:t>If we cannot subtract without getting a negative result, we move one place to the right and try again. </a:t>
            </a:r>
          </a:p>
          <a:p>
            <a:pPr marL="342900" indent="-342900" algn="l">
              <a:spcBef>
                <a:spcPct val="50000"/>
              </a:spcBef>
              <a:buFont typeface="Wingdings" panose="05000000000000000000" pitchFamily="2" charset="2"/>
              <a:buChar char="v"/>
            </a:pPr>
            <a:r>
              <a:rPr lang="en-US" altLang="en-US" dirty="0"/>
              <a:t>If we can subtract, we place a 1 for the quotient above the number we subtracted from and append the next dividend bit to the end of the difference and repeat this process with this modified difference until we run out of bits in the dividend.</a:t>
            </a:r>
          </a:p>
          <a:p>
            <a:pPr algn="l"/>
            <a:endParaRPr lang="en-US"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31</a:t>
            </a:fld>
            <a:endParaRPr lang="en-US"/>
          </a:p>
        </p:txBody>
      </p:sp>
    </p:spTree>
    <p:extLst>
      <p:ext uri="{BB962C8B-B14F-4D97-AF65-F5344CB8AC3E}">
        <p14:creationId xmlns:p14="http://schemas.microsoft.com/office/powerpoint/2010/main" val="18654701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smtClean="0"/>
              <a:t>Binary Arithmetic</a:t>
            </a:r>
            <a:endParaRPr lang="en-US" dirty="0"/>
          </a:p>
        </p:txBody>
      </p:sp>
      <p:sp>
        <p:nvSpPr>
          <p:cNvPr id="3" name="Subtitle 2"/>
          <p:cNvSpPr>
            <a:spLocks noGrp="1"/>
          </p:cNvSpPr>
          <p:nvPr>
            <p:ph type="subTitle" idx="1"/>
          </p:nvPr>
        </p:nvSpPr>
        <p:spPr>
          <a:xfrm>
            <a:off x="681135" y="2057400"/>
            <a:ext cx="7848600" cy="4191000"/>
          </a:xfrm>
        </p:spPr>
        <p:txBody>
          <a:bodyPr>
            <a:normAutofit/>
          </a:bodyPr>
          <a:lstStyle/>
          <a:p>
            <a:pPr algn="l"/>
            <a:r>
              <a:rPr lang="en-US" b="1" dirty="0" smtClean="0"/>
              <a:t>Example 8: Binary Division</a:t>
            </a:r>
            <a:endParaRPr lang="en-US"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32</a:t>
            </a:fld>
            <a:endParaRPr lang="en-US"/>
          </a:p>
        </p:txBody>
      </p:sp>
      <p:sp>
        <p:nvSpPr>
          <p:cNvPr id="5" name="Rectangle 4"/>
          <p:cNvSpPr>
            <a:spLocks noChangeArrowheads="1"/>
          </p:cNvSpPr>
          <p:nvPr/>
        </p:nvSpPr>
        <p:spPr bwMode="auto">
          <a:xfrm>
            <a:off x="794657" y="2460366"/>
            <a:ext cx="77481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457200">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145</a:t>
            </a:r>
            <a:r>
              <a:rPr lang="en-US" altLang="en-US" sz="2000" baseline="-30000" dirty="0">
                <a:solidFill>
                  <a:srgbClr val="000000"/>
                </a:solidFill>
                <a:latin typeface="Verdana" panose="020B0604030504040204" pitchFamily="34" charset="0"/>
                <a:ea typeface="Verdana" panose="020B0604030504040204" pitchFamily="34" charset="0"/>
                <a:cs typeface="Verdana" panose="020B0604030504040204" pitchFamily="34" charset="0"/>
              </a:rPr>
              <a:t>10</a:t>
            </a:r>
            <a:r>
              <a:rPr lang="en-US" alt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 by 11</a:t>
            </a:r>
            <a:r>
              <a:rPr lang="en-US" altLang="en-US" sz="2000" baseline="-30000" dirty="0">
                <a:solidFill>
                  <a:srgbClr val="000000"/>
                </a:solidFill>
                <a:latin typeface="Verdana" panose="020B0604030504040204" pitchFamily="34" charset="0"/>
                <a:ea typeface="Verdana" panose="020B0604030504040204" pitchFamily="34" charset="0"/>
                <a:cs typeface="Verdana" panose="020B0604030504040204" pitchFamily="34" charset="0"/>
              </a:rPr>
              <a:t>10</a:t>
            </a:r>
            <a:r>
              <a:rPr lang="en-US" alt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 in binary </a:t>
            </a:r>
            <a:r>
              <a:rPr lang="en-US" altLang="en-US" sz="600" dirty="0">
                <a:solidFill>
                  <a:srgbClr val="000000"/>
                </a:solidFill>
                <a:latin typeface="Arial" panose="020B0604020202020204" pitchFamily="34" charset="0"/>
                <a:cs typeface="Times New Roman" panose="02020603050405020304" pitchFamily="18" charset="0"/>
              </a:rPr>
              <a:t> </a:t>
            </a:r>
            <a:endParaRPr lang="en-US" altLang="en-US" dirty="0">
              <a:latin typeface="Arial" panose="020B0604020202020204" pitchFamily="34" charset="0"/>
            </a:endParaRPr>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048000"/>
            <a:ext cx="7700773"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33527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Representation of Negative Numbers</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dirty="0"/>
              <a:t>Common methods of </a:t>
            </a:r>
            <a:r>
              <a:rPr lang="en-US" dirty="0" smtClean="0"/>
              <a:t>representing </a:t>
            </a:r>
            <a:r>
              <a:rPr lang="en-US" dirty="0"/>
              <a:t>both positive and negative numbers </a:t>
            </a:r>
            <a:r>
              <a:rPr lang="en-US" dirty="0" smtClean="0"/>
              <a:t>are: </a:t>
            </a:r>
          </a:p>
          <a:p>
            <a:pPr marL="342900" indent="-342900" algn="l">
              <a:buFont typeface="Wingdings" panose="05000000000000000000" pitchFamily="2" charset="2"/>
              <a:buChar char="v"/>
            </a:pPr>
            <a:r>
              <a:rPr lang="en-US" dirty="0"/>
              <a:t>S</a:t>
            </a:r>
            <a:r>
              <a:rPr lang="en-US" dirty="0" smtClean="0"/>
              <a:t>ign and magnitude</a:t>
            </a:r>
          </a:p>
          <a:p>
            <a:pPr marL="342900" indent="-342900" algn="l">
              <a:buFont typeface="Wingdings" panose="05000000000000000000" pitchFamily="2" charset="2"/>
              <a:buChar char="v"/>
            </a:pPr>
            <a:r>
              <a:rPr lang="en-US" dirty="0" smtClean="0"/>
              <a:t>2’s complement</a:t>
            </a:r>
          </a:p>
          <a:p>
            <a:pPr marL="342900" indent="-342900" algn="l">
              <a:buFont typeface="Wingdings" panose="05000000000000000000" pitchFamily="2" charset="2"/>
              <a:buChar char="v"/>
            </a:pPr>
            <a:r>
              <a:rPr lang="en-US" dirty="0" smtClean="0"/>
              <a:t>1’s complement</a:t>
            </a:r>
          </a:p>
          <a:p>
            <a:pPr algn="l"/>
            <a:endParaRPr lang="en-US" dirty="0"/>
          </a:p>
          <a:p>
            <a:pPr algn="l"/>
            <a:r>
              <a:rPr lang="en-US" dirty="0" smtClean="0"/>
              <a:t>In </a:t>
            </a:r>
            <a:r>
              <a:rPr lang="en-US" dirty="0"/>
              <a:t>each of these methods, the </a:t>
            </a:r>
            <a:r>
              <a:rPr lang="en-US" dirty="0" smtClean="0"/>
              <a:t>leftmost </a:t>
            </a:r>
            <a:r>
              <a:rPr lang="en-US" dirty="0"/>
              <a:t>bit of a number is 0 for positive numbers and 1 for negative numbers</a:t>
            </a:r>
            <a:r>
              <a:rPr lang="en-US" dirty="0" smtClean="0"/>
              <a:t>.</a:t>
            </a:r>
          </a:p>
          <a:p>
            <a:pPr algn="l"/>
            <a:endParaRPr lang="en-US"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33</a:t>
            </a:fld>
            <a:endParaRPr lang="en-US"/>
          </a:p>
        </p:txBody>
      </p:sp>
    </p:spTree>
    <p:extLst>
      <p:ext uri="{BB962C8B-B14F-4D97-AF65-F5344CB8AC3E}">
        <p14:creationId xmlns:p14="http://schemas.microsoft.com/office/powerpoint/2010/main" val="4932406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Representation of Negative Numbers</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altLang="en-US" b="1" dirty="0"/>
              <a:t>3 Systems for representing negative numbers in </a:t>
            </a:r>
            <a:r>
              <a:rPr lang="en-US" altLang="en-US" b="1" dirty="0" smtClean="0"/>
              <a:t>binary- Overview:</a:t>
            </a:r>
            <a:endParaRPr lang="en-US" altLang="en-US" b="1" dirty="0"/>
          </a:p>
          <a:p>
            <a:pPr algn="l"/>
            <a:r>
              <a:rPr lang="en-US" altLang="en-US" b="1" dirty="0">
                <a:solidFill>
                  <a:schemeClr val="tx1">
                    <a:lumMod val="65000"/>
                    <a:lumOff val="35000"/>
                  </a:schemeClr>
                </a:solidFill>
              </a:rPr>
              <a:t>Sign &amp; Magnitude</a:t>
            </a:r>
            <a:r>
              <a:rPr lang="en-US" altLang="en-US" dirty="0">
                <a:solidFill>
                  <a:schemeClr val="tx1">
                    <a:lumMod val="65000"/>
                    <a:lumOff val="35000"/>
                  </a:schemeClr>
                </a:solidFill>
              </a:rPr>
              <a:t>: </a:t>
            </a:r>
            <a:r>
              <a:rPr lang="en-US" altLang="en-US" dirty="0"/>
              <a:t>Most significant bit is the sign</a:t>
            </a:r>
          </a:p>
          <a:p>
            <a:pPr algn="l"/>
            <a:r>
              <a:rPr lang="en-US" altLang="en-US" dirty="0"/>
              <a:t>Ex: – 5</a:t>
            </a:r>
            <a:r>
              <a:rPr lang="en-US" altLang="en-US" baseline="-25000" dirty="0"/>
              <a:t>10</a:t>
            </a:r>
            <a:r>
              <a:rPr lang="en-US" altLang="en-US" dirty="0"/>
              <a:t> = 1101</a:t>
            </a:r>
            <a:r>
              <a:rPr lang="en-US" altLang="en-US" baseline="-25000" dirty="0"/>
              <a:t>2</a:t>
            </a:r>
          </a:p>
          <a:p>
            <a:pPr algn="l"/>
            <a:endParaRPr lang="en-US" altLang="en-US" dirty="0"/>
          </a:p>
          <a:p>
            <a:pPr algn="l"/>
            <a:r>
              <a:rPr lang="en-US" altLang="en-US" b="1" dirty="0">
                <a:solidFill>
                  <a:schemeClr val="tx1">
                    <a:lumMod val="65000"/>
                    <a:lumOff val="35000"/>
                  </a:schemeClr>
                </a:solidFill>
              </a:rPr>
              <a:t>2’s Complement</a:t>
            </a:r>
            <a:r>
              <a:rPr lang="en-US" altLang="en-US" dirty="0">
                <a:solidFill>
                  <a:schemeClr val="tx1">
                    <a:lumMod val="65000"/>
                    <a:lumOff val="35000"/>
                  </a:schemeClr>
                </a:solidFill>
              </a:rPr>
              <a:t>: </a:t>
            </a:r>
            <a:r>
              <a:rPr lang="en-US" altLang="en-US" dirty="0"/>
              <a:t>N* = 2</a:t>
            </a:r>
            <a:r>
              <a:rPr lang="en-US" altLang="en-US" baseline="30000" dirty="0"/>
              <a:t>n</a:t>
            </a:r>
            <a:r>
              <a:rPr lang="en-US" altLang="en-US" dirty="0"/>
              <a:t> - N</a:t>
            </a:r>
          </a:p>
          <a:p>
            <a:pPr algn="l"/>
            <a:r>
              <a:rPr lang="en-US" altLang="en-US" dirty="0"/>
              <a:t>Ex: – 5</a:t>
            </a:r>
            <a:r>
              <a:rPr lang="en-US" altLang="en-US" baseline="-25000" dirty="0"/>
              <a:t>10</a:t>
            </a:r>
            <a:r>
              <a:rPr lang="en-US" altLang="en-US" dirty="0"/>
              <a:t> = 2</a:t>
            </a:r>
            <a:r>
              <a:rPr lang="en-US" altLang="en-US" baseline="30000" dirty="0"/>
              <a:t>4</a:t>
            </a:r>
            <a:r>
              <a:rPr lang="en-US" altLang="en-US" dirty="0"/>
              <a:t> – 5 = 16 – 5 = 11</a:t>
            </a:r>
            <a:r>
              <a:rPr lang="en-US" altLang="en-US" baseline="-25000" dirty="0"/>
              <a:t>10</a:t>
            </a:r>
            <a:r>
              <a:rPr lang="en-US" altLang="en-US" dirty="0"/>
              <a:t> = 1011</a:t>
            </a:r>
            <a:r>
              <a:rPr lang="en-US" altLang="en-US" baseline="-25000" dirty="0"/>
              <a:t>2</a:t>
            </a:r>
            <a:endParaRPr lang="en-US" altLang="en-US" dirty="0"/>
          </a:p>
          <a:p>
            <a:pPr algn="l"/>
            <a:endParaRPr lang="en-US" dirty="0" smtClean="0"/>
          </a:p>
          <a:p>
            <a:pPr algn="l"/>
            <a:r>
              <a:rPr lang="en-US" altLang="en-US" b="1" dirty="0">
                <a:solidFill>
                  <a:schemeClr val="tx1">
                    <a:lumMod val="65000"/>
                    <a:lumOff val="35000"/>
                  </a:schemeClr>
                </a:solidFill>
              </a:rPr>
              <a:t>1’s Complement</a:t>
            </a:r>
            <a:r>
              <a:rPr lang="en-US" altLang="en-US" dirty="0">
                <a:solidFill>
                  <a:schemeClr val="tx1">
                    <a:lumMod val="65000"/>
                    <a:lumOff val="35000"/>
                  </a:schemeClr>
                </a:solidFill>
              </a:rPr>
              <a:t>:     </a:t>
            </a:r>
            <a:r>
              <a:rPr lang="en-US" altLang="en-US" dirty="0"/>
              <a:t>= (2</a:t>
            </a:r>
            <a:r>
              <a:rPr lang="en-US" altLang="en-US" baseline="30000" dirty="0"/>
              <a:t>n</a:t>
            </a:r>
            <a:r>
              <a:rPr lang="en-US" altLang="en-US" dirty="0"/>
              <a:t> – 1) - N</a:t>
            </a:r>
          </a:p>
          <a:p>
            <a:pPr algn="l"/>
            <a:r>
              <a:rPr lang="en-US" altLang="en-US" dirty="0"/>
              <a:t>Ex: – 5</a:t>
            </a:r>
            <a:r>
              <a:rPr lang="en-US" altLang="en-US" baseline="-25000" dirty="0"/>
              <a:t>10 </a:t>
            </a:r>
            <a:r>
              <a:rPr lang="en-US" altLang="en-US" dirty="0"/>
              <a:t>= (2</a:t>
            </a:r>
            <a:r>
              <a:rPr lang="en-US" altLang="en-US" baseline="30000" dirty="0"/>
              <a:t>4</a:t>
            </a:r>
            <a:r>
              <a:rPr lang="en-US" altLang="en-US" dirty="0"/>
              <a:t> – 1) – 5 = 16 – 1 – 5 = 10</a:t>
            </a:r>
            <a:r>
              <a:rPr lang="en-US" altLang="en-US" baseline="-25000" dirty="0"/>
              <a:t>10</a:t>
            </a:r>
            <a:r>
              <a:rPr lang="en-US" altLang="en-US" dirty="0"/>
              <a:t> = 1010</a:t>
            </a:r>
            <a:r>
              <a:rPr lang="en-US" altLang="en-US" baseline="-25000" dirty="0"/>
              <a:t>2</a:t>
            </a:r>
            <a:endParaRPr lang="en-US" altLang="en-US" dirty="0"/>
          </a:p>
          <a:p>
            <a:pPr algn="l"/>
            <a:endParaRPr lang="en-US"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34</a:t>
            </a:fld>
            <a:endParaRPr lang="en-US"/>
          </a:p>
        </p:txBody>
      </p:sp>
    </p:spTree>
    <p:extLst>
      <p:ext uri="{BB962C8B-B14F-4D97-AF65-F5344CB8AC3E}">
        <p14:creationId xmlns:p14="http://schemas.microsoft.com/office/powerpoint/2010/main" val="24221046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Representation of Negative Numbers</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Sign &amp; Magnitude:</a:t>
            </a:r>
          </a:p>
          <a:p>
            <a:pPr algn="l"/>
            <a:r>
              <a:rPr lang="en-US" altLang="en-US" dirty="0"/>
              <a:t>Most significant bit is the sign</a:t>
            </a:r>
          </a:p>
          <a:p>
            <a:pPr algn="l"/>
            <a:r>
              <a:rPr lang="en-US" altLang="en-US" dirty="0"/>
              <a:t>Ex: – 5</a:t>
            </a:r>
            <a:r>
              <a:rPr lang="en-US" altLang="en-US" baseline="-25000" dirty="0"/>
              <a:t>10</a:t>
            </a:r>
            <a:r>
              <a:rPr lang="en-US" altLang="en-US" dirty="0"/>
              <a:t> = 1101</a:t>
            </a:r>
            <a:r>
              <a:rPr lang="en-US" altLang="en-US" baseline="-25000" dirty="0"/>
              <a:t>2</a:t>
            </a:r>
          </a:p>
          <a:p>
            <a:pPr algn="l"/>
            <a:endParaRPr lang="en-US"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35</a:t>
            </a:fld>
            <a:endParaRPr lang="en-US"/>
          </a:p>
        </p:txBody>
      </p:sp>
      <p:pic>
        <p:nvPicPr>
          <p:cNvPr id="5" name="Picture 4"/>
          <p:cNvPicPr>
            <a:picLocks noChangeAspect="1"/>
          </p:cNvPicPr>
          <p:nvPr/>
        </p:nvPicPr>
        <p:blipFill>
          <a:blip r:embed="rId2"/>
          <a:stretch>
            <a:fillRect/>
          </a:stretch>
        </p:blipFill>
        <p:spPr>
          <a:xfrm>
            <a:off x="827697" y="3276600"/>
            <a:ext cx="8070805" cy="2895600"/>
          </a:xfrm>
          <a:prstGeom prst="rect">
            <a:avLst/>
          </a:prstGeom>
        </p:spPr>
      </p:pic>
    </p:spTree>
    <p:extLst>
      <p:ext uri="{BB962C8B-B14F-4D97-AF65-F5344CB8AC3E}">
        <p14:creationId xmlns:p14="http://schemas.microsoft.com/office/powerpoint/2010/main" val="2586865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Representation of Negative Numbers</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2’s compliment:</a:t>
            </a:r>
          </a:p>
          <a:p>
            <a:pPr algn="l"/>
            <a:endParaRPr lang="en-US" dirty="0" smtClean="0"/>
          </a:p>
          <a:p>
            <a:pPr marL="342900" indent="-342900" algn="l">
              <a:buFont typeface="Wingdings" panose="05000000000000000000" pitchFamily="2" charset="2"/>
              <a:buChar char="v"/>
            </a:pPr>
            <a:r>
              <a:rPr lang="en-US" dirty="0" smtClean="0"/>
              <a:t>Positive </a:t>
            </a:r>
            <a:r>
              <a:rPr lang="en-US" dirty="0"/>
              <a:t>number, N, is represented by a </a:t>
            </a:r>
            <a:r>
              <a:rPr lang="en-US" dirty="0" smtClean="0"/>
              <a:t>0 </a:t>
            </a:r>
            <a:r>
              <a:rPr lang="en-US" dirty="0"/>
              <a:t>followed by the magnitude of N as in the sign and magnitude </a:t>
            </a:r>
            <a:r>
              <a:rPr lang="en-US" dirty="0" smtClean="0"/>
              <a:t>system</a:t>
            </a:r>
          </a:p>
          <a:p>
            <a:pPr marL="342900" indent="-342900" algn="l">
              <a:buFont typeface="Wingdings" panose="05000000000000000000" pitchFamily="2" charset="2"/>
              <a:buChar char="v"/>
            </a:pPr>
            <a:r>
              <a:rPr lang="en-US" dirty="0" smtClean="0"/>
              <a:t>For negative numbers, -N, 2’s compliment is represented by N*, as follows:</a:t>
            </a:r>
          </a:p>
          <a:p>
            <a:r>
              <a:rPr lang="en-US" altLang="en-US" dirty="0"/>
              <a:t>N* = 2</a:t>
            </a:r>
            <a:r>
              <a:rPr lang="en-US" altLang="en-US" baseline="30000" dirty="0"/>
              <a:t>n</a:t>
            </a:r>
            <a:r>
              <a:rPr lang="en-US" altLang="en-US" dirty="0"/>
              <a:t> - N</a:t>
            </a:r>
          </a:p>
          <a:p>
            <a:pPr algn="l"/>
            <a:endParaRPr lang="en-US" dirty="0" smtClean="0"/>
          </a:p>
          <a:p>
            <a:pPr algn="l"/>
            <a:r>
              <a:rPr lang="en-US" dirty="0" smtClean="0"/>
              <a:t>Where the word length is n bits. </a:t>
            </a:r>
            <a:endParaRPr lang="en-US"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36</a:t>
            </a:fld>
            <a:endParaRPr lang="en-US"/>
          </a:p>
        </p:txBody>
      </p:sp>
    </p:spTree>
    <p:extLst>
      <p:ext uri="{BB962C8B-B14F-4D97-AF65-F5344CB8AC3E}">
        <p14:creationId xmlns:p14="http://schemas.microsoft.com/office/powerpoint/2010/main" val="41707588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Representation of Negative Numbers</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Example 9: 2’s Compliment Addition</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37</a:t>
            </a:fld>
            <a:endParaRPr lang="en-US"/>
          </a:p>
        </p:txBody>
      </p:sp>
      <p:pic>
        <p:nvPicPr>
          <p:cNvPr id="5"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621098"/>
            <a:ext cx="8580437" cy="3243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65005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Representation of Negative Numbers</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Example 9: 2’s Compliment Addition (continued)</a:t>
            </a:r>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38</a:t>
            </a:fld>
            <a:endParaRPr lang="en-US"/>
          </a:p>
        </p:txBody>
      </p:sp>
      <p:pic>
        <p:nvPicPr>
          <p:cNvPr id="5"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254" y="2625536"/>
            <a:ext cx="8374063" cy="3101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2532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Representation of Negative Numbers</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algn="l"/>
            <a:r>
              <a:rPr lang="en-US" b="1" dirty="0" smtClean="0"/>
              <a:t>Example 9: 2’s compliment Addition </a:t>
            </a:r>
            <a:r>
              <a:rPr lang="en-US" b="1" dirty="0"/>
              <a:t>(continued)</a:t>
            </a:r>
          </a:p>
          <a:p>
            <a:pPr algn="l"/>
            <a:endParaRPr lang="en-US" b="1" dirty="0" smtClean="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39</a:t>
            </a:fld>
            <a:endParaRPr lang="en-US"/>
          </a:p>
        </p:txBody>
      </p:sp>
      <p:pic>
        <p:nvPicPr>
          <p:cNvPr id="6"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680" y="2525062"/>
            <a:ext cx="8431212" cy="3668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6041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Representation of Negative Numbers</a:t>
            </a:r>
            <a:endParaRPr lang="en-US" dirty="0"/>
          </a:p>
        </p:txBody>
      </p:sp>
      <p:sp>
        <p:nvSpPr>
          <p:cNvPr id="3" name="Subtitle 2"/>
          <p:cNvSpPr>
            <a:spLocks noGrp="1"/>
          </p:cNvSpPr>
          <p:nvPr>
            <p:ph type="subTitle" idx="1"/>
          </p:nvPr>
        </p:nvSpPr>
        <p:spPr>
          <a:xfrm>
            <a:off x="685800" y="2057400"/>
            <a:ext cx="7848600" cy="3643674"/>
          </a:xfrm>
        </p:spPr>
        <p:txBody>
          <a:bodyPr>
            <a:normAutofit/>
          </a:bodyPr>
          <a:lstStyle/>
          <a:p>
            <a:pPr algn="l"/>
            <a:r>
              <a:rPr lang="en-US" b="1" dirty="0" smtClean="0"/>
              <a:t>1’s compliment:</a:t>
            </a:r>
          </a:p>
          <a:p>
            <a:pPr algn="l"/>
            <a:endParaRPr lang="en-US" b="1" dirty="0" smtClean="0"/>
          </a:p>
          <a:p>
            <a:pPr algn="l"/>
            <a:endParaRPr lang="en-US" altLang="en-US" dirty="0" smtClean="0"/>
          </a:p>
          <a:p>
            <a:pPr algn="l"/>
            <a:endParaRPr lang="en-US" altLang="en-US" dirty="0"/>
          </a:p>
          <a:p>
            <a:pPr algn="l"/>
            <a:r>
              <a:rPr lang="en-US" altLang="en-US" dirty="0" smtClean="0"/>
              <a:t>Ex</a:t>
            </a:r>
            <a:r>
              <a:rPr lang="en-US" altLang="en-US" dirty="0"/>
              <a:t>: – 5</a:t>
            </a:r>
            <a:r>
              <a:rPr lang="en-US" altLang="en-US" baseline="-25000" dirty="0"/>
              <a:t>10 </a:t>
            </a:r>
            <a:r>
              <a:rPr lang="en-US" altLang="en-US" dirty="0"/>
              <a:t>= (2</a:t>
            </a:r>
            <a:r>
              <a:rPr lang="en-US" altLang="en-US" baseline="30000" dirty="0"/>
              <a:t>4</a:t>
            </a:r>
            <a:r>
              <a:rPr lang="en-US" altLang="en-US" dirty="0"/>
              <a:t> – 1) – 5 = 16 – 1 – 5 = 10</a:t>
            </a:r>
            <a:r>
              <a:rPr lang="en-US" altLang="en-US" baseline="-25000" dirty="0"/>
              <a:t>10</a:t>
            </a:r>
            <a:r>
              <a:rPr lang="en-US" altLang="en-US" dirty="0"/>
              <a:t> = 1010</a:t>
            </a:r>
            <a:r>
              <a:rPr lang="en-US" altLang="en-US" baseline="-25000" dirty="0"/>
              <a:t>2</a:t>
            </a:r>
            <a:endParaRPr lang="en-US" altLang="en-US" dirty="0"/>
          </a:p>
          <a:p>
            <a:pPr algn="l"/>
            <a:endParaRPr lang="en-US" b="1" dirty="0" smtClean="0"/>
          </a:p>
          <a:p>
            <a:pPr algn="l"/>
            <a:r>
              <a:rPr lang="en-US" b="1" dirty="0" smtClean="0">
                <a:solidFill>
                  <a:schemeClr val="tx1">
                    <a:lumMod val="65000"/>
                    <a:lumOff val="35000"/>
                  </a:schemeClr>
                </a:solidFill>
              </a:rPr>
              <a:t>End around carry: </a:t>
            </a:r>
            <a:r>
              <a:rPr lang="en-US" dirty="0" smtClean="0"/>
              <a:t>In one’s compliment, the last carry is not discarded as it is in 2’s compliment, but rather added to the n-bit sum in the position furthest to the right.</a:t>
            </a:r>
            <a:endParaRPr lang="en-US" b="1" dirty="0" smtClean="0"/>
          </a:p>
          <a:p>
            <a:pPr algn="l"/>
            <a:endParaRPr lang="en-US" dirty="0" smtClean="0"/>
          </a:p>
          <a:p>
            <a:pPr algn="l"/>
            <a:endParaRPr lang="en-US"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40</a:t>
            </a:fld>
            <a:endParaRPr lang="en-US"/>
          </a:p>
        </p:txBody>
      </p:sp>
      <p:pic>
        <p:nvPicPr>
          <p:cNvPr id="5" name="Picture 4"/>
          <p:cNvPicPr>
            <a:picLocks noChangeAspect="1"/>
          </p:cNvPicPr>
          <p:nvPr/>
        </p:nvPicPr>
        <p:blipFill>
          <a:blip r:embed="rId2"/>
          <a:stretch>
            <a:fillRect/>
          </a:stretch>
        </p:blipFill>
        <p:spPr>
          <a:xfrm>
            <a:off x="2743200" y="2514600"/>
            <a:ext cx="3737919" cy="838200"/>
          </a:xfrm>
          <a:prstGeom prst="rect">
            <a:avLst/>
          </a:prstGeom>
        </p:spPr>
      </p:pic>
    </p:spTree>
    <p:extLst>
      <p:ext uri="{BB962C8B-B14F-4D97-AF65-F5344CB8AC3E}">
        <p14:creationId xmlns:p14="http://schemas.microsoft.com/office/powerpoint/2010/main" val="23093527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Representation of Negative Numbers</a:t>
            </a:r>
            <a:endParaRPr lang="en-US" dirty="0"/>
          </a:p>
        </p:txBody>
      </p:sp>
      <p:sp>
        <p:nvSpPr>
          <p:cNvPr id="3" name="Subtitle 2"/>
          <p:cNvSpPr>
            <a:spLocks noGrp="1"/>
          </p:cNvSpPr>
          <p:nvPr>
            <p:ph type="subTitle" idx="1"/>
          </p:nvPr>
        </p:nvSpPr>
        <p:spPr>
          <a:xfrm>
            <a:off x="685800" y="2057400"/>
            <a:ext cx="7848600" cy="3643674"/>
          </a:xfrm>
        </p:spPr>
        <p:txBody>
          <a:bodyPr>
            <a:normAutofit/>
          </a:bodyPr>
          <a:lstStyle/>
          <a:p>
            <a:pPr algn="l"/>
            <a:r>
              <a:rPr lang="en-US" b="1" dirty="0" smtClean="0"/>
              <a:t>Example 10: 1’s compliment Addition</a:t>
            </a:r>
          </a:p>
          <a:p>
            <a:pPr algn="l"/>
            <a:endParaRPr lang="en-US" b="1" dirty="0" smtClean="0"/>
          </a:p>
          <a:p>
            <a:pPr algn="l"/>
            <a:endParaRPr lang="en-US" dirty="0" smtClean="0"/>
          </a:p>
          <a:p>
            <a:pPr algn="l"/>
            <a:endParaRPr lang="en-US"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41</a:t>
            </a:fld>
            <a:endParaRPr lang="en-US"/>
          </a:p>
        </p:txBody>
      </p:sp>
      <p:pic>
        <p:nvPicPr>
          <p:cNvPr id="6"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59" y="2592098"/>
            <a:ext cx="8177213" cy="3729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02033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Representation of Negative Numbers</a:t>
            </a:r>
            <a:endParaRPr lang="en-US" dirty="0"/>
          </a:p>
        </p:txBody>
      </p:sp>
      <p:sp>
        <p:nvSpPr>
          <p:cNvPr id="3" name="Subtitle 2"/>
          <p:cNvSpPr>
            <a:spLocks noGrp="1"/>
          </p:cNvSpPr>
          <p:nvPr>
            <p:ph type="subTitle" idx="1"/>
          </p:nvPr>
        </p:nvSpPr>
        <p:spPr>
          <a:xfrm>
            <a:off x="685800" y="2057400"/>
            <a:ext cx="7848600" cy="3643674"/>
          </a:xfrm>
        </p:spPr>
        <p:txBody>
          <a:bodyPr>
            <a:normAutofit/>
          </a:bodyPr>
          <a:lstStyle/>
          <a:p>
            <a:pPr algn="l"/>
            <a:r>
              <a:rPr lang="en-US" b="1" dirty="0" smtClean="0"/>
              <a:t>Example 10: 1’s compliment Addition (continued)</a:t>
            </a:r>
          </a:p>
          <a:p>
            <a:pPr algn="l"/>
            <a:endParaRPr lang="en-US" b="1" dirty="0" smtClean="0"/>
          </a:p>
          <a:p>
            <a:pPr algn="l"/>
            <a:endParaRPr lang="en-US" dirty="0" smtClean="0"/>
          </a:p>
          <a:p>
            <a:pPr algn="l"/>
            <a:endParaRPr lang="en-US"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42</a:t>
            </a:fld>
            <a:endParaRPr lang="en-US"/>
          </a:p>
        </p:txBody>
      </p:sp>
      <p:pic>
        <p:nvPicPr>
          <p:cNvPr id="7"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7043" y="2520397"/>
            <a:ext cx="5726113" cy="37190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2161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fontScale="90000"/>
          </a:bodyPr>
          <a:lstStyle/>
          <a:p>
            <a:r>
              <a:rPr lang="en-US" dirty="0" smtClean="0"/>
              <a:t>Representation of Negative Numbers</a:t>
            </a:r>
            <a:endParaRPr lang="en-US" dirty="0"/>
          </a:p>
        </p:txBody>
      </p:sp>
      <p:sp>
        <p:nvSpPr>
          <p:cNvPr id="3" name="Subtitle 2"/>
          <p:cNvSpPr>
            <a:spLocks noGrp="1"/>
          </p:cNvSpPr>
          <p:nvPr>
            <p:ph type="subTitle" idx="1"/>
          </p:nvPr>
        </p:nvSpPr>
        <p:spPr>
          <a:xfrm>
            <a:off x="685800" y="2057400"/>
            <a:ext cx="7848600" cy="3643674"/>
          </a:xfrm>
        </p:spPr>
        <p:txBody>
          <a:bodyPr>
            <a:normAutofit/>
          </a:bodyPr>
          <a:lstStyle/>
          <a:p>
            <a:pPr algn="l"/>
            <a:r>
              <a:rPr lang="en-US" b="1" dirty="0" smtClean="0"/>
              <a:t>Example 10: 1’s compliment Addition (continued)</a:t>
            </a:r>
          </a:p>
          <a:p>
            <a:pPr algn="l"/>
            <a:endParaRPr lang="en-US" b="1" dirty="0" smtClean="0"/>
          </a:p>
          <a:p>
            <a:pPr algn="l"/>
            <a:endParaRPr lang="en-US" dirty="0" smtClean="0"/>
          </a:p>
          <a:p>
            <a:pPr algn="l"/>
            <a:endParaRPr lang="en-US"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43</a:t>
            </a:fld>
            <a:endParaRPr lang="en-US"/>
          </a:p>
        </p:txBody>
      </p:sp>
      <p:pic>
        <p:nvPicPr>
          <p:cNvPr id="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488910"/>
            <a:ext cx="6643688" cy="3682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26719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6972" cy="990600"/>
          </a:xfrm>
        </p:spPr>
        <p:txBody>
          <a:bodyPr>
            <a:normAutofit/>
          </a:bodyPr>
          <a:lstStyle/>
          <a:p>
            <a:r>
              <a:rPr lang="en-US" dirty="0" smtClean="0"/>
              <a:t>Binary Codes</a:t>
            </a:r>
            <a:endParaRPr lang="en-US" dirty="0"/>
          </a:p>
        </p:txBody>
      </p:sp>
      <p:sp>
        <p:nvSpPr>
          <p:cNvPr id="3" name="Subtitle 2"/>
          <p:cNvSpPr>
            <a:spLocks noGrp="1"/>
          </p:cNvSpPr>
          <p:nvPr>
            <p:ph type="subTitle" idx="1"/>
          </p:nvPr>
        </p:nvSpPr>
        <p:spPr>
          <a:xfrm>
            <a:off x="681135" y="2057400"/>
            <a:ext cx="7848600" cy="3643674"/>
          </a:xfrm>
        </p:spPr>
        <p:txBody>
          <a:bodyPr>
            <a:normAutofit/>
          </a:bodyPr>
          <a:lstStyle/>
          <a:p>
            <a:pPr marL="342900" indent="-342900" algn="l">
              <a:buFont typeface="Wingdings" panose="05000000000000000000" pitchFamily="2" charset="2"/>
              <a:buChar char="v"/>
            </a:pPr>
            <a:r>
              <a:rPr lang="en-US" altLang="en-US" dirty="0"/>
              <a:t>Although most large computers work internally with binary numbers, the input-output equipment generally uses decimal numbers. </a:t>
            </a:r>
            <a:endParaRPr lang="en-US" altLang="en-US" dirty="0" smtClean="0"/>
          </a:p>
          <a:p>
            <a:pPr marL="342900" indent="-342900" algn="l">
              <a:buFont typeface="Wingdings" panose="05000000000000000000" pitchFamily="2" charset="2"/>
              <a:buChar char="v"/>
            </a:pPr>
            <a:r>
              <a:rPr lang="en-US" altLang="en-US" dirty="0" smtClean="0"/>
              <a:t>Because </a:t>
            </a:r>
            <a:r>
              <a:rPr lang="en-US" altLang="en-US" dirty="0"/>
              <a:t>most logic circuits only accept two-valued signals, the decimal numbers must be coded in terms of binary signals. </a:t>
            </a:r>
            <a:endParaRPr lang="en-US" altLang="en-US" dirty="0" smtClean="0"/>
          </a:p>
          <a:p>
            <a:pPr marL="342900" indent="-342900" algn="l">
              <a:buFont typeface="Wingdings" panose="05000000000000000000" pitchFamily="2" charset="2"/>
              <a:buChar char="v"/>
            </a:pPr>
            <a:r>
              <a:rPr lang="en-US" altLang="en-US" dirty="0" smtClean="0"/>
              <a:t>In </a:t>
            </a:r>
            <a:r>
              <a:rPr lang="en-US" altLang="en-US" dirty="0"/>
              <a:t>the simplest form of binary code, each decimal digit is replaced by its binary equivalent. For example, 937.25 is represented by:</a:t>
            </a:r>
          </a:p>
          <a:p>
            <a:pPr algn="l"/>
            <a:endParaRPr lang="en-US"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44</a:t>
            </a:fld>
            <a:endParaRPr lang="en-US"/>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4953000"/>
            <a:ext cx="4807839" cy="1273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9396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Binary Codes</a:t>
            </a:r>
            <a:endParaRPr lang="en-US"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45</a:t>
            </a:fld>
            <a:endParaRPr lang="en-US"/>
          </a:p>
        </p:txBody>
      </p:sp>
      <p:sp>
        <p:nvSpPr>
          <p:cNvPr id="5" name="Rectangle 2"/>
          <p:cNvSpPr txBox="1">
            <a:spLocks noChangeArrowheads="1"/>
          </p:cNvSpPr>
          <p:nvPr/>
        </p:nvSpPr>
        <p:spPr>
          <a:xfrm>
            <a:off x="762000" y="6172200"/>
            <a:ext cx="7279386" cy="273159"/>
          </a:xfrm>
          <a:prstGeom prst="rect">
            <a:avLst/>
          </a:prstGeom>
        </p:spPr>
        <p:txBody>
          <a:bodyPr vert="horz" lIns="91440" tIns="45720" rIns="91440" bIns="45720" rtlCol="0" anchor="ctr">
            <a:normAutofit fontScale="40000" lnSpcReduction="20000"/>
          </a:bodyPr>
          <a:lstStyle>
            <a:lvl1pPr algn="ctr" defTabSz="914400" rtl="0" eaLnBrk="1" latinLnBrk="0" hangingPunct="1">
              <a:spcBef>
                <a:spcPct val="0"/>
              </a:spcBef>
              <a:buNone/>
              <a:defRPr sz="3600" kern="1200">
                <a:solidFill>
                  <a:srgbClr val="000000"/>
                </a:solidFill>
                <a:latin typeface="Verdana" panose="020B0604030504040204" pitchFamily="34" charset="0"/>
                <a:ea typeface="Verdana" panose="020B0604030504040204" pitchFamily="34" charset="0"/>
                <a:cs typeface="Verdana" panose="020B060403050404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en-US" altLang="en-US" smtClean="0">
                <a:latin typeface="Arial" panose="020B0604020202020204" pitchFamily="34" charset="0"/>
                <a:cs typeface="Arial" panose="020B0604020202020204" pitchFamily="34" charset="0"/>
              </a:rPr>
              <a:t>Table 1–2.  Binary Codes for Decimal Digits</a:t>
            </a:r>
            <a:endParaRPr lang="en-US" altLang="en-US">
              <a:latin typeface="Arial" panose="020B0604020202020204" pitchFamily="34" charset="0"/>
              <a:cs typeface="Arial" panose="020B0604020202020204" pitchFamily="34" charset="0"/>
            </a:endParaRPr>
          </a:p>
        </p:txBody>
      </p:sp>
      <p:graphicFrame>
        <p:nvGraphicFramePr>
          <p:cNvPr id="6" name="Object 3"/>
          <p:cNvGraphicFramePr>
            <a:graphicFrameLocks noChangeAspect="1"/>
          </p:cNvGraphicFramePr>
          <p:nvPr>
            <p:extLst>
              <p:ext uri="{D42A27DB-BD31-4B8C-83A1-F6EECF244321}">
                <p14:modId xmlns:p14="http://schemas.microsoft.com/office/powerpoint/2010/main" val="121452718"/>
              </p:ext>
            </p:extLst>
          </p:nvPr>
        </p:nvGraphicFramePr>
        <p:xfrm>
          <a:off x="228600" y="1600200"/>
          <a:ext cx="9411307" cy="4845159"/>
        </p:xfrm>
        <a:graphic>
          <a:graphicData uri="http://schemas.openxmlformats.org/presentationml/2006/ole">
            <mc:AlternateContent xmlns:mc="http://schemas.openxmlformats.org/markup-compatibility/2006">
              <mc:Choice xmlns:v="urn:schemas-microsoft-com:vml" Requires="v">
                <p:oleObj spid="_x0000_s1031" name="Document" r:id="rId3" imgW="5510544" imgH="2832863" progId="Word.Document.8">
                  <p:embed/>
                </p:oleObj>
              </mc:Choice>
              <mc:Fallback>
                <p:oleObj name="Document" r:id="rId3" imgW="5510544" imgH="2832863"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600200"/>
                        <a:ext cx="9411307" cy="4845159"/>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0680538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62000"/>
            <a:ext cx="7776972" cy="990600"/>
          </a:xfrm>
        </p:spPr>
        <p:txBody>
          <a:bodyPr>
            <a:normAutofit/>
          </a:bodyPr>
          <a:lstStyle/>
          <a:p>
            <a:r>
              <a:rPr lang="en-US" dirty="0" smtClean="0"/>
              <a:t>Binary Codes</a:t>
            </a:r>
            <a:endParaRPr lang="en-US" dirty="0"/>
          </a:p>
        </p:txBody>
      </p:sp>
      <p:sp>
        <p:nvSpPr>
          <p:cNvPr id="4" name="Slide Number Placeholder 3"/>
          <p:cNvSpPr>
            <a:spLocks noGrp="1"/>
          </p:cNvSpPr>
          <p:nvPr>
            <p:ph type="sldNum" sz="quarter" idx="12"/>
          </p:nvPr>
        </p:nvSpPr>
        <p:spPr/>
        <p:txBody>
          <a:bodyPr/>
          <a:lstStyle/>
          <a:p>
            <a:pPr>
              <a:defRPr/>
            </a:pPr>
            <a:fld id="{9A317C8B-6CCA-49DE-8503-CB6169078CD9}" type="slidenum">
              <a:rPr lang="en-US" smtClean="0"/>
              <a:pPr>
                <a:defRPr/>
              </a:pPr>
              <a:t>46</a:t>
            </a:fld>
            <a:endParaRPr lang="en-US" dirty="0"/>
          </a:p>
        </p:txBody>
      </p:sp>
      <p:pic>
        <p:nvPicPr>
          <p:cNvPr id="7" name="Picture 6"/>
          <p:cNvPicPr>
            <a:picLocks noChangeAspect="1"/>
          </p:cNvPicPr>
          <p:nvPr/>
        </p:nvPicPr>
        <p:blipFill>
          <a:blip r:embed="rId2"/>
          <a:stretch>
            <a:fillRect/>
          </a:stretch>
        </p:blipFill>
        <p:spPr>
          <a:xfrm>
            <a:off x="1473279" y="1371600"/>
            <a:ext cx="6202013" cy="4983609"/>
          </a:xfrm>
          <a:prstGeom prst="rect">
            <a:avLst/>
          </a:prstGeom>
        </p:spPr>
      </p:pic>
    </p:spTree>
    <p:extLst>
      <p:ext uri="{BB962C8B-B14F-4D97-AF65-F5344CB8AC3E}">
        <p14:creationId xmlns:p14="http://schemas.microsoft.com/office/powerpoint/2010/main" val="38993495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2353</TotalTime>
  <Words>1657</Words>
  <Application>Microsoft Office PowerPoint</Application>
  <PresentationFormat>On-screen Show (4:3)</PresentationFormat>
  <Paragraphs>250</Paragraphs>
  <Slides>46</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46</vt:i4>
      </vt:variant>
    </vt:vector>
  </HeadingPairs>
  <TitlesOfParts>
    <vt:vector size="48" baseType="lpstr">
      <vt:lpstr>Waveform</vt:lpstr>
      <vt:lpstr>Document</vt:lpstr>
      <vt:lpstr>PowerPoint Presentation</vt:lpstr>
      <vt:lpstr>PowerPoint Presentation</vt:lpstr>
      <vt:lpstr>Learning Objectives</vt:lpstr>
      <vt:lpstr>Learning Objectives</vt:lpstr>
      <vt:lpstr>Digital Systems and Switching Circuits</vt:lpstr>
      <vt:lpstr>Digital Systems and Switching Circuits</vt:lpstr>
      <vt:lpstr>Digital Systems and Switching Circuits</vt:lpstr>
      <vt:lpstr>Digital Systems and Switching Circuits</vt:lpstr>
      <vt:lpstr>Digital Systems and Switching Circuits</vt:lpstr>
      <vt:lpstr>Number Systems and Conversion</vt:lpstr>
      <vt:lpstr>Number Systems and Conversion</vt:lpstr>
      <vt:lpstr>Number Systems and Conversion</vt:lpstr>
      <vt:lpstr>Number Systems and Conversion</vt:lpstr>
      <vt:lpstr>Number Systems and Conversion</vt:lpstr>
      <vt:lpstr>Number Systems and Conversion</vt:lpstr>
      <vt:lpstr>Number Systems and Conversion</vt:lpstr>
      <vt:lpstr>Number Systems and Conversion</vt:lpstr>
      <vt:lpstr>Number Systems and Conversion</vt:lpstr>
      <vt:lpstr>Number Systems and Conversion</vt:lpstr>
      <vt:lpstr>Number Systems and Conversion</vt:lpstr>
      <vt:lpstr>Number Systems and Conversion</vt:lpstr>
      <vt:lpstr>Number Systems and Conversion</vt:lpstr>
      <vt:lpstr>Number Systems and Conversion</vt:lpstr>
      <vt:lpstr>Binary Arithmetic</vt:lpstr>
      <vt:lpstr>Binary Arithmetic</vt:lpstr>
      <vt:lpstr>Binary Arithmetic</vt:lpstr>
      <vt:lpstr>Binary Arithmetic</vt:lpstr>
      <vt:lpstr>Binary Arithmetic</vt:lpstr>
      <vt:lpstr>Binary Arithmetic</vt:lpstr>
      <vt:lpstr>Binary Arithmetic</vt:lpstr>
      <vt:lpstr>Binary Arithmetic</vt:lpstr>
      <vt:lpstr>Binary Arithmetic</vt:lpstr>
      <vt:lpstr>Representation of Negative Numbers</vt:lpstr>
      <vt:lpstr>Representation of Negative Numbers</vt:lpstr>
      <vt:lpstr>Representation of Negative Numbers</vt:lpstr>
      <vt:lpstr>Representation of Negative Numbers</vt:lpstr>
      <vt:lpstr>Representation of Negative Numbers</vt:lpstr>
      <vt:lpstr>Representation of Negative Numbers</vt:lpstr>
      <vt:lpstr>Representation of Negative Numbers</vt:lpstr>
      <vt:lpstr>Representation of Negative Numbers</vt:lpstr>
      <vt:lpstr>Representation of Negative Numbers</vt:lpstr>
      <vt:lpstr>Representation of Negative Numbers</vt:lpstr>
      <vt:lpstr>Representation of Negative Numbers</vt:lpstr>
      <vt:lpstr>Binary Codes</vt:lpstr>
      <vt:lpstr>Binary Codes</vt:lpstr>
      <vt:lpstr>Binary Codes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FUNDAMENTALS</dc:title>
  <dc:creator>hammj</dc:creator>
  <cp:lastModifiedBy>Windows User</cp:lastModifiedBy>
  <cp:revision>247</cp:revision>
  <dcterms:created xsi:type="dcterms:W3CDTF">2010-06-02T16:10:54Z</dcterms:created>
  <dcterms:modified xsi:type="dcterms:W3CDTF">2014-08-11T14:06:50Z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248315395</vt:i4>
  </property>
  <property fmtid="{D5CDD505-2E9C-101B-9397-08002B2CF9AE}" pid="3" name="_NewReviewCycle">
    <vt:lpwstr/>
  </property>
  <property fmtid="{D5CDD505-2E9C-101B-9397-08002B2CF9AE}" pid="4" name="_EmailSubject">
    <vt:lpwstr>Lecture Note PowerPoints for Cengage Learning textbooks.</vt:lpwstr>
  </property>
  <property fmtid="{D5CDD505-2E9C-101B-9397-08002B2CF9AE}" pid="5" name="_AuthorEmail">
    <vt:lpwstr>mona.zeftel@cengage.com</vt:lpwstr>
  </property>
  <property fmtid="{D5CDD505-2E9C-101B-9397-08002B2CF9AE}" pid="6" name="_AuthorEmailDisplayName">
    <vt:lpwstr>Zeftel, Mona D</vt:lpwstr>
  </property>
  <property fmtid="{D5CDD505-2E9C-101B-9397-08002B2CF9AE}" pid="7" name="_PreviousAdHocReviewCycleID">
    <vt:i4>-1176233783</vt:i4>
  </property>
</Properties>
</file>