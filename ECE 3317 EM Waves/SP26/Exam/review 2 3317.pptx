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15" r:id="rId9"/>
    <p:sldId id="316" r:id="rId10"/>
    <p:sldId id="317" r:id="rId11"/>
    <p:sldId id="318" r:id="rId12"/>
    <p:sldId id="319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284" r:id="rId24"/>
    <p:sldId id="285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00FF"/>
    <a:srgbClr val="C0C0C0"/>
    <a:srgbClr val="FFFF00"/>
    <a:srgbClr val="009900"/>
    <a:srgbClr val="333399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4CCDD5-07F5-4943-BDBC-4E96FE19A4BF}" v="1" dt="2026-04-11T22:35:26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591" autoAdjust="0"/>
    <p:restoredTop sz="94601" autoAdjust="0"/>
  </p:normalViewPr>
  <p:slideViewPr>
    <p:cSldViewPr snapToGrid="0">
      <p:cViewPr varScale="1">
        <p:scale>
          <a:sx n="71" d="100"/>
          <a:sy n="71" d="100"/>
        </p:scale>
        <p:origin x="2238" y="78"/>
      </p:cViewPr>
      <p:guideLst>
        <p:guide orient="horz" pos="187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926" y="-90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Jiefu" userId="bf46315c-4c2d-4b5b-9232-b3cdc69834bd" providerId="ADAL" clId="{5821BFA6-83FA-452E-B898-DB19EEB2E1E1}"/>
    <pc:docChg chg="addSld modSld">
      <pc:chgData name="Chen, Jiefu" userId="bf46315c-4c2d-4b5b-9232-b3cdc69834bd" providerId="ADAL" clId="{5821BFA6-83FA-452E-B898-DB19EEB2E1E1}" dt="2026-04-11T22:35:37.284" v="1" actId="6549"/>
      <pc:docMkLst>
        <pc:docMk/>
      </pc:docMkLst>
      <pc:sldChg chg="modSp mod">
        <pc:chgData name="Chen, Jiefu" userId="bf46315c-4c2d-4b5b-9232-b3cdc69834bd" providerId="ADAL" clId="{5821BFA6-83FA-452E-B898-DB19EEB2E1E1}" dt="2026-04-11T22:35:37.284" v="1" actId="6549"/>
        <pc:sldMkLst>
          <pc:docMk/>
          <pc:sldMk cId="0" sldId="256"/>
        </pc:sldMkLst>
        <pc:spChg chg="mod">
          <ac:chgData name="Chen, Jiefu" userId="bf46315c-4c2d-4b5b-9232-b3cdc69834bd" providerId="ADAL" clId="{5821BFA6-83FA-452E-B898-DB19EEB2E1E1}" dt="2026-04-11T22:35:37.284" v="1" actId="6549"/>
          <ac:spMkLst>
            <pc:docMk/>
            <pc:sldMk cId="0" sldId="256"/>
            <ac:spMk id="2057" creationId="{00000000-0000-0000-0000-000000000000}"/>
          </ac:spMkLst>
        </pc:spChg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3056898700" sldId="284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2842351918" sldId="285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4126619258" sldId="286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536606369" sldId="287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263552101" sldId="288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1897774335" sldId="289"/>
        </pc:sldMkLst>
      </pc:sldChg>
      <pc:sldChg chg="add">
        <pc:chgData name="Chen, Jiefu" userId="bf46315c-4c2d-4b5b-9232-b3cdc69834bd" providerId="ADAL" clId="{5821BFA6-83FA-452E-B898-DB19EEB2E1E1}" dt="2026-04-11T22:35:26.295" v="0"/>
        <pc:sldMkLst>
          <pc:docMk/>
          <pc:sldMk cId="1150121623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6129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6129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fld id="{49BB55C4-93B8-4A71-881A-44DD3B01C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11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129" y="0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298" y="4420623"/>
            <a:ext cx="5615331" cy="4186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defTabSz="93295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129" y="8839706"/>
            <a:ext cx="3042273" cy="46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8" tIns="46639" rIns="93278" bIns="46639" numCol="1" anchor="b" anchorCtr="0" compatLnSpc="1">
            <a:prstTxWarp prst="textNoShape">
              <a:avLst/>
            </a:prstTxWarp>
          </a:bodyPr>
          <a:lstStyle>
            <a:lvl1pPr algn="r" defTabSz="932950">
              <a:defRPr sz="1300" smtClean="0"/>
            </a:lvl1pPr>
          </a:lstStyle>
          <a:p>
            <a:pPr>
              <a:defRPr/>
            </a:pPr>
            <a:fld id="{9E3D1466-17B7-4DE3-916E-973D5796C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9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A4B7C9-0DF9-4C74-AE61-A45C2CF95A5F}" type="slidenum">
              <a:rPr lang="en-US"/>
              <a:pPr/>
              <a:t>1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6913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81" y="4420623"/>
            <a:ext cx="5149164" cy="4188282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5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wmf"/><Relationship Id="rId20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29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6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7.bin"/><Relationship Id="rId30" Type="http://schemas.openxmlformats.org/officeDocument/2006/relationships/oleObject" Target="../embeddings/oleObject3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57.wmf"/><Relationship Id="rId3" Type="http://schemas.openxmlformats.org/officeDocument/2006/relationships/image" Target="../media/image52.png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6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3.wmf"/><Relationship Id="rId3" Type="http://schemas.openxmlformats.org/officeDocument/2006/relationships/image" Target="../media/image52.png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9.wmf"/><Relationship Id="rId3" Type="http://schemas.openxmlformats.org/officeDocument/2006/relationships/image" Target="../media/image52.png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7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5" Type="http://schemas.openxmlformats.org/officeDocument/2006/relationships/image" Target="../media/image70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7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0.bin"/><Relationship Id="rId3" Type="http://schemas.openxmlformats.org/officeDocument/2006/relationships/oleObject" Target="../embeddings/oleObject73.bin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78.wmf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5.wmf"/><Relationship Id="rId5" Type="http://schemas.openxmlformats.org/officeDocument/2006/relationships/image" Target="../media/image72.png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79.wmf"/><Relationship Id="rId4" Type="http://schemas.openxmlformats.org/officeDocument/2006/relationships/image" Target="../media/image71.wmf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4.wmf"/><Relationship Id="rId3" Type="http://schemas.openxmlformats.org/officeDocument/2006/relationships/oleObject" Target="../embeddings/oleObject81.bin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6.w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3.wmf"/><Relationship Id="rId5" Type="http://schemas.openxmlformats.org/officeDocument/2006/relationships/image" Target="../media/image52.png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84.bin"/><Relationship Id="rId4" Type="http://schemas.openxmlformats.org/officeDocument/2006/relationships/image" Target="../media/image80.wmf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52.png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3.w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4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9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6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09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18.bin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3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134.bin"/><Relationship Id="rId3" Type="http://schemas.openxmlformats.org/officeDocument/2006/relationships/oleObject" Target="../embeddings/oleObject127.bin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41.wmf"/><Relationship Id="rId2" Type="http://schemas.openxmlformats.org/officeDocument/2006/relationships/notesSlide" Target="../notesSlides/notesSlide20.xml"/><Relationship Id="rId16" Type="http://schemas.openxmlformats.org/officeDocument/2006/relationships/oleObject" Target="../embeddings/oleObject1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42.wmf"/><Relationship Id="rId4" Type="http://schemas.openxmlformats.org/officeDocument/2006/relationships/image" Target="../media/image134.wmf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3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1109866" y="2625752"/>
            <a:ext cx="7239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4000" b="1" dirty="0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Review 2</a:t>
            </a:r>
          </a:p>
        </p:txBody>
      </p:sp>
      <p:sp>
        <p:nvSpPr>
          <p:cNvPr id="22531" name="Text Box 11"/>
          <p:cNvSpPr txBox="1">
            <a:spLocks noChangeArrowheads="1"/>
          </p:cNvSpPr>
          <p:nvPr/>
        </p:nvSpPr>
        <p:spPr bwMode="auto">
          <a:xfrm>
            <a:off x="1455761" y="395785"/>
            <a:ext cx="6324600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3600">
                <a:solidFill>
                  <a:srgbClr val="0000FF"/>
                </a:solidFill>
              </a:rPr>
              <a:t>ECE 3317</a:t>
            </a:r>
          </a:p>
        </p:txBody>
      </p:sp>
      <p:sp>
        <p:nvSpPr>
          <p:cNvPr id="22532" name="Text Box 25"/>
          <p:cNvSpPr txBox="1">
            <a:spLocks noChangeArrowheads="1"/>
          </p:cNvSpPr>
          <p:nvPr/>
        </p:nvSpPr>
        <p:spPr bwMode="auto">
          <a:xfrm>
            <a:off x="3532051" y="1147335"/>
            <a:ext cx="2136162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Dr. </a:t>
            </a:r>
            <a:r>
              <a:rPr lang="en-US" sz="2400" dirty="0" err="1">
                <a:solidFill>
                  <a:srgbClr val="0000FF"/>
                </a:solidFill>
              </a:rPr>
              <a:t>Jiefu</a:t>
            </a:r>
            <a:r>
              <a:rPr lang="en-US" sz="2400" dirty="0">
                <a:solidFill>
                  <a:srgbClr val="0000FF"/>
                </a:solidFill>
              </a:rPr>
              <a:t> Chen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280520"/>
              </p:ext>
            </p:extLst>
          </p:nvPr>
        </p:nvGraphicFramePr>
        <p:xfrm>
          <a:off x="668031" y="1616030"/>
          <a:ext cx="2566479" cy="176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1041120" progId="Equation.DSMT4">
                  <p:embed/>
                </p:oleObj>
              </mc:Choice>
              <mc:Fallback>
                <p:oleObj name="Equation" r:id="rId3" imgW="1511280" imgH="1041120" progId="Equation.DSMT4">
                  <p:embed/>
                  <p:pic>
                    <p:nvPicPr>
                      <p:cNvPr id="102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31" y="1616030"/>
                        <a:ext cx="2566479" cy="1768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112188" y="994677"/>
            <a:ext cx="38862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FF3300"/>
                </a:solidFill>
                <a:sym typeface="Symbol" pitchFamily="18" charset="2"/>
              </a:rPr>
              <a:t>“Telegrapher’s Equations (TEs)”</a:t>
            </a:r>
            <a:endParaRPr lang="en-US" sz="2000" baseline="-25000" dirty="0">
              <a:solidFill>
                <a:srgbClr val="FF3300"/>
              </a:solidFill>
            </a:endParaRPr>
          </a:p>
        </p:txBody>
      </p:sp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518615" y="0"/>
            <a:ext cx="817985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Equations of Transmission Line in Frequency Domain   </a:t>
            </a:r>
          </a:p>
        </p:txBody>
      </p:sp>
      <p:sp>
        <p:nvSpPr>
          <p:cNvPr id="10249" name="Slide Number Placeholder 8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084934A-EF02-4B07-B3E9-DD0EBA496124}" type="slidenum">
              <a:rPr lang="en-US"/>
              <a:pPr/>
              <a:t>2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535002"/>
              </p:ext>
            </p:extLst>
          </p:nvPr>
        </p:nvGraphicFramePr>
        <p:xfrm>
          <a:off x="4402024" y="2005067"/>
          <a:ext cx="4537264" cy="66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10000" imgH="558800" progId="Equation.DSMT4">
                  <p:embed/>
                </p:oleObj>
              </mc:Choice>
              <mc:Fallback>
                <p:oleObj name="Equation" r:id="rId5" imgW="3810000" imgH="5588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024" y="2005067"/>
                        <a:ext cx="4537264" cy="665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191515" y="1112415"/>
            <a:ext cx="287432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>
                <a:solidFill>
                  <a:srgbClr val="FF3300"/>
                </a:solidFill>
                <a:sym typeface="Symbol" pitchFamily="18" charset="2"/>
              </a:rPr>
              <a:t>Lossy</a:t>
            </a:r>
            <a:r>
              <a:rPr lang="en-US" sz="2000" dirty="0">
                <a:solidFill>
                  <a:srgbClr val="FF3300"/>
                </a:solidFill>
                <a:sym typeface="Symbol" pitchFamily="18" charset="2"/>
              </a:rPr>
              <a:t> wave equation</a:t>
            </a:r>
            <a:endParaRPr lang="en-US" sz="2000" baseline="-25000" dirty="0">
              <a:solidFill>
                <a:srgbClr val="FF33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507476" y="2374712"/>
            <a:ext cx="68238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628676" y="1509290"/>
            <a:ext cx="20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sym typeface="Symbol" pitchFamily="18" charset="2"/>
              </a:rPr>
              <a:t>(no exact solution)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642330" y="2701543"/>
            <a:ext cx="0" cy="173397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928959"/>
              </p:ext>
            </p:extLst>
          </p:nvPr>
        </p:nvGraphicFramePr>
        <p:xfrm>
          <a:off x="5674189" y="4544708"/>
          <a:ext cx="2153161" cy="1000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726" imgH="507780" progId="Equation.DSMT4">
                  <p:embed/>
                </p:oleObj>
              </mc:Choice>
              <mc:Fallback>
                <p:oleObj name="Equation" r:id="rId7" imgW="1091726" imgH="50778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189" y="4544708"/>
                        <a:ext cx="2153161" cy="1000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719899"/>
              </p:ext>
            </p:extLst>
          </p:nvPr>
        </p:nvGraphicFramePr>
        <p:xfrm>
          <a:off x="6847044" y="3255135"/>
          <a:ext cx="15287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317160" progId="Equation.DSMT4">
                  <p:embed/>
                </p:oleObj>
              </mc:Choice>
              <mc:Fallback>
                <p:oleObj name="Equation" r:id="rId9" imgW="761760" imgH="3171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7044" y="3255135"/>
                        <a:ext cx="152876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964858"/>
              </p:ext>
            </p:extLst>
          </p:nvPr>
        </p:nvGraphicFramePr>
        <p:xfrm>
          <a:off x="410329" y="4271751"/>
          <a:ext cx="32353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2900" imgH="266700" progId="Equation.DSMT4">
                  <p:embed/>
                </p:oleObj>
              </mc:Choice>
              <mc:Fallback>
                <p:oleObj name="Equation" r:id="rId11" imgW="1612900" imgH="2667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29" y="4271751"/>
                        <a:ext cx="3235325" cy="5349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A8A8A8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796636"/>
              </p:ext>
            </p:extLst>
          </p:nvPr>
        </p:nvGraphicFramePr>
        <p:xfrm>
          <a:off x="700912" y="5258110"/>
          <a:ext cx="1387446" cy="36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7000" imgH="241200" progId="Equation.DSMT4">
                  <p:embed/>
                </p:oleObj>
              </mc:Choice>
              <mc:Fallback>
                <p:oleObj name="Equation" r:id="rId13" imgW="927000" imgH="241200" progId="Equation.DSMT4">
                  <p:embed/>
                  <p:pic>
                    <p:nvPicPr>
                      <p:cNvPr id="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912" y="5258110"/>
                        <a:ext cx="1387446" cy="36212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1625651" y="5802519"/>
            <a:ext cx="3565864" cy="861774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BEBEBE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Symbol" pitchFamily="18" charset="2"/>
              <a:buNone/>
            </a:pPr>
            <a:r>
              <a:rPr lang="en-US" sz="1600" i="1" dirty="0">
                <a:sym typeface="Symbol" pitchFamily="18" charset="2"/>
              </a:rPr>
              <a:t> 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</a:t>
            </a:r>
            <a:r>
              <a:rPr lang="en-US" sz="1600" dirty="0">
                <a:sym typeface="Symbol" pitchFamily="18" charset="2"/>
              </a:rPr>
              <a:t> propagation constant [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1/m</a:t>
            </a:r>
            <a:r>
              <a:rPr lang="en-US" sz="1600" dirty="0">
                <a:sym typeface="Symbol" pitchFamily="18" charset="2"/>
              </a:rPr>
              <a:t>]</a:t>
            </a:r>
          </a:p>
          <a:p>
            <a:pPr>
              <a:buFont typeface="Symbol" pitchFamily="18" charset="2"/>
              <a:buNone/>
            </a:pPr>
            <a:r>
              <a:rPr lang="en-US" sz="1600" i="1" dirty="0">
                <a:sym typeface="Symbol" pitchFamily="18" charset="2"/>
              </a:rPr>
              <a:t></a:t>
            </a:r>
            <a:r>
              <a:rPr lang="en-US" sz="1600" dirty="0">
                <a:sym typeface="Symbol" pitchFamily="18" charset="2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</a:t>
            </a:r>
            <a:r>
              <a:rPr lang="en-US" sz="1600" dirty="0">
                <a:sym typeface="Symbol" pitchFamily="18" charset="2"/>
              </a:rPr>
              <a:t> attenuation constant [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nepers</a:t>
            </a:r>
            <a:r>
              <a:rPr lang="en-US" sz="1600" dirty="0">
                <a:sym typeface="Symbol" pitchFamily="18" charset="2"/>
              </a:rPr>
              <a:t>/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sz="1600" dirty="0">
                <a:sym typeface="Symbol" pitchFamily="18" charset="2"/>
              </a:rPr>
              <a:t>]</a:t>
            </a:r>
          </a:p>
          <a:p>
            <a:pPr>
              <a:buFont typeface="Symbol" pitchFamily="18" charset="2"/>
              <a:buNone/>
            </a:pPr>
            <a:r>
              <a:rPr lang="en-US" sz="1600" i="1" dirty="0">
                <a:sym typeface="Symbol" pitchFamily="18" charset="2"/>
              </a:rPr>
              <a:t></a:t>
            </a:r>
            <a:r>
              <a:rPr lang="en-US" sz="1600" dirty="0">
                <a:sym typeface="Symbol" pitchFamily="18" charset="2"/>
              </a:rPr>
              <a:t>  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</a:t>
            </a:r>
            <a:r>
              <a:rPr lang="en-US" sz="1600" dirty="0">
                <a:sym typeface="Symbol" pitchFamily="18" charset="2"/>
              </a:rPr>
              <a:t> phase constant [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radians</a:t>
            </a:r>
            <a:r>
              <a:rPr lang="en-US" sz="1600" dirty="0">
                <a:sym typeface="Symbol" pitchFamily="18" charset="2"/>
              </a:rPr>
              <a:t>/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sz="1600" dirty="0">
                <a:sym typeface="Symbol" pitchFamily="18" charset="2"/>
              </a:rPr>
              <a:t>]</a:t>
            </a:r>
          </a:p>
        </p:txBody>
      </p:sp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024490"/>
              </p:ext>
            </p:extLst>
          </p:nvPr>
        </p:nvGraphicFramePr>
        <p:xfrm>
          <a:off x="6028808" y="5621927"/>
          <a:ext cx="2887644" cy="41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09680" imgH="317160" progId="Equation.DSMT4">
                  <p:embed/>
                </p:oleObj>
              </mc:Choice>
              <mc:Fallback>
                <p:oleObj name="Equation" r:id="rId15" imgW="2209680" imgH="317160" progId="Equation.DSMT4">
                  <p:embed/>
                  <p:pic>
                    <p:nvPicPr>
                      <p:cNvPr id="3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8808" y="5621927"/>
                        <a:ext cx="2887644" cy="415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Straight Arrow Connector 32"/>
          <p:cNvCxnSpPr/>
          <p:nvPr/>
        </p:nvCxnSpPr>
        <p:spPr>
          <a:xfrm flipH="1">
            <a:off x="3936004" y="5149758"/>
            <a:ext cx="1577692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124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767583" y="0"/>
            <a:ext cx="7576042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Solutions in Frequency Domain</a:t>
            </a:r>
          </a:p>
        </p:txBody>
      </p:sp>
      <p:sp>
        <p:nvSpPr>
          <p:cNvPr id="10249" name="Slide Number Placeholder 8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084934A-EF02-4B07-B3E9-DD0EBA496124}" type="slidenum">
              <a:rPr lang="en-US"/>
              <a:pPr/>
              <a:t>3</a:t>
            </a:fld>
            <a:endParaRPr lang="en-US"/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766246"/>
              </p:ext>
            </p:extLst>
          </p:nvPr>
        </p:nvGraphicFramePr>
        <p:xfrm>
          <a:off x="4184650" y="904254"/>
          <a:ext cx="28527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228600" progId="Equation.DSMT4">
                  <p:embed/>
                </p:oleObj>
              </mc:Choice>
              <mc:Fallback>
                <p:oleObj name="Equation" r:id="rId3" imgW="1206360" imgH="228600" progId="Equation.DSMT4">
                  <p:embed/>
                  <p:pic>
                    <p:nvPicPr>
                      <p:cNvPr id="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904254"/>
                        <a:ext cx="2852738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720725" y="910604"/>
            <a:ext cx="3422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FF"/>
                </a:solidFill>
              </a:rPr>
              <a:t>Forward traveling wave: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970365" y="1624171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Denote</a:t>
            </a: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61325"/>
              </p:ext>
            </p:extLst>
          </p:nvPr>
        </p:nvGraphicFramePr>
        <p:xfrm>
          <a:off x="2010178" y="1527333"/>
          <a:ext cx="15017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253800" progId="Equation.DSMT4">
                  <p:embed/>
                </p:oleObj>
              </mc:Choice>
              <mc:Fallback>
                <p:oleObj name="Equation" r:id="rId5" imgW="634680" imgH="253800" progId="Equation.DSMT4">
                  <p:embed/>
                  <p:pic>
                    <p:nvPicPr>
                      <p:cNvPr id="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178" y="1527333"/>
                        <a:ext cx="15017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715770"/>
              </p:ext>
            </p:extLst>
          </p:nvPr>
        </p:nvGraphicFramePr>
        <p:xfrm>
          <a:off x="4773972" y="1548763"/>
          <a:ext cx="34528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160" imgH="253800" progId="Equation.DSMT4">
                  <p:embed/>
                </p:oleObj>
              </mc:Choice>
              <mc:Fallback>
                <p:oleObj name="Equation" r:id="rId7" imgW="1460160" imgH="253800" progId="Equation.DSMT4">
                  <p:embed/>
                  <p:pic>
                    <p:nvPicPr>
                      <p:cNvPr id="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972" y="1548763"/>
                        <a:ext cx="34528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983024"/>
              </p:ext>
            </p:extLst>
          </p:nvPr>
        </p:nvGraphicFramePr>
        <p:xfrm>
          <a:off x="970365" y="2157669"/>
          <a:ext cx="72691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74840" imgH="279360" progId="Equation.DSMT4">
                  <p:embed/>
                </p:oleObj>
              </mc:Choice>
              <mc:Fallback>
                <p:oleObj name="Equation" r:id="rId9" imgW="3174840" imgH="279360" progId="Equation.DSMT4">
                  <p:embed/>
                  <p:pic>
                    <p:nvPicPr>
                      <p:cNvPr id="1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365" y="2157669"/>
                        <a:ext cx="72691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3908784" y="1620201"/>
            <a:ext cx="704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Then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71378"/>
              </p:ext>
            </p:extLst>
          </p:nvPr>
        </p:nvGraphicFramePr>
        <p:xfrm>
          <a:off x="4350698" y="3199390"/>
          <a:ext cx="28527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06360" imgH="228600" progId="Equation.DSMT4">
                  <p:embed/>
                </p:oleObj>
              </mc:Choice>
              <mc:Fallback>
                <p:oleObj name="Equation" r:id="rId11" imgW="1206360" imgH="228600" progId="Equation.DSMT4">
                  <p:embed/>
                  <p:pic>
                    <p:nvPicPr>
                      <p:cNvPr id="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698" y="3199390"/>
                        <a:ext cx="2852738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722997" y="3205740"/>
            <a:ext cx="3677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Backward traveling wave:</a:t>
            </a:r>
          </a:p>
        </p:txBody>
      </p:sp>
      <p:graphicFrame>
        <p:nvGraphicFramePr>
          <p:cNvPr id="1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818836"/>
              </p:ext>
            </p:extLst>
          </p:nvPr>
        </p:nvGraphicFramePr>
        <p:xfrm>
          <a:off x="972637" y="3865941"/>
          <a:ext cx="72691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4840" imgH="279360" progId="Equation.DSMT4">
                  <p:embed/>
                </p:oleObj>
              </mc:Choice>
              <mc:Fallback>
                <p:oleObj name="Equation" r:id="rId13" imgW="3174840" imgH="279360" progId="Equation.DSMT4">
                  <p:embed/>
                  <p:pic>
                    <p:nvPicPr>
                      <p:cNvPr id="1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637" y="3865941"/>
                        <a:ext cx="72691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817034"/>
              </p:ext>
            </p:extLst>
          </p:nvPr>
        </p:nvGraphicFramePr>
        <p:xfrm>
          <a:off x="1202381" y="5179110"/>
          <a:ext cx="222091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54100" imgH="469900" progId="Equation.DSMT4">
                  <p:embed/>
                </p:oleObj>
              </mc:Choice>
              <mc:Fallback>
                <p:oleObj name="Equation" r:id="rId15" imgW="1054100" imgH="46990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2381" y="5179110"/>
                        <a:ext cx="2220912" cy="9890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BFBFBF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4318719" y="4954133"/>
            <a:ext cx="3668499" cy="1576314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A8A8A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973895"/>
              </p:ext>
            </p:extLst>
          </p:nvPr>
        </p:nvGraphicFramePr>
        <p:xfrm>
          <a:off x="4776560" y="5078842"/>
          <a:ext cx="2446384" cy="404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12800" imgH="266400" progId="Equation.DSMT4">
                  <p:embed/>
                </p:oleObj>
              </mc:Choice>
              <mc:Fallback>
                <p:oleObj name="Equation" r:id="rId17" imgW="1612800" imgH="266400" progId="Equation.DSMT4">
                  <p:embed/>
                  <p:pic>
                    <p:nvPicPr>
                      <p:cNvPr id="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560" y="5078842"/>
                        <a:ext cx="2446384" cy="404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516915"/>
              </p:ext>
            </p:extLst>
          </p:nvPr>
        </p:nvGraphicFramePr>
        <p:xfrm>
          <a:off x="4484459" y="5544355"/>
          <a:ext cx="3475463" cy="957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52480" imgH="482400" progId="Equation.DSMT4">
                  <p:embed/>
                </p:oleObj>
              </mc:Choice>
              <mc:Fallback>
                <p:oleObj name="Equation" r:id="rId19" imgW="1752480" imgH="482400" progId="Equation.DSMT4">
                  <p:embed/>
                  <p:pic>
                    <p:nvPicPr>
                      <p:cNvPr id="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459" y="5544355"/>
                        <a:ext cx="3475463" cy="957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06547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ext Box 2"/>
          <p:cNvSpPr txBox="1">
            <a:spLocks noChangeArrowheads="1"/>
          </p:cNvSpPr>
          <p:nvPr/>
        </p:nvSpPr>
        <p:spPr bwMode="auto">
          <a:xfrm>
            <a:off x="504960" y="0"/>
            <a:ext cx="817500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Reflection in Frequency Domain</a:t>
            </a:r>
          </a:p>
        </p:txBody>
      </p:sp>
      <p:sp>
        <p:nvSpPr>
          <p:cNvPr id="272625" name="Text Box 241"/>
          <p:cNvSpPr txBox="1">
            <a:spLocks noChangeArrowheads="1"/>
          </p:cNvSpPr>
          <p:nvPr/>
        </p:nvSpPr>
        <p:spPr bwMode="auto">
          <a:xfrm>
            <a:off x="321909" y="2280997"/>
            <a:ext cx="20056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Sinusoidal source</a:t>
            </a:r>
          </a:p>
        </p:txBody>
      </p:sp>
      <p:grpSp>
        <p:nvGrpSpPr>
          <p:cNvPr id="272638" name="Group 254"/>
          <p:cNvGrpSpPr>
            <a:grpSpLocks/>
          </p:cNvGrpSpPr>
          <p:nvPr/>
        </p:nvGrpSpPr>
        <p:grpSpPr bwMode="auto">
          <a:xfrm>
            <a:off x="2336447" y="1445972"/>
            <a:ext cx="6103937" cy="2530475"/>
            <a:chOff x="1403" y="1057"/>
            <a:chExt cx="3845" cy="1594"/>
          </a:xfrm>
        </p:grpSpPr>
        <p:sp>
          <p:nvSpPr>
            <p:cNvPr id="272590" name="Text Box 206"/>
            <p:cNvSpPr txBox="1">
              <a:spLocks noChangeArrowheads="1"/>
            </p:cNvSpPr>
            <p:nvPr/>
          </p:nvSpPr>
          <p:spPr bwMode="auto">
            <a:xfrm>
              <a:off x="4974" y="1585"/>
              <a:ext cx="2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72591" name="Freeform 207"/>
            <p:cNvSpPr>
              <a:spLocks/>
            </p:cNvSpPr>
            <p:nvPr/>
          </p:nvSpPr>
          <p:spPr bwMode="auto">
            <a:xfrm>
              <a:off x="1921" y="1465"/>
              <a:ext cx="2862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2" name="Freeform 208"/>
            <p:cNvSpPr>
              <a:spLocks/>
            </p:cNvSpPr>
            <p:nvPr/>
          </p:nvSpPr>
          <p:spPr bwMode="auto">
            <a:xfrm flipV="1">
              <a:off x="1498" y="1897"/>
              <a:ext cx="3286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5" name="Rectangle 211"/>
            <p:cNvSpPr>
              <a:spLocks noChangeArrowheads="1"/>
            </p:cNvSpPr>
            <p:nvPr/>
          </p:nvSpPr>
          <p:spPr bwMode="auto">
            <a:xfrm>
              <a:off x="4712" y="1584"/>
              <a:ext cx="1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6" name="Line 212"/>
            <p:cNvSpPr>
              <a:spLocks noChangeShapeType="1"/>
            </p:cNvSpPr>
            <p:nvPr/>
          </p:nvSpPr>
          <p:spPr bwMode="auto">
            <a:xfrm>
              <a:off x="4784" y="1464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597" name="Line 213"/>
            <p:cNvSpPr>
              <a:spLocks noChangeShapeType="1"/>
            </p:cNvSpPr>
            <p:nvPr/>
          </p:nvSpPr>
          <p:spPr bwMode="auto">
            <a:xfrm flipH="1">
              <a:off x="4784" y="177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598" name="Text Box 214"/>
            <p:cNvSpPr txBox="1">
              <a:spLocks noChangeArrowheads="1"/>
            </p:cNvSpPr>
            <p:nvPr/>
          </p:nvSpPr>
          <p:spPr bwMode="auto">
            <a:xfrm>
              <a:off x="4472" y="1995"/>
              <a:ext cx="61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72611" name="Rectangle 227"/>
            <p:cNvSpPr>
              <a:spLocks noChangeArrowheads="1"/>
            </p:cNvSpPr>
            <p:nvPr/>
          </p:nvSpPr>
          <p:spPr bwMode="auto">
            <a:xfrm>
              <a:off x="1712" y="1408"/>
              <a:ext cx="248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612" name="Text Box 228"/>
            <p:cNvSpPr txBox="1">
              <a:spLocks noChangeArrowheads="1"/>
            </p:cNvSpPr>
            <p:nvPr/>
          </p:nvSpPr>
          <p:spPr bwMode="auto">
            <a:xfrm>
              <a:off x="1718" y="1057"/>
              <a:ext cx="3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72613" name="Line 229"/>
            <p:cNvSpPr>
              <a:spLocks noChangeShapeType="1"/>
            </p:cNvSpPr>
            <p:nvPr/>
          </p:nvSpPr>
          <p:spPr bwMode="auto">
            <a:xfrm flipH="1">
              <a:off x="1480" y="1464"/>
              <a:ext cx="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16" name="Oval 232"/>
            <p:cNvSpPr>
              <a:spLocks noChangeArrowheads="1"/>
            </p:cNvSpPr>
            <p:nvPr/>
          </p:nvSpPr>
          <p:spPr bwMode="auto">
            <a:xfrm>
              <a:off x="2223" y="1448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617" name="Oval 233"/>
            <p:cNvSpPr>
              <a:spLocks noChangeArrowheads="1"/>
            </p:cNvSpPr>
            <p:nvPr/>
          </p:nvSpPr>
          <p:spPr bwMode="auto">
            <a:xfrm>
              <a:off x="2222" y="1896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618" name="Text Box 234"/>
            <p:cNvSpPr txBox="1">
              <a:spLocks noChangeArrowheads="1"/>
            </p:cNvSpPr>
            <p:nvPr/>
          </p:nvSpPr>
          <p:spPr bwMode="auto">
            <a:xfrm>
              <a:off x="2558" y="1561"/>
              <a:ext cx="25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baseline="-25000">
                  <a:latin typeface="Times New Roman" pitchFamily="18" charset="0"/>
                </a:rPr>
                <a:t>0</a:t>
              </a:r>
            </a:p>
          </p:txBody>
        </p:sp>
        <p:grpSp>
          <p:nvGrpSpPr>
            <p:cNvPr id="272624" name="Group 240"/>
            <p:cNvGrpSpPr>
              <a:grpSpLocks/>
            </p:cNvGrpSpPr>
            <p:nvPr/>
          </p:nvGrpSpPr>
          <p:grpSpPr bwMode="auto">
            <a:xfrm>
              <a:off x="1403" y="1440"/>
              <a:ext cx="231" cy="504"/>
              <a:chOff x="1403" y="1440"/>
              <a:chExt cx="231" cy="504"/>
            </a:xfrm>
          </p:grpSpPr>
          <p:sp>
            <p:nvSpPr>
              <p:cNvPr id="272593" name="Oval 209"/>
              <p:cNvSpPr>
                <a:spLocks noChangeArrowheads="1"/>
              </p:cNvSpPr>
              <p:nvPr/>
            </p:nvSpPr>
            <p:spPr bwMode="auto">
              <a:xfrm>
                <a:off x="1487" y="189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272614" name="Oval 230"/>
              <p:cNvSpPr>
                <a:spLocks noChangeArrowheads="1"/>
              </p:cNvSpPr>
              <p:nvPr/>
            </p:nvSpPr>
            <p:spPr bwMode="auto">
              <a:xfrm>
                <a:off x="1487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619" name="Oval 235"/>
              <p:cNvSpPr>
                <a:spLocks noChangeArrowheads="1"/>
              </p:cNvSpPr>
              <p:nvPr/>
            </p:nvSpPr>
            <p:spPr bwMode="auto">
              <a:xfrm>
                <a:off x="1432" y="1616"/>
                <a:ext cx="168" cy="168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620" name="Line 236"/>
              <p:cNvSpPr>
                <a:spLocks noChangeShapeType="1"/>
              </p:cNvSpPr>
              <p:nvPr/>
            </p:nvSpPr>
            <p:spPr bwMode="auto">
              <a:xfrm>
                <a:off x="1504" y="1464"/>
                <a:ext cx="0" cy="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621" name="Line 237"/>
              <p:cNvSpPr>
                <a:spLocks noChangeShapeType="1"/>
              </p:cNvSpPr>
              <p:nvPr/>
            </p:nvSpPr>
            <p:spPr bwMode="auto">
              <a:xfrm>
                <a:off x="1504" y="17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623" name="Text Box 239"/>
              <p:cNvSpPr txBox="1">
                <a:spLocks noChangeArrowheads="1"/>
              </p:cNvSpPr>
              <p:nvPr/>
            </p:nvSpPr>
            <p:spPr bwMode="auto">
              <a:xfrm rot="5400000">
                <a:off x="1417" y="1590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Lucida Console" pitchFamily="49" charset="0"/>
                  </a:rPr>
                  <a:t>S</a:t>
                </a:r>
              </a:p>
            </p:txBody>
          </p:sp>
        </p:grpSp>
        <p:sp>
          <p:nvSpPr>
            <p:cNvPr id="272626" name="Line 242"/>
            <p:cNvSpPr>
              <a:spLocks noChangeShapeType="1"/>
            </p:cNvSpPr>
            <p:nvPr/>
          </p:nvSpPr>
          <p:spPr bwMode="auto">
            <a:xfrm>
              <a:off x="4816" y="23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27" name="Text Box 243"/>
            <p:cNvSpPr txBox="1">
              <a:spLocks noChangeArrowheads="1"/>
            </p:cNvSpPr>
            <p:nvPr/>
          </p:nvSpPr>
          <p:spPr bwMode="auto">
            <a:xfrm>
              <a:off x="4974" y="2401"/>
              <a:ext cx="1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272628" name="Line 244"/>
            <p:cNvSpPr>
              <a:spLocks noChangeShapeType="1"/>
            </p:cNvSpPr>
            <p:nvPr/>
          </p:nvSpPr>
          <p:spPr bwMode="auto">
            <a:xfrm>
              <a:off x="4808" y="22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72629" name="Object 245"/>
            <p:cNvGraphicFramePr>
              <a:graphicFrameLocks noChangeAspect="1"/>
            </p:cNvGraphicFramePr>
            <p:nvPr/>
          </p:nvGraphicFramePr>
          <p:xfrm>
            <a:off x="2571" y="2049"/>
            <a:ext cx="1071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54080" imgH="469800" progId="Equation.DSMT4">
                    <p:embed/>
                  </p:oleObj>
                </mc:Choice>
                <mc:Fallback>
                  <p:oleObj name="Equation" r:id="rId3" imgW="1054080" imgH="469800" progId="Equation.DSMT4">
                    <p:embed/>
                    <p:pic>
                      <p:nvPicPr>
                        <p:cNvPr id="272629" name="Object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" y="2049"/>
                          <a:ext cx="1071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1">
                                <a:gsLst>
                                  <a:gs pos="0">
                                    <a:srgbClr val="DDDDDD"/>
                                  </a:gs>
                                  <a:gs pos="100000">
                                    <a:srgbClr val="DDDDDD">
                                      <a:gamma/>
                                      <a:shade val="86275"/>
                                      <a:invGamma/>
                                    </a:srgbClr>
                                  </a:gs>
                                </a:gsLst>
                                <a:path path="shape">
                                  <a:fillToRect l="50000" t="50000" r="50000" b="50000"/>
                                </a:path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633" name="Text Box 249"/>
            <p:cNvSpPr txBox="1">
              <a:spLocks noChangeArrowheads="1"/>
            </p:cNvSpPr>
            <p:nvPr/>
          </p:nvSpPr>
          <p:spPr bwMode="auto">
            <a:xfrm>
              <a:off x="3286" y="1439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272634" name="Text Box 250"/>
            <p:cNvSpPr txBox="1">
              <a:spLocks noChangeArrowheads="1"/>
            </p:cNvSpPr>
            <p:nvPr/>
          </p:nvSpPr>
          <p:spPr bwMode="auto">
            <a:xfrm>
              <a:off x="3318" y="1727"/>
              <a:ext cx="1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272635" name="Text Box 251"/>
            <p:cNvSpPr txBox="1">
              <a:spLocks noChangeArrowheads="1"/>
            </p:cNvSpPr>
            <p:nvPr/>
          </p:nvSpPr>
          <p:spPr bwMode="auto">
            <a:xfrm>
              <a:off x="3390" y="1584"/>
              <a:ext cx="3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V(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72636" name="Line 252"/>
            <p:cNvSpPr>
              <a:spLocks noChangeShapeType="1"/>
            </p:cNvSpPr>
            <p:nvPr/>
          </p:nvSpPr>
          <p:spPr bwMode="auto">
            <a:xfrm flipV="1">
              <a:off x="3896" y="1463"/>
              <a:ext cx="291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37" name="Text Box 253"/>
            <p:cNvSpPr txBox="1">
              <a:spLocks noChangeArrowheads="1"/>
            </p:cNvSpPr>
            <p:nvPr/>
          </p:nvSpPr>
          <p:spPr bwMode="auto">
            <a:xfrm>
              <a:off x="3934" y="1200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46" name="Slide Number Placeholder 45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C98DCCC-9E0B-4614-9052-BF375F607B6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606261"/>
              </p:ext>
            </p:extLst>
          </p:nvPr>
        </p:nvGraphicFramePr>
        <p:xfrm>
          <a:off x="6491528" y="4435940"/>
          <a:ext cx="17780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531" imgH="431613" progId="Equation.DSMT4">
                  <p:embed/>
                </p:oleObj>
              </mc:Choice>
              <mc:Fallback>
                <p:oleObj name="Equation" r:id="rId5" imgW="850531" imgH="431613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528" y="4435940"/>
                        <a:ext cx="1778000" cy="9048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BEBEBE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740964" y="4003743"/>
            <a:ext cx="5031472" cy="1769271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76078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604208"/>
              </p:ext>
            </p:extLst>
          </p:nvPr>
        </p:nvGraphicFramePr>
        <p:xfrm>
          <a:off x="1710001" y="4100054"/>
          <a:ext cx="31067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25400" imgH="291960" progId="Equation.DSMT4">
                  <p:embed/>
                </p:oleObj>
              </mc:Choice>
              <mc:Fallback>
                <p:oleObj name="Equation" r:id="rId7" imgW="1625400" imgH="291960" progId="Equation.DSMT4">
                  <p:embed/>
                  <p:pic>
                    <p:nvPicPr>
                      <p:cNvPr id="4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001" y="4100054"/>
                        <a:ext cx="31067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280692"/>
              </p:ext>
            </p:extLst>
          </p:nvPr>
        </p:nvGraphicFramePr>
        <p:xfrm>
          <a:off x="1559189" y="4876341"/>
          <a:ext cx="34321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0960" imgH="431640" progId="Equation.DSMT4">
                  <p:embed/>
                </p:oleObj>
              </mc:Choice>
              <mc:Fallback>
                <p:oleObj name="Equation" r:id="rId9" imgW="1650960" imgH="431640" progId="Equation.DSMT4">
                  <p:embed/>
                  <p:pic>
                    <p:nvPicPr>
                      <p:cNvPr id="5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189" y="4876341"/>
                        <a:ext cx="34321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77563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313896" y="0"/>
            <a:ext cx="867997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Input Impedance at Any Point on the Line</a:t>
            </a:r>
          </a:p>
        </p:txBody>
      </p:sp>
      <p:grpSp>
        <p:nvGrpSpPr>
          <p:cNvPr id="436267" name="Group 43"/>
          <p:cNvGrpSpPr>
            <a:grpSpLocks/>
          </p:cNvGrpSpPr>
          <p:nvPr/>
        </p:nvGrpSpPr>
        <p:grpSpPr bwMode="auto">
          <a:xfrm>
            <a:off x="1637331" y="846212"/>
            <a:ext cx="6100763" cy="2530475"/>
            <a:chOff x="997" y="1281"/>
            <a:chExt cx="3843" cy="1594"/>
          </a:xfrm>
        </p:grpSpPr>
        <p:sp>
          <p:nvSpPr>
            <p:cNvPr id="436232" name="Text Box 8"/>
            <p:cNvSpPr txBox="1">
              <a:spLocks noChangeArrowheads="1"/>
            </p:cNvSpPr>
            <p:nvPr/>
          </p:nvSpPr>
          <p:spPr bwMode="auto">
            <a:xfrm>
              <a:off x="4566" y="1809"/>
              <a:ext cx="2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436233" name="Freeform 9"/>
            <p:cNvSpPr>
              <a:spLocks/>
            </p:cNvSpPr>
            <p:nvPr/>
          </p:nvSpPr>
          <p:spPr bwMode="auto">
            <a:xfrm>
              <a:off x="1513" y="1689"/>
              <a:ext cx="2862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34" name="Freeform 10"/>
            <p:cNvSpPr>
              <a:spLocks/>
            </p:cNvSpPr>
            <p:nvPr/>
          </p:nvSpPr>
          <p:spPr bwMode="auto">
            <a:xfrm flipV="1">
              <a:off x="1094" y="2121"/>
              <a:ext cx="3286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35" name="Rectangle 11"/>
            <p:cNvSpPr>
              <a:spLocks noChangeArrowheads="1"/>
            </p:cNvSpPr>
            <p:nvPr/>
          </p:nvSpPr>
          <p:spPr bwMode="auto">
            <a:xfrm>
              <a:off x="4304" y="1808"/>
              <a:ext cx="1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36" name="Line 12"/>
            <p:cNvSpPr>
              <a:spLocks noChangeShapeType="1"/>
            </p:cNvSpPr>
            <p:nvPr/>
          </p:nvSpPr>
          <p:spPr bwMode="auto">
            <a:xfrm>
              <a:off x="4376" y="1688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37" name="Line 13"/>
            <p:cNvSpPr>
              <a:spLocks noChangeShapeType="1"/>
            </p:cNvSpPr>
            <p:nvPr/>
          </p:nvSpPr>
          <p:spPr bwMode="auto">
            <a:xfrm flipH="1">
              <a:off x="4376" y="20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38" name="Text Box 14"/>
            <p:cNvSpPr txBox="1">
              <a:spLocks noChangeArrowheads="1"/>
            </p:cNvSpPr>
            <p:nvPr/>
          </p:nvSpPr>
          <p:spPr bwMode="auto">
            <a:xfrm>
              <a:off x="4064" y="2219"/>
              <a:ext cx="61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36239" name="Rectangle 15"/>
            <p:cNvSpPr>
              <a:spLocks noChangeArrowheads="1"/>
            </p:cNvSpPr>
            <p:nvPr/>
          </p:nvSpPr>
          <p:spPr bwMode="auto">
            <a:xfrm>
              <a:off x="1304" y="1632"/>
              <a:ext cx="248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40" name="Text Box 16"/>
            <p:cNvSpPr txBox="1">
              <a:spLocks noChangeArrowheads="1"/>
            </p:cNvSpPr>
            <p:nvPr/>
          </p:nvSpPr>
          <p:spPr bwMode="auto">
            <a:xfrm>
              <a:off x="1310" y="1281"/>
              <a:ext cx="3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436241" name="Line 17"/>
            <p:cNvSpPr>
              <a:spLocks noChangeShapeType="1"/>
            </p:cNvSpPr>
            <p:nvPr/>
          </p:nvSpPr>
          <p:spPr bwMode="auto">
            <a:xfrm flipH="1">
              <a:off x="1072" y="1688"/>
              <a:ext cx="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42" name="Oval 18"/>
            <p:cNvSpPr>
              <a:spLocks noChangeArrowheads="1"/>
            </p:cNvSpPr>
            <p:nvPr/>
          </p:nvSpPr>
          <p:spPr bwMode="auto">
            <a:xfrm>
              <a:off x="1815" y="167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43" name="Oval 19"/>
            <p:cNvSpPr>
              <a:spLocks noChangeArrowheads="1"/>
            </p:cNvSpPr>
            <p:nvPr/>
          </p:nvSpPr>
          <p:spPr bwMode="auto">
            <a:xfrm>
              <a:off x="1814" y="2120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44" name="Text Box 20"/>
            <p:cNvSpPr txBox="1">
              <a:spLocks noChangeArrowheads="1"/>
            </p:cNvSpPr>
            <p:nvPr/>
          </p:nvSpPr>
          <p:spPr bwMode="auto">
            <a:xfrm>
              <a:off x="2150" y="1785"/>
              <a:ext cx="25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baseline="-25000">
                  <a:latin typeface="Times New Roman" pitchFamily="18" charset="0"/>
                </a:rPr>
                <a:t>0</a:t>
              </a:r>
            </a:p>
          </p:txBody>
        </p:sp>
        <p:grpSp>
          <p:nvGrpSpPr>
            <p:cNvPr id="436245" name="Group 21"/>
            <p:cNvGrpSpPr>
              <a:grpSpLocks/>
            </p:cNvGrpSpPr>
            <p:nvPr/>
          </p:nvGrpSpPr>
          <p:grpSpPr bwMode="auto">
            <a:xfrm>
              <a:off x="997" y="1664"/>
              <a:ext cx="231" cy="504"/>
              <a:chOff x="1405" y="1440"/>
              <a:chExt cx="231" cy="504"/>
            </a:xfrm>
          </p:grpSpPr>
          <p:sp>
            <p:nvSpPr>
              <p:cNvPr id="436246" name="Oval 22"/>
              <p:cNvSpPr>
                <a:spLocks noChangeArrowheads="1"/>
              </p:cNvSpPr>
              <p:nvPr/>
            </p:nvSpPr>
            <p:spPr bwMode="auto">
              <a:xfrm>
                <a:off x="1487" y="189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6247" name="Oval 23"/>
              <p:cNvSpPr>
                <a:spLocks noChangeArrowheads="1"/>
              </p:cNvSpPr>
              <p:nvPr/>
            </p:nvSpPr>
            <p:spPr bwMode="auto">
              <a:xfrm>
                <a:off x="1487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6248" name="Oval 24"/>
              <p:cNvSpPr>
                <a:spLocks noChangeArrowheads="1"/>
              </p:cNvSpPr>
              <p:nvPr/>
            </p:nvSpPr>
            <p:spPr bwMode="auto">
              <a:xfrm>
                <a:off x="1432" y="1616"/>
                <a:ext cx="168" cy="168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6249" name="Line 25"/>
              <p:cNvSpPr>
                <a:spLocks noChangeShapeType="1"/>
              </p:cNvSpPr>
              <p:nvPr/>
            </p:nvSpPr>
            <p:spPr bwMode="auto">
              <a:xfrm>
                <a:off x="1504" y="1464"/>
                <a:ext cx="0" cy="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250" name="Line 26"/>
              <p:cNvSpPr>
                <a:spLocks noChangeShapeType="1"/>
              </p:cNvSpPr>
              <p:nvPr/>
            </p:nvSpPr>
            <p:spPr bwMode="auto">
              <a:xfrm>
                <a:off x="1504" y="17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251" name="Text Box 27"/>
              <p:cNvSpPr txBox="1">
                <a:spLocks noChangeArrowheads="1"/>
              </p:cNvSpPr>
              <p:nvPr/>
            </p:nvSpPr>
            <p:spPr bwMode="auto">
              <a:xfrm rot="5400000">
                <a:off x="1419" y="1591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Lucida Console" pitchFamily="49" charset="0"/>
                  </a:rPr>
                  <a:t>S</a:t>
                </a:r>
              </a:p>
            </p:txBody>
          </p:sp>
        </p:grpSp>
        <p:sp>
          <p:nvSpPr>
            <p:cNvPr id="436252" name="Line 28"/>
            <p:cNvSpPr>
              <a:spLocks noChangeShapeType="1"/>
            </p:cNvSpPr>
            <p:nvPr/>
          </p:nvSpPr>
          <p:spPr bwMode="auto">
            <a:xfrm>
              <a:off x="4408" y="25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53" name="Text Box 29"/>
            <p:cNvSpPr txBox="1">
              <a:spLocks noChangeArrowheads="1"/>
            </p:cNvSpPr>
            <p:nvPr/>
          </p:nvSpPr>
          <p:spPr bwMode="auto">
            <a:xfrm>
              <a:off x="4566" y="2625"/>
              <a:ext cx="1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436254" name="Line 30"/>
            <p:cNvSpPr>
              <a:spLocks noChangeShapeType="1"/>
            </p:cNvSpPr>
            <p:nvPr/>
          </p:nvSpPr>
          <p:spPr bwMode="auto">
            <a:xfrm>
              <a:off x="4400" y="244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56" name="Text Box 32"/>
            <p:cNvSpPr txBox="1">
              <a:spLocks noChangeArrowheads="1"/>
            </p:cNvSpPr>
            <p:nvPr/>
          </p:nvSpPr>
          <p:spPr bwMode="auto">
            <a:xfrm>
              <a:off x="2606" y="1703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436257" name="Text Box 33"/>
            <p:cNvSpPr txBox="1">
              <a:spLocks noChangeArrowheads="1"/>
            </p:cNvSpPr>
            <p:nvPr/>
          </p:nvSpPr>
          <p:spPr bwMode="auto">
            <a:xfrm>
              <a:off x="2630" y="1927"/>
              <a:ext cx="1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436258" name="Text Box 34"/>
            <p:cNvSpPr txBox="1">
              <a:spLocks noChangeArrowheads="1"/>
            </p:cNvSpPr>
            <p:nvPr/>
          </p:nvSpPr>
          <p:spPr bwMode="auto">
            <a:xfrm>
              <a:off x="2734" y="1808"/>
              <a:ext cx="3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V(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36259" name="Line 35"/>
            <p:cNvSpPr>
              <a:spLocks noChangeShapeType="1"/>
            </p:cNvSpPr>
            <p:nvPr/>
          </p:nvSpPr>
          <p:spPr bwMode="auto">
            <a:xfrm flipV="1">
              <a:off x="2456" y="1687"/>
              <a:ext cx="330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60" name="Text Box 36"/>
            <p:cNvSpPr txBox="1">
              <a:spLocks noChangeArrowheads="1"/>
            </p:cNvSpPr>
            <p:nvPr/>
          </p:nvSpPr>
          <p:spPr bwMode="auto">
            <a:xfrm>
              <a:off x="2670" y="1416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36261" name="Line 37"/>
            <p:cNvSpPr>
              <a:spLocks noChangeShapeType="1"/>
            </p:cNvSpPr>
            <p:nvPr/>
          </p:nvSpPr>
          <p:spPr bwMode="auto">
            <a:xfrm>
              <a:off x="2608" y="1328"/>
              <a:ext cx="0" cy="11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6262" name="AutoShape 38"/>
            <p:cNvSpPr>
              <a:spLocks noChangeArrowheads="1"/>
            </p:cNvSpPr>
            <p:nvPr/>
          </p:nvSpPr>
          <p:spPr bwMode="auto">
            <a:xfrm>
              <a:off x="2624" y="2512"/>
              <a:ext cx="216" cy="136"/>
            </a:xfrm>
            <a:prstGeom prst="rightArrow">
              <a:avLst>
                <a:gd name="adj1" fmla="val 50000"/>
                <a:gd name="adj2" fmla="val 397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65" name="Text Box 41"/>
            <p:cNvSpPr txBox="1">
              <a:spLocks noChangeArrowheads="1"/>
            </p:cNvSpPr>
            <p:nvPr/>
          </p:nvSpPr>
          <p:spPr bwMode="auto">
            <a:xfrm>
              <a:off x="2182" y="2465"/>
              <a:ext cx="28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in</a:t>
              </a:r>
            </a:p>
          </p:txBody>
        </p:sp>
      </p:grpSp>
      <p:graphicFrame>
        <p:nvGraphicFramePr>
          <p:cNvPr id="43626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881199"/>
              </p:ext>
            </p:extLst>
          </p:nvPr>
        </p:nvGraphicFramePr>
        <p:xfrm>
          <a:off x="1183307" y="2601987"/>
          <a:ext cx="15509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469800" progId="Equation.DSMT4">
                  <p:embed/>
                </p:oleObj>
              </mc:Choice>
              <mc:Fallback>
                <p:oleObj name="Equation" r:id="rId3" imgW="939600" imgH="469800" progId="Equation.DSMT4">
                  <p:embed/>
                  <p:pic>
                    <p:nvPicPr>
                      <p:cNvPr id="43626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307" y="2601987"/>
                        <a:ext cx="1550987" cy="774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Slide Number Placeholder 36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1C98DCCC-9E0B-4614-9052-BF375F607B6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498055"/>
              </p:ext>
            </p:extLst>
          </p:nvPr>
        </p:nvGraphicFramePr>
        <p:xfrm>
          <a:off x="419587" y="3836411"/>
          <a:ext cx="3661094" cy="1117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800" imgH="482600" progId="Equation.DSMT4">
                  <p:embed/>
                </p:oleObj>
              </mc:Choice>
              <mc:Fallback>
                <p:oleObj name="Equation" r:id="rId5" imgW="1574800" imgH="4826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87" y="3836411"/>
                        <a:ext cx="3661094" cy="111772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A8A8A8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423452"/>
              </p:ext>
            </p:extLst>
          </p:nvPr>
        </p:nvGraphicFramePr>
        <p:xfrm>
          <a:off x="4767570" y="3831847"/>
          <a:ext cx="39179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39900" imgH="508000" progId="Equation.DSMT4">
                  <p:embed/>
                </p:oleObj>
              </mc:Choice>
              <mc:Fallback>
                <p:oleObj name="Equation" r:id="rId7" imgW="1739900" imgH="5080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570" y="3831847"/>
                        <a:ext cx="3917950" cy="11398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BEBEBE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931325"/>
              </p:ext>
            </p:extLst>
          </p:nvPr>
        </p:nvGraphicFramePr>
        <p:xfrm>
          <a:off x="4238627" y="5425912"/>
          <a:ext cx="36941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52600" imgH="508000" progId="Equation.DSMT4">
                  <p:embed/>
                </p:oleObj>
              </mc:Choice>
              <mc:Fallback>
                <p:oleObj name="Equation" r:id="rId9" imgW="1752600" imgH="5080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7" y="5425912"/>
                        <a:ext cx="3694112" cy="10668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BEBEBE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4216402" y="2682644"/>
            <a:ext cx="276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5600371" y="2747731"/>
            <a:ext cx="254000" cy="3968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dirty="0">
                <a:latin typeface="Times New Roman" pitchFamily="18" charset="0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1090" y="577418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 lossless line</a:t>
            </a:r>
          </a:p>
        </p:txBody>
      </p:sp>
    </p:spTree>
    <p:extLst>
      <p:ext uri="{BB962C8B-B14F-4D97-AF65-F5344CB8AC3E}">
        <p14:creationId xmlns:p14="http://schemas.microsoft.com/office/powerpoint/2010/main" val="2889569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421809"/>
              </p:ext>
            </p:extLst>
          </p:nvPr>
        </p:nvGraphicFramePr>
        <p:xfrm>
          <a:off x="2817751" y="3270976"/>
          <a:ext cx="5608700" cy="60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6160" imgH="406080" progId="Equation.DSMT4">
                  <p:embed/>
                </p:oleObj>
              </mc:Choice>
              <mc:Fallback>
                <p:oleObj name="Equation" r:id="rId3" imgW="3746160" imgH="406080" progId="Equation.DSMT4">
                  <p:embed/>
                  <p:pic>
                    <p:nvPicPr>
                      <p:cNvPr id="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751" y="3270976"/>
                        <a:ext cx="5608700" cy="607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6" name="Text Box 2"/>
          <p:cNvSpPr txBox="1">
            <a:spLocks noChangeArrowheads="1"/>
          </p:cNvSpPr>
          <p:nvPr/>
        </p:nvSpPr>
        <p:spPr bwMode="auto">
          <a:xfrm>
            <a:off x="2539575" y="0"/>
            <a:ext cx="373062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 Standing Wave</a:t>
            </a:r>
          </a:p>
        </p:txBody>
      </p:sp>
      <p:sp>
        <p:nvSpPr>
          <p:cNvPr id="272583" name="Text Box 199"/>
          <p:cNvSpPr txBox="1">
            <a:spLocks noChangeArrowheads="1"/>
          </p:cNvSpPr>
          <p:nvPr/>
        </p:nvSpPr>
        <p:spPr bwMode="auto">
          <a:xfrm>
            <a:off x="704850" y="594413"/>
            <a:ext cx="7792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Consider a </a:t>
            </a:r>
            <a:r>
              <a:rPr lang="en-US" sz="2000" dirty="0">
                <a:solidFill>
                  <a:srgbClr val="FF0000"/>
                </a:solidFill>
              </a:rPr>
              <a:t>lossless</a:t>
            </a:r>
            <a:r>
              <a:rPr lang="en-US" sz="2000" dirty="0">
                <a:solidFill>
                  <a:srgbClr val="0000FF"/>
                </a:solidFill>
              </a:rPr>
              <a:t> transmission line that is terminated with a load:</a:t>
            </a:r>
          </a:p>
        </p:txBody>
      </p:sp>
      <p:grpSp>
        <p:nvGrpSpPr>
          <p:cNvPr id="272660" name="Group 276"/>
          <p:cNvGrpSpPr>
            <a:grpSpLocks/>
          </p:cNvGrpSpPr>
          <p:nvPr/>
        </p:nvGrpSpPr>
        <p:grpSpPr bwMode="auto">
          <a:xfrm>
            <a:off x="342900" y="983400"/>
            <a:ext cx="8101013" cy="2325688"/>
            <a:chOff x="216" y="752"/>
            <a:chExt cx="5103" cy="1465"/>
          </a:xfrm>
        </p:grpSpPr>
        <p:sp>
          <p:nvSpPr>
            <p:cNvPr id="272612" name="Text Box 228"/>
            <p:cNvSpPr txBox="1">
              <a:spLocks noChangeArrowheads="1"/>
            </p:cNvSpPr>
            <p:nvPr/>
          </p:nvSpPr>
          <p:spPr bwMode="auto">
            <a:xfrm>
              <a:off x="1584" y="785"/>
              <a:ext cx="3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272627" name="Text Box 243"/>
            <p:cNvSpPr txBox="1">
              <a:spLocks noChangeArrowheads="1"/>
            </p:cNvSpPr>
            <p:nvPr/>
          </p:nvSpPr>
          <p:spPr bwMode="auto">
            <a:xfrm>
              <a:off x="4840" y="1967"/>
              <a:ext cx="1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272625" name="Text Box 241"/>
            <p:cNvSpPr txBox="1">
              <a:spLocks noChangeArrowheads="1"/>
            </p:cNvSpPr>
            <p:nvPr/>
          </p:nvSpPr>
          <p:spPr bwMode="auto">
            <a:xfrm>
              <a:off x="216" y="1212"/>
              <a:ext cx="12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/>
                <a:t>Sinusoidal source</a:t>
              </a:r>
            </a:p>
          </p:txBody>
        </p:sp>
        <p:sp>
          <p:nvSpPr>
            <p:cNvPr id="272590" name="Text Box 206"/>
            <p:cNvSpPr txBox="1">
              <a:spLocks noChangeArrowheads="1"/>
            </p:cNvSpPr>
            <p:nvPr/>
          </p:nvSpPr>
          <p:spPr bwMode="auto">
            <a:xfrm>
              <a:off x="5056" y="1214"/>
              <a:ext cx="2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i="1" baseline="-2500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272591" name="Freeform 207"/>
            <p:cNvSpPr>
              <a:spLocks/>
            </p:cNvSpPr>
            <p:nvPr/>
          </p:nvSpPr>
          <p:spPr bwMode="auto">
            <a:xfrm>
              <a:off x="2003" y="1094"/>
              <a:ext cx="2862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2" name="Freeform 208"/>
            <p:cNvSpPr>
              <a:spLocks/>
            </p:cNvSpPr>
            <p:nvPr/>
          </p:nvSpPr>
          <p:spPr bwMode="auto">
            <a:xfrm flipV="1">
              <a:off x="1577" y="1526"/>
              <a:ext cx="3286" cy="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6" name="Line 212"/>
            <p:cNvSpPr>
              <a:spLocks noChangeShapeType="1"/>
            </p:cNvSpPr>
            <p:nvPr/>
          </p:nvSpPr>
          <p:spPr bwMode="auto">
            <a:xfrm>
              <a:off x="4866" y="1093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597" name="Line 213"/>
            <p:cNvSpPr>
              <a:spLocks noChangeShapeType="1"/>
            </p:cNvSpPr>
            <p:nvPr/>
          </p:nvSpPr>
          <p:spPr bwMode="auto">
            <a:xfrm flipH="1">
              <a:off x="4866" y="140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598" name="Text Box 214"/>
            <p:cNvSpPr txBox="1">
              <a:spLocks noChangeArrowheads="1"/>
            </p:cNvSpPr>
            <p:nvPr/>
          </p:nvSpPr>
          <p:spPr bwMode="auto">
            <a:xfrm>
              <a:off x="4554" y="1533"/>
              <a:ext cx="61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 dirty="0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 dirty="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72613" name="Line 229"/>
            <p:cNvSpPr>
              <a:spLocks noChangeShapeType="1"/>
            </p:cNvSpPr>
            <p:nvPr/>
          </p:nvSpPr>
          <p:spPr bwMode="auto">
            <a:xfrm flipH="1">
              <a:off x="1574" y="1093"/>
              <a:ext cx="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16" name="Oval 232"/>
            <p:cNvSpPr>
              <a:spLocks noChangeArrowheads="1"/>
            </p:cNvSpPr>
            <p:nvPr/>
          </p:nvSpPr>
          <p:spPr bwMode="auto">
            <a:xfrm>
              <a:off x="2305" y="1077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617" name="Oval 233"/>
            <p:cNvSpPr>
              <a:spLocks noChangeArrowheads="1"/>
            </p:cNvSpPr>
            <p:nvPr/>
          </p:nvSpPr>
          <p:spPr bwMode="auto">
            <a:xfrm>
              <a:off x="2289" y="1525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618" name="Text Box 234"/>
            <p:cNvSpPr txBox="1">
              <a:spLocks noChangeArrowheads="1"/>
            </p:cNvSpPr>
            <p:nvPr/>
          </p:nvSpPr>
          <p:spPr bwMode="auto">
            <a:xfrm>
              <a:off x="2640" y="1190"/>
              <a:ext cx="25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baseline="-25000">
                  <a:latin typeface="Times New Roman" pitchFamily="18" charset="0"/>
                </a:rPr>
                <a:t>0</a:t>
              </a:r>
            </a:p>
          </p:txBody>
        </p:sp>
        <p:grpSp>
          <p:nvGrpSpPr>
            <p:cNvPr id="272624" name="Group 240"/>
            <p:cNvGrpSpPr>
              <a:grpSpLocks/>
            </p:cNvGrpSpPr>
            <p:nvPr/>
          </p:nvGrpSpPr>
          <p:grpSpPr bwMode="auto">
            <a:xfrm>
              <a:off x="1480" y="1069"/>
              <a:ext cx="231" cy="504"/>
              <a:chOff x="1398" y="1440"/>
              <a:chExt cx="231" cy="504"/>
            </a:xfrm>
          </p:grpSpPr>
          <p:sp>
            <p:nvSpPr>
              <p:cNvPr id="272593" name="Oval 209"/>
              <p:cNvSpPr>
                <a:spLocks noChangeArrowheads="1"/>
              </p:cNvSpPr>
              <p:nvPr/>
            </p:nvSpPr>
            <p:spPr bwMode="auto">
              <a:xfrm>
                <a:off x="1481" y="189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272614" name="Oval 230"/>
              <p:cNvSpPr>
                <a:spLocks noChangeArrowheads="1"/>
              </p:cNvSpPr>
              <p:nvPr/>
            </p:nvSpPr>
            <p:spPr bwMode="auto">
              <a:xfrm>
                <a:off x="1481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619" name="Oval 235"/>
              <p:cNvSpPr>
                <a:spLocks noChangeArrowheads="1"/>
              </p:cNvSpPr>
              <p:nvPr/>
            </p:nvSpPr>
            <p:spPr bwMode="auto">
              <a:xfrm>
                <a:off x="1432" y="1616"/>
                <a:ext cx="168" cy="168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2620" name="Line 236"/>
              <p:cNvSpPr>
                <a:spLocks noChangeShapeType="1"/>
              </p:cNvSpPr>
              <p:nvPr/>
            </p:nvSpPr>
            <p:spPr bwMode="auto">
              <a:xfrm>
                <a:off x="1504" y="1464"/>
                <a:ext cx="0" cy="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621" name="Line 237"/>
              <p:cNvSpPr>
                <a:spLocks noChangeShapeType="1"/>
              </p:cNvSpPr>
              <p:nvPr/>
            </p:nvSpPr>
            <p:spPr bwMode="auto">
              <a:xfrm>
                <a:off x="1504" y="17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623" name="Text Box 239"/>
              <p:cNvSpPr txBox="1">
                <a:spLocks noChangeArrowheads="1"/>
              </p:cNvSpPr>
              <p:nvPr/>
            </p:nvSpPr>
            <p:spPr bwMode="auto">
              <a:xfrm rot="5400000">
                <a:off x="1412" y="1592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Lucida Console" pitchFamily="49" charset="0"/>
                  </a:rPr>
                  <a:t>S</a:t>
                </a:r>
              </a:p>
            </p:txBody>
          </p:sp>
        </p:grpSp>
        <p:sp>
          <p:nvSpPr>
            <p:cNvPr id="272626" name="Line 242"/>
            <p:cNvSpPr>
              <a:spLocks noChangeShapeType="1"/>
            </p:cNvSpPr>
            <p:nvPr/>
          </p:nvSpPr>
          <p:spPr bwMode="auto">
            <a:xfrm>
              <a:off x="4876" y="1891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28" name="Line 244"/>
            <p:cNvSpPr>
              <a:spLocks noChangeShapeType="1"/>
            </p:cNvSpPr>
            <p:nvPr/>
          </p:nvSpPr>
          <p:spPr bwMode="auto">
            <a:xfrm>
              <a:off x="4868" y="1747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72629" name="Object 2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4984602"/>
                </p:ext>
              </p:extLst>
            </p:nvPr>
          </p:nvGraphicFramePr>
          <p:xfrm>
            <a:off x="1731" y="1646"/>
            <a:ext cx="645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34680" imgH="444240" progId="Equation.DSMT4">
                    <p:embed/>
                  </p:oleObj>
                </mc:Choice>
                <mc:Fallback>
                  <p:oleObj name="Equation" r:id="rId5" imgW="634680" imgH="444240" progId="Equation.DSMT4">
                    <p:embed/>
                    <p:pic>
                      <p:nvPicPr>
                        <p:cNvPr id="272629" name="Object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1" y="1646"/>
                          <a:ext cx="645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1">
                                <a:gsLst>
                                  <a:gs pos="0">
                                    <a:srgbClr val="DDDDDD"/>
                                  </a:gs>
                                  <a:gs pos="100000">
                                    <a:srgbClr val="DDDDDD">
                                      <a:gamma/>
                                      <a:shade val="86275"/>
                                      <a:invGamma/>
                                    </a:srgbClr>
                                  </a:gs>
                                </a:gsLst>
                                <a:path path="shape">
                                  <a:fillToRect l="50000" t="50000" r="50000" b="50000"/>
                                </a:path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633" name="Text Box 249"/>
            <p:cNvSpPr txBox="1">
              <a:spLocks noChangeArrowheads="1"/>
            </p:cNvSpPr>
            <p:nvPr/>
          </p:nvSpPr>
          <p:spPr bwMode="auto">
            <a:xfrm>
              <a:off x="3368" y="1068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  <p:sp>
          <p:nvSpPr>
            <p:cNvPr id="272634" name="Text Box 250"/>
            <p:cNvSpPr txBox="1">
              <a:spLocks noChangeArrowheads="1"/>
            </p:cNvSpPr>
            <p:nvPr/>
          </p:nvSpPr>
          <p:spPr bwMode="auto">
            <a:xfrm>
              <a:off x="3400" y="1356"/>
              <a:ext cx="1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-</a:t>
              </a:r>
            </a:p>
          </p:txBody>
        </p:sp>
        <p:sp>
          <p:nvSpPr>
            <p:cNvPr id="272635" name="Text Box 251"/>
            <p:cNvSpPr txBox="1">
              <a:spLocks noChangeArrowheads="1"/>
            </p:cNvSpPr>
            <p:nvPr/>
          </p:nvSpPr>
          <p:spPr bwMode="auto">
            <a:xfrm>
              <a:off x="3472" y="1213"/>
              <a:ext cx="3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V(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72636" name="Line 252"/>
            <p:cNvSpPr>
              <a:spLocks noChangeShapeType="1"/>
            </p:cNvSpPr>
            <p:nvPr/>
          </p:nvSpPr>
          <p:spPr bwMode="auto">
            <a:xfrm flipV="1">
              <a:off x="3858" y="1092"/>
              <a:ext cx="342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637" name="Text Box 253"/>
            <p:cNvSpPr txBox="1">
              <a:spLocks noChangeArrowheads="1"/>
            </p:cNvSpPr>
            <p:nvPr/>
          </p:nvSpPr>
          <p:spPr bwMode="auto">
            <a:xfrm>
              <a:off x="3912" y="829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I(</a:t>
              </a:r>
              <a:r>
                <a:rPr lang="en-US" i="1">
                  <a:latin typeface="Times New Roman" pitchFamily="18" charset="0"/>
                </a:rPr>
                <a:t>z</a:t>
              </a:r>
              <a:r>
                <a:rPr lang="en-US"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272651" name="Object 2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7478268"/>
                </p:ext>
              </p:extLst>
            </p:nvPr>
          </p:nvGraphicFramePr>
          <p:xfrm>
            <a:off x="2597" y="1638"/>
            <a:ext cx="1451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6800" imgH="431640" progId="Equation.DSMT4">
                    <p:embed/>
                  </p:oleObj>
                </mc:Choice>
                <mc:Fallback>
                  <p:oleObj name="Equation" r:id="rId7" imgW="1396800" imgH="431640" progId="Equation.DSMT4">
                    <p:embed/>
                    <p:pic>
                      <p:nvPicPr>
                        <p:cNvPr id="272651" name="Object 2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" y="1638"/>
                          <a:ext cx="1451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1">
                                <a:gsLst>
                                  <a:gs pos="0">
                                    <a:srgbClr val="DDDDDD"/>
                                  </a:gs>
                                  <a:gs pos="100000">
                                    <a:srgbClr val="DDDDDD">
                                      <a:gamma/>
                                      <a:shade val="85882"/>
                                      <a:invGamma/>
                                    </a:srgbClr>
                                  </a:gs>
                                </a:gsLst>
                                <a:path path="shape">
                                  <a:fillToRect l="50000" t="50000" r="50000" b="50000"/>
                                </a:path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2653" name="Object 2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2103234"/>
                </p:ext>
              </p:extLst>
            </p:nvPr>
          </p:nvGraphicFramePr>
          <p:xfrm>
            <a:off x="826" y="1587"/>
            <a:ext cx="48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69800" imgH="203040" progId="Equation.DSMT4">
                    <p:embed/>
                  </p:oleObj>
                </mc:Choice>
                <mc:Fallback>
                  <p:oleObj name="Equation" r:id="rId9" imgW="469800" imgH="203040" progId="Equation.DSMT4">
                    <p:embed/>
                    <p:pic>
                      <p:nvPicPr>
                        <p:cNvPr id="272653" name="Object 2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" y="1587"/>
                          <a:ext cx="488" cy="21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FF0000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655" name="AutoShape 271"/>
            <p:cNvSpPr>
              <a:spLocks noChangeArrowheads="1"/>
            </p:cNvSpPr>
            <p:nvPr/>
          </p:nvSpPr>
          <p:spPr bwMode="auto">
            <a:xfrm rot="5400000">
              <a:off x="4536" y="1079"/>
              <a:ext cx="143" cy="263"/>
            </a:xfrm>
            <a:custGeom>
              <a:avLst/>
              <a:gdLst>
                <a:gd name="T0" fmla="*/ 9250 w 21600"/>
                <a:gd name="T1" fmla="*/ 0 h 21600"/>
                <a:gd name="T2" fmla="*/ 3055 w 21600"/>
                <a:gd name="T3" fmla="*/ 21600 h 21600"/>
                <a:gd name="T4" fmla="*/ 9725 w 21600"/>
                <a:gd name="T5" fmla="*/ 8310 h 21600"/>
                <a:gd name="T6" fmla="*/ 15662 w 21600"/>
                <a:gd name="T7" fmla="*/ 14285 h 21600"/>
                <a:gd name="T8" fmla="*/ 21600 w 21600"/>
                <a:gd name="T9" fmla="*/ 8310 h 21600"/>
                <a:gd name="T10" fmla="*/ 17694720 60000 65536"/>
                <a:gd name="T11" fmla="*/ 5898240 60000 65536"/>
                <a:gd name="T12" fmla="*/ 5898240 60000 65536"/>
                <a:gd name="T13" fmla="*/ 5898240 60000 65536"/>
                <a:gd name="T14" fmla="*/ 0 60000 65536"/>
                <a:gd name="T15" fmla="*/ 0 w 21600"/>
                <a:gd name="T16" fmla="*/ 8310 h 21600"/>
                <a:gd name="T17" fmla="*/ 6110 w 21600"/>
                <a:gd name="T18" fmla="*/ 21600 h 21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00" h="21600">
                  <a:moveTo>
                    <a:pt x="15662" y="14285"/>
                  </a:moveTo>
                  <a:lnTo>
                    <a:pt x="21600" y="8310"/>
                  </a:lnTo>
                  <a:lnTo>
                    <a:pt x="18630" y="8310"/>
                  </a:lnTo>
                  <a:cubicBezTo>
                    <a:pt x="18630" y="3721"/>
                    <a:pt x="14430" y="0"/>
                    <a:pt x="9250" y="0"/>
                  </a:cubicBezTo>
                  <a:cubicBezTo>
                    <a:pt x="4141" y="0"/>
                    <a:pt x="0" y="3799"/>
                    <a:pt x="0" y="8485"/>
                  </a:cubicBezTo>
                  <a:lnTo>
                    <a:pt x="0" y="21600"/>
                  </a:lnTo>
                  <a:lnTo>
                    <a:pt x="6110" y="21600"/>
                  </a:lnTo>
                  <a:lnTo>
                    <a:pt x="6110" y="8310"/>
                  </a:lnTo>
                  <a:cubicBezTo>
                    <a:pt x="6110" y="6947"/>
                    <a:pt x="7362" y="5842"/>
                    <a:pt x="8907" y="5842"/>
                  </a:cubicBezTo>
                  <a:lnTo>
                    <a:pt x="9725" y="5842"/>
                  </a:lnTo>
                  <a:cubicBezTo>
                    <a:pt x="11269" y="5842"/>
                    <a:pt x="12520" y="6947"/>
                    <a:pt x="12520" y="8310"/>
                  </a:cubicBezTo>
                  <a:lnTo>
                    <a:pt x="9725" y="831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72656" name="Object 272"/>
            <p:cNvGraphicFramePr>
              <a:graphicFrameLocks noChangeAspect="1"/>
            </p:cNvGraphicFramePr>
            <p:nvPr/>
          </p:nvGraphicFramePr>
          <p:xfrm>
            <a:off x="4527" y="752"/>
            <a:ext cx="25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28600" progId="Equation.DSMT4">
                    <p:embed/>
                  </p:oleObj>
                </mc:Choice>
                <mc:Fallback>
                  <p:oleObj name="Equation" r:id="rId11" imgW="203040" imgH="228600" progId="Equation.DSMT4">
                    <p:embed/>
                    <p:pic>
                      <p:nvPicPr>
                        <p:cNvPr id="272656" name="Object 2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7" y="752"/>
                          <a:ext cx="250" cy="27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2611" name="Rectangle 227"/>
            <p:cNvSpPr>
              <a:spLocks noChangeArrowheads="1"/>
            </p:cNvSpPr>
            <p:nvPr/>
          </p:nvSpPr>
          <p:spPr bwMode="auto">
            <a:xfrm>
              <a:off x="1794" y="1037"/>
              <a:ext cx="248" cy="1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595" name="Rectangle 211"/>
            <p:cNvSpPr>
              <a:spLocks noChangeArrowheads="1"/>
            </p:cNvSpPr>
            <p:nvPr/>
          </p:nvSpPr>
          <p:spPr bwMode="auto">
            <a:xfrm>
              <a:off x="4794" y="1213"/>
              <a:ext cx="1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Slide Number Placeholder 4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E8DBCFDB-FD7F-4BFE-8868-1C760D5FDA69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25912"/>
              </p:ext>
            </p:extLst>
          </p:nvPr>
        </p:nvGraphicFramePr>
        <p:xfrm>
          <a:off x="2516950" y="3962833"/>
          <a:ext cx="2692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03240" imgH="279360" progId="Equation.DSMT4">
                  <p:embed/>
                </p:oleObj>
              </mc:Choice>
              <mc:Fallback>
                <p:oleObj name="Equation" r:id="rId13" imgW="1803240" imgH="27936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950" y="3962833"/>
                        <a:ext cx="2692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49"/>
          <p:cNvSpPr txBox="1">
            <a:spLocks noChangeArrowheads="1"/>
          </p:cNvSpPr>
          <p:nvPr/>
        </p:nvSpPr>
        <p:spPr bwMode="auto">
          <a:xfrm>
            <a:off x="541414" y="3977121"/>
            <a:ext cx="185018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Maximum voltage:</a:t>
            </a: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551622" y="4578516"/>
            <a:ext cx="179247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Minimum voltage:</a:t>
            </a:r>
          </a:p>
        </p:txBody>
      </p:sp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858426"/>
              </p:ext>
            </p:extLst>
          </p:nvPr>
        </p:nvGraphicFramePr>
        <p:xfrm>
          <a:off x="2527175" y="4599421"/>
          <a:ext cx="26289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7680" imgH="279360" progId="Equation.DSMT4">
                  <p:embed/>
                </p:oleObj>
              </mc:Choice>
              <mc:Fallback>
                <p:oleObj name="Equation" r:id="rId15" imgW="1777680" imgH="27936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175" y="4599421"/>
                        <a:ext cx="26289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79107"/>
              </p:ext>
            </p:extLst>
          </p:nvPr>
        </p:nvGraphicFramePr>
        <p:xfrm>
          <a:off x="5498275" y="4037576"/>
          <a:ext cx="1514495" cy="28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9720" imgH="241200" progId="Equation.DSMT4">
                  <p:embed/>
                </p:oleObj>
              </mc:Choice>
              <mc:Fallback>
                <p:oleObj name="Equation" r:id="rId17" imgW="1269720" imgH="24120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275" y="4037576"/>
                        <a:ext cx="1514495" cy="287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338630"/>
              </p:ext>
            </p:extLst>
          </p:nvPr>
        </p:nvGraphicFramePr>
        <p:xfrm>
          <a:off x="5510150" y="4682637"/>
          <a:ext cx="1733075" cy="27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36480" imgH="241200" progId="Equation.DSMT4">
                  <p:embed/>
                </p:oleObj>
              </mc:Choice>
              <mc:Fallback>
                <p:oleObj name="Equation" r:id="rId19" imgW="1536480" imgH="241200" progId="Equation.DSMT4">
                  <p:embed/>
                  <p:pic>
                    <p:nvPicPr>
                      <p:cNvPr id="54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150" y="4682637"/>
                        <a:ext cx="1733075" cy="271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553392"/>
              </p:ext>
            </p:extLst>
          </p:nvPr>
        </p:nvGraphicFramePr>
        <p:xfrm>
          <a:off x="7287944" y="4340001"/>
          <a:ext cx="1608426" cy="25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47560" imgH="228600" progId="Equation.DSMT4">
                  <p:embed/>
                </p:oleObj>
              </mc:Choice>
              <mc:Fallback>
                <p:oleObj name="Equation" r:id="rId21" imgW="1447560" imgH="228600" progId="Equation.DSMT4">
                  <p:embed/>
                  <p:pic>
                    <p:nvPicPr>
                      <p:cNvPr id="55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7944" y="4340001"/>
                        <a:ext cx="1608426" cy="253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736634"/>
              </p:ext>
            </p:extLst>
          </p:nvPr>
        </p:nvGraphicFramePr>
        <p:xfrm>
          <a:off x="2892600" y="5133425"/>
          <a:ext cx="3911600" cy="63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14600" imgH="406080" progId="Equation.DSMT4">
                  <p:embed/>
                </p:oleObj>
              </mc:Choice>
              <mc:Fallback>
                <p:oleObj name="Equation" r:id="rId23" imgW="2514600" imgH="406080" progId="Equation.DSMT4">
                  <p:embed/>
                  <p:pic>
                    <p:nvPicPr>
                      <p:cNvPr id="5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600" y="5133425"/>
                        <a:ext cx="3911600" cy="63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352946"/>
              </p:ext>
            </p:extLst>
          </p:nvPr>
        </p:nvGraphicFramePr>
        <p:xfrm>
          <a:off x="2365375" y="5809500"/>
          <a:ext cx="32670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58920" imgH="279360" progId="Equation.DSMT4">
                  <p:embed/>
                </p:oleObj>
              </mc:Choice>
              <mc:Fallback>
                <p:oleObj name="Equation" r:id="rId25" imgW="2158920" imgH="279360" progId="Equation.DSMT4">
                  <p:embed/>
                  <p:pic>
                    <p:nvPicPr>
                      <p:cNvPr id="57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5809500"/>
                        <a:ext cx="32670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766666"/>
              </p:ext>
            </p:extLst>
          </p:nvPr>
        </p:nvGraphicFramePr>
        <p:xfrm>
          <a:off x="2443163" y="6360100"/>
          <a:ext cx="31067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20760" imgH="279360" progId="Equation.DSMT4">
                  <p:embed/>
                </p:oleObj>
              </mc:Choice>
              <mc:Fallback>
                <p:oleObj name="Equation" r:id="rId27" imgW="2120760" imgH="27936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6360100"/>
                        <a:ext cx="31067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164797"/>
              </p:ext>
            </p:extLst>
          </p:nvPr>
        </p:nvGraphicFramePr>
        <p:xfrm>
          <a:off x="5732731" y="5890300"/>
          <a:ext cx="1789219" cy="28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36700" imgH="241300" progId="Equation.DSMT4">
                  <p:embed/>
                </p:oleObj>
              </mc:Choice>
              <mc:Fallback>
                <p:oleObj name="Equation" r:id="rId29" imgW="1536700" imgH="24130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731" y="5890300"/>
                        <a:ext cx="1789219" cy="280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73274"/>
              </p:ext>
            </p:extLst>
          </p:nvPr>
        </p:nvGraphicFramePr>
        <p:xfrm>
          <a:off x="5757902" y="6434095"/>
          <a:ext cx="1521673" cy="288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69449" imgH="241195" progId="Equation.DSMT4">
                  <p:embed/>
                </p:oleObj>
              </mc:Choice>
              <mc:Fallback>
                <p:oleObj name="Equation" r:id="rId30" imgW="1269449" imgH="241195" progId="Equation.DSMT4">
                  <p:embed/>
                  <p:pic>
                    <p:nvPicPr>
                      <p:cNvPr id="6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902" y="6434095"/>
                        <a:ext cx="1521673" cy="288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076865"/>
              </p:ext>
            </p:extLst>
          </p:nvPr>
        </p:nvGraphicFramePr>
        <p:xfrm>
          <a:off x="7333734" y="6225961"/>
          <a:ext cx="16081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47800" imgH="228600" progId="Equation.DSMT4">
                  <p:embed/>
                </p:oleObj>
              </mc:Choice>
              <mc:Fallback>
                <p:oleObj name="Equation" r:id="rId21" imgW="1447800" imgH="228600" progId="Equation.DSMT4">
                  <p:embed/>
                  <p:pic>
                    <p:nvPicPr>
                      <p:cNvPr id="61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3734" y="6225961"/>
                        <a:ext cx="16081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A8A8A8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49"/>
          <p:cNvSpPr txBox="1">
            <a:spLocks noChangeArrowheads="1"/>
          </p:cNvSpPr>
          <p:nvPr/>
        </p:nvSpPr>
        <p:spPr bwMode="auto">
          <a:xfrm>
            <a:off x="602437" y="5851455"/>
            <a:ext cx="18293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Maximum current:</a:t>
            </a:r>
          </a:p>
        </p:txBody>
      </p:sp>
      <p:sp>
        <p:nvSpPr>
          <p:cNvPr id="63" name="Text Box 50"/>
          <p:cNvSpPr txBox="1">
            <a:spLocks noChangeArrowheads="1"/>
          </p:cNvSpPr>
          <p:nvPr/>
        </p:nvSpPr>
        <p:spPr bwMode="auto">
          <a:xfrm>
            <a:off x="614312" y="6372405"/>
            <a:ext cx="17716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Minimum current:</a:t>
            </a:r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353250" y="3359157"/>
            <a:ext cx="21468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Voltage on the line:</a:t>
            </a:r>
          </a:p>
        </p:txBody>
      </p:sp>
      <p:sp>
        <p:nvSpPr>
          <p:cNvPr id="65" name="Text Box 49"/>
          <p:cNvSpPr txBox="1">
            <a:spLocks noChangeArrowheads="1"/>
          </p:cNvSpPr>
          <p:nvPr/>
        </p:nvSpPr>
        <p:spPr bwMode="auto">
          <a:xfrm>
            <a:off x="363157" y="5233478"/>
            <a:ext cx="21467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Current on the line:</a:t>
            </a:r>
          </a:p>
        </p:txBody>
      </p:sp>
    </p:spTree>
    <p:extLst>
      <p:ext uri="{BB962C8B-B14F-4D97-AF65-F5344CB8AC3E}">
        <p14:creationId xmlns:p14="http://schemas.microsoft.com/office/powerpoint/2010/main" val="2071637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62" grpId="0"/>
      <p:bldP spid="63" grpId="0"/>
      <p:bldP spid="64" grpId="0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2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068147"/>
              </p:ext>
            </p:extLst>
          </p:nvPr>
        </p:nvGraphicFramePr>
        <p:xfrm>
          <a:off x="866863" y="662366"/>
          <a:ext cx="4778227" cy="93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520" imgH="469800" progId="Equation.DSMT4">
                  <p:embed/>
                </p:oleObj>
              </mc:Choice>
              <mc:Fallback>
                <p:oleObj name="Equation" r:id="rId3" imgW="2387520" imgH="469800" progId="Equation.DSMT4">
                  <p:embed/>
                  <p:pic>
                    <p:nvPicPr>
                      <p:cNvPr id="4792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863" y="662366"/>
                        <a:ext cx="4778227" cy="93879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DDDDDD"/>
                          </a:gs>
                          <a:gs pos="100000">
                            <a:srgbClr val="DDDDDD">
                              <a:gamma/>
                              <a:shade val="85882"/>
                              <a:invGamma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53" name="Text Box 21"/>
          <p:cNvSpPr txBox="1">
            <a:spLocks noChangeArrowheads="1"/>
          </p:cNvSpPr>
          <p:nvPr/>
        </p:nvSpPr>
        <p:spPr bwMode="auto">
          <a:xfrm>
            <a:off x="1768958" y="0"/>
            <a:ext cx="5368830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 Standing Wave Ratio</a:t>
            </a:r>
          </a:p>
        </p:txBody>
      </p:sp>
      <p:graphicFrame>
        <p:nvGraphicFramePr>
          <p:cNvPr id="4792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605118"/>
              </p:ext>
            </p:extLst>
          </p:nvPr>
        </p:nvGraphicFramePr>
        <p:xfrm>
          <a:off x="6242128" y="918618"/>
          <a:ext cx="19319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177480" progId="Equation.DSMT4">
                  <p:embed/>
                </p:oleObj>
              </mc:Choice>
              <mc:Fallback>
                <p:oleObj name="Equation" r:id="rId5" imgW="812520" imgH="177480" progId="Equation.DSMT4">
                  <p:embed/>
                  <p:pic>
                    <p:nvPicPr>
                      <p:cNvPr id="47925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128" y="918618"/>
                        <a:ext cx="19319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85882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fld id="{E8DBCFDB-FD7F-4BFE-8868-1C760D5FDA69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39629"/>
              </p:ext>
            </p:extLst>
          </p:nvPr>
        </p:nvGraphicFramePr>
        <p:xfrm>
          <a:off x="143857" y="3316490"/>
          <a:ext cx="2071396" cy="462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15840" imgH="406080" progId="Equation.DSMT4">
                  <p:embed/>
                </p:oleObj>
              </mc:Choice>
              <mc:Fallback>
                <p:oleObj name="Equation" r:id="rId7" imgW="1815840" imgH="406080" progId="Equation.DSMT4">
                  <p:embed/>
                  <p:pic>
                    <p:nvPicPr>
                      <p:cNvPr id="1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57" y="3316490"/>
                        <a:ext cx="2071396" cy="46250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87"/>
          <p:cNvGrpSpPr>
            <a:grpSpLocks/>
          </p:cNvGrpSpPr>
          <p:nvPr/>
        </p:nvGrpSpPr>
        <p:grpSpPr bwMode="auto">
          <a:xfrm>
            <a:off x="1676458" y="1808471"/>
            <a:ext cx="5780029" cy="3039258"/>
            <a:chOff x="520" y="1060"/>
            <a:chExt cx="4570" cy="2403"/>
          </a:xfrm>
        </p:grpSpPr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520" y="2839"/>
              <a:ext cx="45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4038" y="2946"/>
            <a:ext cx="114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126720" progId="Equation.DSMT4">
                    <p:embed/>
                  </p:oleObj>
                </mc:Choice>
                <mc:Fallback>
                  <p:oleObj name="Equation" r:id="rId9" imgW="126720" imgH="126720" progId="Equation.DSMT4">
                    <p:embed/>
                    <p:pic>
                      <p:nvPicPr>
                        <p:cNvPr id="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" y="2946"/>
                          <a:ext cx="114" cy="16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3654" y="1412"/>
              <a:ext cx="1379" cy="13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" name="Object 15"/>
            <p:cNvGraphicFramePr>
              <a:graphicFrameLocks noChangeAspect="1"/>
            </p:cNvGraphicFramePr>
            <p:nvPr/>
          </p:nvGraphicFramePr>
          <p:xfrm>
            <a:off x="3557" y="1291"/>
            <a:ext cx="68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58720" imgH="253800" progId="Equation.DSMT4">
                    <p:embed/>
                  </p:oleObj>
                </mc:Choice>
                <mc:Fallback>
                  <p:oleObj name="Equation" r:id="rId11" imgW="558720" imgH="253800" progId="Equation.DSMT4">
                    <p:embed/>
                    <p:pic>
                      <p:nvPicPr>
                        <p:cNvPr id="1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7" y="1291"/>
                          <a:ext cx="68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1839" y="1436"/>
              <a:ext cx="184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1452" y="2041"/>
              <a:ext cx="2218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" name="Object 18"/>
            <p:cNvGraphicFramePr>
              <a:graphicFrameLocks noChangeAspect="1"/>
            </p:cNvGraphicFramePr>
            <p:nvPr/>
          </p:nvGraphicFramePr>
          <p:xfrm>
            <a:off x="3748" y="1903"/>
            <a:ext cx="10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88560" imgH="164880" progId="Equation.DSMT4">
                    <p:embed/>
                  </p:oleObj>
                </mc:Choice>
                <mc:Fallback>
                  <p:oleObj name="Equation" r:id="rId13" imgW="88560" imgH="164880" progId="Equation.DSMT4">
                    <p:embed/>
                    <p:pic>
                      <p:nvPicPr>
                        <p:cNvPr id="2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1903"/>
                          <a:ext cx="10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2565" y="2621"/>
              <a:ext cx="10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4" name="Object 20"/>
            <p:cNvGraphicFramePr>
              <a:graphicFrameLocks noChangeAspect="1"/>
            </p:cNvGraphicFramePr>
            <p:nvPr/>
          </p:nvGraphicFramePr>
          <p:xfrm>
            <a:off x="3556" y="2476"/>
            <a:ext cx="635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20560" imgH="253800" progId="Equation.DSMT4">
                    <p:embed/>
                  </p:oleObj>
                </mc:Choice>
                <mc:Fallback>
                  <p:oleObj name="Equation" r:id="rId15" imgW="520560" imgH="253800" progId="Equation.DSMT4">
                    <p:embed/>
                    <p:pic>
                      <p:nvPicPr>
                        <p:cNvPr id="2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6" y="2476"/>
                          <a:ext cx="635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V="1">
              <a:off x="3654" y="1060"/>
              <a:ext cx="8" cy="21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6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0857695"/>
                </p:ext>
              </p:extLst>
            </p:nvPr>
          </p:nvGraphicFramePr>
          <p:xfrm>
            <a:off x="4109" y="1748"/>
            <a:ext cx="636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20560" imgH="495000" progId="Equation.DSMT4">
                    <p:embed/>
                  </p:oleObj>
                </mc:Choice>
                <mc:Fallback>
                  <p:oleObj name="Equation" r:id="rId17" imgW="520560" imgH="495000" progId="Equation.DSMT4">
                    <p:embed/>
                    <p:pic>
                      <p:nvPicPr>
                        <p:cNvPr id="2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9" y="1748"/>
                          <a:ext cx="636" cy="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698" y="1928"/>
              <a:ext cx="83" cy="206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37" y="100"/>
                </a:cxn>
                <a:cxn ang="0">
                  <a:pos x="83" y="0"/>
                </a:cxn>
              </a:cxnLst>
              <a:rect l="0" t="0" r="r" b="b"/>
              <a:pathLst>
                <a:path w="83" h="206">
                  <a:moveTo>
                    <a:pt x="0" y="206"/>
                  </a:moveTo>
                  <a:lnTo>
                    <a:pt x="37" y="100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781" y="1739"/>
              <a:ext cx="82" cy="189"/>
            </a:xfrm>
            <a:custGeom>
              <a:avLst/>
              <a:gdLst/>
              <a:ahLst/>
              <a:cxnLst>
                <a:cxn ang="0">
                  <a:pos x="0" y="189"/>
                </a:cxn>
                <a:cxn ang="0">
                  <a:pos x="37" y="89"/>
                </a:cxn>
                <a:cxn ang="0">
                  <a:pos x="82" y="0"/>
                </a:cxn>
              </a:cxnLst>
              <a:rect l="0" t="0" r="r" b="b"/>
              <a:pathLst>
                <a:path w="82" h="189">
                  <a:moveTo>
                    <a:pt x="0" y="189"/>
                  </a:moveTo>
                  <a:lnTo>
                    <a:pt x="37" y="89"/>
                  </a:lnTo>
                  <a:lnTo>
                    <a:pt x="82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7"/>
            <p:cNvSpPr>
              <a:spLocks/>
            </p:cNvSpPr>
            <p:nvPr/>
          </p:nvSpPr>
          <p:spPr bwMode="auto">
            <a:xfrm>
              <a:off x="863" y="1592"/>
              <a:ext cx="83" cy="147"/>
            </a:xfrm>
            <a:custGeom>
              <a:avLst/>
              <a:gdLst/>
              <a:ahLst/>
              <a:cxnLst>
                <a:cxn ang="0">
                  <a:pos x="0" y="147"/>
                </a:cxn>
                <a:cxn ang="0">
                  <a:pos x="46" y="71"/>
                </a:cxn>
                <a:cxn ang="0">
                  <a:pos x="83" y="0"/>
                </a:cxn>
              </a:cxnLst>
              <a:rect l="0" t="0" r="r" b="b"/>
              <a:pathLst>
                <a:path w="83" h="147">
                  <a:moveTo>
                    <a:pt x="0" y="147"/>
                  </a:moveTo>
                  <a:lnTo>
                    <a:pt x="46" y="71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8"/>
            <p:cNvSpPr>
              <a:spLocks/>
            </p:cNvSpPr>
            <p:nvPr/>
          </p:nvSpPr>
          <p:spPr bwMode="auto">
            <a:xfrm>
              <a:off x="946" y="1486"/>
              <a:ext cx="76" cy="106"/>
            </a:xfrm>
            <a:custGeom>
              <a:avLst/>
              <a:gdLst/>
              <a:ahLst/>
              <a:cxnLst>
                <a:cxn ang="0">
                  <a:pos x="0" y="106"/>
                </a:cxn>
                <a:cxn ang="0">
                  <a:pos x="38" y="47"/>
                </a:cxn>
                <a:cxn ang="0">
                  <a:pos x="53" y="23"/>
                </a:cxn>
                <a:cxn ang="0">
                  <a:pos x="76" y="0"/>
                </a:cxn>
              </a:cxnLst>
              <a:rect l="0" t="0" r="r" b="b"/>
              <a:pathLst>
                <a:path w="76" h="106">
                  <a:moveTo>
                    <a:pt x="0" y="106"/>
                  </a:moveTo>
                  <a:lnTo>
                    <a:pt x="38" y="47"/>
                  </a:lnTo>
                  <a:lnTo>
                    <a:pt x="53" y="23"/>
                  </a:lnTo>
                  <a:lnTo>
                    <a:pt x="76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9"/>
            <p:cNvSpPr>
              <a:spLocks/>
            </p:cNvSpPr>
            <p:nvPr/>
          </p:nvSpPr>
          <p:spPr bwMode="auto">
            <a:xfrm>
              <a:off x="1022" y="1439"/>
              <a:ext cx="82" cy="47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37" y="17"/>
                </a:cxn>
                <a:cxn ang="0">
                  <a:pos x="82" y="0"/>
                </a:cxn>
              </a:cxnLst>
              <a:rect l="0" t="0" r="r" b="b"/>
              <a:pathLst>
                <a:path w="82" h="47">
                  <a:moveTo>
                    <a:pt x="0" y="47"/>
                  </a:moveTo>
                  <a:lnTo>
                    <a:pt x="37" y="17"/>
                  </a:lnTo>
                  <a:lnTo>
                    <a:pt x="82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40"/>
            <p:cNvSpPr>
              <a:spLocks/>
            </p:cNvSpPr>
            <p:nvPr/>
          </p:nvSpPr>
          <p:spPr bwMode="auto">
            <a:xfrm>
              <a:off x="1104" y="1439"/>
              <a:ext cx="83" cy="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0"/>
                </a:cxn>
                <a:cxn ang="0">
                  <a:pos x="83" y="11"/>
                </a:cxn>
              </a:cxnLst>
              <a:rect l="0" t="0" r="r" b="b"/>
              <a:pathLst>
                <a:path w="83" h="11">
                  <a:moveTo>
                    <a:pt x="0" y="0"/>
                  </a:moveTo>
                  <a:lnTo>
                    <a:pt x="38" y="0"/>
                  </a:lnTo>
                  <a:lnTo>
                    <a:pt x="83" y="11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1"/>
            <p:cNvSpPr>
              <a:spLocks/>
            </p:cNvSpPr>
            <p:nvPr/>
          </p:nvSpPr>
          <p:spPr bwMode="auto">
            <a:xfrm>
              <a:off x="1187" y="1450"/>
              <a:ext cx="83" cy="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24"/>
                </a:cxn>
                <a:cxn ang="0">
                  <a:pos x="83" y="59"/>
                </a:cxn>
              </a:cxnLst>
              <a:rect l="0" t="0" r="r" b="b"/>
              <a:pathLst>
                <a:path w="83" h="59">
                  <a:moveTo>
                    <a:pt x="0" y="0"/>
                  </a:moveTo>
                  <a:lnTo>
                    <a:pt x="38" y="24"/>
                  </a:lnTo>
                  <a:lnTo>
                    <a:pt x="83" y="59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42"/>
            <p:cNvSpPr>
              <a:spLocks/>
            </p:cNvSpPr>
            <p:nvPr/>
          </p:nvSpPr>
          <p:spPr bwMode="auto">
            <a:xfrm>
              <a:off x="1270" y="1509"/>
              <a:ext cx="83" cy="1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24"/>
                </a:cxn>
                <a:cxn ang="0">
                  <a:pos x="38" y="53"/>
                </a:cxn>
                <a:cxn ang="0">
                  <a:pos x="83" y="118"/>
                </a:cxn>
              </a:cxnLst>
              <a:rect l="0" t="0" r="r" b="b"/>
              <a:pathLst>
                <a:path w="83" h="118">
                  <a:moveTo>
                    <a:pt x="0" y="0"/>
                  </a:moveTo>
                  <a:lnTo>
                    <a:pt x="23" y="24"/>
                  </a:lnTo>
                  <a:lnTo>
                    <a:pt x="38" y="53"/>
                  </a:lnTo>
                  <a:lnTo>
                    <a:pt x="83" y="118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43"/>
            <p:cNvSpPr>
              <a:spLocks/>
            </p:cNvSpPr>
            <p:nvPr/>
          </p:nvSpPr>
          <p:spPr bwMode="auto">
            <a:xfrm>
              <a:off x="1353" y="1627"/>
              <a:ext cx="83" cy="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77"/>
                </a:cxn>
                <a:cxn ang="0">
                  <a:pos x="83" y="159"/>
                </a:cxn>
              </a:cxnLst>
              <a:rect l="0" t="0" r="r" b="b"/>
              <a:pathLst>
                <a:path w="83" h="159">
                  <a:moveTo>
                    <a:pt x="0" y="0"/>
                  </a:moveTo>
                  <a:lnTo>
                    <a:pt x="38" y="77"/>
                  </a:lnTo>
                  <a:lnTo>
                    <a:pt x="83" y="159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44"/>
            <p:cNvSpPr>
              <a:spLocks/>
            </p:cNvSpPr>
            <p:nvPr/>
          </p:nvSpPr>
          <p:spPr bwMode="auto">
            <a:xfrm>
              <a:off x="1436" y="1786"/>
              <a:ext cx="83" cy="2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48"/>
                </a:cxn>
                <a:cxn ang="0">
                  <a:pos x="45" y="95"/>
                </a:cxn>
                <a:cxn ang="0">
                  <a:pos x="83" y="201"/>
                </a:cxn>
              </a:cxnLst>
              <a:rect l="0" t="0" r="r" b="b"/>
              <a:pathLst>
                <a:path w="83" h="201">
                  <a:moveTo>
                    <a:pt x="0" y="0"/>
                  </a:moveTo>
                  <a:lnTo>
                    <a:pt x="22" y="48"/>
                  </a:lnTo>
                  <a:lnTo>
                    <a:pt x="45" y="95"/>
                  </a:lnTo>
                  <a:lnTo>
                    <a:pt x="83" y="201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45"/>
            <p:cNvSpPr>
              <a:spLocks/>
            </p:cNvSpPr>
            <p:nvPr/>
          </p:nvSpPr>
          <p:spPr bwMode="auto">
            <a:xfrm>
              <a:off x="1519" y="1987"/>
              <a:ext cx="75" cy="2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106"/>
                </a:cxn>
                <a:cxn ang="0">
                  <a:pos x="75" y="212"/>
                </a:cxn>
              </a:cxnLst>
              <a:rect l="0" t="0" r="r" b="b"/>
              <a:pathLst>
                <a:path w="75" h="212">
                  <a:moveTo>
                    <a:pt x="0" y="0"/>
                  </a:moveTo>
                  <a:lnTo>
                    <a:pt x="37" y="106"/>
                  </a:lnTo>
                  <a:lnTo>
                    <a:pt x="75" y="212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46"/>
            <p:cNvSpPr>
              <a:spLocks/>
            </p:cNvSpPr>
            <p:nvPr/>
          </p:nvSpPr>
          <p:spPr bwMode="auto">
            <a:xfrm>
              <a:off x="1594" y="2199"/>
              <a:ext cx="83" cy="2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106"/>
                </a:cxn>
                <a:cxn ang="0">
                  <a:pos x="60" y="153"/>
                </a:cxn>
                <a:cxn ang="0">
                  <a:pos x="83" y="201"/>
                </a:cxn>
              </a:cxnLst>
              <a:rect l="0" t="0" r="r" b="b"/>
              <a:pathLst>
                <a:path w="83" h="201">
                  <a:moveTo>
                    <a:pt x="0" y="0"/>
                  </a:moveTo>
                  <a:lnTo>
                    <a:pt x="38" y="106"/>
                  </a:lnTo>
                  <a:lnTo>
                    <a:pt x="60" y="153"/>
                  </a:lnTo>
                  <a:lnTo>
                    <a:pt x="83" y="201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7"/>
            <p:cNvSpPr>
              <a:spLocks/>
            </p:cNvSpPr>
            <p:nvPr/>
          </p:nvSpPr>
          <p:spPr bwMode="auto">
            <a:xfrm>
              <a:off x="1677" y="2400"/>
              <a:ext cx="83" cy="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88"/>
                </a:cxn>
                <a:cxn ang="0">
                  <a:pos x="60" y="129"/>
                </a:cxn>
                <a:cxn ang="0">
                  <a:pos x="83" y="159"/>
                </a:cxn>
              </a:cxnLst>
              <a:rect l="0" t="0" r="r" b="b"/>
              <a:pathLst>
                <a:path w="83" h="159">
                  <a:moveTo>
                    <a:pt x="0" y="0"/>
                  </a:moveTo>
                  <a:lnTo>
                    <a:pt x="37" y="88"/>
                  </a:lnTo>
                  <a:lnTo>
                    <a:pt x="60" y="129"/>
                  </a:lnTo>
                  <a:lnTo>
                    <a:pt x="83" y="159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8"/>
            <p:cNvSpPr>
              <a:spLocks/>
            </p:cNvSpPr>
            <p:nvPr/>
          </p:nvSpPr>
          <p:spPr bwMode="auto">
            <a:xfrm>
              <a:off x="1760" y="2559"/>
              <a:ext cx="82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23"/>
                </a:cxn>
                <a:cxn ang="0">
                  <a:pos x="37" y="47"/>
                </a:cxn>
                <a:cxn ang="0">
                  <a:pos x="60" y="59"/>
                </a:cxn>
                <a:cxn ang="0">
                  <a:pos x="82" y="65"/>
                </a:cxn>
              </a:cxnLst>
              <a:rect l="0" t="0" r="r" b="b"/>
              <a:pathLst>
                <a:path w="82" h="65">
                  <a:moveTo>
                    <a:pt x="0" y="0"/>
                  </a:moveTo>
                  <a:lnTo>
                    <a:pt x="22" y="23"/>
                  </a:lnTo>
                  <a:lnTo>
                    <a:pt x="37" y="47"/>
                  </a:lnTo>
                  <a:lnTo>
                    <a:pt x="60" y="59"/>
                  </a:lnTo>
                  <a:lnTo>
                    <a:pt x="82" y="65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9"/>
            <p:cNvSpPr>
              <a:spLocks/>
            </p:cNvSpPr>
            <p:nvPr/>
          </p:nvSpPr>
          <p:spPr bwMode="auto">
            <a:xfrm>
              <a:off x="1842" y="2565"/>
              <a:ext cx="83" cy="59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23" y="53"/>
                </a:cxn>
                <a:cxn ang="0">
                  <a:pos x="38" y="41"/>
                </a:cxn>
                <a:cxn ang="0">
                  <a:pos x="61" y="23"/>
                </a:cxn>
                <a:cxn ang="0">
                  <a:pos x="83" y="0"/>
                </a:cxn>
              </a:cxnLst>
              <a:rect l="0" t="0" r="r" b="b"/>
              <a:pathLst>
                <a:path w="83" h="59">
                  <a:moveTo>
                    <a:pt x="0" y="59"/>
                  </a:moveTo>
                  <a:lnTo>
                    <a:pt x="23" y="53"/>
                  </a:lnTo>
                  <a:lnTo>
                    <a:pt x="38" y="41"/>
                  </a:lnTo>
                  <a:lnTo>
                    <a:pt x="61" y="23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50"/>
            <p:cNvSpPr>
              <a:spLocks/>
            </p:cNvSpPr>
            <p:nvPr/>
          </p:nvSpPr>
          <p:spPr bwMode="auto">
            <a:xfrm>
              <a:off x="1925" y="2411"/>
              <a:ext cx="83" cy="154"/>
            </a:xfrm>
            <a:custGeom>
              <a:avLst/>
              <a:gdLst/>
              <a:ahLst/>
              <a:cxnLst>
                <a:cxn ang="0">
                  <a:pos x="0" y="154"/>
                </a:cxn>
                <a:cxn ang="0">
                  <a:pos x="23" y="124"/>
                </a:cxn>
                <a:cxn ang="0">
                  <a:pos x="38" y="89"/>
                </a:cxn>
                <a:cxn ang="0">
                  <a:pos x="61" y="42"/>
                </a:cxn>
                <a:cxn ang="0">
                  <a:pos x="83" y="0"/>
                </a:cxn>
              </a:cxnLst>
              <a:rect l="0" t="0" r="r" b="b"/>
              <a:pathLst>
                <a:path w="83" h="154">
                  <a:moveTo>
                    <a:pt x="0" y="154"/>
                  </a:moveTo>
                  <a:lnTo>
                    <a:pt x="23" y="124"/>
                  </a:lnTo>
                  <a:lnTo>
                    <a:pt x="38" y="89"/>
                  </a:lnTo>
                  <a:lnTo>
                    <a:pt x="61" y="42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51"/>
            <p:cNvSpPr>
              <a:spLocks/>
            </p:cNvSpPr>
            <p:nvPr/>
          </p:nvSpPr>
          <p:spPr bwMode="auto">
            <a:xfrm>
              <a:off x="2008" y="2205"/>
              <a:ext cx="83" cy="206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23" y="159"/>
                </a:cxn>
                <a:cxn ang="0">
                  <a:pos x="45" y="106"/>
                </a:cxn>
                <a:cxn ang="0">
                  <a:pos x="83" y="0"/>
                </a:cxn>
              </a:cxnLst>
              <a:rect l="0" t="0" r="r" b="b"/>
              <a:pathLst>
                <a:path w="83" h="206">
                  <a:moveTo>
                    <a:pt x="0" y="206"/>
                  </a:moveTo>
                  <a:lnTo>
                    <a:pt x="23" y="159"/>
                  </a:lnTo>
                  <a:lnTo>
                    <a:pt x="45" y="106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52"/>
            <p:cNvSpPr>
              <a:spLocks/>
            </p:cNvSpPr>
            <p:nvPr/>
          </p:nvSpPr>
          <p:spPr bwMode="auto">
            <a:xfrm>
              <a:off x="2091" y="1993"/>
              <a:ext cx="75" cy="212"/>
            </a:xfrm>
            <a:custGeom>
              <a:avLst/>
              <a:gdLst/>
              <a:ahLst/>
              <a:cxnLst>
                <a:cxn ang="0">
                  <a:pos x="0" y="212"/>
                </a:cxn>
                <a:cxn ang="0">
                  <a:pos x="38" y="106"/>
                </a:cxn>
                <a:cxn ang="0">
                  <a:pos x="75" y="0"/>
                </a:cxn>
              </a:cxnLst>
              <a:rect l="0" t="0" r="r" b="b"/>
              <a:pathLst>
                <a:path w="75" h="212">
                  <a:moveTo>
                    <a:pt x="0" y="212"/>
                  </a:moveTo>
                  <a:lnTo>
                    <a:pt x="38" y="106"/>
                  </a:lnTo>
                  <a:lnTo>
                    <a:pt x="75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53"/>
            <p:cNvSpPr>
              <a:spLocks/>
            </p:cNvSpPr>
            <p:nvPr/>
          </p:nvSpPr>
          <p:spPr bwMode="auto">
            <a:xfrm>
              <a:off x="2166" y="1792"/>
              <a:ext cx="83" cy="201"/>
            </a:xfrm>
            <a:custGeom>
              <a:avLst/>
              <a:gdLst/>
              <a:ahLst/>
              <a:cxnLst>
                <a:cxn ang="0">
                  <a:pos x="0" y="201"/>
                </a:cxn>
                <a:cxn ang="0">
                  <a:pos x="38" y="95"/>
                </a:cxn>
                <a:cxn ang="0">
                  <a:pos x="61" y="47"/>
                </a:cxn>
                <a:cxn ang="0">
                  <a:pos x="83" y="0"/>
                </a:cxn>
              </a:cxnLst>
              <a:rect l="0" t="0" r="r" b="b"/>
              <a:pathLst>
                <a:path w="83" h="201">
                  <a:moveTo>
                    <a:pt x="0" y="201"/>
                  </a:moveTo>
                  <a:lnTo>
                    <a:pt x="38" y="95"/>
                  </a:lnTo>
                  <a:lnTo>
                    <a:pt x="61" y="47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54"/>
            <p:cNvSpPr>
              <a:spLocks/>
            </p:cNvSpPr>
            <p:nvPr/>
          </p:nvSpPr>
          <p:spPr bwMode="auto">
            <a:xfrm>
              <a:off x="2249" y="1633"/>
              <a:ext cx="83" cy="159"/>
            </a:xfrm>
            <a:custGeom>
              <a:avLst/>
              <a:gdLst/>
              <a:ahLst/>
              <a:cxnLst>
                <a:cxn ang="0">
                  <a:pos x="0" y="159"/>
                </a:cxn>
                <a:cxn ang="0">
                  <a:pos x="38" y="77"/>
                </a:cxn>
                <a:cxn ang="0">
                  <a:pos x="83" y="0"/>
                </a:cxn>
              </a:cxnLst>
              <a:rect l="0" t="0" r="r" b="b"/>
              <a:pathLst>
                <a:path w="83" h="159">
                  <a:moveTo>
                    <a:pt x="0" y="159"/>
                  </a:moveTo>
                  <a:lnTo>
                    <a:pt x="38" y="77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55"/>
            <p:cNvSpPr>
              <a:spLocks/>
            </p:cNvSpPr>
            <p:nvPr/>
          </p:nvSpPr>
          <p:spPr bwMode="auto">
            <a:xfrm>
              <a:off x="2332" y="1515"/>
              <a:ext cx="83" cy="118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38" y="53"/>
                </a:cxn>
                <a:cxn ang="0">
                  <a:pos x="83" y="0"/>
                </a:cxn>
              </a:cxnLst>
              <a:rect l="0" t="0" r="r" b="b"/>
              <a:pathLst>
                <a:path w="83" h="118">
                  <a:moveTo>
                    <a:pt x="0" y="118"/>
                  </a:moveTo>
                  <a:lnTo>
                    <a:pt x="38" y="53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56"/>
            <p:cNvSpPr>
              <a:spLocks/>
            </p:cNvSpPr>
            <p:nvPr/>
          </p:nvSpPr>
          <p:spPr bwMode="auto">
            <a:xfrm>
              <a:off x="2415" y="1450"/>
              <a:ext cx="83" cy="65"/>
            </a:xfrm>
            <a:custGeom>
              <a:avLst/>
              <a:gdLst/>
              <a:ahLst/>
              <a:cxnLst>
                <a:cxn ang="0">
                  <a:pos x="0" y="65"/>
                </a:cxn>
                <a:cxn ang="0">
                  <a:pos x="38" y="24"/>
                </a:cxn>
                <a:cxn ang="0">
                  <a:pos x="83" y="0"/>
                </a:cxn>
              </a:cxnLst>
              <a:rect l="0" t="0" r="r" b="b"/>
              <a:pathLst>
                <a:path w="83" h="65">
                  <a:moveTo>
                    <a:pt x="0" y="65"/>
                  </a:moveTo>
                  <a:lnTo>
                    <a:pt x="38" y="24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57"/>
            <p:cNvSpPr>
              <a:spLocks/>
            </p:cNvSpPr>
            <p:nvPr/>
          </p:nvSpPr>
          <p:spPr bwMode="auto">
            <a:xfrm>
              <a:off x="2498" y="1439"/>
              <a:ext cx="83" cy="1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37" y="0"/>
                </a:cxn>
                <a:cxn ang="0">
                  <a:pos x="83" y="0"/>
                </a:cxn>
              </a:cxnLst>
              <a:rect l="0" t="0" r="r" b="b"/>
              <a:pathLst>
                <a:path w="83" h="11">
                  <a:moveTo>
                    <a:pt x="0" y="11"/>
                  </a:moveTo>
                  <a:lnTo>
                    <a:pt x="37" y="0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8"/>
            <p:cNvSpPr>
              <a:spLocks/>
            </p:cNvSpPr>
            <p:nvPr/>
          </p:nvSpPr>
          <p:spPr bwMode="auto">
            <a:xfrm>
              <a:off x="2581" y="1439"/>
              <a:ext cx="82" cy="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17"/>
                </a:cxn>
                <a:cxn ang="0">
                  <a:pos x="82" y="47"/>
                </a:cxn>
              </a:cxnLst>
              <a:rect l="0" t="0" r="r" b="b"/>
              <a:pathLst>
                <a:path w="82" h="47">
                  <a:moveTo>
                    <a:pt x="0" y="0"/>
                  </a:moveTo>
                  <a:lnTo>
                    <a:pt x="37" y="17"/>
                  </a:lnTo>
                  <a:lnTo>
                    <a:pt x="82" y="47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9"/>
            <p:cNvSpPr>
              <a:spLocks/>
            </p:cNvSpPr>
            <p:nvPr/>
          </p:nvSpPr>
          <p:spPr bwMode="auto">
            <a:xfrm>
              <a:off x="2663" y="1486"/>
              <a:ext cx="83" cy="1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" y="41"/>
                </a:cxn>
                <a:cxn ang="0">
                  <a:pos x="83" y="100"/>
                </a:cxn>
              </a:cxnLst>
              <a:rect l="0" t="0" r="r" b="b"/>
              <a:pathLst>
                <a:path w="83" h="100">
                  <a:moveTo>
                    <a:pt x="0" y="0"/>
                  </a:moveTo>
                  <a:lnTo>
                    <a:pt x="46" y="41"/>
                  </a:lnTo>
                  <a:lnTo>
                    <a:pt x="83" y="10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60"/>
            <p:cNvSpPr>
              <a:spLocks/>
            </p:cNvSpPr>
            <p:nvPr/>
          </p:nvSpPr>
          <p:spPr bwMode="auto">
            <a:xfrm>
              <a:off x="2746" y="1586"/>
              <a:ext cx="76" cy="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71"/>
                </a:cxn>
                <a:cxn ang="0">
                  <a:pos x="76" y="147"/>
                </a:cxn>
              </a:cxnLst>
              <a:rect l="0" t="0" r="r" b="b"/>
              <a:pathLst>
                <a:path w="76" h="147">
                  <a:moveTo>
                    <a:pt x="0" y="0"/>
                  </a:moveTo>
                  <a:lnTo>
                    <a:pt x="38" y="71"/>
                  </a:lnTo>
                  <a:lnTo>
                    <a:pt x="76" y="147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61"/>
            <p:cNvSpPr>
              <a:spLocks/>
            </p:cNvSpPr>
            <p:nvPr/>
          </p:nvSpPr>
          <p:spPr bwMode="auto">
            <a:xfrm>
              <a:off x="2822" y="1733"/>
              <a:ext cx="82" cy="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89"/>
                </a:cxn>
                <a:cxn ang="0">
                  <a:pos x="82" y="183"/>
                </a:cxn>
              </a:cxnLst>
              <a:rect l="0" t="0" r="r" b="b"/>
              <a:pathLst>
                <a:path w="82" h="183">
                  <a:moveTo>
                    <a:pt x="0" y="0"/>
                  </a:moveTo>
                  <a:lnTo>
                    <a:pt x="37" y="89"/>
                  </a:lnTo>
                  <a:lnTo>
                    <a:pt x="82" y="183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62"/>
            <p:cNvSpPr>
              <a:spLocks/>
            </p:cNvSpPr>
            <p:nvPr/>
          </p:nvSpPr>
          <p:spPr bwMode="auto">
            <a:xfrm>
              <a:off x="2904" y="1916"/>
              <a:ext cx="83" cy="2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106"/>
                </a:cxn>
                <a:cxn ang="0">
                  <a:pos x="83" y="212"/>
                </a:cxn>
              </a:cxnLst>
              <a:rect l="0" t="0" r="r" b="b"/>
              <a:pathLst>
                <a:path w="83" h="212">
                  <a:moveTo>
                    <a:pt x="0" y="0"/>
                  </a:moveTo>
                  <a:lnTo>
                    <a:pt x="38" y="106"/>
                  </a:lnTo>
                  <a:lnTo>
                    <a:pt x="83" y="212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63"/>
            <p:cNvSpPr>
              <a:spLocks/>
            </p:cNvSpPr>
            <p:nvPr/>
          </p:nvSpPr>
          <p:spPr bwMode="auto">
            <a:xfrm>
              <a:off x="2987" y="2128"/>
              <a:ext cx="83" cy="2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106"/>
                </a:cxn>
                <a:cxn ang="0">
                  <a:pos x="83" y="213"/>
                </a:cxn>
              </a:cxnLst>
              <a:rect l="0" t="0" r="r" b="b"/>
              <a:pathLst>
                <a:path w="83" h="213">
                  <a:moveTo>
                    <a:pt x="0" y="0"/>
                  </a:moveTo>
                  <a:lnTo>
                    <a:pt x="38" y="106"/>
                  </a:lnTo>
                  <a:lnTo>
                    <a:pt x="83" y="213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64"/>
            <p:cNvSpPr>
              <a:spLocks/>
            </p:cNvSpPr>
            <p:nvPr/>
          </p:nvSpPr>
          <p:spPr bwMode="auto">
            <a:xfrm>
              <a:off x="3070" y="2341"/>
              <a:ext cx="83" cy="1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94"/>
                </a:cxn>
                <a:cxn ang="0">
                  <a:pos x="60" y="141"/>
                </a:cxn>
                <a:cxn ang="0">
                  <a:pos x="83" y="176"/>
                </a:cxn>
              </a:cxnLst>
              <a:rect l="0" t="0" r="r" b="b"/>
              <a:pathLst>
                <a:path w="83" h="176">
                  <a:moveTo>
                    <a:pt x="0" y="0"/>
                  </a:moveTo>
                  <a:lnTo>
                    <a:pt x="38" y="94"/>
                  </a:lnTo>
                  <a:lnTo>
                    <a:pt x="60" y="141"/>
                  </a:lnTo>
                  <a:lnTo>
                    <a:pt x="83" y="176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65"/>
            <p:cNvSpPr>
              <a:spLocks/>
            </p:cNvSpPr>
            <p:nvPr/>
          </p:nvSpPr>
          <p:spPr bwMode="auto">
            <a:xfrm>
              <a:off x="3153" y="2517"/>
              <a:ext cx="83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36"/>
                </a:cxn>
                <a:cxn ang="0">
                  <a:pos x="38" y="65"/>
                </a:cxn>
                <a:cxn ang="0">
                  <a:pos x="60" y="89"/>
                </a:cxn>
                <a:cxn ang="0">
                  <a:pos x="83" y="101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3" y="36"/>
                  </a:lnTo>
                  <a:lnTo>
                    <a:pt x="38" y="65"/>
                  </a:lnTo>
                  <a:lnTo>
                    <a:pt x="60" y="89"/>
                  </a:lnTo>
                  <a:lnTo>
                    <a:pt x="83" y="101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66"/>
            <p:cNvSpPr>
              <a:spLocks/>
            </p:cNvSpPr>
            <p:nvPr/>
          </p:nvSpPr>
          <p:spPr bwMode="auto">
            <a:xfrm>
              <a:off x="3236" y="2594"/>
              <a:ext cx="83" cy="30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2" y="30"/>
                </a:cxn>
                <a:cxn ang="0">
                  <a:pos x="45" y="24"/>
                </a:cxn>
                <a:cxn ang="0">
                  <a:pos x="60" y="18"/>
                </a:cxn>
                <a:cxn ang="0">
                  <a:pos x="83" y="0"/>
                </a:cxn>
              </a:cxnLst>
              <a:rect l="0" t="0" r="r" b="b"/>
              <a:pathLst>
                <a:path w="83" h="30">
                  <a:moveTo>
                    <a:pt x="0" y="24"/>
                  </a:moveTo>
                  <a:lnTo>
                    <a:pt x="22" y="30"/>
                  </a:lnTo>
                  <a:lnTo>
                    <a:pt x="45" y="24"/>
                  </a:lnTo>
                  <a:lnTo>
                    <a:pt x="60" y="18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67"/>
            <p:cNvSpPr>
              <a:spLocks/>
            </p:cNvSpPr>
            <p:nvPr/>
          </p:nvSpPr>
          <p:spPr bwMode="auto">
            <a:xfrm>
              <a:off x="3319" y="2464"/>
              <a:ext cx="75" cy="130"/>
            </a:xfrm>
            <a:custGeom>
              <a:avLst/>
              <a:gdLst/>
              <a:ahLst/>
              <a:cxnLst>
                <a:cxn ang="0">
                  <a:pos x="0" y="130"/>
                </a:cxn>
                <a:cxn ang="0">
                  <a:pos x="22" y="107"/>
                </a:cxn>
                <a:cxn ang="0">
                  <a:pos x="37" y="77"/>
                </a:cxn>
                <a:cxn ang="0">
                  <a:pos x="52" y="42"/>
                </a:cxn>
                <a:cxn ang="0">
                  <a:pos x="75" y="0"/>
                </a:cxn>
              </a:cxnLst>
              <a:rect l="0" t="0" r="r" b="b"/>
              <a:pathLst>
                <a:path w="75" h="130">
                  <a:moveTo>
                    <a:pt x="0" y="130"/>
                  </a:moveTo>
                  <a:lnTo>
                    <a:pt x="22" y="107"/>
                  </a:lnTo>
                  <a:lnTo>
                    <a:pt x="37" y="77"/>
                  </a:lnTo>
                  <a:lnTo>
                    <a:pt x="52" y="42"/>
                  </a:lnTo>
                  <a:lnTo>
                    <a:pt x="75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8"/>
            <p:cNvSpPr>
              <a:spLocks/>
            </p:cNvSpPr>
            <p:nvPr/>
          </p:nvSpPr>
          <p:spPr bwMode="auto">
            <a:xfrm>
              <a:off x="3394" y="2276"/>
              <a:ext cx="83" cy="188"/>
            </a:xfrm>
            <a:custGeom>
              <a:avLst/>
              <a:gdLst/>
              <a:ahLst/>
              <a:cxnLst>
                <a:cxn ang="0">
                  <a:pos x="0" y="188"/>
                </a:cxn>
                <a:cxn ang="0">
                  <a:pos x="23" y="147"/>
                </a:cxn>
                <a:cxn ang="0">
                  <a:pos x="38" y="100"/>
                </a:cxn>
                <a:cxn ang="0">
                  <a:pos x="83" y="0"/>
                </a:cxn>
              </a:cxnLst>
              <a:rect l="0" t="0" r="r" b="b"/>
              <a:pathLst>
                <a:path w="83" h="188">
                  <a:moveTo>
                    <a:pt x="0" y="188"/>
                  </a:moveTo>
                  <a:lnTo>
                    <a:pt x="23" y="147"/>
                  </a:lnTo>
                  <a:lnTo>
                    <a:pt x="38" y="100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9"/>
            <p:cNvSpPr>
              <a:spLocks/>
            </p:cNvSpPr>
            <p:nvPr/>
          </p:nvSpPr>
          <p:spPr bwMode="auto">
            <a:xfrm>
              <a:off x="3477" y="2058"/>
              <a:ext cx="83" cy="218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22" y="165"/>
                </a:cxn>
                <a:cxn ang="0">
                  <a:pos x="38" y="112"/>
                </a:cxn>
                <a:cxn ang="0">
                  <a:pos x="83" y="0"/>
                </a:cxn>
              </a:cxnLst>
              <a:rect l="0" t="0" r="r" b="b"/>
              <a:pathLst>
                <a:path w="83" h="218">
                  <a:moveTo>
                    <a:pt x="0" y="218"/>
                  </a:moveTo>
                  <a:lnTo>
                    <a:pt x="22" y="165"/>
                  </a:lnTo>
                  <a:lnTo>
                    <a:pt x="38" y="112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70"/>
            <p:cNvSpPr>
              <a:spLocks/>
            </p:cNvSpPr>
            <p:nvPr/>
          </p:nvSpPr>
          <p:spPr bwMode="auto">
            <a:xfrm>
              <a:off x="3560" y="1857"/>
              <a:ext cx="83" cy="201"/>
            </a:xfrm>
            <a:custGeom>
              <a:avLst/>
              <a:gdLst/>
              <a:ahLst/>
              <a:cxnLst>
                <a:cxn ang="0">
                  <a:pos x="0" y="201"/>
                </a:cxn>
                <a:cxn ang="0">
                  <a:pos x="37" y="100"/>
                </a:cxn>
                <a:cxn ang="0">
                  <a:pos x="83" y="0"/>
                </a:cxn>
              </a:cxnLst>
              <a:rect l="0" t="0" r="r" b="b"/>
              <a:pathLst>
                <a:path w="83" h="201">
                  <a:moveTo>
                    <a:pt x="0" y="201"/>
                  </a:moveTo>
                  <a:lnTo>
                    <a:pt x="37" y="100"/>
                  </a:lnTo>
                  <a:lnTo>
                    <a:pt x="83" y="0"/>
                  </a:lnTo>
                </a:path>
              </a:pathLst>
            </a:custGeom>
            <a:noFill/>
            <a:ln w="36513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63" name="Object 28"/>
            <p:cNvGraphicFramePr>
              <a:graphicFrameLocks noChangeAspect="1"/>
            </p:cNvGraphicFramePr>
            <p:nvPr/>
          </p:nvGraphicFramePr>
          <p:xfrm>
            <a:off x="1463" y="3016"/>
            <a:ext cx="691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25480" imgH="215640" progId="Equation.DSMT4">
                    <p:embed/>
                  </p:oleObj>
                </mc:Choice>
                <mc:Fallback>
                  <p:oleObj name="Equation" r:id="rId19" imgW="825480" imgH="215640" progId="Equation.DSMT4">
                    <p:embed/>
                    <p:pic>
                      <p:nvPicPr>
                        <p:cNvPr id="63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3016"/>
                          <a:ext cx="691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1134" y="1440"/>
              <a:ext cx="16" cy="193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78"/>
            <p:cNvSpPr>
              <a:spLocks noChangeShapeType="1"/>
            </p:cNvSpPr>
            <p:nvPr/>
          </p:nvSpPr>
          <p:spPr bwMode="auto">
            <a:xfrm>
              <a:off x="2558" y="1440"/>
              <a:ext cx="16" cy="193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79"/>
            <p:cNvSpPr>
              <a:spLocks noChangeShapeType="1"/>
            </p:cNvSpPr>
            <p:nvPr/>
          </p:nvSpPr>
          <p:spPr bwMode="auto">
            <a:xfrm>
              <a:off x="1149" y="3264"/>
              <a:ext cx="1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67" name="Object 85"/>
            <p:cNvGraphicFramePr>
              <a:graphicFrameLocks noChangeAspect="1"/>
            </p:cNvGraphicFramePr>
            <p:nvPr/>
          </p:nvGraphicFramePr>
          <p:xfrm>
            <a:off x="3525" y="3251"/>
            <a:ext cx="27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80880" imgH="203040" progId="Equation.DSMT4">
                    <p:embed/>
                  </p:oleObj>
                </mc:Choice>
                <mc:Fallback>
                  <p:oleObj name="Equation" r:id="rId21" imgW="380880" imgH="203040" progId="Equation.DSMT4">
                    <p:embed/>
                    <p:pic>
                      <p:nvPicPr>
                        <p:cNvPr id="67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3251"/>
                          <a:ext cx="275" cy="2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Line 86"/>
            <p:cNvSpPr>
              <a:spLocks noChangeShapeType="1"/>
            </p:cNvSpPr>
            <p:nvPr/>
          </p:nvSpPr>
          <p:spPr bwMode="auto">
            <a:xfrm>
              <a:off x="3648" y="3026"/>
              <a:ext cx="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687196"/>
              </p:ext>
            </p:extLst>
          </p:nvPr>
        </p:nvGraphicFramePr>
        <p:xfrm>
          <a:off x="6635163" y="4163353"/>
          <a:ext cx="22177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31560" imgH="507960" progId="Equation.DSMT4">
                  <p:embed/>
                </p:oleObj>
              </mc:Choice>
              <mc:Fallback>
                <p:oleObj name="Equation" r:id="rId23" imgW="1231560" imgH="50796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163" y="4163353"/>
                        <a:ext cx="2217738" cy="912813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58071"/>
              </p:ext>
            </p:extLst>
          </p:nvPr>
        </p:nvGraphicFramePr>
        <p:xfrm>
          <a:off x="6698032" y="1907487"/>
          <a:ext cx="23034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6800" imgH="431640" progId="Equation.DSMT4">
                  <p:embed/>
                </p:oleObj>
              </mc:Choice>
              <mc:Fallback>
                <p:oleObj name="Equation" r:id="rId25" imgW="1396800" imgH="431640" progId="Equation.DSMT4">
                  <p:embed/>
                  <p:pic>
                    <p:nvPicPr>
                      <p:cNvPr id="14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8032" y="1907487"/>
                        <a:ext cx="23034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85882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 flipV="1">
            <a:off x="5204693" y="3834220"/>
            <a:ext cx="1295763" cy="389552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06467" y="3746622"/>
            <a:ext cx="100940" cy="9500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1438" y="5067984"/>
            <a:ext cx="4140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find Z</a:t>
            </a:r>
            <a:r>
              <a:rPr lang="en-US" sz="1200" dirty="0">
                <a:solidFill>
                  <a:srgbClr val="FF0000"/>
                </a:solidFill>
              </a:rPr>
              <a:t>L</a:t>
            </a:r>
            <a:r>
              <a:rPr lang="en-US" sz="2000" dirty="0">
                <a:solidFill>
                  <a:srgbClr val="FF0000"/>
                </a:solidFill>
              </a:rPr>
              <a:t> from standing wave pattern: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071667"/>
              </p:ext>
            </p:extLst>
          </p:nvPr>
        </p:nvGraphicFramePr>
        <p:xfrm>
          <a:off x="364205" y="5463432"/>
          <a:ext cx="83820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695400" imgH="520560" progId="Equation.DSMT4">
                  <p:embed/>
                </p:oleObj>
              </mc:Choice>
              <mc:Fallback>
                <p:oleObj name="Equation" r:id="rId27" imgW="3695400" imgH="5205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05" y="5463432"/>
                        <a:ext cx="83820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00723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2520229" y="0"/>
            <a:ext cx="367378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Smith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14" y="1509641"/>
            <a:ext cx="88609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Impedance </a:t>
            </a:r>
            <a:r>
              <a:rPr lang="en-US" sz="2400" dirty="0">
                <a:sym typeface="Wingdings" panose="05000000000000000000" pitchFamily="2" charset="2"/>
              </a:rPr>
              <a:t> reflection coefficient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Admittance  reflection coefficient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Impedance  admittance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Move along transmission line  rotation on Smith Chart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Find out normalized voltage and SWR by Smith Chart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67991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Text Box 2"/>
          <p:cNvSpPr txBox="1">
            <a:spLocks noChangeArrowheads="1"/>
          </p:cNvSpPr>
          <p:nvPr/>
        </p:nvSpPr>
        <p:spPr bwMode="auto">
          <a:xfrm>
            <a:off x="1608250" y="0"/>
            <a:ext cx="601571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Two Types of Smith Chart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623149"/>
              </p:ext>
            </p:extLst>
          </p:nvPr>
        </p:nvGraphicFramePr>
        <p:xfrm>
          <a:off x="5007984" y="1932315"/>
          <a:ext cx="31289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393480" progId="Equation.DSMT4">
                  <p:embed/>
                </p:oleObj>
              </mc:Choice>
              <mc:Fallback>
                <p:oleObj name="Equation" r:id="rId3" imgW="1460160" imgH="39348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7984" y="1932315"/>
                        <a:ext cx="3128963" cy="838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215011"/>
              </p:ext>
            </p:extLst>
          </p:nvPr>
        </p:nvGraphicFramePr>
        <p:xfrm>
          <a:off x="4982813" y="3932325"/>
          <a:ext cx="38909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431640" progId="Equation.DSMT4">
                  <p:embed/>
                </p:oleObj>
              </mc:Choice>
              <mc:Fallback>
                <p:oleObj name="Equation" r:id="rId5" imgW="1815840" imgH="43164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2813" y="3932325"/>
                        <a:ext cx="3890962" cy="920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511750" y="2119313"/>
            <a:ext cx="41874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Smith Chart based on impedance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509775" y="4136088"/>
            <a:ext cx="41874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Smith Chart based on admittance</a:t>
            </a:r>
          </a:p>
        </p:txBody>
      </p:sp>
    </p:spTree>
    <p:extLst>
      <p:ext uri="{BB962C8B-B14F-4D97-AF65-F5344CB8AC3E}">
        <p14:creationId xmlns:p14="http://schemas.microsoft.com/office/powerpoint/2010/main" val="351461479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Text Box 2"/>
          <p:cNvSpPr txBox="1">
            <a:spLocks noChangeArrowheads="1"/>
          </p:cNvSpPr>
          <p:nvPr/>
        </p:nvSpPr>
        <p:spPr bwMode="auto">
          <a:xfrm>
            <a:off x="1952625" y="0"/>
            <a:ext cx="512762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Impedance Chart</a:t>
            </a:r>
          </a:p>
        </p:txBody>
      </p:sp>
      <p:pic>
        <p:nvPicPr>
          <p:cNvPr id="21513" name="Picture 37" descr="chart_s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4888" y="938213"/>
            <a:ext cx="5732462" cy="573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5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355463"/>
              </p:ext>
            </p:extLst>
          </p:nvPr>
        </p:nvGraphicFramePr>
        <p:xfrm>
          <a:off x="7932925" y="3589338"/>
          <a:ext cx="8461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53800" progId="Equation.DSMT4">
                  <p:embed/>
                </p:oleObj>
              </mc:Choice>
              <mc:Fallback>
                <p:oleObj name="Equation" r:id="rId4" imgW="545760" imgH="253800" progId="Equation.DSMT4">
                  <p:embed/>
                  <p:pic>
                    <p:nvPicPr>
                      <p:cNvPr id="2150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925" y="3589338"/>
                        <a:ext cx="846138" cy="39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348590"/>
              </p:ext>
            </p:extLst>
          </p:nvPr>
        </p:nvGraphicFramePr>
        <p:xfrm>
          <a:off x="4524563" y="579438"/>
          <a:ext cx="8270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253800" progId="Equation.DSMT4">
                  <p:embed/>
                </p:oleObj>
              </mc:Choice>
              <mc:Fallback>
                <p:oleObj name="Equation" r:id="rId6" imgW="533160" imgH="253800" progId="Equation.DSMT4">
                  <p:embed/>
                  <p:pic>
                    <p:nvPicPr>
                      <p:cNvPr id="215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563" y="579438"/>
                        <a:ext cx="827087" cy="39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/>
          <p:cNvCxnSpPr/>
          <p:nvPr/>
        </p:nvCxnSpPr>
        <p:spPr>
          <a:xfrm rot="5400000" flipH="1" flipV="1">
            <a:off x="4751575" y="2590801"/>
            <a:ext cx="1360487" cy="10334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83463" y="2339975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150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069009"/>
              </p:ext>
            </p:extLst>
          </p:nvPr>
        </p:nvGraphicFramePr>
        <p:xfrm>
          <a:off x="6099363" y="2457450"/>
          <a:ext cx="5492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53800" progId="Equation.DSMT4">
                  <p:embed/>
                </p:oleObj>
              </mc:Choice>
              <mc:Fallback>
                <p:oleObj name="Equation" r:id="rId8" imgW="355320" imgH="253800" progId="Equation.DSMT4">
                  <p:embed/>
                  <p:pic>
                    <p:nvPicPr>
                      <p:cNvPr id="2150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363" y="2457450"/>
                        <a:ext cx="549275" cy="3921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rot="16200000" flipH="1">
            <a:off x="4642832" y="3788568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653150" y="3810000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898838" y="1557338"/>
            <a:ext cx="1317625" cy="8572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811525" y="2830513"/>
            <a:ext cx="2155825" cy="56515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520" name="Oval 17"/>
          <p:cNvSpPr>
            <a:spLocks noChangeArrowheads="1"/>
          </p:cNvSpPr>
          <p:nvPr/>
        </p:nvSpPr>
        <p:spPr bwMode="auto">
          <a:xfrm>
            <a:off x="3940363" y="1892300"/>
            <a:ext cx="3846512" cy="3846513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Freeform 19"/>
          <p:cNvSpPr>
            <a:spLocks/>
          </p:cNvSpPr>
          <p:nvPr/>
        </p:nvSpPr>
        <p:spPr bwMode="auto">
          <a:xfrm>
            <a:off x="3179950" y="1495425"/>
            <a:ext cx="4325938" cy="2301875"/>
          </a:xfrm>
          <a:custGeom>
            <a:avLst/>
            <a:gdLst>
              <a:gd name="T0" fmla="*/ 0 w 2725"/>
              <a:gd name="T1" fmla="*/ 0 h 1450"/>
              <a:gd name="T2" fmla="*/ 261938 w 2725"/>
              <a:gd name="T3" fmla="*/ 347662 h 1450"/>
              <a:gd name="T4" fmla="*/ 536575 w 2725"/>
              <a:gd name="T5" fmla="*/ 638175 h 1450"/>
              <a:gd name="T6" fmla="*/ 784225 w 2725"/>
              <a:gd name="T7" fmla="*/ 855663 h 1450"/>
              <a:gd name="T8" fmla="*/ 973138 w 2725"/>
              <a:gd name="T9" fmla="*/ 1016000 h 1450"/>
              <a:gd name="T10" fmla="*/ 1408113 w 2725"/>
              <a:gd name="T11" fmla="*/ 1335087 h 1450"/>
              <a:gd name="T12" fmla="*/ 1916113 w 2725"/>
              <a:gd name="T13" fmla="*/ 1625600 h 1450"/>
              <a:gd name="T14" fmla="*/ 2554288 w 2725"/>
              <a:gd name="T15" fmla="*/ 1930400 h 1450"/>
              <a:gd name="T16" fmla="*/ 3121025 w 2725"/>
              <a:gd name="T17" fmla="*/ 2133600 h 1450"/>
              <a:gd name="T18" fmla="*/ 3700463 w 2725"/>
              <a:gd name="T19" fmla="*/ 2278063 h 1450"/>
              <a:gd name="T20" fmla="*/ 4078288 w 2725"/>
              <a:gd name="T21" fmla="*/ 2278063 h 1450"/>
              <a:gd name="T22" fmla="*/ 4325938 w 2725"/>
              <a:gd name="T23" fmla="*/ 2278063 h 14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725"/>
              <a:gd name="T37" fmla="*/ 0 h 1450"/>
              <a:gd name="T38" fmla="*/ 2725 w 2725"/>
              <a:gd name="T39" fmla="*/ 1450 h 14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725" h="1450">
                <a:moveTo>
                  <a:pt x="0" y="0"/>
                </a:moveTo>
                <a:cubicBezTo>
                  <a:pt x="54" y="76"/>
                  <a:pt x="109" y="152"/>
                  <a:pt x="165" y="219"/>
                </a:cubicBezTo>
                <a:cubicBezTo>
                  <a:pt x="221" y="286"/>
                  <a:pt x="283" y="349"/>
                  <a:pt x="338" y="402"/>
                </a:cubicBezTo>
                <a:cubicBezTo>
                  <a:pt x="393" y="455"/>
                  <a:pt x="448" y="499"/>
                  <a:pt x="494" y="539"/>
                </a:cubicBezTo>
                <a:cubicBezTo>
                  <a:pt x="540" y="579"/>
                  <a:pt x="547" y="590"/>
                  <a:pt x="613" y="640"/>
                </a:cubicBezTo>
                <a:cubicBezTo>
                  <a:pt x="679" y="690"/>
                  <a:pt x="788" y="777"/>
                  <a:pt x="887" y="841"/>
                </a:cubicBezTo>
                <a:cubicBezTo>
                  <a:pt x="986" y="905"/>
                  <a:pt x="1087" y="962"/>
                  <a:pt x="1207" y="1024"/>
                </a:cubicBezTo>
                <a:cubicBezTo>
                  <a:pt x="1327" y="1086"/>
                  <a:pt x="1483" y="1163"/>
                  <a:pt x="1609" y="1216"/>
                </a:cubicBezTo>
                <a:cubicBezTo>
                  <a:pt x="1735" y="1269"/>
                  <a:pt x="1846" y="1308"/>
                  <a:pt x="1966" y="1344"/>
                </a:cubicBezTo>
                <a:cubicBezTo>
                  <a:pt x="2086" y="1380"/>
                  <a:pt x="2230" y="1420"/>
                  <a:pt x="2331" y="1435"/>
                </a:cubicBezTo>
                <a:cubicBezTo>
                  <a:pt x="2432" y="1450"/>
                  <a:pt x="2503" y="1435"/>
                  <a:pt x="2569" y="1435"/>
                </a:cubicBezTo>
                <a:cubicBezTo>
                  <a:pt x="2635" y="1435"/>
                  <a:pt x="2699" y="1435"/>
                  <a:pt x="2725" y="1435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23" name="Straight Connector 22"/>
          <p:cNvCxnSpPr>
            <a:endCxn id="21513" idx="0"/>
          </p:cNvCxnSpPr>
          <p:nvPr/>
        </p:nvCxnSpPr>
        <p:spPr>
          <a:xfrm flipV="1">
            <a:off x="4910325" y="938213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V="1">
            <a:off x="6291450" y="2471738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850578"/>
              </p:ext>
            </p:extLst>
          </p:nvPr>
        </p:nvGraphicFramePr>
        <p:xfrm>
          <a:off x="104324" y="5494684"/>
          <a:ext cx="2161036" cy="85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70000" imgH="508000" progId="Equation.DSMT4">
                  <p:embed/>
                </p:oleObj>
              </mc:Choice>
              <mc:Fallback>
                <p:oleObj name="Equation" r:id="rId10" imgW="1270000" imgH="5080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24" y="5494684"/>
                        <a:ext cx="2161036" cy="85861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604843"/>
              </p:ext>
            </p:extLst>
          </p:nvPr>
        </p:nvGraphicFramePr>
        <p:xfrm>
          <a:off x="830263" y="1376363"/>
          <a:ext cx="9461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480" imgH="241200" progId="Equation.DSMT4">
                  <p:embed/>
                </p:oleObj>
              </mc:Choice>
              <mc:Fallback>
                <p:oleObj name="Equation" r:id="rId12" imgW="609480" imgH="2412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1376363"/>
                        <a:ext cx="9461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A8A8A8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396872"/>
              </p:ext>
            </p:extLst>
          </p:nvPr>
        </p:nvGraphicFramePr>
        <p:xfrm>
          <a:off x="773113" y="2628900"/>
          <a:ext cx="9064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241200" progId="Equation.DSMT4">
                  <p:embed/>
                </p:oleObj>
              </mc:Choice>
              <mc:Fallback>
                <p:oleObj name="Equation" r:id="rId14" imgW="583920" imgH="2412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2628900"/>
                        <a:ext cx="9064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A8A8A8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019588" y="4664755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S/C</a:t>
            </a:r>
          </a:p>
        </p:txBody>
      </p: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8207137" y="4663398"/>
            <a:ext cx="590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O/C</a:t>
            </a: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 flipV="1">
            <a:off x="1441863" y="3897992"/>
            <a:ext cx="498475" cy="766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Line 10"/>
          <p:cNvSpPr>
            <a:spLocks noChangeShapeType="1"/>
          </p:cNvSpPr>
          <p:nvPr/>
        </p:nvSpPr>
        <p:spPr bwMode="auto">
          <a:xfrm flipH="1" flipV="1">
            <a:off x="7886462" y="3920448"/>
            <a:ext cx="512762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12"/>
          <p:cNvSpPr>
            <a:spLocks noChangeArrowheads="1"/>
          </p:cNvSpPr>
          <p:nvPr/>
        </p:nvSpPr>
        <p:spPr bwMode="auto">
          <a:xfrm>
            <a:off x="3330804" y="4636186"/>
            <a:ext cx="168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Perfect Match</a:t>
            </a:r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 flipV="1">
            <a:off x="4303258" y="3915687"/>
            <a:ext cx="500062" cy="768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4"/>
          <p:cNvSpPr>
            <a:spLocks noChangeArrowheads="1"/>
          </p:cNvSpPr>
          <p:nvPr/>
        </p:nvSpPr>
        <p:spPr bwMode="auto">
          <a:xfrm>
            <a:off x="1946736" y="3712032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35"/>
          <p:cNvSpPr>
            <a:spLocks noChangeArrowheads="1"/>
          </p:cNvSpPr>
          <p:nvPr/>
        </p:nvSpPr>
        <p:spPr bwMode="auto">
          <a:xfrm>
            <a:off x="4806948" y="3732896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Oval 36"/>
          <p:cNvSpPr>
            <a:spLocks noChangeArrowheads="1"/>
          </p:cNvSpPr>
          <p:nvPr/>
        </p:nvSpPr>
        <p:spPr bwMode="auto">
          <a:xfrm>
            <a:off x="7688024" y="3728360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8305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Text Box 2"/>
          <p:cNvSpPr txBox="1">
            <a:spLocks noChangeArrowheads="1"/>
          </p:cNvSpPr>
          <p:nvPr/>
        </p:nvSpPr>
        <p:spPr bwMode="auto">
          <a:xfrm>
            <a:off x="1952625" y="0"/>
            <a:ext cx="512762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Admittance Chart</a:t>
            </a:r>
          </a:p>
        </p:txBody>
      </p:sp>
      <p:pic>
        <p:nvPicPr>
          <p:cNvPr id="21513" name="Picture 37" descr="chart_s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4888" y="938213"/>
            <a:ext cx="5732462" cy="573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5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497338"/>
              </p:ext>
            </p:extLst>
          </p:nvPr>
        </p:nvGraphicFramePr>
        <p:xfrm>
          <a:off x="7855138" y="3589338"/>
          <a:ext cx="10033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53800" progId="Equation.DSMT4">
                  <p:embed/>
                </p:oleObj>
              </mc:Choice>
              <mc:Fallback>
                <p:oleObj name="Equation" r:id="rId4" imgW="647640" imgH="253800" progId="Equation.DSMT4">
                  <p:embed/>
                  <p:pic>
                    <p:nvPicPr>
                      <p:cNvPr id="2150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5138" y="3589338"/>
                        <a:ext cx="1003300" cy="39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917278"/>
              </p:ext>
            </p:extLst>
          </p:nvPr>
        </p:nvGraphicFramePr>
        <p:xfrm>
          <a:off x="4435663" y="579438"/>
          <a:ext cx="10048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640" imgH="253800" progId="Equation.DSMT4">
                  <p:embed/>
                </p:oleObj>
              </mc:Choice>
              <mc:Fallback>
                <p:oleObj name="Equation" r:id="rId6" imgW="647640" imgH="253800" progId="Equation.DSMT4">
                  <p:embed/>
                  <p:pic>
                    <p:nvPicPr>
                      <p:cNvPr id="215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663" y="579438"/>
                        <a:ext cx="1004887" cy="39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019575"/>
              </p:ext>
            </p:extLst>
          </p:nvPr>
        </p:nvGraphicFramePr>
        <p:xfrm>
          <a:off x="3906838" y="5275263"/>
          <a:ext cx="5508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53800" progId="Equation.DSMT4">
                  <p:embed/>
                </p:oleObj>
              </mc:Choice>
              <mc:Fallback>
                <p:oleObj name="Equation" r:id="rId8" imgW="355320" imgH="253800" progId="Equation.DSMT4">
                  <p:embed/>
                  <p:pic>
                    <p:nvPicPr>
                      <p:cNvPr id="2150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5275263"/>
                        <a:ext cx="550862" cy="3921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rot="16200000" flipH="1">
            <a:off x="4642832" y="3788568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653150" y="3810000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150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644684"/>
              </p:ext>
            </p:extLst>
          </p:nvPr>
        </p:nvGraphicFramePr>
        <p:xfrm>
          <a:off x="848938" y="1376363"/>
          <a:ext cx="90646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241200" progId="Equation.DSMT4">
                  <p:embed/>
                </p:oleObj>
              </mc:Choice>
              <mc:Fallback>
                <p:oleObj name="Equation" r:id="rId10" imgW="583920" imgH="241200" progId="Equation.DSMT4">
                  <p:embed/>
                  <p:pic>
                    <p:nvPicPr>
                      <p:cNvPr id="2150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938" y="1376363"/>
                        <a:ext cx="90646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1898838" y="1557338"/>
            <a:ext cx="1317625" cy="8572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215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9502"/>
              </p:ext>
            </p:extLst>
          </p:nvPr>
        </p:nvGraphicFramePr>
        <p:xfrm>
          <a:off x="763213" y="2628900"/>
          <a:ext cx="9271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215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13" y="2628900"/>
                        <a:ext cx="9271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DDDDDD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>
            <a:off x="1811525" y="2830513"/>
            <a:ext cx="2155825" cy="56515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520" name="Oval 17"/>
          <p:cNvSpPr>
            <a:spLocks noChangeArrowheads="1"/>
          </p:cNvSpPr>
          <p:nvPr/>
        </p:nvSpPr>
        <p:spPr bwMode="auto">
          <a:xfrm>
            <a:off x="3940363" y="1892300"/>
            <a:ext cx="3846512" cy="3846513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Freeform 19"/>
          <p:cNvSpPr>
            <a:spLocks/>
          </p:cNvSpPr>
          <p:nvPr/>
        </p:nvSpPr>
        <p:spPr bwMode="auto">
          <a:xfrm>
            <a:off x="3179950" y="1495425"/>
            <a:ext cx="4325938" cy="2301875"/>
          </a:xfrm>
          <a:custGeom>
            <a:avLst/>
            <a:gdLst>
              <a:gd name="T0" fmla="*/ 0 w 2725"/>
              <a:gd name="T1" fmla="*/ 0 h 1450"/>
              <a:gd name="T2" fmla="*/ 261938 w 2725"/>
              <a:gd name="T3" fmla="*/ 347662 h 1450"/>
              <a:gd name="T4" fmla="*/ 536575 w 2725"/>
              <a:gd name="T5" fmla="*/ 638175 h 1450"/>
              <a:gd name="T6" fmla="*/ 784225 w 2725"/>
              <a:gd name="T7" fmla="*/ 855663 h 1450"/>
              <a:gd name="T8" fmla="*/ 973138 w 2725"/>
              <a:gd name="T9" fmla="*/ 1016000 h 1450"/>
              <a:gd name="T10" fmla="*/ 1408113 w 2725"/>
              <a:gd name="T11" fmla="*/ 1335087 h 1450"/>
              <a:gd name="T12" fmla="*/ 1916113 w 2725"/>
              <a:gd name="T13" fmla="*/ 1625600 h 1450"/>
              <a:gd name="T14" fmla="*/ 2554288 w 2725"/>
              <a:gd name="T15" fmla="*/ 1930400 h 1450"/>
              <a:gd name="T16" fmla="*/ 3121025 w 2725"/>
              <a:gd name="T17" fmla="*/ 2133600 h 1450"/>
              <a:gd name="T18" fmla="*/ 3700463 w 2725"/>
              <a:gd name="T19" fmla="*/ 2278063 h 1450"/>
              <a:gd name="T20" fmla="*/ 4078288 w 2725"/>
              <a:gd name="T21" fmla="*/ 2278063 h 1450"/>
              <a:gd name="T22" fmla="*/ 4325938 w 2725"/>
              <a:gd name="T23" fmla="*/ 2278063 h 14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725"/>
              <a:gd name="T37" fmla="*/ 0 h 1450"/>
              <a:gd name="T38" fmla="*/ 2725 w 2725"/>
              <a:gd name="T39" fmla="*/ 1450 h 14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725" h="1450">
                <a:moveTo>
                  <a:pt x="0" y="0"/>
                </a:moveTo>
                <a:cubicBezTo>
                  <a:pt x="54" y="76"/>
                  <a:pt x="109" y="152"/>
                  <a:pt x="165" y="219"/>
                </a:cubicBezTo>
                <a:cubicBezTo>
                  <a:pt x="221" y="286"/>
                  <a:pt x="283" y="349"/>
                  <a:pt x="338" y="402"/>
                </a:cubicBezTo>
                <a:cubicBezTo>
                  <a:pt x="393" y="455"/>
                  <a:pt x="448" y="499"/>
                  <a:pt x="494" y="539"/>
                </a:cubicBezTo>
                <a:cubicBezTo>
                  <a:pt x="540" y="579"/>
                  <a:pt x="547" y="590"/>
                  <a:pt x="613" y="640"/>
                </a:cubicBezTo>
                <a:cubicBezTo>
                  <a:pt x="679" y="690"/>
                  <a:pt x="788" y="777"/>
                  <a:pt x="887" y="841"/>
                </a:cubicBezTo>
                <a:cubicBezTo>
                  <a:pt x="986" y="905"/>
                  <a:pt x="1087" y="962"/>
                  <a:pt x="1207" y="1024"/>
                </a:cubicBezTo>
                <a:cubicBezTo>
                  <a:pt x="1327" y="1086"/>
                  <a:pt x="1483" y="1163"/>
                  <a:pt x="1609" y="1216"/>
                </a:cubicBezTo>
                <a:cubicBezTo>
                  <a:pt x="1735" y="1269"/>
                  <a:pt x="1846" y="1308"/>
                  <a:pt x="1966" y="1344"/>
                </a:cubicBezTo>
                <a:cubicBezTo>
                  <a:pt x="2086" y="1380"/>
                  <a:pt x="2230" y="1420"/>
                  <a:pt x="2331" y="1435"/>
                </a:cubicBezTo>
                <a:cubicBezTo>
                  <a:pt x="2432" y="1450"/>
                  <a:pt x="2503" y="1435"/>
                  <a:pt x="2569" y="1435"/>
                </a:cubicBezTo>
                <a:cubicBezTo>
                  <a:pt x="2635" y="1435"/>
                  <a:pt x="2699" y="1435"/>
                  <a:pt x="2725" y="1435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23" name="Straight Connector 22"/>
          <p:cNvCxnSpPr>
            <a:endCxn id="21513" idx="0"/>
          </p:cNvCxnSpPr>
          <p:nvPr/>
        </p:nvCxnSpPr>
        <p:spPr>
          <a:xfrm flipV="1">
            <a:off x="4910325" y="938213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V="1">
            <a:off x="6291450" y="2471738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85435"/>
              </p:ext>
            </p:extLst>
          </p:nvPr>
        </p:nvGraphicFramePr>
        <p:xfrm>
          <a:off x="116075" y="5494338"/>
          <a:ext cx="213836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7120" imgH="507960" progId="Equation.DSMT4">
                  <p:embed/>
                </p:oleObj>
              </mc:Choice>
              <mc:Fallback>
                <p:oleObj name="Equation" r:id="rId14" imgW="1257120" imgH="50796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75" y="5494338"/>
                        <a:ext cx="2138363" cy="858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019588" y="4664755"/>
            <a:ext cx="595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O/C</a:t>
            </a: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8207137" y="4663398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S/C</a:t>
            </a:r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 flipV="1">
            <a:off x="1441863" y="3897992"/>
            <a:ext cx="498475" cy="766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 flipH="1" flipV="1">
            <a:off x="7886462" y="3920448"/>
            <a:ext cx="512762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4969085" y="3933150"/>
            <a:ext cx="168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Perfect Match</a:t>
            </a:r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 flipV="1">
            <a:off x="4303258" y="3915687"/>
            <a:ext cx="500062" cy="768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4"/>
          <p:cNvSpPr>
            <a:spLocks noChangeArrowheads="1"/>
          </p:cNvSpPr>
          <p:nvPr/>
        </p:nvSpPr>
        <p:spPr bwMode="auto">
          <a:xfrm>
            <a:off x="1946736" y="3712032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806948" y="3732896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7688024" y="3728360"/>
            <a:ext cx="165100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 rot="5400000" flipH="1" flipV="1">
            <a:off x="3661651" y="4027765"/>
            <a:ext cx="1360487" cy="10334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748963" y="514854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7727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Text Box 2"/>
          <p:cNvSpPr txBox="1">
            <a:spLocks noChangeArrowheads="1"/>
          </p:cNvSpPr>
          <p:nvPr/>
        </p:nvSpPr>
        <p:spPr bwMode="auto">
          <a:xfrm>
            <a:off x="1952625" y="0"/>
            <a:ext cx="512762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2-in-1 Chart</a:t>
            </a:r>
          </a:p>
        </p:txBody>
      </p:sp>
      <p:pic>
        <p:nvPicPr>
          <p:cNvPr id="21513" name="Picture 37" descr="chart_s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4888" y="938213"/>
            <a:ext cx="5732462" cy="573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5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291052"/>
              </p:ext>
            </p:extLst>
          </p:nvPr>
        </p:nvGraphicFramePr>
        <p:xfrm>
          <a:off x="7837613" y="3832800"/>
          <a:ext cx="13001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507960" progId="Equation.DSMT4">
                  <p:embed/>
                </p:oleObj>
              </mc:Choice>
              <mc:Fallback>
                <p:oleObj name="Equation" r:id="rId4" imgW="838080" imgH="507960" progId="Equation.DSMT4">
                  <p:embed/>
                  <p:pic>
                    <p:nvPicPr>
                      <p:cNvPr id="2150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7613" y="3832800"/>
                        <a:ext cx="1300162" cy="784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7227"/>
              </p:ext>
            </p:extLst>
          </p:nvPr>
        </p:nvGraphicFramePr>
        <p:xfrm>
          <a:off x="4298713" y="579438"/>
          <a:ext cx="22066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253800" progId="Equation.DSMT4">
                  <p:embed/>
                </p:oleObj>
              </mc:Choice>
              <mc:Fallback>
                <p:oleObj name="Equation" r:id="rId6" imgW="1422360" imgH="253800" progId="Equation.DSMT4">
                  <p:embed/>
                  <p:pic>
                    <p:nvPicPr>
                      <p:cNvPr id="215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713" y="579438"/>
                        <a:ext cx="2206625" cy="39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rot="16200000" flipH="1">
            <a:off x="4642832" y="3788568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653150" y="3810000"/>
            <a:ext cx="533400" cy="1111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898838" y="1557338"/>
            <a:ext cx="1317625" cy="8572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811525" y="2830513"/>
            <a:ext cx="2155825" cy="56515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520" name="Oval 17"/>
          <p:cNvSpPr>
            <a:spLocks noChangeArrowheads="1"/>
          </p:cNvSpPr>
          <p:nvPr/>
        </p:nvSpPr>
        <p:spPr bwMode="auto">
          <a:xfrm>
            <a:off x="3940363" y="1892300"/>
            <a:ext cx="3846512" cy="3846513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Freeform 19"/>
          <p:cNvSpPr>
            <a:spLocks/>
          </p:cNvSpPr>
          <p:nvPr/>
        </p:nvSpPr>
        <p:spPr bwMode="auto">
          <a:xfrm>
            <a:off x="3179950" y="1495425"/>
            <a:ext cx="4325938" cy="2301875"/>
          </a:xfrm>
          <a:custGeom>
            <a:avLst/>
            <a:gdLst>
              <a:gd name="T0" fmla="*/ 0 w 2725"/>
              <a:gd name="T1" fmla="*/ 0 h 1450"/>
              <a:gd name="T2" fmla="*/ 261938 w 2725"/>
              <a:gd name="T3" fmla="*/ 347662 h 1450"/>
              <a:gd name="T4" fmla="*/ 536575 w 2725"/>
              <a:gd name="T5" fmla="*/ 638175 h 1450"/>
              <a:gd name="T6" fmla="*/ 784225 w 2725"/>
              <a:gd name="T7" fmla="*/ 855663 h 1450"/>
              <a:gd name="T8" fmla="*/ 973138 w 2725"/>
              <a:gd name="T9" fmla="*/ 1016000 h 1450"/>
              <a:gd name="T10" fmla="*/ 1408113 w 2725"/>
              <a:gd name="T11" fmla="*/ 1335087 h 1450"/>
              <a:gd name="T12" fmla="*/ 1916113 w 2725"/>
              <a:gd name="T13" fmla="*/ 1625600 h 1450"/>
              <a:gd name="T14" fmla="*/ 2554288 w 2725"/>
              <a:gd name="T15" fmla="*/ 1930400 h 1450"/>
              <a:gd name="T16" fmla="*/ 3121025 w 2725"/>
              <a:gd name="T17" fmla="*/ 2133600 h 1450"/>
              <a:gd name="T18" fmla="*/ 3700463 w 2725"/>
              <a:gd name="T19" fmla="*/ 2278063 h 1450"/>
              <a:gd name="T20" fmla="*/ 4078288 w 2725"/>
              <a:gd name="T21" fmla="*/ 2278063 h 1450"/>
              <a:gd name="T22" fmla="*/ 4325938 w 2725"/>
              <a:gd name="T23" fmla="*/ 2278063 h 14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725"/>
              <a:gd name="T37" fmla="*/ 0 h 1450"/>
              <a:gd name="T38" fmla="*/ 2725 w 2725"/>
              <a:gd name="T39" fmla="*/ 1450 h 14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725" h="1450">
                <a:moveTo>
                  <a:pt x="0" y="0"/>
                </a:moveTo>
                <a:cubicBezTo>
                  <a:pt x="54" y="76"/>
                  <a:pt x="109" y="152"/>
                  <a:pt x="165" y="219"/>
                </a:cubicBezTo>
                <a:cubicBezTo>
                  <a:pt x="221" y="286"/>
                  <a:pt x="283" y="349"/>
                  <a:pt x="338" y="402"/>
                </a:cubicBezTo>
                <a:cubicBezTo>
                  <a:pt x="393" y="455"/>
                  <a:pt x="448" y="499"/>
                  <a:pt x="494" y="539"/>
                </a:cubicBezTo>
                <a:cubicBezTo>
                  <a:pt x="540" y="579"/>
                  <a:pt x="547" y="590"/>
                  <a:pt x="613" y="640"/>
                </a:cubicBezTo>
                <a:cubicBezTo>
                  <a:pt x="679" y="690"/>
                  <a:pt x="788" y="777"/>
                  <a:pt x="887" y="841"/>
                </a:cubicBezTo>
                <a:cubicBezTo>
                  <a:pt x="986" y="905"/>
                  <a:pt x="1087" y="962"/>
                  <a:pt x="1207" y="1024"/>
                </a:cubicBezTo>
                <a:cubicBezTo>
                  <a:pt x="1327" y="1086"/>
                  <a:pt x="1483" y="1163"/>
                  <a:pt x="1609" y="1216"/>
                </a:cubicBezTo>
                <a:cubicBezTo>
                  <a:pt x="1735" y="1269"/>
                  <a:pt x="1846" y="1308"/>
                  <a:pt x="1966" y="1344"/>
                </a:cubicBezTo>
                <a:cubicBezTo>
                  <a:pt x="2086" y="1380"/>
                  <a:pt x="2230" y="1420"/>
                  <a:pt x="2331" y="1435"/>
                </a:cubicBezTo>
                <a:cubicBezTo>
                  <a:pt x="2432" y="1450"/>
                  <a:pt x="2503" y="1435"/>
                  <a:pt x="2569" y="1435"/>
                </a:cubicBezTo>
                <a:cubicBezTo>
                  <a:pt x="2635" y="1435"/>
                  <a:pt x="2699" y="1435"/>
                  <a:pt x="2725" y="1435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23" name="Straight Connector 22"/>
          <p:cNvCxnSpPr>
            <a:endCxn id="21513" idx="0"/>
          </p:cNvCxnSpPr>
          <p:nvPr/>
        </p:nvCxnSpPr>
        <p:spPr>
          <a:xfrm flipV="1">
            <a:off x="4910325" y="938213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V="1">
            <a:off x="6291450" y="2471738"/>
            <a:ext cx="794" cy="2690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309265"/>
              </p:ext>
            </p:extLst>
          </p:nvPr>
        </p:nvGraphicFramePr>
        <p:xfrm>
          <a:off x="90675" y="2474525"/>
          <a:ext cx="21288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41200" progId="Equation.DSMT4">
                  <p:embed/>
                </p:oleObj>
              </mc:Choice>
              <mc:Fallback>
                <p:oleObj name="Equation" r:id="rId8" imgW="1371600" imgH="2412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5" y="2474525"/>
                        <a:ext cx="21288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A8A8A8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297246"/>
              </p:ext>
            </p:extLst>
          </p:nvPr>
        </p:nvGraphicFramePr>
        <p:xfrm>
          <a:off x="180338" y="1210113"/>
          <a:ext cx="212883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241200" progId="Equation.DSMT4">
                  <p:embed/>
                </p:oleObj>
              </mc:Choice>
              <mc:Fallback>
                <p:oleObj name="Equation" r:id="rId10" imgW="1371600" imgH="2412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38" y="1210113"/>
                        <a:ext cx="2128837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DDDDDD"/>
                                </a:gs>
                                <a:gs pos="100000">
                                  <a:srgbClr val="A8A8A8"/>
                                </a:gs>
                              </a:gsLst>
                              <a:path path="shape">
                                <a:fillToRect l="50000" t="50000" r="50000" b="50000"/>
                              </a:path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181993" y="5252802"/>
            <a:ext cx="211216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if you feel confused by this 2-in-1 chart, use impedance chart and admittance chart separately …</a:t>
            </a:r>
          </a:p>
        </p:txBody>
      </p:sp>
      <p:sp>
        <p:nvSpPr>
          <p:cNvPr id="27" name="Oval 29"/>
          <p:cNvSpPr>
            <a:spLocks noChangeArrowheads="1"/>
          </p:cNvSpPr>
          <p:nvPr/>
        </p:nvSpPr>
        <p:spPr bwMode="auto">
          <a:xfrm>
            <a:off x="4251779" y="2563812"/>
            <a:ext cx="165100" cy="1651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905245"/>
              </p:ext>
            </p:extLst>
          </p:nvPr>
        </p:nvGraphicFramePr>
        <p:xfrm>
          <a:off x="4516437" y="1863060"/>
          <a:ext cx="3069865" cy="700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20760" imgH="482400" progId="Equation.DSMT4">
                  <p:embed/>
                </p:oleObj>
              </mc:Choice>
              <mc:Fallback>
                <p:oleObj name="Equation" r:id="rId12" imgW="2120760" imgH="4824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7" y="1863060"/>
                        <a:ext cx="3069865" cy="70075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02108"/>
              </p:ext>
            </p:extLst>
          </p:nvPr>
        </p:nvGraphicFramePr>
        <p:xfrm>
          <a:off x="4306888" y="2928938"/>
          <a:ext cx="29464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1840" imgH="482400" progId="Equation.DSMT4">
                  <p:embed/>
                </p:oleObj>
              </mc:Choice>
              <mc:Fallback>
                <p:oleObj name="Equation" r:id="rId14" imgW="2031840" imgH="4824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2928938"/>
                        <a:ext cx="2946400" cy="7000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94753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Text Box 2"/>
          <p:cNvSpPr txBox="1">
            <a:spLocks noChangeArrowheads="1"/>
          </p:cNvSpPr>
          <p:nvPr/>
        </p:nvSpPr>
        <p:spPr bwMode="auto">
          <a:xfrm>
            <a:off x="432717" y="0"/>
            <a:ext cx="827858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Move along transmission line: rotation on Smith Chart </a:t>
            </a:r>
          </a:p>
        </p:txBody>
      </p:sp>
      <p:graphicFrame>
        <p:nvGraphicFramePr>
          <p:cNvPr id="133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265976"/>
              </p:ext>
            </p:extLst>
          </p:nvPr>
        </p:nvGraphicFramePr>
        <p:xfrm>
          <a:off x="658133" y="1350915"/>
          <a:ext cx="77406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440" imgH="368280" progId="Equation.DSMT4">
                  <p:embed/>
                </p:oleObj>
              </mc:Choice>
              <mc:Fallback>
                <p:oleObj name="Equation" r:id="rId3" imgW="4330440" imgH="368280" progId="Equation.DSMT4">
                  <p:embed/>
                  <p:pic>
                    <p:nvPicPr>
                      <p:cNvPr id="1331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33" y="1350915"/>
                        <a:ext cx="774065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8" name="Group 68"/>
          <p:cNvGrpSpPr>
            <a:grpSpLocks/>
          </p:cNvGrpSpPr>
          <p:nvPr/>
        </p:nvGrpSpPr>
        <p:grpSpPr bwMode="auto">
          <a:xfrm>
            <a:off x="4784667" y="1868051"/>
            <a:ext cx="4243422" cy="3122612"/>
            <a:chOff x="3243" y="1889"/>
            <a:chExt cx="2673" cy="1967"/>
          </a:xfrm>
        </p:grpSpPr>
        <p:pic>
          <p:nvPicPr>
            <p:cNvPr id="13330" name="Picture 21" descr="chart_s64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436" y="2416"/>
              <a:ext cx="1186" cy="1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31" name="Oval 38"/>
            <p:cNvSpPr>
              <a:spLocks noChangeArrowheads="1"/>
            </p:cNvSpPr>
            <p:nvPr/>
          </p:nvSpPr>
          <p:spPr bwMode="auto">
            <a:xfrm>
              <a:off x="3436" y="2416"/>
              <a:ext cx="1186" cy="118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Oval 40"/>
            <p:cNvSpPr>
              <a:spLocks noChangeArrowheads="1"/>
            </p:cNvSpPr>
            <p:nvPr/>
          </p:nvSpPr>
          <p:spPr bwMode="auto">
            <a:xfrm>
              <a:off x="3678" y="2642"/>
              <a:ext cx="730" cy="73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318" name="Object 41"/>
            <p:cNvGraphicFramePr>
              <a:graphicFrameLocks noChangeAspect="1"/>
            </p:cNvGraphicFramePr>
            <p:nvPr/>
          </p:nvGraphicFramePr>
          <p:xfrm>
            <a:off x="4162" y="2900"/>
            <a:ext cx="200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203040" progId="Equation.DSMT4">
                    <p:embed/>
                  </p:oleObj>
                </mc:Choice>
                <mc:Fallback>
                  <p:oleObj name="Equation" r:id="rId6" imgW="215640" imgH="203040" progId="Equation.DSMT4">
                    <p:embed/>
                    <p:pic>
                      <p:nvPicPr>
                        <p:cNvPr id="13318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2" y="2900"/>
                          <a:ext cx="200" cy="16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Line 42"/>
            <p:cNvSpPr>
              <a:spLocks noChangeShapeType="1"/>
            </p:cNvSpPr>
            <p:nvPr/>
          </p:nvSpPr>
          <p:spPr bwMode="auto">
            <a:xfrm>
              <a:off x="4380" y="2895"/>
              <a:ext cx="31" cy="4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Line 43"/>
            <p:cNvSpPr>
              <a:spLocks noChangeShapeType="1"/>
            </p:cNvSpPr>
            <p:nvPr/>
          </p:nvSpPr>
          <p:spPr bwMode="auto">
            <a:xfrm flipH="1">
              <a:off x="4386" y="3107"/>
              <a:ext cx="6" cy="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44"/>
            <p:cNvSpPr>
              <a:spLocks noChangeShapeType="1"/>
            </p:cNvSpPr>
            <p:nvPr/>
          </p:nvSpPr>
          <p:spPr bwMode="auto">
            <a:xfrm>
              <a:off x="4211" y="2690"/>
              <a:ext cx="61" cy="3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45"/>
            <p:cNvSpPr>
              <a:spLocks noChangeShapeType="1"/>
            </p:cNvSpPr>
            <p:nvPr/>
          </p:nvSpPr>
          <p:spPr bwMode="auto">
            <a:xfrm flipV="1">
              <a:off x="4041" y="2101"/>
              <a:ext cx="1" cy="175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46"/>
            <p:cNvSpPr>
              <a:spLocks noChangeShapeType="1"/>
            </p:cNvSpPr>
            <p:nvPr/>
          </p:nvSpPr>
          <p:spPr bwMode="auto">
            <a:xfrm>
              <a:off x="3243" y="3045"/>
              <a:ext cx="183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319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295096"/>
                </p:ext>
              </p:extLst>
            </p:nvPr>
          </p:nvGraphicFramePr>
          <p:xfrm>
            <a:off x="3469" y="1889"/>
            <a:ext cx="121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79280" imgH="203040" progId="Equation.DSMT4">
                    <p:embed/>
                  </p:oleObj>
                </mc:Choice>
                <mc:Fallback>
                  <p:oleObj name="Equation" r:id="rId8" imgW="1079280" imgH="203040" progId="Equation.DSMT4">
                    <p:embed/>
                    <p:pic>
                      <p:nvPicPr>
                        <p:cNvPr id="13319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9" y="1889"/>
                          <a:ext cx="121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Arc 49"/>
            <p:cNvSpPr>
              <a:spLocks/>
            </p:cNvSpPr>
            <p:nvPr/>
          </p:nvSpPr>
          <p:spPr bwMode="auto">
            <a:xfrm rot="404068" flipH="1">
              <a:off x="3364" y="2483"/>
              <a:ext cx="405" cy="476"/>
            </a:xfrm>
            <a:custGeom>
              <a:avLst/>
              <a:gdLst>
                <a:gd name="T0" fmla="*/ 0 w 21600"/>
                <a:gd name="T1" fmla="*/ 0 h 18967"/>
                <a:gd name="T2" fmla="*/ 0 w 21600"/>
                <a:gd name="T3" fmla="*/ 0 h 18967"/>
                <a:gd name="T4" fmla="*/ 0 w 21600"/>
                <a:gd name="T5" fmla="*/ 0 h 1896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967"/>
                <a:gd name="T11" fmla="*/ 21600 w 21600"/>
                <a:gd name="T12" fmla="*/ 18967 h 189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967" fill="none" extrusionOk="0">
                  <a:moveTo>
                    <a:pt x="10335" y="-1"/>
                  </a:moveTo>
                  <a:cubicBezTo>
                    <a:pt x="17278" y="3783"/>
                    <a:pt x="21600" y="11059"/>
                    <a:pt x="21600" y="18967"/>
                  </a:cubicBezTo>
                </a:path>
                <a:path w="21600" h="18967" stroke="0" extrusionOk="0">
                  <a:moveTo>
                    <a:pt x="10335" y="-1"/>
                  </a:moveTo>
                  <a:cubicBezTo>
                    <a:pt x="17278" y="3783"/>
                    <a:pt x="21600" y="11059"/>
                    <a:pt x="21600" y="18967"/>
                  </a:cubicBezTo>
                  <a:lnTo>
                    <a:pt x="0" y="18967"/>
                  </a:lnTo>
                  <a:close/>
                </a:path>
              </a:pathLst>
            </a:custGeom>
            <a:noFill/>
            <a:ln w="15875">
              <a:solidFill>
                <a:srgbClr val="0000FF"/>
              </a:solidFill>
              <a:round/>
              <a:headEnd type="triangle" w="lg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WordArt 50"/>
            <p:cNvSpPr>
              <a:spLocks noChangeArrowheads="1" noChangeShapeType="1" noTextEdit="1"/>
            </p:cNvSpPr>
            <p:nvPr/>
          </p:nvSpPr>
          <p:spPr bwMode="auto">
            <a:xfrm rot="-4006648">
              <a:off x="3132" y="2519"/>
              <a:ext cx="622" cy="367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1519252"/>
                </a:avLst>
              </a:prstTxWarp>
            </a:bodyPr>
            <a:lstStyle/>
            <a:p>
              <a:pPr algn="ctr"/>
              <a:r>
                <a:rPr lang="en-US" sz="800" kern="10">
                  <a:ln w="9525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Arial"/>
                  <a:cs typeface="Arial"/>
                </a:rPr>
                <a:t>To generator</a:t>
              </a:r>
            </a:p>
          </p:txBody>
        </p:sp>
        <p:sp>
          <p:nvSpPr>
            <p:cNvPr id="13340" name="Line 51"/>
            <p:cNvSpPr>
              <a:spLocks noChangeShapeType="1"/>
            </p:cNvSpPr>
            <p:nvPr/>
          </p:nvSpPr>
          <p:spPr bwMode="auto">
            <a:xfrm flipH="1">
              <a:off x="4211" y="3285"/>
              <a:ext cx="73" cy="5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52"/>
            <p:cNvSpPr>
              <a:spLocks noChangeShapeType="1"/>
            </p:cNvSpPr>
            <p:nvPr/>
          </p:nvSpPr>
          <p:spPr bwMode="auto">
            <a:xfrm flipH="1">
              <a:off x="4011" y="3375"/>
              <a:ext cx="72" cy="1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56"/>
            <p:cNvSpPr>
              <a:spLocks noChangeShapeType="1"/>
            </p:cNvSpPr>
            <p:nvPr/>
          </p:nvSpPr>
          <p:spPr bwMode="auto">
            <a:xfrm flipV="1">
              <a:off x="4041" y="2779"/>
              <a:ext cx="291" cy="26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320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0147740"/>
                </p:ext>
              </p:extLst>
            </p:nvPr>
          </p:nvGraphicFramePr>
          <p:xfrm>
            <a:off x="4704" y="3107"/>
            <a:ext cx="121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79280" imgH="203040" progId="Equation.DSMT4">
                    <p:embed/>
                  </p:oleObj>
                </mc:Choice>
                <mc:Fallback>
                  <p:oleObj name="Equation" r:id="rId10" imgW="1079280" imgH="203040" progId="Equation.DSMT4">
                    <p:embed/>
                    <p:pic>
                      <p:nvPicPr>
                        <p:cNvPr id="1332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3107"/>
                          <a:ext cx="1212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3" name="Oval 60"/>
            <p:cNvSpPr>
              <a:spLocks noChangeArrowheads="1"/>
            </p:cNvSpPr>
            <p:nvPr/>
          </p:nvSpPr>
          <p:spPr bwMode="auto">
            <a:xfrm>
              <a:off x="4098" y="2618"/>
              <a:ext cx="88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Oval 61"/>
            <p:cNvSpPr>
              <a:spLocks noChangeArrowheads="1"/>
            </p:cNvSpPr>
            <p:nvPr/>
          </p:nvSpPr>
          <p:spPr bwMode="auto">
            <a:xfrm>
              <a:off x="3716" y="3204"/>
              <a:ext cx="88" cy="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321" name="Object 62"/>
            <p:cNvGraphicFramePr>
              <a:graphicFrameLocks noChangeAspect="1"/>
            </p:cNvGraphicFramePr>
            <p:nvPr/>
          </p:nvGraphicFramePr>
          <p:xfrm>
            <a:off x="4172" y="2451"/>
            <a:ext cx="12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3040" imgH="228600" progId="Equation.DSMT4">
                    <p:embed/>
                  </p:oleObj>
                </mc:Choice>
                <mc:Fallback>
                  <p:oleObj name="Equation" r:id="rId12" imgW="203040" imgH="228600" progId="Equation.DSMT4">
                    <p:embed/>
                    <p:pic>
                      <p:nvPicPr>
                        <p:cNvPr id="13321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2" y="2451"/>
                          <a:ext cx="12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63"/>
            <p:cNvGraphicFramePr>
              <a:graphicFrameLocks noChangeAspect="1"/>
            </p:cNvGraphicFramePr>
            <p:nvPr/>
          </p:nvGraphicFramePr>
          <p:xfrm>
            <a:off x="3660" y="3300"/>
            <a:ext cx="207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55320" imgH="253800" progId="Equation.DSMT4">
                    <p:embed/>
                  </p:oleObj>
                </mc:Choice>
                <mc:Fallback>
                  <p:oleObj name="Equation" r:id="rId14" imgW="355320" imgH="253800" progId="Equation.DSMT4">
                    <p:embed/>
                    <p:pic>
                      <p:nvPicPr>
                        <p:cNvPr id="13322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3300"/>
                          <a:ext cx="207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5" name="Line 64"/>
            <p:cNvSpPr>
              <a:spLocks noChangeShapeType="1"/>
            </p:cNvSpPr>
            <p:nvPr/>
          </p:nvSpPr>
          <p:spPr bwMode="auto">
            <a:xfrm rot="1697016" flipH="1">
              <a:off x="3870" y="3348"/>
              <a:ext cx="72" cy="1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Slide Number Placeholder 47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96372" y="2279407"/>
            <a:ext cx="4189308" cy="2554230"/>
            <a:chOff x="318283" y="3659527"/>
            <a:chExt cx="4189308" cy="2554230"/>
          </a:xfrm>
        </p:grpSpPr>
        <p:sp>
          <p:nvSpPr>
            <p:cNvPr id="13347" name="Text Box 27"/>
            <p:cNvSpPr txBox="1">
              <a:spLocks noChangeArrowheads="1"/>
            </p:cNvSpPr>
            <p:nvPr/>
          </p:nvSpPr>
          <p:spPr bwMode="auto">
            <a:xfrm>
              <a:off x="2136695" y="3937269"/>
              <a:ext cx="1625600" cy="27463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dirty="0">
                  <a:solidFill>
                    <a:srgbClr val="FF3300"/>
                  </a:solidFill>
                </a:rPr>
                <a:t>Transmission Line</a:t>
              </a:r>
            </a:p>
          </p:txBody>
        </p:sp>
        <p:sp>
          <p:nvSpPr>
            <p:cNvPr id="13348" name="Text Box 28"/>
            <p:cNvSpPr txBox="1">
              <a:spLocks noChangeArrowheads="1"/>
            </p:cNvSpPr>
            <p:nvPr/>
          </p:nvSpPr>
          <p:spPr bwMode="auto">
            <a:xfrm>
              <a:off x="318283" y="3902465"/>
              <a:ext cx="962025" cy="27463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dirty="0">
                  <a:solidFill>
                    <a:srgbClr val="FF3300"/>
                  </a:solidFill>
                </a:rPr>
                <a:t>Generator</a:t>
              </a:r>
            </a:p>
          </p:txBody>
        </p:sp>
        <p:sp>
          <p:nvSpPr>
            <p:cNvPr id="13349" name="Text Box 29"/>
            <p:cNvSpPr txBox="1">
              <a:spLocks noChangeArrowheads="1"/>
            </p:cNvSpPr>
            <p:nvPr/>
          </p:nvSpPr>
          <p:spPr bwMode="auto">
            <a:xfrm>
              <a:off x="3899912" y="4104347"/>
              <a:ext cx="588963" cy="27463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dirty="0">
                  <a:solidFill>
                    <a:srgbClr val="FF3300"/>
                  </a:solidFill>
                </a:rPr>
                <a:t>Load</a:t>
              </a:r>
            </a:p>
          </p:txBody>
        </p:sp>
        <p:sp>
          <p:nvSpPr>
            <p:cNvPr id="13355" name="Text Box 36"/>
            <p:cNvSpPr txBox="1">
              <a:spLocks noChangeArrowheads="1"/>
            </p:cNvSpPr>
            <p:nvPr/>
          </p:nvSpPr>
          <p:spPr bwMode="auto">
            <a:xfrm>
              <a:off x="2330079" y="5160857"/>
              <a:ext cx="655638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z </a:t>
              </a:r>
              <a:r>
                <a:rPr lang="en-US" dirty="0">
                  <a:latin typeface="Times New Roman" pitchFamily="18" charset="0"/>
                </a:rPr>
                <a:t>= </a:t>
              </a:r>
              <a:r>
                <a:rPr lang="en-US" i="1" dirty="0">
                  <a:latin typeface="Times New Roman" pitchFamily="18" charset="0"/>
                </a:rPr>
                <a:t>-l</a:t>
              </a:r>
            </a:p>
          </p:txBody>
        </p:sp>
        <p:sp>
          <p:nvSpPr>
            <p:cNvPr id="13356" name="Line 37"/>
            <p:cNvSpPr>
              <a:spLocks noChangeShapeType="1"/>
            </p:cNvSpPr>
            <p:nvPr/>
          </p:nvSpPr>
          <p:spPr bwMode="auto">
            <a:xfrm>
              <a:off x="2638053" y="5016273"/>
              <a:ext cx="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Text Box 54"/>
            <p:cNvSpPr txBox="1">
              <a:spLocks noChangeArrowheads="1"/>
            </p:cNvSpPr>
            <p:nvPr/>
          </p:nvSpPr>
          <p:spPr bwMode="auto">
            <a:xfrm>
              <a:off x="2496477" y="5661953"/>
              <a:ext cx="1190625" cy="274638"/>
            </a:xfrm>
            <a:prstGeom prst="rect">
              <a:avLst/>
            </a:prstGeom>
            <a:noFill/>
            <a:ln w="15875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 dirty="0">
                  <a:solidFill>
                    <a:srgbClr val="0000FF"/>
                  </a:solidFill>
                </a:rPr>
                <a:t>To generator</a:t>
              </a:r>
            </a:p>
          </p:txBody>
        </p:sp>
        <p:sp>
          <p:nvSpPr>
            <p:cNvPr id="13359" name="Line 55"/>
            <p:cNvSpPr>
              <a:spLocks noChangeShapeType="1"/>
            </p:cNvSpPr>
            <p:nvPr/>
          </p:nvSpPr>
          <p:spPr bwMode="auto">
            <a:xfrm flipH="1">
              <a:off x="2287999" y="5610430"/>
              <a:ext cx="1458913" cy="0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Box 228"/>
            <p:cNvSpPr txBox="1">
              <a:spLocks noChangeArrowheads="1"/>
            </p:cNvSpPr>
            <p:nvPr/>
          </p:nvSpPr>
          <p:spPr bwMode="auto">
            <a:xfrm>
              <a:off x="1315191" y="3659527"/>
              <a:ext cx="6000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Z</a:t>
              </a:r>
              <a:r>
                <a:rPr lang="en-US" sz="2000" i="1" baseline="-25000" dirty="0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51" name="Text Box 243"/>
            <p:cNvSpPr txBox="1">
              <a:spLocks noChangeArrowheads="1"/>
            </p:cNvSpPr>
            <p:nvPr/>
          </p:nvSpPr>
          <p:spPr bwMode="auto">
            <a:xfrm>
              <a:off x="3764641" y="5816882"/>
              <a:ext cx="2825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53" name="Text Box 206"/>
            <p:cNvSpPr txBox="1">
              <a:spLocks noChangeArrowheads="1"/>
            </p:cNvSpPr>
            <p:nvPr/>
          </p:nvSpPr>
          <p:spPr bwMode="auto">
            <a:xfrm>
              <a:off x="4060041" y="4435568"/>
              <a:ext cx="4175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 dirty="0">
                  <a:latin typeface="Times New Roman" pitchFamily="18" charset="0"/>
                </a:rPr>
                <a:t>Z</a:t>
              </a:r>
              <a:r>
                <a:rPr lang="en-US" sz="2000" i="1" baseline="-25000" dirty="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54" name="Freeform 207"/>
            <p:cNvSpPr>
              <a:spLocks/>
            </p:cNvSpPr>
            <p:nvPr/>
          </p:nvSpPr>
          <p:spPr bwMode="auto">
            <a:xfrm>
              <a:off x="1671596" y="4280694"/>
              <a:ext cx="2140383" cy="45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208"/>
            <p:cNvSpPr>
              <a:spLocks/>
            </p:cNvSpPr>
            <p:nvPr/>
          </p:nvSpPr>
          <p:spPr bwMode="auto">
            <a:xfrm>
              <a:off x="995322" y="5009356"/>
              <a:ext cx="2816658" cy="45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2" y="0"/>
                </a:cxn>
              </a:cxnLst>
              <a:rect l="0" t="0" r="r" b="b"/>
              <a:pathLst>
                <a:path w="3222" h="1">
                  <a:moveTo>
                    <a:pt x="0" y="0"/>
                  </a:moveTo>
                  <a:lnTo>
                    <a:pt x="322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212"/>
            <p:cNvSpPr>
              <a:spLocks noChangeShapeType="1"/>
            </p:cNvSpPr>
            <p:nvPr/>
          </p:nvSpPr>
          <p:spPr bwMode="auto">
            <a:xfrm>
              <a:off x="3817792" y="4290981"/>
              <a:ext cx="0" cy="190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13"/>
            <p:cNvSpPr>
              <a:spLocks noChangeShapeType="1"/>
            </p:cNvSpPr>
            <p:nvPr/>
          </p:nvSpPr>
          <p:spPr bwMode="auto">
            <a:xfrm flipH="1">
              <a:off x="3817792" y="4786281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Box 214"/>
            <p:cNvSpPr txBox="1">
              <a:spLocks noChangeArrowheads="1"/>
            </p:cNvSpPr>
            <p:nvPr/>
          </p:nvSpPr>
          <p:spPr bwMode="auto">
            <a:xfrm>
              <a:off x="3310616" y="5015195"/>
              <a:ext cx="973138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z = </a:t>
              </a:r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9" name="Line 229"/>
            <p:cNvSpPr>
              <a:spLocks noChangeShapeType="1"/>
            </p:cNvSpPr>
            <p:nvPr/>
          </p:nvSpPr>
          <p:spPr bwMode="auto">
            <a:xfrm flipH="1">
              <a:off x="990558" y="4279106"/>
              <a:ext cx="355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232"/>
            <p:cNvSpPr>
              <a:spLocks noChangeArrowheads="1"/>
            </p:cNvSpPr>
            <p:nvPr/>
          </p:nvSpPr>
          <p:spPr bwMode="auto">
            <a:xfrm>
              <a:off x="2151021" y="4241831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233"/>
            <p:cNvSpPr>
              <a:spLocks noChangeArrowheads="1"/>
            </p:cNvSpPr>
            <p:nvPr/>
          </p:nvSpPr>
          <p:spPr bwMode="auto">
            <a:xfrm>
              <a:off x="2125621" y="4964906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Text Box 234"/>
            <p:cNvSpPr txBox="1">
              <a:spLocks noChangeArrowheads="1"/>
            </p:cNvSpPr>
            <p:nvPr/>
          </p:nvSpPr>
          <p:spPr bwMode="auto">
            <a:xfrm>
              <a:off x="2682833" y="4433094"/>
              <a:ext cx="4079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i="1">
                  <a:latin typeface="Times New Roman" pitchFamily="18" charset="0"/>
                </a:rPr>
                <a:t>Z</a:t>
              </a:r>
              <a:r>
                <a:rPr lang="en-US" sz="2000" baseline="-25000">
                  <a:latin typeface="Times New Roman" pitchFamily="18" charset="0"/>
                </a:rPr>
                <a:t>0</a:t>
              </a:r>
            </a:p>
          </p:txBody>
        </p:sp>
        <p:grpSp>
          <p:nvGrpSpPr>
            <p:cNvPr id="63" name="Group 240"/>
            <p:cNvGrpSpPr>
              <a:grpSpLocks/>
            </p:cNvGrpSpPr>
            <p:nvPr/>
          </p:nvGrpSpPr>
          <p:grpSpPr bwMode="auto">
            <a:xfrm>
              <a:off x="829457" y="4252882"/>
              <a:ext cx="366713" cy="800100"/>
              <a:chOff x="1398" y="1440"/>
              <a:chExt cx="231" cy="504"/>
            </a:xfrm>
          </p:grpSpPr>
          <p:sp>
            <p:nvSpPr>
              <p:cNvPr id="78" name="Oval 209"/>
              <p:cNvSpPr>
                <a:spLocks noChangeArrowheads="1"/>
              </p:cNvSpPr>
              <p:nvPr/>
            </p:nvSpPr>
            <p:spPr bwMode="auto">
              <a:xfrm>
                <a:off x="1481" y="189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230"/>
              <p:cNvSpPr>
                <a:spLocks noChangeArrowheads="1"/>
              </p:cNvSpPr>
              <p:nvPr/>
            </p:nvSpPr>
            <p:spPr bwMode="auto">
              <a:xfrm>
                <a:off x="1481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Oval 235"/>
              <p:cNvSpPr>
                <a:spLocks noChangeArrowheads="1"/>
              </p:cNvSpPr>
              <p:nvPr/>
            </p:nvSpPr>
            <p:spPr bwMode="auto">
              <a:xfrm>
                <a:off x="1432" y="1616"/>
                <a:ext cx="168" cy="168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236"/>
              <p:cNvSpPr>
                <a:spLocks noChangeShapeType="1"/>
              </p:cNvSpPr>
              <p:nvPr/>
            </p:nvSpPr>
            <p:spPr bwMode="auto">
              <a:xfrm>
                <a:off x="1504" y="1464"/>
                <a:ext cx="0" cy="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237"/>
              <p:cNvSpPr>
                <a:spLocks noChangeShapeType="1"/>
              </p:cNvSpPr>
              <p:nvPr/>
            </p:nvSpPr>
            <p:spPr bwMode="auto">
              <a:xfrm>
                <a:off x="1504" y="17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Text Box 239"/>
              <p:cNvSpPr txBox="1">
                <a:spLocks noChangeArrowheads="1"/>
              </p:cNvSpPr>
              <p:nvPr/>
            </p:nvSpPr>
            <p:spPr bwMode="auto">
              <a:xfrm rot="5400000">
                <a:off x="1412" y="1592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Lucida Console" pitchFamily="49" charset="0"/>
                  </a:rPr>
                  <a:t>S</a:t>
                </a:r>
              </a:p>
            </p:txBody>
          </p:sp>
        </p:grpSp>
        <p:sp>
          <p:nvSpPr>
            <p:cNvPr id="64" name="Line 242"/>
            <p:cNvSpPr>
              <a:spLocks noChangeShapeType="1"/>
            </p:cNvSpPr>
            <p:nvPr/>
          </p:nvSpPr>
          <p:spPr bwMode="auto">
            <a:xfrm>
              <a:off x="3821791" y="5606507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244"/>
            <p:cNvSpPr>
              <a:spLocks noChangeShapeType="1"/>
            </p:cNvSpPr>
            <p:nvPr/>
          </p:nvSpPr>
          <p:spPr bwMode="auto">
            <a:xfrm>
              <a:off x="3809091" y="5366032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Rectangle 227"/>
            <p:cNvSpPr>
              <a:spLocks noChangeArrowheads="1"/>
            </p:cNvSpPr>
            <p:nvPr/>
          </p:nvSpPr>
          <p:spPr bwMode="auto">
            <a:xfrm>
              <a:off x="1339808" y="4190206"/>
              <a:ext cx="393700" cy="17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Rectangle 211"/>
            <p:cNvSpPr>
              <a:spLocks noChangeArrowheads="1"/>
            </p:cNvSpPr>
            <p:nvPr/>
          </p:nvSpPr>
          <p:spPr bwMode="auto">
            <a:xfrm>
              <a:off x="3703492" y="4481481"/>
              <a:ext cx="2159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99294"/>
              </p:ext>
            </p:extLst>
          </p:nvPr>
        </p:nvGraphicFramePr>
        <p:xfrm>
          <a:off x="276191" y="5571422"/>
          <a:ext cx="28432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41400" imgH="431640" progId="Equation.DSMT4">
                  <p:embed/>
                </p:oleObj>
              </mc:Choice>
              <mc:Fallback>
                <p:oleObj name="Equation" r:id="rId16" imgW="1841400" imgH="43164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91" y="5571422"/>
                        <a:ext cx="2843213" cy="660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636937"/>
              </p:ext>
            </p:extLst>
          </p:nvPr>
        </p:nvGraphicFramePr>
        <p:xfrm>
          <a:off x="3373438" y="5169103"/>
          <a:ext cx="5432425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17560" imgH="965160" progId="Equation.DSMT4">
                  <p:embed/>
                </p:oleObj>
              </mc:Choice>
              <mc:Fallback>
                <p:oleObj name="Equation" r:id="rId18" imgW="3517560" imgH="96516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5169103"/>
                        <a:ext cx="5432425" cy="14747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1981529" y="794935"/>
            <a:ext cx="58123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for both impedance chart and admittance chart</a:t>
            </a:r>
          </a:p>
        </p:txBody>
      </p:sp>
    </p:spTree>
    <p:extLst>
      <p:ext uri="{BB962C8B-B14F-4D97-AF65-F5344CB8AC3E}">
        <p14:creationId xmlns:p14="http://schemas.microsoft.com/office/powerpoint/2010/main" val="385982144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" name="Text Box 2"/>
          <p:cNvSpPr txBox="1">
            <a:spLocks noChangeArrowheads="1"/>
          </p:cNvSpPr>
          <p:nvPr/>
        </p:nvSpPr>
        <p:spPr bwMode="auto">
          <a:xfrm>
            <a:off x="1349851" y="0"/>
            <a:ext cx="624295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 Normalized Voltage and SWR</a:t>
            </a:r>
          </a:p>
        </p:txBody>
      </p:sp>
      <p:graphicFrame>
        <p:nvGraphicFramePr>
          <p:cNvPr id="1638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948984"/>
              </p:ext>
            </p:extLst>
          </p:nvPr>
        </p:nvGraphicFramePr>
        <p:xfrm>
          <a:off x="722993" y="2432412"/>
          <a:ext cx="2951163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609480" progId="Equation.DSMT4">
                  <p:embed/>
                </p:oleObj>
              </mc:Choice>
              <mc:Fallback>
                <p:oleObj name="Equation" r:id="rId3" imgW="1269720" imgH="609480" progId="Equation.DSMT4">
                  <p:embed/>
                  <p:pic>
                    <p:nvPicPr>
                      <p:cNvPr id="1638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93" y="2432412"/>
                        <a:ext cx="2951163" cy="141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Text Box 48"/>
          <p:cNvSpPr txBox="1">
            <a:spLocks noChangeArrowheads="1"/>
          </p:cNvSpPr>
          <p:nvPr/>
        </p:nvSpPr>
        <p:spPr bwMode="auto">
          <a:xfrm>
            <a:off x="542018" y="1517114"/>
            <a:ext cx="28067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Normalized voltage</a:t>
            </a:r>
          </a:p>
        </p:txBody>
      </p:sp>
      <p:sp>
        <p:nvSpPr>
          <p:cNvPr id="16405" name="Text Box 65"/>
          <p:cNvSpPr txBox="1">
            <a:spLocks noChangeArrowheads="1"/>
          </p:cNvSpPr>
          <p:nvPr/>
        </p:nvSpPr>
        <p:spPr bwMode="auto">
          <a:xfrm>
            <a:off x="5851298" y="1223210"/>
            <a:ext cx="3147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also called as crank diagram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749800" y="1799019"/>
            <a:ext cx="3609975" cy="3648075"/>
            <a:chOff x="4273550" y="1971675"/>
            <a:chExt cx="3609975" cy="3648075"/>
          </a:xfrm>
        </p:grpSpPr>
        <p:pic>
          <p:nvPicPr>
            <p:cNvPr id="16397" name="Picture 31" descr="chart_s64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73550" y="1971675"/>
              <a:ext cx="3609975" cy="3648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8" name="Oval 32"/>
            <p:cNvSpPr>
              <a:spLocks noChangeArrowheads="1"/>
            </p:cNvSpPr>
            <p:nvPr/>
          </p:nvSpPr>
          <p:spPr bwMode="auto">
            <a:xfrm>
              <a:off x="4273550" y="1971675"/>
              <a:ext cx="3609975" cy="36480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9" name="Line 33"/>
            <p:cNvSpPr>
              <a:spLocks noChangeShapeType="1"/>
            </p:cNvSpPr>
            <p:nvPr/>
          </p:nvSpPr>
          <p:spPr bwMode="auto">
            <a:xfrm>
              <a:off x="4273550" y="3852863"/>
              <a:ext cx="882650" cy="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Line 34"/>
            <p:cNvSpPr>
              <a:spLocks noChangeShapeType="1"/>
            </p:cNvSpPr>
            <p:nvPr/>
          </p:nvSpPr>
          <p:spPr bwMode="auto">
            <a:xfrm>
              <a:off x="4273550" y="3814763"/>
              <a:ext cx="2725738" cy="0"/>
            </a:xfrm>
            <a:prstGeom prst="line">
              <a:avLst/>
            </a:prstGeom>
            <a:noFill/>
            <a:ln w="28575">
              <a:solidFill>
                <a:srgbClr val="39AD39"/>
              </a:solidFill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Line 35"/>
            <p:cNvSpPr>
              <a:spLocks noChangeShapeType="1"/>
            </p:cNvSpPr>
            <p:nvPr/>
          </p:nvSpPr>
          <p:spPr bwMode="auto">
            <a:xfrm flipV="1">
              <a:off x="4273550" y="3084513"/>
              <a:ext cx="2303463" cy="7302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Line 36"/>
            <p:cNvSpPr>
              <a:spLocks noChangeShapeType="1"/>
            </p:cNvSpPr>
            <p:nvPr/>
          </p:nvSpPr>
          <p:spPr bwMode="auto">
            <a:xfrm>
              <a:off x="6078538" y="3814763"/>
              <a:ext cx="652462" cy="5762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389" name="Object 37"/>
            <p:cNvGraphicFramePr>
              <a:graphicFrameLocks noChangeAspect="1"/>
            </p:cNvGraphicFramePr>
            <p:nvPr/>
          </p:nvGraphicFramePr>
          <p:xfrm>
            <a:off x="7100888" y="3916363"/>
            <a:ext cx="487362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200" imgH="177480" progId="Equation.DSMT4">
                    <p:embed/>
                  </p:oleObj>
                </mc:Choice>
                <mc:Fallback>
                  <p:oleObj name="Equation" r:id="rId6" imgW="241200" imgH="177480" progId="Equation.DSMT4">
                    <p:embed/>
                    <p:pic>
                      <p:nvPicPr>
                        <p:cNvPr id="1638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0888" y="3916363"/>
                          <a:ext cx="487362" cy="3571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" name="Object 38"/>
            <p:cNvGraphicFramePr>
              <a:graphicFrameLocks noChangeAspect="1"/>
            </p:cNvGraphicFramePr>
            <p:nvPr/>
          </p:nvGraphicFramePr>
          <p:xfrm>
            <a:off x="4597400" y="3884386"/>
            <a:ext cx="449263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177480" progId="Equation.DSMT4">
                    <p:embed/>
                  </p:oleObj>
                </mc:Choice>
                <mc:Fallback>
                  <p:oleObj name="Equation" r:id="rId8" imgW="228600" imgH="177480" progId="Equation.DSMT4">
                    <p:embed/>
                    <p:pic>
                      <p:nvPicPr>
                        <p:cNvPr id="1639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7400" y="3884386"/>
                          <a:ext cx="449263" cy="3524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1" name="Object 39"/>
            <p:cNvGraphicFramePr>
              <a:graphicFrameLocks noChangeAspect="1"/>
            </p:cNvGraphicFramePr>
            <p:nvPr/>
          </p:nvGraphicFramePr>
          <p:xfrm>
            <a:off x="4465638" y="3162300"/>
            <a:ext cx="592137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4560" imgH="203040" progId="Equation.DSMT4">
                    <p:embed/>
                  </p:oleObj>
                </mc:Choice>
                <mc:Fallback>
                  <p:oleObj name="Equation" r:id="rId10" imgW="304560" imgH="203040" progId="Equation.DSMT4">
                    <p:embed/>
                    <p:pic>
                      <p:nvPicPr>
                        <p:cNvPr id="16391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5638" y="3162300"/>
                          <a:ext cx="592137" cy="3937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2" name="Object 40"/>
            <p:cNvGraphicFramePr>
              <a:graphicFrameLocks noChangeAspect="1"/>
            </p:cNvGraphicFramePr>
            <p:nvPr/>
          </p:nvGraphicFramePr>
          <p:xfrm>
            <a:off x="5962650" y="4083050"/>
            <a:ext cx="42545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15640" imgH="203040" progId="Equation.DSMT4">
                    <p:embed/>
                  </p:oleObj>
                </mc:Choice>
                <mc:Fallback>
                  <p:oleObj name="Equation" r:id="rId12" imgW="215640" imgH="203040" progId="Equation.DSMT4">
                    <p:embed/>
                    <p:pic>
                      <p:nvPicPr>
                        <p:cNvPr id="16392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2650" y="4083050"/>
                          <a:ext cx="425450" cy="40005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Oval 43"/>
            <p:cNvSpPr>
              <a:spLocks noChangeArrowheads="1"/>
            </p:cNvSpPr>
            <p:nvPr/>
          </p:nvSpPr>
          <p:spPr bwMode="auto">
            <a:xfrm>
              <a:off x="5156200" y="2932113"/>
              <a:ext cx="1843088" cy="17653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4" name="Oval 49"/>
            <p:cNvSpPr>
              <a:spLocks noChangeArrowheads="1"/>
            </p:cNvSpPr>
            <p:nvPr/>
          </p:nvSpPr>
          <p:spPr bwMode="auto">
            <a:xfrm>
              <a:off x="6527800" y="3009900"/>
              <a:ext cx="127000" cy="127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6393" name="Object 50"/>
            <p:cNvGraphicFramePr>
              <a:graphicFrameLocks noChangeAspect="1"/>
            </p:cNvGraphicFramePr>
            <p:nvPr/>
          </p:nvGraphicFramePr>
          <p:xfrm>
            <a:off x="6683375" y="2530475"/>
            <a:ext cx="619125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400" imgH="203040" progId="Equation.DSMT4">
                    <p:embed/>
                  </p:oleObj>
                </mc:Choice>
                <mc:Fallback>
                  <p:oleObj name="Equation" r:id="rId14" imgW="266400" imgH="203040" progId="Equation.DSMT4">
                    <p:embed/>
                    <p:pic>
                      <p:nvPicPr>
                        <p:cNvPr id="16393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3375" y="2530475"/>
                          <a:ext cx="619125" cy="4714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Line 24"/>
            <p:cNvSpPr>
              <a:spLocks noChangeShapeType="1"/>
            </p:cNvSpPr>
            <p:nvPr/>
          </p:nvSpPr>
          <p:spPr bwMode="auto">
            <a:xfrm flipV="1">
              <a:off x="6081713" y="3121025"/>
              <a:ext cx="479425" cy="6969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" name="Oval 29"/>
          <p:cNvSpPr>
            <a:spLocks noChangeArrowheads="1"/>
          </p:cNvSpPr>
          <p:nvPr/>
        </p:nvSpPr>
        <p:spPr bwMode="auto">
          <a:xfrm>
            <a:off x="7377817" y="3543453"/>
            <a:ext cx="165100" cy="1651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30"/>
          <p:cNvSpPr>
            <a:spLocks noChangeShapeType="1"/>
          </p:cNvSpPr>
          <p:nvPr/>
        </p:nvSpPr>
        <p:spPr bwMode="auto">
          <a:xfrm flipH="1" flipV="1">
            <a:off x="7551989" y="3815597"/>
            <a:ext cx="644954" cy="15481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331292" y="5347371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positive real axis</a:t>
            </a:r>
          </a:p>
        </p:txBody>
      </p: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450397" y="4807267"/>
            <a:ext cx="45656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The SWR is read off from the normalized resistance value on the </a:t>
            </a:r>
            <a:r>
              <a:rPr lang="en-US" dirty="0">
                <a:solidFill>
                  <a:srgbClr val="FF0000"/>
                </a:solidFill>
              </a:rPr>
              <a:t>positive real axis</a:t>
            </a:r>
            <a:r>
              <a:rPr lang="en-US" dirty="0">
                <a:solidFill>
                  <a:srgbClr val="0000FF"/>
                </a:solidFill>
              </a:rPr>
              <a:t>.</a:t>
            </a: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05709"/>
              </p:ext>
            </p:extLst>
          </p:nvPr>
        </p:nvGraphicFramePr>
        <p:xfrm>
          <a:off x="1090035" y="5680230"/>
          <a:ext cx="18875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342720" progId="Equation.DSMT4">
                  <p:embed/>
                </p:oleObj>
              </mc:Choice>
              <mc:Fallback>
                <p:oleObj name="Equation" r:id="rId16" imgW="812520" imgH="342720" progId="Equation.DSMT4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035" y="5680230"/>
                        <a:ext cx="1887537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3124579" y="765622"/>
            <a:ext cx="2667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for impedance chart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560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5" name="Picture 76" descr="chart_s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0563" y="887190"/>
            <a:ext cx="5224462" cy="522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6" name="Rectangle 77"/>
          <p:cNvSpPr>
            <a:spLocks noChangeArrowheads="1"/>
          </p:cNvSpPr>
          <p:nvPr/>
        </p:nvSpPr>
        <p:spPr bwMode="auto">
          <a:xfrm>
            <a:off x="6761163" y="5367115"/>
            <a:ext cx="1196975" cy="3667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</a:rPr>
              <a:t>SWR </a:t>
            </a:r>
            <a:r>
              <a:rPr lang="en-US" dirty="0">
                <a:latin typeface="Times New Roman" pitchFamily="18" charset="0"/>
              </a:rPr>
              <a:t>= 5.8</a:t>
            </a:r>
            <a:endParaRPr lang="en-US" baseline="-25000" dirty="0">
              <a:latin typeface="Times New Roman" pitchFamily="18" charset="0"/>
            </a:endParaRPr>
          </a:p>
        </p:txBody>
      </p:sp>
      <p:sp>
        <p:nvSpPr>
          <p:cNvPr id="19467" name="Line 79"/>
          <p:cNvSpPr>
            <a:spLocks noChangeShapeType="1"/>
          </p:cNvSpPr>
          <p:nvPr/>
        </p:nvSpPr>
        <p:spPr bwMode="auto">
          <a:xfrm flipV="1">
            <a:off x="2906485" y="4857767"/>
            <a:ext cx="360135" cy="117563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Line 82"/>
          <p:cNvSpPr>
            <a:spLocks noChangeShapeType="1"/>
          </p:cNvSpPr>
          <p:nvPr/>
        </p:nvSpPr>
        <p:spPr bwMode="auto">
          <a:xfrm>
            <a:off x="598131" y="3492052"/>
            <a:ext cx="13065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459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488007"/>
              </p:ext>
            </p:extLst>
          </p:nvPr>
        </p:nvGraphicFramePr>
        <p:xfrm>
          <a:off x="1761672" y="6062669"/>
          <a:ext cx="1743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03040" progId="Equation.DSMT4">
                  <p:embed/>
                </p:oleObj>
              </mc:Choice>
              <mc:Fallback>
                <p:oleObj name="Equation" r:id="rId4" imgW="812520" imgH="203040" progId="Equation.DSMT4">
                  <p:embed/>
                  <p:pic>
                    <p:nvPicPr>
                      <p:cNvPr id="19459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672" y="6062669"/>
                        <a:ext cx="1743075" cy="431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154814"/>
              </p:ext>
            </p:extLst>
          </p:nvPr>
        </p:nvGraphicFramePr>
        <p:xfrm>
          <a:off x="3136332" y="6488339"/>
          <a:ext cx="1955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77480" progId="Equation.DSMT4">
                  <p:embed/>
                </p:oleObj>
              </mc:Choice>
              <mc:Fallback>
                <p:oleObj name="Equation" r:id="rId6" imgW="914400" imgH="177480" progId="Equation.DSMT4">
                  <p:embed/>
                  <p:pic>
                    <p:nvPicPr>
                      <p:cNvPr id="1946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332" y="6488339"/>
                        <a:ext cx="19558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Oval 92"/>
          <p:cNvSpPr>
            <a:spLocks noChangeArrowheads="1"/>
          </p:cNvSpPr>
          <p:nvPr/>
        </p:nvSpPr>
        <p:spPr bwMode="auto">
          <a:xfrm>
            <a:off x="2732088" y="1658715"/>
            <a:ext cx="3729037" cy="3684588"/>
          </a:xfrm>
          <a:prstGeom prst="ellipse">
            <a:avLst/>
          </a:prstGeom>
          <a:noFill/>
          <a:ln w="2540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94"/>
          <p:cNvSpPr>
            <a:spLocks noChangeShapeType="1"/>
          </p:cNvSpPr>
          <p:nvPr/>
        </p:nvSpPr>
        <p:spPr bwMode="auto">
          <a:xfrm flipH="1" flipV="1">
            <a:off x="6502399" y="3585940"/>
            <a:ext cx="765299" cy="17067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77" name="Oval 99"/>
          <p:cNvSpPr>
            <a:spLocks noChangeArrowheads="1"/>
          </p:cNvSpPr>
          <p:nvPr/>
        </p:nvSpPr>
        <p:spPr bwMode="auto">
          <a:xfrm>
            <a:off x="3200400" y="4716240"/>
            <a:ext cx="165100" cy="165100"/>
          </a:xfrm>
          <a:prstGeom prst="ellipse">
            <a:avLst/>
          </a:prstGeom>
          <a:solidFill>
            <a:srgbClr val="FF33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Oval 100"/>
          <p:cNvSpPr>
            <a:spLocks noChangeArrowheads="1"/>
          </p:cNvSpPr>
          <p:nvPr/>
        </p:nvSpPr>
        <p:spPr bwMode="auto">
          <a:xfrm>
            <a:off x="6375400" y="3395440"/>
            <a:ext cx="165100" cy="1651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103"/>
          <p:cNvSpPr>
            <a:spLocks noChangeShapeType="1"/>
          </p:cNvSpPr>
          <p:nvPr/>
        </p:nvSpPr>
        <p:spPr bwMode="auto">
          <a:xfrm flipV="1">
            <a:off x="2273300" y="4951190"/>
            <a:ext cx="927100" cy="1003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89700"/>
            <a:ext cx="2133600" cy="365125"/>
          </a:xfrm>
          <a:prstGeom prst="rect">
            <a:avLst/>
          </a:prstGeom>
        </p:spPr>
        <p:txBody>
          <a:bodyPr/>
          <a:lstStyle/>
          <a:p>
            <a:fld id="{758FED75-DE40-4B24-B34D-4B6E6972FEA5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25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090778"/>
              </p:ext>
            </p:extLst>
          </p:nvPr>
        </p:nvGraphicFramePr>
        <p:xfrm>
          <a:off x="400050" y="1091978"/>
          <a:ext cx="161766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203040" progId="Equation.DSMT4">
                  <p:embed/>
                </p:oleObj>
              </mc:Choice>
              <mc:Fallback>
                <p:oleObj name="Equation" r:id="rId8" imgW="774360" imgH="203040" progId="Equation.DSMT4">
                  <p:embed/>
                  <p:pic>
                    <p:nvPicPr>
                      <p:cNvPr id="25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091978"/>
                        <a:ext cx="1617663" cy="42068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27"/>
          <p:cNvSpPr txBox="1">
            <a:spLocks noChangeArrowheads="1"/>
          </p:cNvSpPr>
          <p:nvPr/>
        </p:nvSpPr>
        <p:spPr bwMode="auto">
          <a:xfrm>
            <a:off x="796925" y="670600"/>
            <a:ext cx="9252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Given:</a:t>
            </a:r>
          </a:p>
        </p:txBody>
      </p:sp>
      <p:sp>
        <p:nvSpPr>
          <p:cNvPr id="27" name="Oval 100"/>
          <p:cNvSpPr>
            <a:spLocks noChangeArrowheads="1"/>
          </p:cNvSpPr>
          <p:nvPr/>
        </p:nvSpPr>
        <p:spPr bwMode="auto">
          <a:xfrm>
            <a:off x="2649538" y="3395440"/>
            <a:ext cx="165100" cy="1651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rc 91"/>
          <p:cNvSpPr>
            <a:spLocks/>
          </p:cNvSpPr>
          <p:nvPr/>
        </p:nvSpPr>
        <p:spPr bwMode="auto">
          <a:xfrm rot="10800000">
            <a:off x="1119537" y="3643090"/>
            <a:ext cx="1114425" cy="2146300"/>
          </a:xfrm>
          <a:custGeom>
            <a:avLst/>
            <a:gdLst>
              <a:gd name="T0" fmla="*/ 257406955 w 21599"/>
              <a:gd name="T1" fmla="*/ 0 h 21519"/>
              <a:gd name="T2" fmla="*/ 2147483647 w 21599"/>
              <a:gd name="T3" fmla="*/ 2147483647 h 21519"/>
              <a:gd name="T4" fmla="*/ 0 w 21599"/>
              <a:gd name="T5" fmla="*/ 2147483647 h 21519"/>
              <a:gd name="T6" fmla="*/ 0 60000 65536"/>
              <a:gd name="T7" fmla="*/ 0 60000 65536"/>
              <a:gd name="T8" fmla="*/ 0 60000 65536"/>
              <a:gd name="T9" fmla="*/ 0 w 21599"/>
              <a:gd name="T10" fmla="*/ 0 h 21519"/>
              <a:gd name="T11" fmla="*/ 21599 w 21599"/>
              <a:gd name="T12" fmla="*/ 21519 h 215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9" h="21519" fill="none" extrusionOk="0">
                <a:moveTo>
                  <a:pt x="1873" y="0"/>
                </a:moveTo>
                <a:cubicBezTo>
                  <a:pt x="12967" y="966"/>
                  <a:pt x="21508" y="10207"/>
                  <a:pt x="21599" y="21341"/>
                </a:cubicBezTo>
              </a:path>
              <a:path w="21599" h="21519" stroke="0" extrusionOk="0">
                <a:moveTo>
                  <a:pt x="1873" y="0"/>
                </a:moveTo>
                <a:cubicBezTo>
                  <a:pt x="12967" y="966"/>
                  <a:pt x="21508" y="10207"/>
                  <a:pt x="21599" y="21341"/>
                </a:cubicBezTo>
                <a:lnTo>
                  <a:pt x="0" y="21519"/>
                </a:lnTo>
                <a:close/>
              </a:path>
            </a:pathLst>
          </a:custGeom>
          <a:noFill/>
          <a:ln w="9525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38028"/>
              </p:ext>
            </p:extLst>
          </p:nvPr>
        </p:nvGraphicFramePr>
        <p:xfrm>
          <a:off x="1158317" y="4798790"/>
          <a:ext cx="3968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77480" progId="Equation.DSMT4">
                  <p:embed/>
                </p:oleObj>
              </mc:Choice>
              <mc:Fallback>
                <p:oleObj name="Equation" r:id="rId10" imgW="190440" imgH="177480" progId="Equation.DSMT4">
                  <p:embed/>
                  <p:pic>
                    <p:nvPicPr>
                      <p:cNvPr id="3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317" y="4798790"/>
                        <a:ext cx="396875" cy="36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79"/>
          <p:cNvSpPr>
            <a:spLocks noChangeShapeType="1"/>
          </p:cNvSpPr>
          <p:nvPr/>
        </p:nvSpPr>
        <p:spPr bwMode="auto">
          <a:xfrm>
            <a:off x="1347107" y="2637056"/>
            <a:ext cx="1389743" cy="85499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821005"/>
              </p:ext>
            </p:extLst>
          </p:nvPr>
        </p:nvGraphicFramePr>
        <p:xfrm>
          <a:off x="135511" y="2212528"/>
          <a:ext cx="16065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177480" progId="Equation.DSMT4">
                  <p:embed/>
                </p:oleObj>
              </mc:Choice>
              <mc:Fallback>
                <p:oleObj name="Equation" r:id="rId12" imgW="749160" imgH="17748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11" y="2212528"/>
                        <a:ext cx="1606550" cy="377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839068"/>
              </p:ext>
            </p:extLst>
          </p:nvPr>
        </p:nvGraphicFramePr>
        <p:xfrm>
          <a:off x="178271" y="2706905"/>
          <a:ext cx="1237308" cy="35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203040" progId="Equation.DSMT4">
                  <p:embed/>
                </p:oleObj>
              </mc:Choice>
              <mc:Fallback>
                <p:oleObj name="Equation" r:id="rId14" imgW="698400" imgH="20304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1" y="2706905"/>
                        <a:ext cx="1237308" cy="357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Line 79"/>
          <p:cNvSpPr>
            <a:spLocks noChangeShapeType="1"/>
          </p:cNvSpPr>
          <p:nvPr/>
        </p:nvSpPr>
        <p:spPr bwMode="auto">
          <a:xfrm flipH="1">
            <a:off x="6457951" y="2467303"/>
            <a:ext cx="805316" cy="103370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068254"/>
              </p:ext>
            </p:extLst>
          </p:nvPr>
        </p:nvGraphicFramePr>
        <p:xfrm>
          <a:off x="7216774" y="2050942"/>
          <a:ext cx="16065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177480" progId="Equation.DSMT4">
                  <p:embed/>
                </p:oleObj>
              </mc:Choice>
              <mc:Fallback>
                <p:oleObj name="Equation" r:id="rId16" imgW="749160" imgH="177480" progId="Equation.DSMT4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6774" y="2050942"/>
                        <a:ext cx="1606550" cy="3778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367163"/>
              </p:ext>
            </p:extLst>
          </p:nvPr>
        </p:nvGraphicFramePr>
        <p:xfrm>
          <a:off x="7520791" y="2585687"/>
          <a:ext cx="1237308" cy="35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203040" progId="Equation.DSMT4">
                  <p:embed/>
                </p:oleObj>
              </mc:Choice>
              <mc:Fallback>
                <p:oleObj name="Equation" r:id="rId18" imgW="698400" imgH="203040" progId="Equation.DSMT4">
                  <p:embed/>
                  <p:pic>
                    <p:nvPicPr>
                      <p:cNvPr id="36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0791" y="2585687"/>
                        <a:ext cx="1237308" cy="357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3102429" y="0"/>
            <a:ext cx="219868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105621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 animBg="1"/>
      <p:bldP spid="19467" grpId="0" animBg="1"/>
      <p:bldP spid="19470" grpId="0" animBg="1"/>
      <p:bldP spid="19475" grpId="0" animBg="1"/>
      <p:bldP spid="19477" grpId="0" animBg="1"/>
      <p:bldP spid="19478" grpId="0" animBg="1"/>
      <p:bldP spid="19479" grpId="0" animBg="1"/>
      <p:bldP spid="27" grpId="0" animBg="1"/>
      <p:bldP spid="29" grpId="0" animBg="1"/>
      <p:bldP spid="31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1596788" y="0"/>
            <a:ext cx="6018661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Examples of Smith Chart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021340"/>
              </p:ext>
            </p:extLst>
          </p:nvPr>
        </p:nvGraphicFramePr>
        <p:xfrm>
          <a:off x="341930" y="1118902"/>
          <a:ext cx="8324850" cy="515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44076" imgH="3004541" progId="Word.Document.12">
                  <p:embed/>
                </p:oleObj>
              </mc:Choice>
              <mc:Fallback>
                <p:oleObj name="Document" r:id="rId2" imgW="4844076" imgH="3004541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1930" y="1118902"/>
                        <a:ext cx="8324850" cy="515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931080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211" y="0"/>
            <a:ext cx="64175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6447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97" y="484497"/>
            <a:ext cx="6373504" cy="637350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1596788" y="0"/>
            <a:ext cx="6018661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Examples of Smith Chart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963257"/>
              </p:ext>
            </p:extLst>
          </p:nvPr>
        </p:nvGraphicFramePr>
        <p:xfrm>
          <a:off x="314325" y="969346"/>
          <a:ext cx="2455863" cy="51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431777" imgH="2996250" progId="Word.Document.12">
                  <p:embed/>
                </p:oleObj>
              </mc:Choice>
              <mc:Fallback>
                <p:oleObj name="Document" r:id="rId3" imgW="1431777" imgH="2996250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" y="969346"/>
                        <a:ext cx="2455863" cy="513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442476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594" y="519112"/>
            <a:ext cx="6311406" cy="633888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1596788" y="0"/>
            <a:ext cx="6018661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Examples of Smith Chart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553008"/>
              </p:ext>
            </p:extLst>
          </p:nvPr>
        </p:nvGraphicFramePr>
        <p:xfrm>
          <a:off x="-164461" y="846755"/>
          <a:ext cx="3016251" cy="519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762464" imgH="3028335" progId="Word.Document.12">
                  <p:embed/>
                </p:oleObj>
              </mc:Choice>
              <mc:Fallback>
                <p:oleObj name="Document" r:id="rId3" imgW="1762464" imgH="3028335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64461" y="846755"/>
                        <a:ext cx="3016251" cy="5199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813871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1616691" y="0"/>
            <a:ext cx="5883542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Impedance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45" y="1433439"/>
            <a:ext cx="88609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Quarter-wave transformer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Real load: analytical solution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Complex load</a:t>
            </a:r>
          </a:p>
          <a:p>
            <a:pPr marL="1714500" lvl="3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With shunt shorted stub at load: analytical solution</a:t>
            </a:r>
          </a:p>
          <a:p>
            <a:pPr marL="1714500" lvl="3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With extension: by Smith Chart</a:t>
            </a:r>
            <a:endParaRPr lang="en-US" dirty="0">
              <a:sym typeface="Wingdings" panose="05000000000000000000" pitchFamily="2" charset="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Single stub matching: by Smith Chart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04968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982628" y="0"/>
            <a:ext cx="7110484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Examples of Impedance Matching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319786"/>
              </p:ext>
            </p:extLst>
          </p:nvPr>
        </p:nvGraphicFramePr>
        <p:xfrm>
          <a:off x="620358" y="1091561"/>
          <a:ext cx="7566563" cy="4695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624241" imgH="2257191" progId="Word.Document.12">
                  <p:embed/>
                </p:oleObj>
              </mc:Choice>
              <mc:Fallback>
                <p:oleObj name="Document" r:id="rId2" imgW="3624241" imgH="2257191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0358" y="1091561"/>
                        <a:ext cx="7566563" cy="4695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882638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AE43F1-92DF-496C-A1D5-06FA3822AB9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36" y="0"/>
            <a:ext cx="7410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4151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AE43F1-92DF-496C-A1D5-06FA3822AB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2269851" y="0"/>
            <a:ext cx="4468423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Plane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4" y="1030657"/>
            <a:ext cx="926374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Wave solution in simple cases</a:t>
            </a:r>
          </a:p>
          <a:p>
            <a:pPr marL="1257300" marR="0" lvl="2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e.g. propagates along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+z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direction, has only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components</a:t>
            </a:r>
          </a:p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Wave number, velocity, intrinsic impedance of material</a:t>
            </a:r>
          </a:p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Lossy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 medium: complex permittivity, depth of penetration</a:t>
            </a:r>
          </a:p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In good conductor: skin depth, surface impedance</a:t>
            </a:r>
          </a:p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Polarization: LP, LHCP, RHCP, LHEP, RHEP</a:t>
            </a:r>
          </a:p>
          <a:p>
            <a:pPr marL="800100" marR="0" lvl="1" indent="-34290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Reflection: Snell’s law, critical angle,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TE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 mode,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TM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 mode</a:t>
            </a:r>
          </a:p>
        </p:txBody>
      </p:sp>
    </p:spTree>
    <p:extLst>
      <p:ext uri="{BB962C8B-B14F-4D97-AF65-F5344CB8AC3E}">
        <p14:creationId xmlns:p14="http://schemas.microsoft.com/office/powerpoint/2010/main" val="305689870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273628" y="0"/>
            <a:ext cx="656748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Plane Wave in Lossless Media</a:t>
            </a:r>
          </a:p>
        </p:txBody>
      </p:sp>
      <p:graphicFrame>
        <p:nvGraphicFramePr>
          <p:cNvPr id="14338" name="Object 11"/>
          <p:cNvGraphicFramePr>
            <a:graphicFrameLocks noChangeAspect="1"/>
          </p:cNvGraphicFramePr>
          <p:nvPr/>
        </p:nvGraphicFramePr>
        <p:xfrm>
          <a:off x="776737" y="1320800"/>
          <a:ext cx="2376487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200" imgH="1168200" progId="Equation.DSMT4">
                  <p:embed/>
                </p:oleObj>
              </mc:Choice>
              <mc:Fallback>
                <p:oleObj name="Equation" r:id="rId3" imgW="952200" imgH="1168200" progId="Equation.DSMT4">
                  <p:embed/>
                  <p:pic>
                    <p:nvPicPr>
                      <p:cNvPr id="1433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37" y="1320800"/>
                        <a:ext cx="2376487" cy="29178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5"/>
          <p:cNvGraphicFramePr>
            <a:graphicFrameLocks noChangeAspect="1"/>
          </p:cNvGraphicFramePr>
          <p:nvPr/>
        </p:nvGraphicFramePr>
        <p:xfrm>
          <a:off x="2570163" y="5846095"/>
          <a:ext cx="2857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253800" progId="Equation.DSMT4">
                  <p:embed/>
                </p:oleObj>
              </mc:Choice>
              <mc:Fallback>
                <p:oleObj name="Equation" r:id="rId5" imgW="1600200" imgH="253800" progId="Equation.DSMT4">
                  <p:embed/>
                  <p:pic>
                    <p:nvPicPr>
                      <p:cNvPr id="143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5846095"/>
                        <a:ext cx="2857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1336449" y="5341043"/>
            <a:ext cx="1825625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Time domain:</a:t>
            </a:r>
          </a:p>
        </p:txBody>
      </p:sp>
      <p:graphicFrame>
        <p:nvGraphicFramePr>
          <p:cNvPr id="14342" name="Object 9"/>
          <p:cNvGraphicFramePr>
            <a:graphicFrameLocks noChangeAspect="1"/>
          </p:cNvGraphicFramePr>
          <p:nvPr/>
        </p:nvGraphicFramePr>
        <p:xfrm>
          <a:off x="3581402" y="2009543"/>
          <a:ext cx="1989138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444240" progId="Equation.DSMT4">
                  <p:embed/>
                </p:oleObj>
              </mc:Choice>
              <mc:Fallback>
                <p:oleObj name="Equation" r:id="rId7" imgW="1218960" imgH="444240" progId="Equation.DSMT4">
                  <p:embed/>
                  <p:pic>
                    <p:nvPicPr>
                      <p:cNvPr id="1434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2" y="2009543"/>
                        <a:ext cx="1989138" cy="7254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0"/>
          <p:cNvGraphicFramePr>
            <a:graphicFrameLocks noChangeAspect="1"/>
          </p:cNvGraphicFramePr>
          <p:nvPr/>
        </p:nvGraphicFramePr>
        <p:xfrm>
          <a:off x="3860802" y="2927118"/>
          <a:ext cx="132715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2520" imgH="419040" progId="Equation.DSMT4">
                  <p:embed/>
                </p:oleObj>
              </mc:Choice>
              <mc:Fallback>
                <p:oleObj name="Equation" r:id="rId9" imgW="812520" imgH="419040" progId="Equation.DSMT4">
                  <p:embed/>
                  <p:pic>
                    <p:nvPicPr>
                      <p:cNvPr id="1434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2" y="2927118"/>
                        <a:ext cx="1327150" cy="68421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6202013" y="932238"/>
            <a:ext cx="2628245" cy="2513545"/>
            <a:chOff x="5795159" y="728130"/>
            <a:chExt cx="2628245" cy="2513545"/>
          </a:xfrm>
        </p:grpSpPr>
        <p:grpSp>
          <p:nvGrpSpPr>
            <p:cNvPr id="14345" name="Group 29"/>
            <p:cNvGrpSpPr>
              <a:grpSpLocks/>
            </p:cNvGrpSpPr>
            <p:nvPr/>
          </p:nvGrpSpPr>
          <p:grpSpPr bwMode="auto">
            <a:xfrm>
              <a:off x="5903212" y="728130"/>
              <a:ext cx="2520192" cy="2513545"/>
              <a:chOff x="6361028" y="851413"/>
              <a:chExt cx="2519857" cy="2513545"/>
            </a:xfrm>
          </p:grpSpPr>
          <p:sp>
            <p:nvSpPr>
              <p:cNvPr id="11" name="Text Box 96"/>
              <p:cNvSpPr txBox="1">
                <a:spLocks noChangeArrowheads="1"/>
              </p:cNvSpPr>
              <p:nvPr/>
            </p:nvSpPr>
            <p:spPr bwMode="auto">
              <a:xfrm>
                <a:off x="8503110" y="2167947"/>
                <a:ext cx="377775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  <a:sym typeface="Symbol" pitchFamily="18" charset="2"/>
                  </a:rPr>
                  <a:t>y</a:t>
                </a:r>
                <a:endPara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3" name="Line 82"/>
              <p:cNvSpPr>
                <a:spLocks noChangeShapeType="1"/>
              </p:cNvSpPr>
              <p:nvPr/>
            </p:nvSpPr>
            <p:spPr bwMode="auto">
              <a:xfrm flipV="1">
                <a:off x="7496650" y="2407696"/>
                <a:ext cx="90475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4" name="Text Box 83"/>
              <p:cNvSpPr txBox="1">
                <a:spLocks noChangeArrowheads="1"/>
              </p:cNvSpPr>
              <p:nvPr/>
            </p:nvSpPr>
            <p:spPr bwMode="auto">
              <a:xfrm>
                <a:off x="7348489" y="851413"/>
                <a:ext cx="398491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  <a:sym typeface="Symbol" pitchFamily="18" charset="2"/>
                  </a:rPr>
                  <a:t>z</a:t>
                </a:r>
                <a:endPara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5" name="Line 86"/>
              <p:cNvSpPr>
                <a:spLocks noChangeShapeType="1"/>
              </p:cNvSpPr>
              <p:nvPr/>
            </p:nvSpPr>
            <p:spPr bwMode="auto">
              <a:xfrm flipH="1">
                <a:off x="6688720" y="2406108"/>
                <a:ext cx="807931" cy="6096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6" name="Line 87"/>
              <p:cNvSpPr>
                <a:spLocks noChangeShapeType="1"/>
              </p:cNvSpPr>
              <p:nvPr/>
            </p:nvSpPr>
            <p:spPr bwMode="auto">
              <a:xfrm flipH="1" flipV="1">
                <a:off x="7484776" y="1334566"/>
                <a:ext cx="0" cy="10731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7" name="Line 91"/>
              <p:cNvSpPr>
                <a:spLocks noChangeShapeType="1"/>
              </p:cNvSpPr>
              <p:nvPr/>
            </p:nvSpPr>
            <p:spPr bwMode="auto">
              <a:xfrm flipH="1">
                <a:off x="6982368" y="2410871"/>
                <a:ext cx="511108" cy="38100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8" name="Line 92"/>
              <p:cNvSpPr>
                <a:spLocks noChangeShapeType="1"/>
              </p:cNvSpPr>
              <p:nvPr/>
            </p:nvSpPr>
            <p:spPr bwMode="auto">
              <a:xfrm flipH="1">
                <a:off x="7229985" y="2404521"/>
                <a:ext cx="511108" cy="38100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9" name="Line 93"/>
              <p:cNvSpPr>
                <a:spLocks noChangeShapeType="1"/>
              </p:cNvSpPr>
              <p:nvPr/>
            </p:nvSpPr>
            <p:spPr bwMode="auto">
              <a:xfrm flipH="1">
                <a:off x="6734751" y="2404521"/>
                <a:ext cx="511108" cy="38100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0" name="Line 94"/>
              <p:cNvSpPr>
                <a:spLocks noChangeShapeType="1"/>
              </p:cNvSpPr>
              <p:nvPr/>
            </p:nvSpPr>
            <p:spPr bwMode="auto">
              <a:xfrm flipH="1">
                <a:off x="7496650" y="2414046"/>
                <a:ext cx="511108" cy="38100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 Box 95"/>
              <p:cNvSpPr txBox="1">
                <a:spLocks noChangeArrowheads="1"/>
              </p:cNvSpPr>
              <p:nvPr/>
            </p:nvSpPr>
            <p:spPr bwMode="auto">
              <a:xfrm>
                <a:off x="6361028" y="2968083"/>
                <a:ext cx="461901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  <a:sym typeface="Symbol" pitchFamily="18" charset="2"/>
                  </a:rPr>
                  <a:t>x</a:t>
                </a:r>
                <a:endPara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2" name="Line 97"/>
              <p:cNvSpPr>
                <a:spLocks noChangeShapeType="1"/>
              </p:cNvSpPr>
              <p:nvPr/>
            </p:nvSpPr>
            <p:spPr bwMode="auto">
              <a:xfrm flipH="1">
                <a:off x="6480784" y="2401346"/>
                <a:ext cx="511108" cy="381000"/>
              </a:xfrm>
              <a:prstGeom prst="line">
                <a:avLst/>
              </a:prstGeom>
              <a:noFill/>
              <a:ln w="28575">
                <a:solidFill>
                  <a:srgbClr val="FF0033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" name="AutoShape 105"/>
              <p:cNvSpPr>
                <a:spLocks noChangeArrowheads="1"/>
              </p:cNvSpPr>
              <p:nvPr/>
            </p:nvSpPr>
            <p:spPr bwMode="auto">
              <a:xfrm rot="16200000">
                <a:off x="7136289" y="1855257"/>
                <a:ext cx="703262" cy="1698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D60093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4" name="Text Box 106"/>
              <p:cNvSpPr txBox="1">
                <a:spLocks noChangeArrowheads="1"/>
              </p:cNvSpPr>
              <p:nvPr/>
            </p:nvSpPr>
            <p:spPr bwMode="auto">
              <a:xfrm>
                <a:off x="7179618" y="2720746"/>
                <a:ext cx="339680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sng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28" name="Text Box 106"/>
              <p:cNvSpPr txBox="1">
                <a:spLocks noChangeArrowheads="1"/>
              </p:cNvSpPr>
              <p:nvPr/>
            </p:nvSpPr>
            <p:spPr bwMode="auto">
              <a:xfrm>
                <a:off x="8135752" y="2571583"/>
                <a:ext cx="371425" cy="4000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sng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29" name="Text Box 106"/>
              <p:cNvSpPr txBox="1">
                <a:spLocks noChangeArrowheads="1"/>
              </p:cNvSpPr>
              <p:nvPr/>
            </p:nvSpPr>
            <p:spPr bwMode="auto">
              <a:xfrm>
                <a:off x="7653793" y="1788571"/>
                <a:ext cx="339680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sng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+mn-cs"/>
                  </a:rPr>
                  <a:t>S</a:t>
                </a:r>
              </a:p>
            </p:txBody>
          </p:sp>
        </p:grpSp>
        <p:cxnSp>
          <p:nvCxnSpPr>
            <p:cNvPr id="35" name="Straight Arrow Connector 34"/>
            <p:cNvCxnSpPr/>
            <p:nvPr/>
          </p:nvCxnSpPr>
          <p:spPr>
            <a:xfrm>
              <a:off x="5795159" y="2541319"/>
              <a:ext cx="1888176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6030686" y="2384961"/>
              <a:ext cx="1888176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3841752" y="1361843"/>
          <a:ext cx="12033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253800" progId="Equation.DSMT4">
                  <p:embed/>
                </p:oleObj>
              </mc:Choice>
              <mc:Fallback>
                <p:oleObj name="Equation" r:id="rId11" imgW="672840" imgH="253800" progId="Equation.DSMT4">
                  <p:embed/>
                  <p:pic>
                    <p:nvPicPr>
                      <p:cNvPr id="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2" y="1361843"/>
                        <a:ext cx="1203325" cy="4540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646488" y="3861109"/>
          <a:ext cx="18240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17440" imgH="482400" progId="Equation.DSMT4">
                  <p:embed/>
                </p:oleObj>
              </mc:Choice>
              <mc:Fallback>
                <p:oleObj name="Equation" r:id="rId13" imgW="1117440" imgH="4824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3861109"/>
                        <a:ext cx="1824037" cy="7874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23519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273628" y="0"/>
            <a:ext cx="6567488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Plane Wave in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Lossy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Media</a:t>
            </a:r>
          </a:p>
        </p:txBody>
      </p:sp>
      <p:graphicFrame>
        <p:nvGraphicFramePr>
          <p:cNvPr id="14338" name="Object 11"/>
          <p:cNvGraphicFramePr>
            <a:graphicFrameLocks noChangeAspect="1"/>
          </p:cNvGraphicFramePr>
          <p:nvPr/>
        </p:nvGraphicFramePr>
        <p:xfrm>
          <a:off x="722335" y="2004351"/>
          <a:ext cx="2346325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685800" progId="Equation.DSMT4">
                  <p:embed/>
                </p:oleObj>
              </mc:Choice>
              <mc:Fallback>
                <p:oleObj name="Equation" r:id="rId3" imgW="939600" imgH="685800" progId="Equation.DSMT4">
                  <p:embed/>
                  <p:pic>
                    <p:nvPicPr>
                      <p:cNvPr id="1433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35" y="2004351"/>
                        <a:ext cx="2346325" cy="171291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5"/>
          <p:cNvGraphicFramePr>
            <a:graphicFrameLocks noChangeAspect="1"/>
          </p:cNvGraphicFramePr>
          <p:nvPr/>
        </p:nvGraphicFramePr>
        <p:xfrm>
          <a:off x="3438983" y="4017827"/>
          <a:ext cx="40147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253800" progId="Equation.DSMT4">
                  <p:embed/>
                </p:oleObj>
              </mc:Choice>
              <mc:Fallback>
                <p:oleObj name="Equation" r:id="rId5" imgW="2247840" imgH="253800" progId="Equation.DSMT4">
                  <p:embed/>
                  <p:pic>
                    <p:nvPicPr>
                      <p:cNvPr id="143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983" y="4017827"/>
                        <a:ext cx="40147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1445631" y="4044506"/>
            <a:ext cx="1825625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Time domain:</a:t>
            </a:r>
          </a:p>
        </p:txBody>
      </p:sp>
      <p:graphicFrame>
        <p:nvGraphicFramePr>
          <p:cNvPr id="14342" name="Object 9"/>
          <p:cNvGraphicFramePr>
            <a:graphicFrameLocks noChangeAspect="1"/>
          </p:cNvGraphicFramePr>
          <p:nvPr/>
        </p:nvGraphicFramePr>
        <p:xfrm>
          <a:off x="7411853" y="2583753"/>
          <a:ext cx="10556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41200" progId="Equation.DSMT4">
                  <p:embed/>
                </p:oleObj>
              </mc:Choice>
              <mc:Fallback>
                <p:oleObj name="Equation" r:id="rId7" imgW="647640" imgH="241200" progId="Equation.DSMT4">
                  <p:embed/>
                  <p:pic>
                    <p:nvPicPr>
                      <p:cNvPr id="1434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853" y="2583753"/>
                        <a:ext cx="1055688" cy="3937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0"/>
          <p:cNvGraphicFramePr>
            <a:graphicFrameLocks noChangeAspect="1"/>
          </p:cNvGraphicFramePr>
          <p:nvPr/>
        </p:nvGraphicFramePr>
        <p:xfrm>
          <a:off x="6108610" y="2456112"/>
          <a:ext cx="8080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393480" progId="Equation.DSMT4">
                  <p:embed/>
                </p:oleObj>
              </mc:Choice>
              <mc:Fallback>
                <p:oleObj name="Equation" r:id="rId9" imgW="495000" imgH="393480" progId="Equation.DSMT4">
                  <p:embed/>
                  <p:pic>
                    <p:nvPicPr>
                      <p:cNvPr id="1434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610" y="2456112"/>
                        <a:ext cx="808037" cy="6429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3267384" y="1050707"/>
          <a:ext cx="24066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266400" progId="Equation.DSMT4">
                  <p:embed/>
                </p:oleObj>
              </mc:Choice>
              <mc:Fallback>
                <p:oleObj name="Equation" r:id="rId11" imgW="1346040" imgH="266400" progId="Equation.DSMT4">
                  <p:embed/>
                  <p:pic>
                    <p:nvPicPr>
                      <p:cNvPr id="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384" y="1050707"/>
                        <a:ext cx="2406650" cy="4762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513213" y="2449711"/>
          <a:ext cx="16795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28520" imgH="482400" progId="Equation.DSMT4">
                  <p:embed/>
                </p:oleObj>
              </mc:Choice>
              <mc:Fallback>
                <p:oleObj name="Equation" r:id="rId13" imgW="1028520" imgH="4824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213" y="2449711"/>
                        <a:ext cx="1679575" cy="7874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12335" y="789356"/>
          <a:ext cx="19113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431800" progId="Equation.DSMT4">
                  <p:embed/>
                </p:oleObj>
              </mc:Choice>
              <mc:Fallback>
                <p:oleObj name="Equation" r:id="rId15" imgW="914400" imgH="4318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335" y="789356"/>
                        <a:ext cx="1911350" cy="90328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655145" y="4708831"/>
          <a:ext cx="17621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10891" imgH="393529" progId="Equation.DSMT4">
                  <p:embed/>
                </p:oleObj>
              </mc:Choice>
              <mc:Fallback>
                <p:oleObj name="Equation" r:id="rId17" imgW="710891" imgH="393529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145" y="4708831"/>
                        <a:ext cx="1762125" cy="7778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14"/>
          <p:cNvSpPr txBox="1">
            <a:spLocks noChangeArrowheads="1"/>
          </p:cNvSpPr>
          <p:nvPr/>
        </p:nvSpPr>
        <p:spPr bwMode="auto">
          <a:xfrm>
            <a:off x="321396" y="5735867"/>
            <a:ext cx="827669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tan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  &lt;&lt; 1: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low-loss medium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(attenuation is independent of frequency)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tan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  &gt;&gt; 1: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high-loss medium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(good conductor)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605500" y="5529134"/>
          <a:ext cx="14192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77476" imgH="482391" progId="Equation.DSMT4">
                  <p:embed/>
                </p:oleObj>
              </mc:Choice>
              <mc:Fallback>
                <p:oleObj name="Equation" r:id="rId19" imgW="977476" imgH="482391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500" y="5529134"/>
                        <a:ext cx="1419225" cy="704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66192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068907" y="0"/>
            <a:ext cx="7024211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Plane Wave in Good Conductor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15" name="Object 26"/>
          <p:cNvGraphicFramePr>
            <a:graphicFrameLocks noChangeAspect="1"/>
          </p:cNvGraphicFramePr>
          <p:nvPr/>
        </p:nvGraphicFramePr>
        <p:xfrm>
          <a:off x="3036859" y="787958"/>
          <a:ext cx="1109662" cy="8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431640" progId="Equation.DSMT4">
                  <p:embed/>
                </p:oleObj>
              </mc:Choice>
              <mc:Fallback>
                <p:oleObj name="Equation" r:id="rId3" imgW="583920" imgH="431640" progId="Equation.DSMT4">
                  <p:embed/>
                  <p:pic>
                    <p:nvPicPr>
                      <p:cNvPr id="1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59" y="787958"/>
                        <a:ext cx="1109662" cy="8211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74746" y="983633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requirement: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052899" y="789680"/>
          <a:ext cx="18002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444500" progId="Equation.DSMT4">
                  <p:embed/>
                </p:oleObj>
              </mc:Choice>
              <mc:Fallback>
                <p:oleObj name="Equation" r:id="rId5" imgW="1054100" imgH="4445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2899" y="789680"/>
                        <a:ext cx="1800225" cy="7572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402042" y="2054789"/>
            <a:ext cx="1609725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skin depth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35892" y="1839672"/>
          <a:ext cx="1800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080" imgH="469800" progId="Equation.DSMT4">
                  <p:embed/>
                </p:oleObj>
              </mc:Choice>
              <mc:Fallback>
                <p:oleObj name="Equation" r:id="rId7" imgW="1054080" imgH="4698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892" y="1839672"/>
                        <a:ext cx="1800225" cy="8016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798197" y="2938620"/>
          <a:ext cx="23860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431640" progId="Equation.DSMT4">
                  <p:embed/>
                </p:oleObj>
              </mc:Choice>
              <mc:Fallback>
                <p:oleObj name="Equation" r:id="rId9" imgW="1396800" imgH="43164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197" y="2938620"/>
                        <a:ext cx="2386012" cy="7366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1402042" y="3107939"/>
            <a:ext cx="277417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surface impedance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3829050" y="3925383"/>
          <a:ext cx="23002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444240" progId="Equation.DSMT4">
                  <p:embed/>
                </p:oleObj>
              </mc:Choice>
              <mc:Fallback>
                <p:oleObj name="Equation" r:id="rId11" imgW="1346040" imgH="44424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3925383"/>
                        <a:ext cx="2300288" cy="7588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1390666" y="4133811"/>
            <a:ext cx="277417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surface resistance</a:t>
            </a:r>
          </a:p>
        </p:txBody>
      </p: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1743833" y="5274941"/>
            <a:ext cx="2422685" cy="1301195"/>
            <a:chOff x="2826545" y="2043907"/>
            <a:chExt cx="3467893" cy="1862931"/>
          </a:xfrm>
        </p:grpSpPr>
        <p:sp>
          <p:nvSpPr>
            <p:cNvPr id="38" name="AutoShape 40"/>
            <p:cNvSpPr>
              <a:spLocks noChangeArrowheads="1"/>
            </p:cNvSpPr>
            <p:nvPr/>
          </p:nvSpPr>
          <p:spPr bwMode="auto">
            <a:xfrm rot="-6891630">
              <a:off x="3990976" y="879476"/>
              <a:ext cx="1122363" cy="3451225"/>
            </a:xfrm>
            <a:prstGeom prst="can">
              <a:avLst>
                <a:gd name="adj" fmla="val 70283"/>
              </a:avLst>
            </a:prstGeom>
            <a:solidFill>
              <a:srgbClr val="CC9900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H="1" flipV="1">
              <a:off x="3165476" y="2644776"/>
              <a:ext cx="168275" cy="53657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 type="none" w="sm" len="sm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aphicFrame>
          <p:nvGraphicFramePr>
            <p:cNvPr id="40" name="Object 3"/>
            <p:cNvGraphicFramePr>
              <a:graphicFrameLocks noChangeAspect="1"/>
            </p:cNvGraphicFramePr>
            <p:nvPr/>
          </p:nvGraphicFramePr>
          <p:xfrm>
            <a:off x="2940051" y="2899316"/>
            <a:ext cx="346570" cy="29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4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0051" y="2899316"/>
                          <a:ext cx="346570" cy="291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"/>
            <p:cNvGraphicFramePr>
              <a:graphicFrameLocks noChangeAspect="1"/>
            </p:cNvGraphicFramePr>
            <p:nvPr/>
          </p:nvGraphicFramePr>
          <p:xfrm>
            <a:off x="5273675" y="3449638"/>
            <a:ext cx="260350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8560" imgH="177480" progId="Equation.DSMT4">
                    <p:embed/>
                  </p:oleObj>
                </mc:Choice>
                <mc:Fallback>
                  <p:oleObj name="Equation" r:id="rId15" imgW="88560" imgH="177480" progId="Equation.DSMT4">
                    <p:embed/>
                    <p:pic>
                      <p:nvPicPr>
                        <p:cNvPr id="4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3675" y="3449638"/>
                          <a:ext cx="260350" cy="398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5"/>
            <p:cNvGraphicFramePr>
              <a:graphicFrameLocks noChangeAspect="1"/>
            </p:cNvGraphicFramePr>
            <p:nvPr/>
          </p:nvGraphicFramePr>
          <p:xfrm>
            <a:off x="4400551" y="2384426"/>
            <a:ext cx="477838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139680" progId="Equation.DSMT4">
                    <p:embed/>
                  </p:oleObj>
                </mc:Choice>
                <mc:Fallback>
                  <p:oleObj name="Equation" r:id="rId17" imgW="152280" imgH="139680" progId="Equation.DSMT4">
                    <p:embed/>
                    <p:pic>
                      <p:nvPicPr>
                        <p:cNvPr id="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0551" y="2384426"/>
                          <a:ext cx="477838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Line 45"/>
            <p:cNvSpPr>
              <a:spLocks noChangeShapeType="1"/>
            </p:cNvSpPr>
            <p:nvPr/>
          </p:nvSpPr>
          <p:spPr bwMode="auto">
            <a:xfrm flipV="1">
              <a:off x="3843338" y="2687638"/>
              <a:ext cx="2451100" cy="121920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844742" y="5497799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80800" imgH="431640" progId="Equation.DSMT4">
                  <p:embed/>
                </p:oleObj>
              </mc:Choice>
              <mc:Fallback>
                <p:oleObj name="Equation" r:id="rId19" imgW="1180800" imgH="43164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742" y="5497799"/>
                        <a:ext cx="2019300" cy="7366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60636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164443" y="0"/>
            <a:ext cx="672394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Three Types of Polarization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2894" y="751044"/>
            <a:ext cx="5622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LP: linear polarization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CP: circular polarization: LHCP / RHCP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EP: elliptical polarization: LHEP / RHEP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693689" y="2343661"/>
          <a:ext cx="309086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3880" imgH="253800" progId="Equation.DSMT4">
                  <p:embed/>
                </p:oleObj>
              </mc:Choice>
              <mc:Fallback>
                <p:oleObj name="Equation" r:id="rId3" imgW="1523880" imgH="253800" progId="Equation.DSMT4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689" y="2343661"/>
                        <a:ext cx="3090863" cy="515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23243" y="2370375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e.g.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1426" y="2433950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(can propagate along other directions)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73300" y="3227388"/>
          <a:ext cx="4559300" cy="175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863280" progId="Equation.DSMT4">
                  <p:embed/>
                </p:oleObj>
              </mc:Choice>
              <mc:Fallback>
                <p:oleObj name="Equation" r:id="rId5" imgW="2247840" imgH="86328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3227388"/>
                        <a:ext cx="4559300" cy="1754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46887" y="5134246"/>
            <a:ext cx="5622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LP: if 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CP: if </a:t>
            </a: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EP: if not LP or CP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33136" y="5278791"/>
          <a:ext cx="26289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52480" imgH="241200" progId="Equation.DSMT4">
                  <p:embed/>
                </p:oleObj>
              </mc:Choice>
              <mc:Fallback>
                <p:oleObj name="Equation" r:id="rId7" imgW="1752480" imgH="2412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136" y="5278791"/>
                        <a:ext cx="2628900" cy="360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02559" y="5691544"/>
          <a:ext cx="335232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34880" imgH="279360" progId="Equation.DSMT4">
                  <p:embed/>
                </p:oleObj>
              </mc:Choice>
              <mc:Fallback>
                <p:oleObj name="Equation" r:id="rId9" imgW="2234880" imgH="2793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559" y="5691544"/>
                        <a:ext cx="3352320" cy="4190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5521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164443" y="0"/>
            <a:ext cx="672394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Handedness of Polarization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068895" y="840191"/>
          <a:ext cx="4559300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47840" imgH="863280" progId="Equation.DSMT4">
                  <p:embed/>
                </p:oleObj>
              </mc:Choice>
              <mc:Fallback>
                <p:oleObj name="Equation" r:id="rId3" imgW="2247840" imgH="86328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895" y="840191"/>
                        <a:ext cx="4559300" cy="1754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421110" y="2935103"/>
          <a:ext cx="61833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7760" imgH="241200" progId="Equation.DSMT4">
                  <p:embed/>
                </p:oleObj>
              </mc:Choice>
              <mc:Fallback>
                <p:oleObj name="Equation" r:id="rId5" imgW="3047760" imgH="2412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110" y="2935103"/>
                        <a:ext cx="6183313" cy="490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401852" y="3591380"/>
          <a:ext cx="63119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11480" imgH="241200" progId="Equation.DSMT4">
                  <p:embed/>
                </p:oleObj>
              </mc:Choice>
              <mc:Fallback>
                <p:oleObj name="Equation" r:id="rId7" imgW="3111480" imgH="2412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852" y="3591380"/>
                        <a:ext cx="6311900" cy="490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53"/>
          <p:cNvSpPr txBox="1">
            <a:spLocks noChangeArrowheads="1"/>
          </p:cNvSpPr>
          <p:nvPr/>
        </p:nvSpPr>
        <p:spPr bwMode="auto">
          <a:xfrm>
            <a:off x="1178091" y="4334652"/>
            <a:ext cx="7009266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The electric field vector rotates from the leading axis to the lagging axis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Symbol" pitchFamily="18" charset="2"/>
              </a:rPr>
              <a:t>.</a:t>
            </a:r>
          </a:p>
        </p:txBody>
      </p:sp>
      <p:sp>
        <p:nvSpPr>
          <p:cNvPr id="16" name="Text Box 53"/>
          <p:cNvSpPr txBox="1">
            <a:spLocks noChangeArrowheads="1"/>
          </p:cNvSpPr>
          <p:nvPr/>
        </p:nvSpPr>
        <p:spPr bwMode="auto">
          <a:xfrm>
            <a:off x="1178091" y="5456039"/>
            <a:ext cx="7009266" cy="1015663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Symbol" pitchFamily="18" charset="2"/>
              </a:rPr>
              <a:t>Find out the handedness: your thumb points along the wave propagation direction, the curl of the other four fingers follows the rotations of electric field vectors.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9777433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Text Box 2"/>
          <p:cNvSpPr txBox="1">
            <a:spLocks noChangeArrowheads="1"/>
          </p:cNvSpPr>
          <p:nvPr/>
        </p:nvSpPr>
        <p:spPr bwMode="auto">
          <a:xfrm>
            <a:off x="1164443" y="0"/>
            <a:ext cx="6723945" cy="519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Reflection and Transmission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DFF5B4-D90D-41A5-B38D-776AA906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1558863" y="1166837"/>
          <a:ext cx="8747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228600" progId="Equation.DSMT4">
                  <p:embed/>
                </p:oleObj>
              </mc:Choice>
              <mc:Fallback>
                <p:oleObj name="Equation" r:id="rId3" imgW="431640" imgH="228600" progId="Equation.DSMT4">
                  <p:embed/>
                  <p:pic>
                    <p:nvPicPr>
                      <p:cNvPr id="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863" y="1166837"/>
                        <a:ext cx="874712" cy="461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0C0C0"/>
                          </a:gs>
                          <a:gs pos="100000">
                            <a:srgbClr val="C0C0C0">
                              <a:gamma/>
                              <a:tint val="73333"/>
                              <a:invGamma/>
                            </a:srgbClr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2800" y="901079"/>
            <a:ext cx="3782582" cy="1819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54510" y="1990891"/>
          <a:ext cx="22383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228600" progId="Equation.DSMT4">
                  <p:embed/>
                </p:oleObj>
              </mc:Choice>
              <mc:Fallback>
                <p:oleObj name="Equation" r:id="rId6" imgW="1104900" imgH="2286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10" y="1990891"/>
                        <a:ext cx="2238375" cy="46196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0C0C0"/>
                          </a:gs>
                          <a:gs pos="100000">
                            <a:srgbClr val="D0D0D0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309179" y="2031786"/>
          <a:ext cx="10398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266400" progId="Equation.DSMT4">
                  <p:embed/>
                </p:oleObj>
              </mc:Choice>
              <mc:Fallback>
                <p:oleObj name="Equation" r:id="rId8" imgW="660240" imgH="2664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179" y="2031786"/>
                        <a:ext cx="10398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894850" y="3111146"/>
          <a:ext cx="17097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392" imgH="482391" progId="Equation.DSMT4">
                  <p:embed/>
                </p:oleObj>
              </mc:Choice>
              <mc:Fallback>
                <p:oleObj name="Equation" r:id="rId10" imgW="939392" imgH="482391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850" y="3111146"/>
                        <a:ext cx="1709738" cy="8747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0C0C0"/>
                          </a:gs>
                          <a:gs pos="100000">
                            <a:srgbClr val="B8B8B8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12700">
                        <a:solidFill>
                          <a:srgbClr val="FF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269236" y="4596416"/>
          <a:ext cx="1951038" cy="1678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698400" progId="Equation.DSMT4">
                  <p:embed/>
                </p:oleObj>
              </mc:Choice>
              <mc:Fallback>
                <p:oleObj name="Equation" r:id="rId12" imgW="812520" imgH="698400" progId="Equation.DSMT4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236" y="4596416"/>
                        <a:ext cx="1951038" cy="167890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0C0C0"/>
                          </a:gs>
                          <a:gs pos="100000">
                            <a:srgbClr val="B8B8B8"/>
                          </a:gs>
                        </a:gsLst>
                        <a:path path="shape">
                          <a:fillToRect l="50000" t="50000" r="50000" b="50000"/>
                        </a:path>
                      </a:gra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745883" y="4516136"/>
          <a:ext cx="26939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482400" progId="Equation.DSMT4">
                  <p:embed/>
                </p:oleObj>
              </mc:Choice>
              <mc:Fallback>
                <p:oleObj name="Equation" r:id="rId14" imgW="1549080" imgH="48240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5883" y="4516136"/>
                        <a:ext cx="26939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724937" y="5562938"/>
          <a:ext cx="353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1840" imgH="482400" progId="Equation.DSMT4">
                  <p:embed/>
                </p:oleObj>
              </mc:Choice>
              <mc:Fallback>
                <p:oleObj name="Equation" r:id="rId16" imgW="2031840" imgH="4824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937" y="5562938"/>
                        <a:ext cx="353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7360504" y="5154595"/>
          <a:ext cx="8159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9696" imgH="203112" progId="Equation.DSMT4">
                  <p:embed/>
                </p:oleObj>
              </mc:Choice>
              <mc:Fallback>
                <p:oleObj name="Equation" r:id="rId18" imgW="469696" imgH="203112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0504" y="5154595"/>
                        <a:ext cx="8159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129993" y="333645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critical angle</a:t>
            </a:r>
          </a:p>
        </p:txBody>
      </p:sp>
    </p:spTree>
    <p:extLst>
      <p:ext uri="{BB962C8B-B14F-4D97-AF65-F5344CB8AC3E}">
        <p14:creationId xmlns:p14="http://schemas.microsoft.com/office/powerpoint/2010/main" val="11501216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3712</TotalTime>
  <Words>665</Words>
  <Application>Microsoft Office PowerPoint</Application>
  <PresentationFormat>On-screen Show (4:3)</PresentationFormat>
  <Paragraphs>185</Paragraphs>
  <Slides>29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Lucida Console</vt:lpstr>
      <vt:lpstr>Symbol</vt:lpstr>
      <vt:lpstr>Times New Roman</vt:lpstr>
      <vt:lpstr>Wingdings</vt:lpstr>
      <vt:lpstr>Default Design</vt:lpstr>
      <vt:lpstr>Equation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Aspen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Ray Manzanilla</dc:creator>
  <cp:lastModifiedBy>Chen, Jiefu</cp:lastModifiedBy>
  <cp:revision>366</cp:revision>
  <cp:lastPrinted>2016-01-19T19:40:31Z</cp:lastPrinted>
  <dcterms:created xsi:type="dcterms:W3CDTF">2006-03-04T19:44:29Z</dcterms:created>
  <dcterms:modified xsi:type="dcterms:W3CDTF">2026-04-11T22:35:41Z</dcterms:modified>
</cp:coreProperties>
</file>