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306" r:id="rId3"/>
    <p:sldId id="279" r:id="rId4"/>
    <p:sldId id="307" r:id="rId5"/>
    <p:sldId id="281" r:id="rId6"/>
    <p:sldId id="283" r:id="rId7"/>
    <p:sldId id="284" r:id="rId8"/>
    <p:sldId id="285" r:id="rId9"/>
    <p:sldId id="286" r:id="rId10"/>
    <p:sldId id="316" r:id="rId11"/>
    <p:sldId id="315" r:id="rId12"/>
    <p:sldId id="308" r:id="rId13"/>
    <p:sldId id="309" r:id="rId14"/>
    <p:sldId id="310" r:id="rId15"/>
    <p:sldId id="311" r:id="rId16"/>
    <p:sldId id="312" r:id="rId17"/>
    <p:sldId id="313" r:id="rId18"/>
    <p:sldId id="314" r:id="rId19"/>
  </p:sldIdLst>
  <p:sldSz cx="9144000" cy="6858000" type="screen4x3"/>
  <p:notesSz cx="7019925" cy="93059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7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1">
          <p15:clr>
            <a:srgbClr val="A4A3A4"/>
          </p15:clr>
        </p15:guide>
        <p15:guide id="2" pos="221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FF"/>
    <a:srgbClr val="C0C0C0"/>
    <a:srgbClr val="FFFF00"/>
    <a:srgbClr val="009900"/>
    <a:srgbClr val="333399"/>
    <a:srgbClr val="FF33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91" autoAdjust="0"/>
    <p:restoredTop sz="94601" autoAdjust="0"/>
  </p:normalViewPr>
  <p:slideViewPr>
    <p:cSldViewPr snapToGrid="0">
      <p:cViewPr varScale="1">
        <p:scale>
          <a:sx n="91" d="100"/>
          <a:sy n="91" d="100"/>
        </p:scale>
        <p:origin x="1227" y="51"/>
      </p:cViewPr>
      <p:guideLst>
        <p:guide orient="horz" pos="187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-1926" y="-90"/>
      </p:cViewPr>
      <p:guideLst>
        <p:guide orient="horz" pos="2931"/>
        <p:guide pos="221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2273" cy="464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8" tIns="46639" rIns="93278" bIns="46639" numCol="1" anchor="t" anchorCtr="0" compatLnSpc="1">
            <a:prstTxWarp prst="textNoShape">
              <a:avLst/>
            </a:prstTxWarp>
          </a:bodyPr>
          <a:lstStyle>
            <a:lvl1pPr defTabSz="932950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6129" y="0"/>
            <a:ext cx="3042273" cy="464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8" tIns="46639" rIns="93278" bIns="46639" numCol="1" anchor="t" anchorCtr="0" compatLnSpc="1">
            <a:prstTxWarp prst="textNoShape">
              <a:avLst/>
            </a:prstTxWarp>
          </a:bodyPr>
          <a:lstStyle>
            <a:lvl1pPr algn="r" defTabSz="932950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706"/>
            <a:ext cx="3042273" cy="464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8" tIns="46639" rIns="93278" bIns="46639" numCol="1" anchor="b" anchorCtr="0" compatLnSpc="1">
            <a:prstTxWarp prst="textNoShape">
              <a:avLst/>
            </a:prstTxWarp>
          </a:bodyPr>
          <a:lstStyle>
            <a:lvl1pPr defTabSz="932950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6129" y="8839706"/>
            <a:ext cx="3042273" cy="464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8" tIns="46639" rIns="93278" bIns="46639" numCol="1" anchor="b" anchorCtr="0" compatLnSpc="1">
            <a:prstTxWarp prst="textNoShape">
              <a:avLst/>
            </a:prstTxWarp>
          </a:bodyPr>
          <a:lstStyle>
            <a:lvl1pPr algn="r" defTabSz="932950">
              <a:defRPr sz="1300" smtClean="0"/>
            </a:lvl1pPr>
          </a:lstStyle>
          <a:p>
            <a:pPr>
              <a:defRPr/>
            </a:pPr>
            <a:fld id="{49BB55C4-93B8-4A71-881A-44DD3B01C3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110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2273" cy="464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8" tIns="46639" rIns="93278" bIns="46639" numCol="1" anchor="t" anchorCtr="0" compatLnSpc="1">
            <a:prstTxWarp prst="textNoShape">
              <a:avLst/>
            </a:prstTxWarp>
          </a:bodyPr>
          <a:lstStyle>
            <a:lvl1pPr defTabSz="932950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6129" y="0"/>
            <a:ext cx="3042273" cy="464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8" tIns="46639" rIns="93278" bIns="46639" numCol="1" anchor="t" anchorCtr="0" compatLnSpc="1">
            <a:prstTxWarp prst="textNoShape">
              <a:avLst/>
            </a:prstTxWarp>
          </a:bodyPr>
          <a:lstStyle>
            <a:lvl1pPr algn="r" defTabSz="932950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4275" y="698500"/>
            <a:ext cx="4651375" cy="3489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2298" y="4420623"/>
            <a:ext cx="5615331" cy="4186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8" tIns="46639" rIns="93278" bIns="466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9706"/>
            <a:ext cx="3042273" cy="464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8" tIns="46639" rIns="93278" bIns="46639" numCol="1" anchor="b" anchorCtr="0" compatLnSpc="1">
            <a:prstTxWarp prst="textNoShape">
              <a:avLst/>
            </a:prstTxWarp>
          </a:bodyPr>
          <a:lstStyle>
            <a:lvl1pPr defTabSz="932950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6129" y="8839706"/>
            <a:ext cx="3042273" cy="464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8" tIns="46639" rIns="93278" bIns="46639" numCol="1" anchor="b" anchorCtr="0" compatLnSpc="1">
            <a:prstTxWarp prst="textNoShape">
              <a:avLst/>
            </a:prstTxWarp>
          </a:bodyPr>
          <a:lstStyle>
            <a:lvl1pPr algn="r" defTabSz="932950">
              <a:defRPr sz="1300" smtClean="0"/>
            </a:lvl1pPr>
          </a:lstStyle>
          <a:p>
            <a:pPr>
              <a:defRPr/>
            </a:pPr>
            <a:fld id="{9E3D1466-17B7-4DE3-916E-973D5796C4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9592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A4B7C9-0DF9-4C74-AE61-A45C2CF95A5F}" type="slidenum">
              <a:rPr lang="en-US"/>
              <a:pPr/>
              <a:t>1</a:t>
            </a:fld>
            <a:endParaRPr 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47524F-B073-42DA-A1E1-C70E0909B361}" type="slidenum">
              <a:rPr lang="en-US"/>
              <a:pPr/>
              <a:t>3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3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1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21.bin"/><Relationship Id="rId18" Type="http://schemas.openxmlformats.org/officeDocument/2006/relationships/image" Target="../media/image23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0.wmf"/><Relationship Id="rId17" Type="http://schemas.openxmlformats.org/officeDocument/2006/relationships/oleObject" Target="../embeddings/oleObject23.bin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28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34.bin"/><Relationship Id="rId18" Type="http://schemas.openxmlformats.org/officeDocument/2006/relationships/oleObject" Target="../embeddings/oleObject37.bin"/><Relationship Id="rId3" Type="http://schemas.openxmlformats.org/officeDocument/2006/relationships/oleObject" Target="../embeddings/oleObject29.bin"/><Relationship Id="rId21" Type="http://schemas.openxmlformats.org/officeDocument/2006/relationships/oleObject" Target="../embeddings/oleObject3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36.bin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5.wmf"/><Relationship Id="rId20" Type="http://schemas.openxmlformats.org/officeDocument/2006/relationships/image" Target="../media/image3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5" Type="http://schemas.openxmlformats.org/officeDocument/2006/relationships/oleObject" Target="../embeddings/oleObject35.bin"/><Relationship Id="rId10" Type="http://schemas.openxmlformats.org/officeDocument/2006/relationships/image" Target="../media/image32.wmf"/><Relationship Id="rId19" Type="http://schemas.openxmlformats.org/officeDocument/2006/relationships/oleObject" Target="../embeddings/oleObject38.bin"/><Relationship Id="rId4" Type="http://schemas.openxmlformats.org/officeDocument/2006/relationships/image" Target="../media/image29.w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34.wmf"/><Relationship Id="rId22" Type="http://schemas.openxmlformats.org/officeDocument/2006/relationships/image" Target="../media/image3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oleObject" Target="../embeddings/oleObject46.bin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39.wmf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7.bin"/><Relationship Id="rId10" Type="http://schemas.openxmlformats.org/officeDocument/2006/relationships/image" Target="../media/image38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3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emf"/><Relationship Id="rId4" Type="http://schemas.openxmlformats.org/officeDocument/2006/relationships/image" Target="../media/image29.w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4.bin"/><Relationship Id="rId18" Type="http://schemas.openxmlformats.org/officeDocument/2006/relationships/image" Target="../media/image49.wmf"/><Relationship Id="rId26" Type="http://schemas.openxmlformats.org/officeDocument/2006/relationships/image" Target="../media/image53.wmf"/><Relationship Id="rId39" Type="http://schemas.openxmlformats.org/officeDocument/2006/relationships/oleObject" Target="../embeddings/oleObject67.bin"/><Relationship Id="rId21" Type="http://schemas.openxmlformats.org/officeDocument/2006/relationships/oleObject" Target="../embeddings/oleObject58.bin"/><Relationship Id="rId34" Type="http://schemas.openxmlformats.org/officeDocument/2006/relationships/image" Target="../media/image57.wmf"/><Relationship Id="rId42" Type="http://schemas.openxmlformats.org/officeDocument/2006/relationships/image" Target="../media/image61.wmf"/><Relationship Id="rId47" Type="http://schemas.openxmlformats.org/officeDocument/2006/relationships/oleObject" Target="../embeddings/oleObject71.bin"/><Relationship Id="rId50" Type="http://schemas.openxmlformats.org/officeDocument/2006/relationships/oleObject" Target="../embeddings/oleObject73.bin"/><Relationship Id="rId7" Type="http://schemas.openxmlformats.org/officeDocument/2006/relationships/oleObject" Target="../embeddings/oleObject51.bin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48.wmf"/><Relationship Id="rId29" Type="http://schemas.openxmlformats.org/officeDocument/2006/relationships/oleObject" Target="../embeddings/oleObject62.bin"/><Relationship Id="rId11" Type="http://schemas.openxmlformats.org/officeDocument/2006/relationships/oleObject" Target="../embeddings/oleObject53.bin"/><Relationship Id="rId24" Type="http://schemas.openxmlformats.org/officeDocument/2006/relationships/image" Target="../media/image52.wmf"/><Relationship Id="rId32" Type="http://schemas.openxmlformats.org/officeDocument/2006/relationships/image" Target="../media/image56.wmf"/><Relationship Id="rId37" Type="http://schemas.openxmlformats.org/officeDocument/2006/relationships/oleObject" Target="../embeddings/oleObject66.bin"/><Relationship Id="rId40" Type="http://schemas.openxmlformats.org/officeDocument/2006/relationships/image" Target="../media/image60.wmf"/><Relationship Id="rId45" Type="http://schemas.openxmlformats.org/officeDocument/2006/relationships/oleObject" Target="../embeddings/oleObject70.bin"/><Relationship Id="rId5" Type="http://schemas.openxmlformats.org/officeDocument/2006/relationships/oleObject" Target="../embeddings/oleObject50.bin"/><Relationship Id="rId15" Type="http://schemas.openxmlformats.org/officeDocument/2006/relationships/oleObject" Target="../embeddings/oleObject55.bin"/><Relationship Id="rId23" Type="http://schemas.openxmlformats.org/officeDocument/2006/relationships/oleObject" Target="../embeddings/oleObject59.bin"/><Relationship Id="rId28" Type="http://schemas.openxmlformats.org/officeDocument/2006/relationships/image" Target="../media/image54.wmf"/><Relationship Id="rId36" Type="http://schemas.openxmlformats.org/officeDocument/2006/relationships/image" Target="../media/image58.wmf"/><Relationship Id="rId49" Type="http://schemas.openxmlformats.org/officeDocument/2006/relationships/image" Target="../media/image64.wmf"/><Relationship Id="rId10" Type="http://schemas.openxmlformats.org/officeDocument/2006/relationships/image" Target="../media/image45.wmf"/><Relationship Id="rId19" Type="http://schemas.openxmlformats.org/officeDocument/2006/relationships/oleObject" Target="../embeddings/oleObject57.bin"/><Relationship Id="rId31" Type="http://schemas.openxmlformats.org/officeDocument/2006/relationships/oleObject" Target="../embeddings/oleObject63.bin"/><Relationship Id="rId44" Type="http://schemas.openxmlformats.org/officeDocument/2006/relationships/image" Target="../media/image62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47.wmf"/><Relationship Id="rId22" Type="http://schemas.openxmlformats.org/officeDocument/2006/relationships/image" Target="../media/image51.wmf"/><Relationship Id="rId27" Type="http://schemas.openxmlformats.org/officeDocument/2006/relationships/oleObject" Target="../embeddings/oleObject61.bin"/><Relationship Id="rId30" Type="http://schemas.openxmlformats.org/officeDocument/2006/relationships/image" Target="../media/image55.wmf"/><Relationship Id="rId35" Type="http://schemas.openxmlformats.org/officeDocument/2006/relationships/oleObject" Target="../embeddings/oleObject65.bin"/><Relationship Id="rId43" Type="http://schemas.openxmlformats.org/officeDocument/2006/relationships/oleObject" Target="../embeddings/oleObject69.bin"/><Relationship Id="rId48" Type="http://schemas.openxmlformats.org/officeDocument/2006/relationships/oleObject" Target="../embeddings/oleObject72.bin"/><Relationship Id="rId8" Type="http://schemas.openxmlformats.org/officeDocument/2006/relationships/image" Target="../media/image44.wmf"/><Relationship Id="rId51" Type="http://schemas.openxmlformats.org/officeDocument/2006/relationships/image" Target="../media/image65.wmf"/><Relationship Id="rId3" Type="http://schemas.openxmlformats.org/officeDocument/2006/relationships/oleObject" Target="../embeddings/oleObject49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56.bin"/><Relationship Id="rId25" Type="http://schemas.openxmlformats.org/officeDocument/2006/relationships/oleObject" Target="../embeddings/oleObject60.bin"/><Relationship Id="rId33" Type="http://schemas.openxmlformats.org/officeDocument/2006/relationships/oleObject" Target="../embeddings/oleObject64.bin"/><Relationship Id="rId38" Type="http://schemas.openxmlformats.org/officeDocument/2006/relationships/image" Target="../media/image59.wmf"/><Relationship Id="rId46" Type="http://schemas.openxmlformats.org/officeDocument/2006/relationships/image" Target="../media/image63.wmf"/><Relationship Id="rId20" Type="http://schemas.openxmlformats.org/officeDocument/2006/relationships/image" Target="../media/image50.wmf"/><Relationship Id="rId41" Type="http://schemas.openxmlformats.org/officeDocument/2006/relationships/oleObject" Target="../embeddings/oleObject6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73.wmf"/><Relationship Id="rId26" Type="http://schemas.openxmlformats.org/officeDocument/2006/relationships/image" Target="../media/image77.wmf"/><Relationship Id="rId3" Type="http://schemas.openxmlformats.org/officeDocument/2006/relationships/oleObject" Target="../embeddings/oleObject74.bin"/><Relationship Id="rId21" Type="http://schemas.openxmlformats.org/officeDocument/2006/relationships/oleObject" Target="../embeddings/oleObject83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70.wmf"/><Relationship Id="rId17" Type="http://schemas.openxmlformats.org/officeDocument/2006/relationships/oleObject" Target="../embeddings/oleObject81.bin"/><Relationship Id="rId25" Type="http://schemas.openxmlformats.org/officeDocument/2006/relationships/oleObject" Target="../embeddings/oleObject85.bin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72.wmf"/><Relationship Id="rId20" Type="http://schemas.openxmlformats.org/officeDocument/2006/relationships/image" Target="../media/image74.wmf"/><Relationship Id="rId29" Type="http://schemas.openxmlformats.org/officeDocument/2006/relationships/oleObject" Target="../embeddings/oleObject8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78.bin"/><Relationship Id="rId24" Type="http://schemas.openxmlformats.org/officeDocument/2006/relationships/image" Target="../media/image76.wmf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23" Type="http://schemas.openxmlformats.org/officeDocument/2006/relationships/oleObject" Target="../embeddings/oleObject84.bin"/><Relationship Id="rId28" Type="http://schemas.openxmlformats.org/officeDocument/2006/relationships/image" Target="../media/image78.wmf"/><Relationship Id="rId10" Type="http://schemas.openxmlformats.org/officeDocument/2006/relationships/image" Target="../media/image69.wmf"/><Relationship Id="rId19" Type="http://schemas.openxmlformats.org/officeDocument/2006/relationships/oleObject" Target="../embeddings/oleObject82.bin"/><Relationship Id="rId31" Type="http://schemas.openxmlformats.org/officeDocument/2006/relationships/image" Target="../media/image80.emf"/><Relationship Id="rId4" Type="http://schemas.openxmlformats.org/officeDocument/2006/relationships/image" Target="../media/image66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71.wmf"/><Relationship Id="rId22" Type="http://schemas.openxmlformats.org/officeDocument/2006/relationships/image" Target="../media/image75.wmf"/><Relationship Id="rId27" Type="http://schemas.openxmlformats.org/officeDocument/2006/relationships/oleObject" Target="../embeddings/oleObject86.bin"/><Relationship Id="rId30" Type="http://schemas.openxmlformats.org/officeDocument/2006/relationships/image" Target="../media/image79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13" Type="http://schemas.openxmlformats.org/officeDocument/2006/relationships/image" Target="../media/image76.wmf"/><Relationship Id="rId18" Type="http://schemas.openxmlformats.org/officeDocument/2006/relationships/oleObject" Target="../embeddings/oleObject95.bin"/><Relationship Id="rId3" Type="http://schemas.openxmlformats.org/officeDocument/2006/relationships/image" Target="../media/image81.emf"/><Relationship Id="rId21" Type="http://schemas.openxmlformats.org/officeDocument/2006/relationships/image" Target="../media/image88.wmf"/><Relationship Id="rId7" Type="http://schemas.openxmlformats.org/officeDocument/2006/relationships/image" Target="../media/image83.wmf"/><Relationship Id="rId12" Type="http://schemas.openxmlformats.org/officeDocument/2006/relationships/oleObject" Target="../embeddings/oleObject92.bin"/><Relationship Id="rId17" Type="http://schemas.openxmlformats.org/officeDocument/2006/relationships/image" Target="../media/image86.wmf"/><Relationship Id="rId2" Type="http://schemas.openxmlformats.org/officeDocument/2006/relationships/notesSlide" Target="../notesSlides/notesSlide13.xml"/><Relationship Id="rId16" Type="http://schemas.openxmlformats.org/officeDocument/2006/relationships/oleObject" Target="../embeddings/oleObject94.bin"/><Relationship Id="rId20" Type="http://schemas.openxmlformats.org/officeDocument/2006/relationships/oleObject" Target="../embeddings/oleObject9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74.wmf"/><Relationship Id="rId5" Type="http://schemas.openxmlformats.org/officeDocument/2006/relationships/image" Target="../media/image82.wmf"/><Relationship Id="rId15" Type="http://schemas.openxmlformats.org/officeDocument/2006/relationships/image" Target="../media/image85.wmf"/><Relationship Id="rId23" Type="http://schemas.openxmlformats.org/officeDocument/2006/relationships/image" Target="../media/image78.wmf"/><Relationship Id="rId10" Type="http://schemas.openxmlformats.org/officeDocument/2006/relationships/oleObject" Target="../embeddings/oleObject91.bin"/><Relationship Id="rId19" Type="http://schemas.openxmlformats.org/officeDocument/2006/relationships/image" Target="../media/image87.wmf"/><Relationship Id="rId4" Type="http://schemas.openxmlformats.org/officeDocument/2006/relationships/oleObject" Target="../embeddings/oleObject88.bin"/><Relationship Id="rId9" Type="http://schemas.openxmlformats.org/officeDocument/2006/relationships/image" Target="../media/image84.wmf"/><Relationship Id="rId14" Type="http://schemas.openxmlformats.org/officeDocument/2006/relationships/oleObject" Target="../embeddings/oleObject93.bin"/><Relationship Id="rId22" Type="http://schemas.openxmlformats.org/officeDocument/2006/relationships/oleObject" Target="../embeddings/oleObject97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3.bin"/><Relationship Id="rId18" Type="http://schemas.openxmlformats.org/officeDocument/2006/relationships/image" Target="../media/image95.wmf"/><Relationship Id="rId26" Type="http://schemas.openxmlformats.org/officeDocument/2006/relationships/image" Target="../media/image99.wmf"/><Relationship Id="rId39" Type="http://schemas.openxmlformats.org/officeDocument/2006/relationships/image" Target="../media/image105.wmf"/><Relationship Id="rId21" Type="http://schemas.openxmlformats.org/officeDocument/2006/relationships/oleObject" Target="../embeddings/oleObject107.bin"/><Relationship Id="rId34" Type="http://schemas.openxmlformats.org/officeDocument/2006/relationships/image" Target="../media/image103.wmf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93.wmf"/><Relationship Id="rId17" Type="http://schemas.openxmlformats.org/officeDocument/2006/relationships/oleObject" Target="../embeddings/oleObject105.bin"/><Relationship Id="rId25" Type="http://schemas.openxmlformats.org/officeDocument/2006/relationships/oleObject" Target="../embeddings/oleObject109.bin"/><Relationship Id="rId33" Type="http://schemas.openxmlformats.org/officeDocument/2006/relationships/oleObject" Target="../embeddings/oleObject113.bin"/><Relationship Id="rId38" Type="http://schemas.openxmlformats.org/officeDocument/2006/relationships/oleObject" Target="../embeddings/oleObject115.bin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52.wmf"/><Relationship Id="rId20" Type="http://schemas.openxmlformats.org/officeDocument/2006/relationships/image" Target="../media/image96.wmf"/><Relationship Id="rId29" Type="http://schemas.openxmlformats.org/officeDocument/2006/relationships/oleObject" Target="../embeddings/oleObject11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wmf"/><Relationship Id="rId11" Type="http://schemas.openxmlformats.org/officeDocument/2006/relationships/oleObject" Target="../embeddings/oleObject102.bin"/><Relationship Id="rId24" Type="http://schemas.openxmlformats.org/officeDocument/2006/relationships/image" Target="../media/image98.wmf"/><Relationship Id="rId32" Type="http://schemas.openxmlformats.org/officeDocument/2006/relationships/image" Target="../media/image102.wmf"/><Relationship Id="rId37" Type="http://schemas.openxmlformats.org/officeDocument/2006/relationships/image" Target="../media/image81.emf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04.bin"/><Relationship Id="rId23" Type="http://schemas.openxmlformats.org/officeDocument/2006/relationships/oleObject" Target="../embeddings/oleObject108.bin"/><Relationship Id="rId28" Type="http://schemas.openxmlformats.org/officeDocument/2006/relationships/image" Target="../media/image100.wmf"/><Relationship Id="rId36" Type="http://schemas.openxmlformats.org/officeDocument/2006/relationships/image" Target="../media/image104.wmf"/><Relationship Id="rId10" Type="http://schemas.openxmlformats.org/officeDocument/2006/relationships/image" Target="../media/image92.wmf"/><Relationship Id="rId19" Type="http://schemas.openxmlformats.org/officeDocument/2006/relationships/oleObject" Target="../embeddings/oleObject106.bin"/><Relationship Id="rId31" Type="http://schemas.openxmlformats.org/officeDocument/2006/relationships/oleObject" Target="../embeddings/oleObject112.bin"/><Relationship Id="rId4" Type="http://schemas.openxmlformats.org/officeDocument/2006/relationships/image" Target="../media/image89.wmf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94.wmf"/><Relationship Id="rId22" Type="http://schemas.openxmlformats.org/officeDocument/2006/relationships/image" Target="../media/image97.wmf"/><Relationship Id="rId27" Type="http://schemas.openxmlformats.org/officeDocument/2006/relationships/oleObject" Target="../embeddings/oleObject110.bin"/><Relationship Id="rId30" Type="http://schemas.openxmlformats.org/officeDocument/2006/relationships/image" Target="../media/image101.wmf"/><Relationship Id="rId35" Type="http://schemas.openxmlformats.org/officeDocument/2006/relationships/oleObject" Target="../embeddings/oleObject114.bin"/><Relationship Id="rId8" Type="http://schemas.openxmlformats.org/officeDocument/2006/relationships/image" Target="../media/image91.wmf"/><Relationship Id="rId3" Type="http://schemas.openxmlformats.org/officeDocument/2006/relationships/oleObject" Target="../embeddings/oleObject98.bin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14.wmf"/><Relationship Id="rId21" Type="http://schemas.openxmlformats.org/officeDocument/2006/relationships/oleObject" Target="../embeddings/oleObject125.bin"/><Relationship Id="rId34" Type="http://schemas.openxmlformats.org/officeDocument/2006/relationships/image" Target="../media/image76.wmf"/><Relationship Id="rId42" Type="http://schemas.openxmlformats.org/officeDocument/2006/relationships/image" Target="../media/image117.wmf"/><Relationship Id="rId47" Type="http://schemas.openxmlformats.org/officeDocument/2006/relationships/oleObject" Target="../embeddings/oleObject138.bin"/><Relationship Id="rId50" Type="http://schemas.openxmlformats.org/officeDocument/2006/relationships/oleObject" Target="../embeddings/oleObject141.bin"/><Relationship Id="rId55" Type="http://schemas.openxmlformats.org/officeDocument/2006/relationships/oleObject" Target="../embeddings/oleObject146.bin"/><Relationship Id="rId63" Type="http://schemas.openxmlformats.org/officeDocument/2006/relationships/oleObject" Target="../embeddings/oleObject153.bin"/><Relationship Id="rId68" Type="http://schemas.openxmlformats.org/officeDocument/2006/relationships/image" Target="../media/image79.wmf"/><Relationship Id="rId7" Type="http://schemas.openxmlformats.org/officeDocument/2006/relationships/oleObject" Target="../embeddings/oleObject118.bin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09.wmf"/><Relationship Id="rId29" Type="http://schemas.openxmlformats.org/officeDocument/2006/relationships/oleObject" Target="../embeddings/oleObject129.bin"/><Relationship Id="rId11" Type="http://schemas.openxmlformats.org/officeDocument/2006/relationships/oleObject" Target="../embeddings/oleObject120.bin"/><Relationship Id="rId24" Type="http://schemas.openxmlformats.org/officeDocument/2006/relationships/image" Target="../media/image113.wmf"/><Relationship Id="rId32" Type="http://schemas.openxmlformats.org/officeDocument/2006/relationships/image" Target="../media/image73.wmf"/><Relationship Id="rId37" Type="http://schemas.openxmlformats.org/officeDocument/2006/relationships/oleObject" Target="../embeddings/oleObject133.bin"/><Relationship Id="rId40" Type="http://schemas.openxmlformats.org/officeDocument/2006/relationships/image" Target="../media/image116.wmf"/><Relationship Id="rId45" Type="http://schemas.openxmlformats.org/officeDocument/2006/relationships/oleObject" Target="../embeddings/oleObject137.bin"/><Relationship Id="rId53" Type="http://schemas.openxmlformats.org/officeDocument/2006/relationships/oleObject" Target="../embeddings/oleObject144.bin"/><Relationship Id="rId58" Type="http://schemas.openxmlformats.org/officeDocument/2006/relationships/oleObject" Target="../embeddings/oleObject148.bin"/><Relationship Id="rId66" Type="http://schemas.openxmlformats.org/officeDocument/2006/relationships/image" Target="../media/image121.wmf"/><Relationship Id="rId5" Type="http://schemas.openxmlformats.org/officeDocument/2006/relationships/oleObject" Target="../embeddings/oleObject117.bin"/><Relationship Id="rId61" Type="http://schemas.openxmlformats.org/officeDocument/2006/relationships/oleObject" Target="../embeddings/oleObject151.bin"/><Relationship Id="rId19" Type="http://schemas.openxmlformats.org/officeDocument/2006/relationships/oleObject" Target="../embeddings/oleObject124.bin"/><Relationship Id="rId14" Type="http://schemas.openxmlformats.org/officeDocument/2006/relationships/image" Target="../media/image108.wmf"/><Relationship Id="rId22" Type="http://schemas.openxmlformats.org/officeDocument/2006/relationships/image" Target="../media/image112.wmf"/><Relationship Id="rId27" Type="http://schemas.openxmlformats.org/officeDocument/2006/relationships/oleObject" Target="../embeddings/oleObject128.bin"/><Relationship Id="rId30" Type="http://schemas.openxmlformats.org/officeDocument/2006/relationships/image" Target="../media/image72.wmf"/><Relationship Id="rId35" Type="http://schemas.openxmlformats.org/officeDocument/2006/relationships/oleObject" Target="../embeddings/oleObject132.bin"/><Relationship Id="rId43" Type="http://schemas.openxmlformats.org/officeDocument/2006/relationships/oleObject" Target="../embeddings/oleObject136.bin"/><Relationship Id="rId48" Type="http://schemas.openxmlformats.org/officeDocument/2006/relationships/oleObject" Target="../embeddings/oleObject139.bin"/><Relationship Id="rId56" Type="http://schemas.openxmlformats.org/officeDocument/2006/relationships/image" Target="../media/image120.wmf"/><Relationship Id="rId64" Type="http://schemas.openxmlformats.org/officeDocument/2006/relationships/oleObject" Target="../embeddings/oleObject154.bin"/><Relationship Id="rId8" Type="http://schemas.openxmlformats.org/officeDocument/2006/relationships/image" Target="../media/image65.wmf"/><Relationship Id="rId51" Type="http://schemas.openxmlformats.org/officeDocument/2006/relationships/oleObject" Target="../embeddings/oleObject142.bin"/><Relationship Id="rId3" Type="http://schemas.openxmlformats.org/officeDocument/2006/relationships/oleObject" Target="../embeddings/oleObject116.bin"/><Relationship Id="rId12" Type="http://schemas.openxmlformats.org/officeDocument/2006/relationships/image" Target="../media/image107.wmf"/><Relationship Id="rId17" Type="http://schemas.openxmlformats.org/officeDocument/2006/relationships/oleObject" Target="../embeddings/oleObject123.bin"/><Relationship Id="rId25" Type="http://schemas.openxmlformats.org/officeDocument/2006/relationships/oleObject" Target="../embeddings/oleObject127.bin"/><Relationship Id="rId33" Type="http://schemas.openxmlformats.org/officeDocument/2006/relationships/oleObject" Target="../embeddings/oleObject131.bin"/><Relationship Id="rId38" Type="http://schemas.openxmlformats.org/officeDocument/2006/relationships/image" Target="../media/image75.wmf"/><Relationship Id="rId46" Type="http://schemas.openxmlformats.org/officeDocument/2006/relationships/image" Target="../media/image119.wmf"/><Relationship Id="rId59" Type="http://schemas.openxmlformats.org/officeDocument/2006/relationships/oleObject" Target="../embeddings/oleObject149.bin"/><Relationship Id="rId67" Type="http://schemas.openxmlformats.org/officeDocument/2006/relationships/oleObject" Target="../embeddings/oleObject156.bin"/><Relationship Id="rId20" Type="http://schemas.openxmlformats.org/officeDocument/2006/relationships/image" Target="../media/image111.wmf"/><Relationship Id="rId41" Type="http://schemas.openxmlformats.org/officeDocument/2006/relationships/oleObject" Target="../embeddings/oleObject135.bin"/><Relationship Id="rId54" Type="http://schemas.openxmlformats.org/officeDocument/2006/relationships/oleObject" Target="../embeddings/oleObject145.bin"/><Relationship Id="rId62" Type="http://schemas.openxmlformats.org/officeDocument/2006/relationships/oleObject" Target="../embeddings/oleObject15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wmf"/><Relationship Id="rId15" Type="http://schemas.openxmlformats.org/officeDocument/2006/relationships/oleObject" Target="../embeddings/oleObject122.bin"/><Relationship Id="rId23" Type="http://schemas.openxmlformats.org/officeDocument/2006/relationships/oleObject" Target="../embeddings/oleObject126.bin"/><Relationship Id="rId28" Type="http://schemas.openxmlformats.org/officeDocument/2006/relationships/image" Target="../media/image115.wmf"/><Relationship Id="rId36" Type="http://schemas.openxmlformats.org/officeDocument/2006/relationships/image" Target="../media/image74.wmf"/><Relationship Id="rId49" Type="http://schemas.openxmlformats.org/officeDocument/2006/relationships/oleObject" Target="../embeddings/oleObject140.bin"/><Relationship Id="rId57" Type="http://schemas.openxmlformats.org/officeDocument/2006/relationships/oleObject" Target="../embeddings/oleObject147.bin"/><Relationship Id="rId10" Type="http://schemas.openxmlformats.org/officeDocument/2006/relationships/image" Target="../media/image89.wmf"/><Relationship Id="rId31" Type="http://schemas.openxmlformats.org/officeDocument/2006/relationships/oleObject" Target="../embeddings/oleObject130.bin"/><Relationship Id="rId44" Type="http://schemas.openxmlformats.org/officeDocument/2006/relationships/image" Target="../media/image118.wmf"/><Relationship Id="rId52" Type="http://schemas.openxmlformats.org/officeDocument/2006/relationships/oleObject" Target="../embeddings/oleObject143.bin"/><Relationship Id="rId60" Type="http://schemas.openxmlformats.org/officeDocument/2006/relationships/oleObject" Target="../embeddings/oleObject150.bin"/><Relationship Id="rId65" Type="http://schemas.openxmlformats.org/officeDocument/2006/relationships/oleObject" Target="../embeddings/oleObject155.bin"/><Relationship Id="rId4" Type="http://schemas.openxmlformats.org/officeDocument/2006/relationships/image" Target="../media/image106.wmf"/><Relationship Id="rId9" Type="http://schemas.openxmlformats.org/officeDocument/2006/relationships/oleObject" Target="../embeddings/oleObject119.bin"/><Relationship Id="rId13" Type="http://schemas.openxmlformats.org/officeDocument/2006/relationships/oleObject" Target="../embeddings/oleObject121.bin"/><Relationship Id="rId18" Type="http://schemas.openxmlformats.org/officeDocument/2006/relationships/image" Target="../media/image110.wmf"/><Relationship Id="rId39" Type="http://schemas.openxmlformats.org/officeDocument/2006/relationships/oleObject" Target="../embeddings/oleObject134.bin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62.bin"/><Relationship Id="rId18" Type="http://schemas.openxmlformats.org/officeDocument/2006/relationships/image" Target="../media/image123.wmf"/><Relationship Id="rId26" Type="http://schemas.openxmlformats.org/officeDocument/2006/relationships/image" Target="../media/image127.wmf"/><Relationship Id="rId39" Type="http://schemas.openxmlformats.org/officeDocument/2006/relationships/image" Target="../media/image74.wmf"/><Relationship Id="rId21" Type="http://schemas.openxmlformats.org/officeDocument/2006/relationships/oleObject" Target="../embeddings/oleObject166.bin"/><Relationship Id="rId34" Type="http://schemas.openxmlformats.org/officeDocument/2006/relationships/oleObject" Target="../embeddings/oleObject79.bin"/><Relationship Id="rId42" Type="http://schemas.openxmlformats.org/officeDocument/2006/relationships/oleObject" Target="../embeddings/oleObject84.bin"/><Relationship Id="rId47" Type="http://schemas.openxmlformats.org/officeDocument/2006/relationships/image" Target="../media/image78.wmf"/><Relationship Id="rId7" Type="http://schemas.openxmlformats.org/officeDocument/2006/relationships/oleObject" Target="../embeddings/oleObject159.bin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72.wmf"/><Relationship Id="rId29" Type="http://schemas.openxmlformats.org/officeDocument/2006/relationships/image" Target="../media/image6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161.bin"/><Relationship Id="rId24" Type="http://schemas.openxmlformats.org/officeDocument/2006/relationships/image" Target="../media/image126.wmf"/><Relationship Id="rId32" Type="http://schemas.openxmlformats.org/officeDocument/2006/relationships/oleObject" Target="../embeddings/oleObject77.bin"/><Relationship Id="rId37" Type="http://schemas.openxmlformats.org/officeDocument/2006/relationships/image" Target="../media/image73.wmf"/><Relationship Id="rId40" Type="http://schemas.openxmlformats.org/officeDocument/2006/relationships/oleObject" Target="../embeddings/oleObject83.bin"/><Relationship Id="rId45" Type="http://schemas.openxmlformats.org/officeDocument/2006/relationships/image" Target="../media/image77.wmf"/><Relationship Id="rId5" Type="http://schemas.openxmlformats.org/officeDocument/2006/relationships/oleObject" Target="../embeddings/oleObject158.bin"/><Relationship Id="rId15" Type="http://schemas.openxmlformats.org/officeDocument/2006/relationships/oleObject" Target="../embeddings/oleObject163.bin"/><Relationship Id="rId23" Type="http://schemas.openxmlformats.org/officeDocument/2006/relationships/oleObject" Target="../embeddings/oleObject167.bin"/><Relationship Id="rId28" Type="http://schemas.openxmlformats.org/officeDocument/2006/relationships/oleObject" Target="../embeddings/oleObject74.bin"/><Relationship Id="rId36" Type="http://schemas.openxmlformats.org/officeDocument/2006/relationships/oleObject" Target="../embeddings/oleObject81.bin"/><Relationship Id="rId10" Type="http://schemas.openxmlformats.org/officeDocument/2006/relationships/image" Target="../media/image69.wmf"/><Relationship Id="rId19" Type="http://schemas.openxmlformats.org/officeDocument/2006/relationships/oleObject" Target="../embeddings/oleObject165.bin"/><Relationship Id="rId31" Type="http://schemas.openxmlformats.org/officeDocument/2006/relationships/oleObject" Target="../embeddings/oleObject76.bin"/><Relationship Id="rId44" Type="http://schemas.openxmlformats.org/officeDocument/2006/relationships/oleObject" Target="../embeddings/oleObject169.bin"/><Relationship Id="rId4" Type="http://schemas.openxmlformats.org/officeDocument/2006/relationships/image" Target="../media/image122.wmf"/><Relationship Id="rId9" Type="http://schemas.openxmlformats.org/officeDocument/2006/relationships/oleObject" Target="../embeddings/oleObject160.bin"/><Relationship Id="rId14" Type="http://schemas.openxmlformats.org/officeDocument/2006/relationships/image" Target="../media/image71.wmf"/><Relationship Id="rId22" Type="http://schemas.openxmlformats.org/officeDocument/2006/relationships/image" Target="../media/image125.wmf"/><Relationship Id="rId27" Type="http://schemas.openxmlformats.org/officeDocument/2006/relationships/image" Target="../media/image128.emf"/><Relationship Id="rId30" Type="http://schemas.openxmlformats.org/officeDocument/2006/relationships/oleObject" Target="../embeddings/oleObject75.bin"/><Relationship Id="rId35" Type="http://schemas.openxmlformats.org/officeDocument/2006/relationships/oleObject" Target="../embeddings/oleObject80.bin"/><Relationship Id="rId43" Type="http://schemas.openxmlformats.org/officeDocument/2006/relationships/image" Target="../media/image76.wmf"/><Relationship Id="rId8" Type="http://schemas.openxmlformats.org/officeDocument/2006/relationships/image" Target="../media/image68.wmf"/><Relationship Id="rId3" Type="http://schemas.openxmlformats.org/officeDocument/2006/relationships/oleObject" Target="../embeddings/oleObject157.bin"/><Relationship Id="rId12" Type="http://schemas.openxmlformats.org/officeDocument/2006/relationships/image" Target="../media/image70.wmf"/><Relationship Id="rId17" Type="http://schemas.openxmlformats.org/officeDocument/2006/relationships/oleObject" Target="../embeddings/oleObject164.bin"/><Relationship Id="rId25" Type="http://schemas.openxmlformats.org/officeDocument/2006/relationships/oleObject" Target="../embeddings/oleObject168.bin"/><Relationship Id="rId33" Type="http://schemas.openxmlformats.org/officeDocument/2006/relationships/oleObject" Target="../embeddings/oleObject78.bin"/><Relationship Id="rId38" Type="http://schemas.openxmlformats.org/officeDocument/2006/relationships/oleObject" Target="../embeddings/oleObject82.bin"/><Relationship Id="rId46" Type="http://schemas.openxmlformats.org/officeDocument/2006/relationships/oleObject" Target="../embeddings/oleObject86.bin"/><Relationship Id="rId20" Type="http://schemas.openxmlformats.org/officeDocument/2006/relationships/image" Target="../media/image124.wmf"/><Relationship Id="rId41" Type="http://schemas.openxmlformats.org/officeDocument/2006/relationships/image" Target="../media/image75.wmf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6.wmf"/><Relationship Id="rId21" Type="http://schemas.openxmlformats.org/officeDocument/2006/relationships/oleObject" Target="../embeddings/oleObject179.bin"/><Relationship Id="rId42" Type="http://schemas.openxmlformats.org/officeDocument/2006/relationships/oleObject" Target="../embeddings/oleObject190.bin"/><Relationship Id="rId47" Type="http://schemas.openxmlformats.org/officeDocument/2006/relationships/oleObject" Target="../embeddings/oleObject195.bin"/><Relationship Id="rId63" Type="http://schemas.openxmlformats.org/officeDocument/2006/relationships/image" Target="../media/image131.wmf"/><Relationship Id="rId68" Type="http://schemas.openxmlformats.org/officeDocument/2006/relationships/oleObject" Target="../embeddings/oleObject210.bin"/><Relationship Id="rId7" Type="http://schemas.openxmlformats.org/officeDocument/2006/relationships/oleObject" Target="../embeddings/oleObject172.bin"/><Relationship Id="rId71" Type="http://schemas.openxmlformats.org/officeDocument/2006/relationships/image" Target="../media/image135.wmf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13.wmf"/><Relationship Id="rId29" Type="http://schemas.openxmlformats.org/officeDocument/2006/relationships/oleObject" Target="../embeddings/oleObject183.bin"/><Relationship Id="rId11" Type="http://schemas.openxmlformats.org/officeDocument/2006/relationships/oleObject" Target="../embeddings/oleObject174.bin"/><Relationship Id="rId24" Type="http://schemas.openxmlformats.org/officeDocument/2006/relationships/image" Target="../media/image73.wmf"/><Relationship Id="rId32" Type="http://schemas.openxmlformats.org/officeDocument/2006/relationships/image" Target="../media/image116.wmf"/><Relationship Id="rId37" Type="http://schemas.openxmlformats.org/officeDocument/2006/relationships/oleObject" Target="../embeddings/oleObject187.bin"/><Relationship Id="rId40" Type="http://schemas.openxmlformats.org/officeDocument/2006/relationships/image" Target="../media/image89.wmf"/><Relationship Id="rId45" Type="http://schemas.openxmlformats.org/officeDocument/2006/relationships/oleObject" Target="../embeddings/oleObject193.bin"/><Relationship Id="rId53" Type="http://schemas.openxmlformats.org/officeDocument/2006/relationships/oleObject" Target="../embeddings/oleObject201.bin"/><Relationship Id="rId58" Type="http://schemas.openxmlformats.org/officeDocument/2006/relationships/oleObject" Target="../embeddings/oleObject205.bin"/><Relationship Id="rId66" Type="http://schemas.openxmlformats.org/officeDocument/2006/relationships/oleObject" Target="../embeddings/oleObject209.bin"/><Relationship Id="rId5" Type="http://schemas.openxmlformats.org/officeDocument/2006/relationships/oleObject" Target="../embeddings/oleObject171.bin"/><Relationship Id="rId61" Type="http://schemas.openxmlformats.org/officeDocument/2006/relationships/image" Target="../media/image123.wmf"/><Relationship Id="rId19" Type="http://schemas.openxmlformats.org/officeDocument/2006/relationships/oleObject" Target="../embeddings/oleObject178.bin"/><Relationship Id="rId14" Type="http://schemas.openxmlformats.org/officeDocument/2006/relationships/image" Target="../media/image112.wmf"/><Relationship Id="rId22" Type="http://schemas.openxmlformats.org/officeDocument/2006/relationships/image" Target="../media/image72.wmf"/><Relationship Id="rId27" Type="http://schemas.openxmlformats.org/officeDocument/2006/relationships/oleObject" Target="../embeddings/oleObject182.bin"/><Relationship Id="rId30" Type="http://schemas.openxmlformats.org/officeDocument/2006/relationships/image" Target="../media/image75.wmf"/><Relationship Id="rId35" Type="http://schemas.openxmlformats.org/officeDocument/2006/relationships/oleObject" Target="../embeddings/oleObject186.bin"/><Relationship Id="rId43" Type="http://schemas.openxmlformats.org/officeDocument/2006/relationships/oleObject" Target="../embeddings/oleObject191.bin"/><Relationship Id="rId48" Type="http://schemas.openxmlformats.org/officeDocument/2006/relationships/oleObject" Target="../embeddings/oleObject196.bin"/><Relationship Id="rId56" Type="http://schemas.openxmlformats.org/officeDocument/2006/relationships/oleObject" Target="../embeddings/oleObject204.bin"/><Relationship Id="rId64" Type="http://schemas.openxmlformats.org/officeDocument/2006/relationships/oleObject" Target="../embeddings/oleObject208.bin"/><Relationship Id="rId69" Type="http://schemas.openxmlformats.org/officeDocument/2006/relationships/image" Target="../media/image134.wmf"/><Relationship Id="rId8" Type="http://schemas.openxmlformats.org/officeDocument/2006/relationships/image" Target="../media/image109.wmf"/><Relationship Id="rId51" Type="http://schemas.openxmlformats.org/officeDocument/2006/relationships/oleObject" Target="../embeddings/oleObject199.bin"/><Relationship Id="rId3" Type="http://schemas.openxmlformats.org/officeDocument/2006/relationships/oleObject" Target="../embeddings/oleObject170.bin"/><Relationship Id="rId12" Type="http://schemas.openxmlformats.org/officeDocument/2006/relationships/image" Target="../media/image111.wmf"/><Relationship Id="rId17" Type="http://schemas.openxmlformats.org/officeDocument/2006/relationships/oleObject" Target="../embeddings/oleObject177.bin"/><Relationship Id="rId25" Type="http://schemas.openxmlformats.org/officeDocument/2006/relationships/oleObject" Target="../embeddings/oleObject181.bin"/><Relationship Id="rId33" Type="http://schemas.openxmlformats.org/officeDocument/2006/relationships/oleObject" Target="../embeddings/oleObject185.bin"/><Relationship Id="rId38" Type="http://schemas.openxmlformats.org/officeDocument/2006/relationships/image" Target="../media/image121.wmf"/><Relationship Id="rId46" Type="http://schemas.openxmlformats.org/officeDocument/2006/relationships/oleObject" Target="../embeddings/oleObject194.bin"/><Relationship Id="rId59" Type="http://schemas.openxmlformats.org/officeDocument/2006/relationships/image" Target="../media/image130.wmf"/><Relationship Id="rId67" Type="http://schemas.openxmlformats.org/officeDocument/2006/relationships/image" Target="../media/image133.wmf"/><Relationship Id="rId20" Type="http://schemas.openxmlformats.org/officeDocument/2006/relationships/image" Target="../media/image52.wmf"/><Relationship Id="rId41" Type="http://schemas.openxmlformats.org/officeDocument/2006/relationships/oleObject" Target="../embeddings/oleObject189.bin"/><Relationship Id="rId54" Type="http://schemas.openxmlformats.org/officeDocument/2006/relationships/oleObject" Target="../embeddings/oleObject202.bin"/><Relationship Id="rId62" Type="http://schemas.openxmlformats.org/officeDocument/2006/relationships/oleObject" Target="../embeddings/oleObject207.bin"/><Relationship Id="rId70" Type="http://schemas.openxmlformats.org/officeDocument/2006/relationships/oleObject" Target="../embeddings/oleObject21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wmf"/><Relationship Id="rId15" Type="http://schemas.openxmlformats.org/officeDocument/2006/relationships/oleObject" Target="../embeddings/oleObject176.bin"/><Relationship Id="rId23" Type="http://schemas.openxmlformats.org/officeDocument/2006/relationships/oleObject" Target="../embeddings/oleObject180.bin"/><Relationship Id="rId28" Type="http://schemas.openxmlformats.org/officeDocument/2006/relationships/image" Target="../media/image74.wmf"/><Relationship Id="rId36" Type="http://schemas.openxmlformats.org/officeDocument/2006/relationships/image" Target="../media/image118.wmf"/><Relationship Id="rId49" Type="http://schemas.openxmlformats.org/officeDocument/2006/relationships/oleObject" Target="../embeddings/oleObject197.bin"/><Relationship Id="rId57" Type="http://schemas.openxmlformats.org/officeDocument/2006/relationships/image" Target="../media/image129.wmf"/><Relationship Id="rId10" Type="http://schemas.openxmlformats.org/officeDocument/2006/relationships/image" Target="../media/image110.wmf"/><Relationship Id="rId31" Type="http://schemas.openxmlformats.org/officeDocument/2006/relationships/oleObject" Target="../embeddings/oleObject184.bin"/><Relationship Id="rId44" Type="http://schemas.openxmlformats.org/officeDocument/2006/relationships/oleObject" Target="../embeddings/oleObject192.bin"/><Relationship Id="rId52" Type="http://schemas.openxmlformats.org/officeDocument/2006/relationships/oleObject" Target="../embeddings/oleObject200.bin"/><Relationship Id="rId60" Type="http://schemas.openxmlformats.org/officeDocument/2006/relationships/oleObject" Target="../embeddings/oleObject206.bin"/><Relationship Id="rId65" Type="http://schemas.openxmlformats.org/officeDocument/2006/relationships/image" Target="../media/image132.wmf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73.bin"/><Relationship Id="rId13" Type="http://schemas.openxmlformats.org/officeDocument/2006/relationships/oleObject" Target="../embeddings/oleObject175.bin"/><Relationship Id="rId18" Type="http://schemas.openxmlformats.org/officeDocument/2006/relationships/image" Target="../media/image114.wmf"/><Relationship Id="rId39" Type="http://schemas.openxmlformats.org/officeDocument/2006/relationships/oleObject" Target="../embeddings/oleObject188.bin"/><Relationship Id="rId34" Type="http://schemas.openxmlformats.org/officeDocument/2006/relationships/image" Target="../media/image117.wmf"/><Relationship Id="rId50" Type="http://schemas.openxmlformats.org/officeDocument/2006/relationships/oleObject" Target="../embeddings/oleObject198.bin"/><Relationship Id="rId55" Type="http://schemas.openxmlformats.org/officeDocument/2006/relationships/oleObject" Target="../embeddings/oleObject20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1109866" y="2625752"/>
            <a:ext cx="7239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4000" b="1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Review </a:t>
            </a:r>
            <a:r>
              <a:rPr lang="en-US" sz="4000" b="1" dirty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</a:p>
        </p:txBody>
      </p:sp>
      <p:sp>
        <p:nvSpPr>
          <p:cNvPr id="22531" name="Text Box 11"/>
          <p:cNvSpPr txBox="1">
            <a:spLocks noChangeArrowheads="1"/>
          </p:cNvSpPr>
          <p:nvPr/>
        </p:nvSpPr>
        <p:spPr bwMode="auto">
          <a:xfrm>
            <a:off x="1455761" y="395785"/>
            <a:ext cx="6324600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</a:pPr>
            <a:r>
              <a:rPr lang="en-US" sz="3600">
                <a:solidFill>
                  <a:srgbClr val="0000FF"/>
                </a:solidFill>
              </a:rPr>
              <a:t>ECE 3317</a:t>
            </a:r>
          </a:p>
        </p:txBody>
      </p:sp>
      <p:sp>
        <p:nvSpPr>
          <p:cNvPr id="22532" name="Text Box 25"/>
          <p:cNvSpPr txBox="1">
            <a:spLocks noChangeArrowheads="1"/>
          </p:cNvSpPr>
          <p:nvPr/>
        </p:nvSpPr>
        <p:spPr bwMode="auto">
          <a:xfrm>
            <a:off x="3532051" y="1147335"/>
            <a:ext cx="2136162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</a:pPr>
            <a:r>
              <a:rPr lang="en-US" sz="2400" dirty="0">
                <a:solidFill>
                  <a:srgbClr val="0000FF"/>
                </a:solidFill>
              </a:rPr>
              <a:t>Dr. </a:t>
            </a:r>
            <a:r>
              <a:rPr lang="en-US" sz="2400" dirty="0" err="1">
                <a:solidFill>
                  <a:srgbClr val="0000FF"/>
                </a:solidFill>
              </a:rPr>
              <a:t>Jiefu</a:t>
            </a:r>
            <a:r>
              <a:rPr lang="en-US" sz="2400" dirty="0">
                <a:solidFill>
                  <a:srgbClr val="0000FF"/>
                </a:solidFill>
              </a:rPr>
              <a:t> Chen</a:t>
            </a:r>
            <a:endParaRPr lang="en-US" sz="24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767583" y="0"/>
            <a:ext cx="7576042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What we have learnt so far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457" y="1023343"/>
            <a:ext cx="783381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Complex vectors and vector calculus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Time domain </a:t>
            </a:r>
            <a:r>
              <a:rPr lang="en-US" sz="2400" dirty="0">
                <a:sym typeface="Wingdings" panose="05000000000000000000" pitchFamily="2" charset="2"/>
              </a:rPr>
              <a:t>  </a:t>
            </a:r>
            <a:r>
              <a:rPr lang="en-US" sz="2400" dirty="0"/>
              <a:t>phasor domain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2400" dirty="0" err="1"/>
              <a:t>Poynting</a:t>
            </a:r>
            <a:r>
              <a:rPr lang="en-US" sz="2400" dirty="0"/>
              <a:t> theorem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Transmission line: pulse propagation (time domain)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Transmission line: Bounce diagram (time domain)</a:t>
            </a:r>
          </a:p>
        </p:txBody>
      </p:sp>
    </p:spTree>
    <p:extLst>
      <p:ext uri="{BB962C8B-B14F-4D97-AF65-F5344CB8AC3E}">
        <p14:creationId xmlns:p14="http://schemas.microsoft.com/office/powerpoint/2010/main" val="224434220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118269519"/>
              </p:ext>
            </p:extLst>
          </p:nvPr>
        </p:nvGraphicFramePr>
        <p:xfrm>
          <a:off x="2516188" y="845177"/>
          <a:ext cx="3821112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82680" imgH="228600" progId="Equation.DSMT4">
                  <p:embed/>
                </p:oleObj>
              </mc:Choice>
              <mc:Fallback>
                <p:oleObj name="Equation" r:id="rId3" imgW="128268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188" y="845177"/>
                        <a:ext cx="3821112" cy="681038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Text Box 4"/>
          <p:cNvSpPr txBox="1">
            <a:spLocks noChangeArrowheads="1"/>
          </p:cNvSpPr>
          <p:nvPr/>
        </p:nvSpPr>
        <p:spPr bwMode="auto">
          <a:xfrm>
            <a:off x="1632857" y="0"/>
            <a:ext cx="5456238" cy="457200"/>
          </a:xfrm>
          <a:prstGeom prst="rect">
            <a:avLst/>
          </a:prstGeom>
          <a:gradFill rotWithShape="1">
            <a:gsLst>
              <a:gs pos="0">
                <a:srgbClr val="250CB8"/>
              </a:gs>
              <a:gs pos="100000">
                <a:srgbClr val="0E0448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>
                <a:solidFill>
                  <a:srgbClr val="FFFF00"/>
                </a:solidFill>
                <a:cs typeface="Arial" charset="0"/>
              </a:rPr>
              <a:t>Time Domain </a:t>
            </a:r>
            <a:r>
              <a:rPr lang="en-US" sz="2400" b="1" dirty="0">
                <a:solidFill>
                  <a:srgbClr val="FFFF00"/>
                </a:solidFill>
                <a:cs typeface="Arial" charset="0"/>
                <a:sym typeface="Wingdings" panose="05000000000000000000" pitchFamily="2" charset="2"/>
              </a:rPr>
              <a:t> </a:t>
            </a:r>
            <a:r>
              <a:rPr lang="en-US" sz="2400" b="1" dirty="0">
                <a:solidFill>
                  <a:srgbClr val="FFFF00"/>
                </a:solidFill>
                <a:cs typeface="Arial" charset="0"/>
              </a:rPr>
              <a:t> Phasor Domain</a:t>
            </a:r>
          </a:p>
        </p:txBody>
      </p:sp>
      <p:graphicFrame>
        <p:nvGraphicFramePr>
          <p:cNvPr id="7171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2276959"/>
              </p:ext>
            </p:extLst>
          </p:nvPr>
        </p:nvGraphicFramePr>
        <p:xfrm>
          <a:off x="4441589" y="3647528"/>
          <a:ext cx="244792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47640" imgH="203040" progId="Equation.DSMT4">
                  <p:embed/>
                </p:oleObj>
              </mc:Choice>
              <mc:Fallback>
                <p:oleObj name="Equation" r:id="rId5" imgW="647640" imgH="20304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1589" y="3647528"/>
                        <a:ext cx="2447925" cy="5857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9498128"/>
              </p:ext>
            </p:extLst>
          </p:nvPr>
        </p:nvGraphicFramePr>
        <p:xfrm>
          <a:off x="1212278" y="2581237"/>
          <a:ext cx="3100388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31560" imgH="279360" progId="Equation.DSMT4">
                  <p:embed/>
                </p:oleObj>
              </mc:Choice>
              <mc:Fallback>
                <p:oleObj name="Equation" r:id="rId7" imgW="1231560" imgH="27936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278" y="2581237"/>
                        <a:ext cx="3100388" cy="703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27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761401897"/>
              </p:ext>
            </p:extLst>
          </p:nvPr>
        </p:nvGraphicFramePr>
        <p:xfrm>
          <a:off x="1274632" y="1806537"/>
          <a:ext cx="16891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98400" imgH="241200" progId="Equation.DSMT4">
                  <p:embed/>
                </p:oleObj>
              </mc:Choice>
              <mc:Fallback>
                <p:oleObj name="Equation" r:id="rId9" imgW="698400" imgH="2412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632" y="1806537"/>
                        <a:ext cx="168910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Text Box 28"/>
          <p:cNvSpPr txBox="1">
            <a:spLocks noChangeArrowheads="1"/>
          </p:cNvSpPr>
          <p:nvPr/>
        </p:nvSpPr>
        <p:spPr bwMode="auto">
          <a:xfrm>
            <a:off x="475217" y="3740367"/>
            <a:ext cx="377712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Time-domain </a:t>
            </a:r>
            <a:r>
              <a:rPr lang="en-US" sz="2000" dirty="0">
                <a:sym typeface="Symbol" pitchFamily="18" charset="2"/>
              </a:rPr>
              <a:t></a:t>
            </a:r>
            <a:r>
              <a:rPr lang="en-US" sz="2000" dirty="0"/>
              <a:t> Phasor domain</a:t>
            </a:r>
          </a:p>
        </p:txBody>
      </p:sp>
      <p:sp>
        <p:nvSpPr>
          <p:cNvPr id="7176" name="Text Box 29"/>
          <p:cNvSpPr txBox="1">
            <a:spLocks noChangeArrowheads="1"/>
          </p:cNvSpPr>
          <p:nvPr/>
        </p:nvSpPr>
        <p:spPr bwMode="auto">
          <a:xfrm>
            <a:off x="4265041" y="1887499"/>
            <a:ext cx="4413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going from time domain to phasor domain</a:t>
            </a:r>
          </a:p>
        </p:txBody>
      </p:sp>
      <p:sp>
        <p:nvSpPr>
          <p:cNvPr id="7177" name="Text Box 30"/>
          <p:cNvSpPr txBox="1">
            <a:spLocks noChangeArrowheads="1"/>
          </p:cNvSpPr>
          <p:nvPr/>
        </p:nvSpPr>
        <p:spPr bwMode="auto">
          <a:xfrm>
            <a:off x="4252341" y="2749512"/>
            <a:ext cx="4400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going from phasor domain to time domain</a:t>
            </a:r>
          </a:p>
        </p:txBody>
      </p:sp>
      <p:sp>
        <p:nvSpPr>
          <p:cNvPr id="7178" name="AutoShape 31"/>
          <p:cNvSpPr>
            <a:spLocks/>
          </p:cNvSpPr>
          <p:nvPr/>
        </p:nvSpPr>
        <p:spPr bwMode="auto">
          <a:xfrm>
            <a:off x="818578" y="1774787"/>
            <a:ext cx="368300" cy="1555750"/>
          </a:xfrm>
          <a:prstGeom prst="leftBrace">
            <a:avLst>
              <a:gd name="adj1" fmla="val 3520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graphicFrame>
        <p:nvGraphicFramePr>
          <p:cNvPr id="13" name="Object 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91426644"/>
              </p:ext>
            </p:extLst>
          </p:nvPr>
        </p:nvGraphicFramePr>
        <p:xfrm>
          <a:off x="777785" y="5152058"/>
          <a:ext cx="77946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682800" imgH="241200" progId="Equation.DSMT4">
                  <p:embed/>
                </p:oleObj>
              </mc:Choice>
              <mc:Fallback>
                <p:oleObj name="Equation" r:id="rId11" imgW="3682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785" y="5152058"/>
                        <a:ext cx="77946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008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3108235" y="5658472"/>
            <a:ext cx="255587" cy="436562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stealth" w="lg" len="med"/>
            <a:tailEnd type="stealth" w="lg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7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3831729"/>
              </p:ext>
            </p:extLst>
          </p:nvPr>
        </p:nvGraphicFramePr>
        <p:xfrm>
          <a:off x="2614237" y="6078699"/>
          <a:ext cx="4335462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55520" imgH="406080" progId="Equation.DSMT4">
                  <p:embed/>
                </p:oleObj>
              </mc:Choice>
              <mc:Fallback>
                <p:oleObj name="Equation" r:id="rId13" imgW="1955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237" y="6078699"/>
                        <a:ext cx="4335462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62557" y="4551843"/>
            <a:ext cx="15359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For vectors:</a:t>
            </a:r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>
            <a:off x="4921941" y="5658471"/>
            <a:ext cx="0" cy="433405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stealth" w="lg" len="med"/>
            <a:tailEnd type="stealth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" name="Line 14"/>
          <p:cNvSpPr>
            <a:spLocks noChangeShapeType="1"/>
          </p:cNvSpPr>
          <p:nvPr/>
        </p:nvSpPr>
        <p:spPr bwMode="auto">
          <a:xfrm flipH="1">
            <a:off x="6485313" y="5658472"/>
            <a:ext cx="434101" cy="43340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stealth" w="lg" len="med"/>
            <a:tailEnd type="stealth" w="lg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905000" y="0"/>
            <a:ext cx="5105400" cy="609600"/>
          </a:xfr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 dirty="0">
                <a:solidFill>
                  <a:srgbClr val="FFFF00"/>
                </a:solidFill>
              </a:rPr>
              <a:t>Maxwell’s Equations</a:t>
            </a:r>
          </a:p>
        </p:txBody>
      </p:sp>
      <p:graphicFrame>
        <p:nvGraphicFramePr>
          <p:cNvPr id="169992" name="Object 8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3505918"/>
              </p:ext>
            </p:extLst>
          </p:nvPr>
        </p:nvGraphicFramePr>
        <p:xfrm>
          <a:off x="411705" y="2117689"/>
          <a:ext cx="2625762" cy="3323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02960" imgH="1269720" progId="Equation.DSMT4">
                  <p:embed/>
                </p:oleObj>
              </mc:Choice>
              <mc:Fallback>
                <p:oleObj name="Equation" r:id="rId3" imgW="1002960" imgH="126972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705" y="2117689"/>
                        <a:ext cx="2625762" cy="33232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93" name="Text Box 9"/>
          <p:cNvSpPr txBox="1">
            <a:spLocks noChangeArrowheads="1"/>
          </p:cNvSpPr>
          <p:nvPr/>
        </p:nvSpPr>
        <p:spPr bwMode="auto">
          <a:xfrm>
            <a:off x="3361332" y="2429311"/>
            <a:ext cx="1752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 dirty="0">
                <a:solidFill>
                  <a:srgbClr val="0000CC"/>
                </a:solidFill>
              </a:rPr>
              <a:t>Faraday’s law</a:t>
            </a:r>
          </a:p>
        </p:txBody>
      </p:sp>
      <p:sp>
        <p:nvSpPr>
          <p:cNvPr id="169994" name="Text Box 10"/>
          <p:cNvSpPr txBox="1">
            <a:spLocks noChangeArrowheads="1"/>
          </p:cNvSpPr>
          <p:nvPr/>
        </p:nvSpPr>
        <p:spPr bwMode="auto">
          <a:xfrm>
            <a:off x="3355072" y="3396077"/>
            <a:ext cx="17097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 dirty="0">
                <a:solidFill>
                  <a:srgbClr val="0000CC"/>
                </a:solidFill>
              </a:rPr>
              <a:t>Ampere’s law</a:t>
            </a:r>
          </a:p>
        </p:txBody>
      </p:sp>
      <p:sp>
        <p:nvSpPr>
          <p:cNvPr id="169995" name="Text Box 11"/>
          <p:cNvSpPr txBox="1">
            <a:spLocks noChangeArrowheads="1"/>
          </p:cNvSpPr>
          <p:nvPr/>
        </p:nvSpPr>
        <p:spPr bwMode="auto">
          <a:xfrm>
            <a:off x="2894916" y="4327490"/>
            <a:ext cx="2470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 dirty="0">
                <a:solidFill>
                  <a:srgbClr val="0000CC"/>
                </a:solidFill>
              </a:rPr>
              <a:t>Magnetic Gauss law</a:t>
            </a:r>
          </a:p>
        </p:txBody>
      </p:sp>
      <p:sp>
        <p:nvSpPr>
          <p:cNvPr id="169996" name="Text Box 12"/>
          <p:cNvSpPr txBox="1">
            <a:spLocks noChangeArrowheads="1"/>
          </p:cNvSpPr>
          <p:nvPr/>
        </p:nvSpPr>
        <p:spPr bwMode="auto">
          <a:xfrm>
            <a:off x="2976804" y="4966659"/>
            <a:ext cx="2273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 dirty="0">
                <a:solidFill>
                  <a:srgbClr val="0000CC"/>
                </a:solidFill>
              </a:rPr>
              <a:t>Electric Gauss law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fld id="{E1FBE26A-17E6-45EC-8C11-32E94F417F70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2" name="Object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058775752"/>
              </p:ext>
            </p:extLst>
          </p:nvPr>
        </p:nvGraphicFramePr>
        <p:xfrm>
          <a:off x="5740063" y="2077903"/>
          <a:ext cx="5075237" cy="338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04760" imgH="1269720" progId="Equation.DSMT4">
                  <p:embed/>
                </p:oleObj>
              </mc:Choice>
              <mc:Fallback>
                <p:oleObj name="Equation" r:id="rId5" imgW="1904760" imgH="126972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0063" y="2077903"/>
                        <a:ext cx="5075237" cy="338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5943029" y="1583146"/>
            <a:ext cx="215155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 dirty="0">
                <a:solidFill>
                  <a:srgbClr val="FF0000"/>
                </a:solidFill>
              </a:rPr>
              <a:t>in phasor domain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786693" y="1583146"/>
            <a:ext cx="185178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 dirty="0">
                <a:solidFill>
                  <a:srgbClr val="FF0000"/>
                </a:solidFill>
              </a:rPr>
              <a:t>in time domain</a:t>
            </a:r>
          </a:p>
        </p:txBody>
      </p:sp>
    </p:spTree>
    <p:extLst>
      <p:ext uri="{BB962C8B-B14F-4D97-AF65-F5344CB8AC3E}">
        <p14:creationId xmlns:p14="http://schemas.microsoft.com/office/powerpoint/2010/main" val="394451436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1829046"/>
              </p:ext>
            </p:extLst>
          </p:nvPr>
        </p:nvGraphicFramePr>
        <p:xfrm>
          <a:off x="4190367" y="5172496"/>
          <a:ext cx="1877651" cy="819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1440" imgH="393480" progId="Equation.DSMT4">
                  <p:embed/>
                </p:oleObj>
              </mc:Choice>
              <mc:Fallback>
                <p:oleObj name="Equation" r:id="rId3" imgW="9014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0367" y="5172496"/>
                        <a:ext cx="1877651" cy="81912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082" name="Text Box 2"/>
          <p:cNvSpPr txBox="1">
            <a:spLocks noChangeArrowheads="1"/>
          </p:cNvSpPr>
          <p:nvPr/>
        </p:nvSpPr>
        <p:spPr bwMode="auto">
          <a:xfrm>
            <a:off x="1447800" y="0"/>
            <a:ext cx="6096000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3200" b="1" dirty="0" err="1">
                <a:solidFill>
                  <a:srgbClr val="FFFF00"/>
                </a:solidFill>
              </a:rPr>
              <a:t>Poynting</a:t>
            </a:r>
            <a:r>
              <a:rPr lang="en-US" sz="3200" b="1" dirty="0">
                <a:solidFill>
                  <a:srgbClr val="FFFF00"/>
                </a:solidFill>
              </a:rPr>
              <a:t> Theorem</a:t>
            </a:r>
          </a:p>
        </p:txBody>
      </p:sp>
      <p:graphicFrame>
        <p:nvGraphicFramePr>
          <p:cNvPr id="1740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148466"/>
              </p:ext>
            </p:extLst>
          </p:nvPr>
        </p:nvGraphicFramePr>
        <p:xfrm>
          <a:off x="203200" y="842728"/>
          <a:ext cx="86423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381200" imgH="457200" progId="Equation.DSMT4">
                  <p:embed/>
                </p:oleObj>
              </mc:Choice>
              <mc:Fallback>
                <p:oleObj name="Equation" r:id="rId5" imgW="43812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" y="842728"/>
                        <a:ext cx="864235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089" name="Text Box 9"/>
          <p:cNvSpPr txBox="1">
            <a:spLocks noChangeArrowheads="1"/>
          </p:cNvSpPr>
          <p:nvPr/>
        </p:nvSpPr>
        <p:spPr bwMode="auto">
          <a:xfrm>
            <a:off x="770510" y="2058625"/>
            <a:ext cx="41132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Power dissipation as heat (Joule's law)</a:t>
            </a:r>
          </a:p>
        </p:txBody>
      </p:sp>
      <p:sp>
        <p:nvSpPr>
          <p:cNvPr id="174090" name="Line 10"/>
          <p:cNvSpPr>
            <a:spLocks noChangeShapeType="1"/>
          </p:cNvSpPr>
          <p:nvPr/>
        </p:nvSpPr>
        <p:spPr bwMode="auto">
          <a:xfrm flipV="1">
            <a:off x="3048000" y="1563784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4091" name="Text Box 11"/>
          <p:cNvSpPr txBox="1">
            <a:spLocks noChangeArrowheads="1"/>
          </p:cNvSpPr>
          <p:nvPr/>
        </p:nvSpPr>
        <p:spPr bwMode="auto">
          <a:xfrm>
            <a:off x="2274640" y="2560056"/>
            <a:ext cx="4438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Rate of change of stored magnetic energy</a:t>
            </a:r>
          </a:p>
        </p:txBody>
      </p:sp>
      <p:sp>
        <p:nvSpPr>
          <p:cNvPr id="174092" name="Line 12"/>
          <p:cNvSpPr>
            <a:spLocks noChangeShapeType="1"/>
          </p:cNvSpPr>
          <p:nvPr/>
        </p:nvSpPr>
        <p:spPr bwMode="auto">
          <a:xfrm flipV="1">
            <a:off x="5029200" y="1757128"/>
            <a:ext cx="0" cy="7228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4093" name="Text Box 13"/>
          <p:cNvSpPr txBox="1">
            <a:spLocks noChangeArrowheads="1"/>
          </p:cNvSpPr>
          <p:nvPr/>
        </p:nvSpPr>
        <p:spPr bwMode="auto">
          <a:xfrm>
            <a:off x="4669824" y="3008152"/>
            <a:ext cx="4235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Rate of change of stored electric energy</a:t>
            </a:r>
          </a:p>
        </p:txBody>
      </p:sp>
      <p:sp>
        <p:nvSpPr>
          <p:cNvPr id="174094" name="Line 14"/>
          <p:cNvSpPr>
            <a:spLocks noChangeShapeType="1"/>
          </p:cNvSpPr>
          <p:nvPr/>
        </p:nvSpPr>
        <p:spPr bwMode="auto">
          <a:xfrm flipV="1">
            <a:off x="7162800" y="1833328"/>
            <a:ext cx="0" cy="1104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4095" name="Text Box 15"/>
          <p:cNvSpPr txBox="1">
            <a:spLocks noChangeArrowheads="1"/>
          </p:cNvSpPr>
          <p:nvPr/>
        </p:nvSpPr>
        <p:spPr bwMode="auto">
          <a:xfrm>
            <a:off x="176672" y="3251574"/>
            <a:ext cx="37465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power flowing into the region </a:t>
            </a:r>
            <a:r>
              <a:rPr lang="en-US" sz="2000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BA78BB-F3C5-40B0-9AA5-83B632CBF57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723335" y="1649394"/>
            <a:ext cx="0" cy="16337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1034876" y="3949590"/>
            <a:ext cx="375936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instantaneous </a:t>
            </a:r>
            <a:r>
              <a:rPr lang="en-US" sz="2000" dirty="0" err="1">
                <a:solidFill>
                  <a:srgbClr val="FF0000"/>
                </a:solidFill>
              </a:rPr>
              <a:t>Poynting</a:t>
            </a:r>
            <a:r>
              <a:rPr lang="en-US" sz="2000" dirty="0">
                <a:solidFill>
                  <a:srgbClr val="FF0000"/>
                </a:solidFill>
              </a:rPr>
              <a:t> vector: </a:t>
            </a:r>
          </a:p>
        </p:txBody>
      </p:sp>
      <p:graphicFrame>
        <p:nvGraphicFramePr>
          <p:cNvPr id="1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090665"/>
              </p:ext>
            </p:extLst>
          </p:nvPr>
        </p:nvGraphicFramePr>
        <p:xfrm>
          <a:off x="4698557" y="3888629"/>
          <a:ext cx="2695115" cy="50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43000" imgH="215640" progId="Equation.DSMT4">
                  <p:embed/>
                </p:oleObj>
              </mc:Choice>
              <mc:Fallback>
                <p:oleObj name="Equation" r:id="rId7" imgW="1143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8557" y="3888629"/>
                        <a:ext cx="2695115" cy="5082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9480106"/>
              </p:ext>
            </p:extLst>
          </p:nvPr>
        </p:nvGraphicFramePr>
        <p:xfrm>
          <a:off x="5938426" y="4532004"/>
          <a:ext cx="1728788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76240" imgH="380880" progId="Equation.DSMT4">
                  <p:embed/>
                </p:oleObj>
              </mc:Choice>
              <mc:Fallback>
                <p:oleObj name="Equation" r:id="rId9" imgW="8762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8426" y="4532004"/>
                        <a:ext cx="1728788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614160" y="4582997"/>
            <a:ext cx="535435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instantaneous power flowing out of the region</a:t>
            </a:r>
          </a:p>
        </p:txBody>
      </p:sp>
      <p:sp>
        <p:nvSpPr>
          <p:cNvPr id="20" name="Text Box 14"/>
          <p:cNvSpPr txBox="1">
            <a:spLocks noChangeArrowheads="1"/>
          </p:cNvSpPr>
          <p:nvPr/>
        </p:nvSpPr>
        <p:spPr bwMode="auto">
          <a:xfrm>
            <a:off x="1023500" y="5398550"/>
            <a:ext cx="311816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complex </a:t>
            </a:r>
            <a:r>
              <a:rPr lang="en-US" sz="2000" dirty="0" err="1">
                <a:solidFill>
                  <a:srgbClr val="FF0000"/>
                </a:solidFill>
              </a:rPr>
              <a:t>Poynting</a:t>
            </a:r>
            <a:r>
              <a:rPr lang="en-US" sz="2000" dirty="0">
                <a:solidFill>
                  <a:srgbClr val="FF0000"/>
                </a:solidFill>
              </a:rPr>
              <a:t> vector: </a:t>
            </a:r>
          </a:p>
        </p:txBody>
      </p:sp>
      <p:graphicFrame>
        <p:nvGraphicFramePr>
          <p:cNvPr id="2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7387399"/>
              </p:ext>
            </p:extLst>
          </p:nvPr>
        </p:nvGraphicFramePr>
        <p:xfrm>
          <a:off x="5803592" y="6118225"/>
          <a:ext cx="1978025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02960" imgH="380880" progId="Equation.DSMT4">
                  <p:embed/>
                </p:oleObj>
              </mc:Choice>
              <mc:Fallback>
                <p:oleObj name="Equation" r:id="rId11" imgW="10029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592" y="6118225"/>
                        <a:ext cx="1978025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4"/>
          <p:cNvSpPr txBox="1">
            <a:spLocks noChangeArrowheads="1"/>
          </p:cNvSpPr>
          <p:nvPr/>
        </p:nvSpPr>
        <p:spPr bwMode="auto">
          <a:xfrm>
            <a:off x="575488" y="6182085"/>
            <a:ext cx="52405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time-average power flowing out of the region</a:t>
            </a:r>
          </a:p>
        </p:txBody>
      </p:sp>
    </p:spTree>
    <p:extLst>
      <p:ext uri="{BB962C8B-B14F-4D97-AF65-F5344CB8AC3E}">
        <p14:creationId xmlns:p14="http://schemas.microsoft.com/office/powerpoint/2010/main" val="19827712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20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1083015" y="0"/>
            <a:ext cx="7187520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Circuit Model of Transmission Line</a:t>
            </a: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487604" y="3172683"/>
            <a:ext cx="1736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Circuit Model:</a:t>
            </a:r>
          </a:p>
        </p:txBody>
      </p:sp>
      <p:sp>
        <p:nvSpPr>
          <p:cNvPr id="3079" name="Slide Number Placeholder 6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F25C420-EB92-4205-86C6-5AAA81479B86}" type="slidenum">
              <a:rPr lang="en-US"/>
              <a:pPr/>
              <a:t>6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354923" y="3761707"/>
            <a:ext cx="6082808" cy="2711855"/>
            <a:chOff x="354923" y="3952779"/>
            <a:chExt cx="6082808" cy="2711855"/>
          </a:xfrm>
        </p:grpSpPr>
        <p:sp>
          <p:nvSpPr>
            <p:cNvPr id="3078" name="Text Box 121"/>
            <p:cNvSpPr txBox="1">
              <a:spLocks noChangeArrowheads="1"/>
            </p:cNvSpPr>
            <p:nvPr/>
          </p:nvSpPr>
          <p:spPr bwMode="auto">
            <a:xfrm>
              <a:off x="2659889" y="6085196"/>
              <a:ext cx="592137" cy="579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3200" dirty="0" err="1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r>
                <a:rPr lang="en-US" sz="3200" i="1" dirty="0" err="1">
                  <a:solidFill>
                    <a:srgbClr val="000000"/>
                  </a:solidFill>
                  <a:latin typeface="Times New Roman" pitchFamily="18" charset="0"/>
                </a:rPr>
                <a:t>z</a:t>
              </a:r>
              <a:endParaRPr lang="en-US" sz="3200" i="1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086" name="Arc 66"/>
            <p:cNvSpPr>
              <a:spLocks/>
            </p:cNvSpPr>
            <p:nvPr/>
          </p:nvSpPr>
          <p:spPr bwMode="auto">
            <a:xfrm>
              <a:off x="2816967" y="4312220"/>
              <a:ext cx="150814" cy="314197"/>
            </a:xfrm>
            <a:custGeom>
              <a:avLst/>
              <a:gdLst>
                <a:gd name="T0" fmla="*/ 120 w 43198"/>
                <a:gd name="T1" fmla="*/ 104 h 36493"/>
                <a:gd name="T2" fmla="*/ 17 w 43198"/>
                <a:gd name="T3" fmla="*/ 0 h 36493"/>
                <a:gd name="T4" fmla="*/ 60 w 43198"/>
                <a:gd name="T5" fmla="*/ 102 h 36493"/>
                <a:gd name="T6" fmla="*/ 0 60000 65536"/>
                <a:gd name="T7" fmla="*/ 0 60000 65536"/>
                <a:gd name="T8" fmla="*/ 0 60000 65536"/>
                <a:gd name="T9" fmla="*/ 0 w 43198"/>
                <a:gd name="T10" fmla="*/ 0 h 36493"/>
                <a:gd name="T11" fmla="*/ 43198 w 43198"/>
                <a:gd name="T12" fmla="*/ 36493 h 364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98" h="36493" fill="none" extrusionOk="0">
                  <a:moveTo>
                    <a:pt x="43198" y="15171"/>
                  </a:moveTo>
                  <a:cubicBezTo>
                    <a:pt x="43046" y="26990"/>
                    <a:pt x="33420" y="36492"/>
                    <a:pt x="21600" y="36493"/>
                  </a:cubicBezTo>
                  <a:cubicBezTo>
                    <a:pt x="9670" y="36493"/>
                    <a:pt x="0" y="26822"/>
                    <a:pt x="0" y="14893"/>
                  </a:cubicBezTo>
                  <a:cubicBezTo>
                    <a:pt x="-1" y="9348"/>
                    <a:pt x="2132" y="4016"/>
                    <a:pt x="5955" y="0"/>
                  </a:cubicBezTo>
                </a:path>
                <a:path w="43198" h="36493" stroke="0" extrusionOk="0">
                  <a:moveTo>
                    <a:pt x="43198" y="15171"/>
                  </a:moveTo>
                  <a:cubicBezTo>
                    <a:pt x="43046" y="26990"/>
                    <a:pt x="33420" y="36492"/>
                    <a:pt x="21600" y="36493"/>
                  </a:cubicBezTo>
                  <a:cubicBezTo>
                    <a:pt x="9670" y="36493"/>
                    <a:pt x="0" y="26822"/>
                    <a:pt x="0" y="14893"/>
                  </a:cubicBezTo>
                  <a:cubicBezTo>
                    <a:pt x="-1" y="9348"/>
                    <a:pt x="2132" y="4016"/>
                    <a:pt x="5955" y="0"/>
                  </a:cubicBezTo>
                  <a:lnTo>
                    <a:pt x="21600" y="14893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7" name="Arc 67"/>
            <p:cNvSpPr>
              <a:spLocks/>
            </p:cNvSpPr>
            <p:nvPr/>
          </p:nvSpPr>
          <p:spPr bwMode="auto">
            <a:xfrm>
              <a:off x="2715167" y="4307193"/>
              <a:ext cx="152071" cy="335562"/>
            </a:xfrm>
            <a:custGeom>
              <a:avLst/>
              <a:gdLst>
                <a:gd name="T0" fmla="*/ 95 w 43200"/>
                <a:gd name="T1" fmla="*/ 0 h 39465"/>
                <a:gd name="T2" fmla="*/ 21 w 43200"/>
                <a:gd name="T3" fmla="*/ 9 h 39465"/>
                <a:gd name="T4" fmla="*/ 61 w 43200"/>
                <a:gd name="T5" fmla="*/ 121 h 39465"/>
                <a:gd name="T6" fmla="*/ 0 60000 65536"/>
                <a:gd name="T7" fmla="*/ 0 60000 65536"/>
                <a:gd name="T8" fmla="*/ 0 60000 65536"/>
                <a:gd name="T9" fmla="*/ 0 w 43200"/>
                <a:gd name="T10" fmla="*/ 0 h 39465"/>
                <a:gd name="T11" fmla="*/ 43200 w 43200"/>
                <a:gd name="T12" fmla="*/ 39465 h 394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9465" fill="none" extrusionOk="0">
                  <a:moveTo>
                    <a:pt x="33740" y="0"/>
                  </a:moveTo>
                  <a:cubicBezTo>
                    <a:pt x="39657" y="4021"/>
                    <a:pt x="43200" y="10711"/>
                    <a:pt x="43200" y="17865"/>
                  </a:cubicBezTo>
                  <a:cubicBezTo>
                    <a:pt x="43200" y="29794"/>
                    <a:pt x="33529" y="39465"/>
                    <a:pt x="21600" y="39465"/>
                  </a:cubicBezTo>
                  <a:cubicBezTo>
                    <a:pt x="9670" y="39465"/>
                    <a:pt x="0" y="29794"/>
                    <a:pt x="0" y="17865"/>
                  </a:cubicBezTo>
                  <a:cubicBezTo>
                    <a:pt x="-1" y="11513"/>
                    <a:pt x="2795" y="5483"/>
                    <a:pt x="7643" y="1378"/>
                  </a:cubicBezTo>
                </a:path>
                <a:path w="43200" h="39465" stroke="0" extrusionOk="0">
                  <a:moveTo>
                    <a:pt x="33740" y="0"/>
                  </a:moveTo>
                  <a:cubicBezTo>
                    <a:pt x="39657" y="4021"/>
                    <a:pt x="43200" y="10711"/>
                    <a:pt x="43200" y="17865"/>
                  </a:cubicBezTo>
                  <a:cubicBezTo>
                    <a:pt x="43200" y="29794"/>
                    <a:pt x="33529" y="39465"/>
                    <a:pt x="21600" y="39465"/>
                  </a:cubicBezTo>
                  <a:cubicBezTo>
                    <a:pt x="9670" y="39465"/>
                    <a:pt x="0" y="29794"/>
                    <a:pt x="0" y="17865"/>
                  </a:cubicBezTo>
                  <a:cubicBezTo>
                    <a:pt x="-1" y="11513"/>
                    <a:pt x="2795" y="5483"/>
                    <a:pt x="7643" y="1378"/>
                  </a:cubicBezTo>
                  <a:lnTo>
                    <a:pt x="21600" y="17865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8" name="Arc 68"/>
            <p:cNvSpPr>
              <a:spLocks/>
            </p:cNvSpPr>
            <p:nvPr/>
          </p:nvSpPr>
          <p:spPr bwMode="auto">
            <a:xfrm>
              <a:off x="2618395" y="4321017"/>
              <a:ext cx="150814" cy="321737"/>
            </a:xfrm>
            <a:custGeom>
              <a:avLst/>
              <a:gdLst>
                <a:gd name="T0" fmla="*/ 101 w 43200"/>
                <a:gd name="T1" fmla="*/ 0 h 37507"/>
                <a:gd name="T2" fmla="*/ 18 w 43200"/>
                <a:gd name="T3" fmla="*/ 3 h 37507"/>
                <a:gd name="T4" fmla="*/ 60 w 43200"/>
                <a:gd name="T5" fmla="*/ 109 h 375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37507"/>
                <a:gd name="T11" fmla="*/ 43200 w 43200"/>
                <a:gd name="T12" fmla="*/ 37507 h 375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7507" fill="none" extrusionOk="0">
                  <a:moveTo>
                    <a:pt x="36212" y="-1"/>
                  </a:moveTo>
                  <a:cubicBezTo>
                    <a:pt x="40665" y="4090"/>
                    <a:pt x="43200" y="9860"/>
                    <a:pt x="43200" y="15907"/>
                  </a:cubicBezTo>
                  <a:cubicBezTo>
                    <a:pt x="43200" y="27836"/>
                    <a:pt x="33529" y="37507"/>
                    <a:pt x="21600" y="37507"/>
                  </a:cubicBezTo>
                  <a:cubicBezTo>
                    <a:pt x="9670" y="37507"/>
                    <a:pt x="0" y="27836"/>
                    <a:pt x="0" y="15907"/>
                  </a:cubicBezTo>
                  <a:cubicBezTo>
                    <a:pt x="-1" y="10106"/>
                    <a:pt x="2332" y="4550"/>
                    <a:pt x="6473" y="488"/>
                  </a:cubicBezTo>
                </a:path>
                <a:path w="43200" h="37507" stroke="0" extrusionOk="0">
                  <a:moveTo>
                    <a:pt x="36212" y="-1"/>
                  </a:moveTo>
                  <a:cubicBezTo>
                    <a:pt x="40665" y="4090"/>
                    <a:pt x="43200" y="9860"/>
                    <a:pt x="43200" y="15907"/>
                  </a:cubicBezTo>
                  <a:cubicBezTo>
                    <a:pt x="43200" y="27836"/>
                    <a:pt x="33529" y="37507"/>
                    <a:pt x="21600" y="37507"/>
                  </a:cubicBezTo>
                  <a:cubicBezTo>
                    <a:pt x="9670" y="37507"/>
                    <a:pt x="0" y="27836"/>
                    <a:pt x="0" y="15907"/>
                  </a:cubicBezTo>
                  <a:cubicBezTo>
                    <a:pt x="-1" y="10106"/>
                    <a:pt x="2332" y="4550"/>
                    <a:pt x="6473" y="488"/>
                  </a:cubicBezTo>
                  <a:lnTo>
                    <a:pt x="21600" y="15907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9" name="Arc 69"/>
            <p:cNvSpPr>
              <a:spLocks/>
            </p:cNvSpPr>
            <p:nvPr/>
          </p:nvSpPr>
          <p:spPr bwMode="auto">
            <a:xfrm>
              <a:off x="2511568" y="4324788"/>
              <a:ext cx="152071" cy="320481"/>
            </a:xfrm>
            <a:custGeom>
              <a:avLst/>
              <a:gdLst>
                <a:gd name="T0" fmla="*/ 103 w 43200"/>
                <a:gd name="T1" fmla="*/ 3 h 37395"/>
                <a:gd name="T2" fmla="*/ 19 w 43200"/>
                <a:gd name="T3" fmla="*/ 0 h 37395"/>
                <a:gd name="T4" fmla="*/ 61 w 43200"/>
                <a:gd name="T5" fmla="*/ 108 h 37395"/>
                <a:gd name="T6" fmla="*/ 0 60000 65536"/>
                <a:gd name="T7" fmla="*/ 0 60000 65536"/>
                <a:gd name="T8" fmla="*/ 0 60000 65536"/>
                <a:gd name="T9" fmla="*/ 0 w 43200"/>
                <a:gd name="T10" fmla="*/ 0 h 37395"/>
                <a:gd name="T11" fmla="*/ 43200 w 43200"/>
                <a:gd name="T12" fmla="*/ 37395 h 373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7395" fill="none" extrusionOk="0">
                  <a:moveTo>
                    <a:pt x="36720" y="369"/>
                  </a:moveTo>
                  <a:cubicBezTo>
                    <a:pt x="40864" y="4432"/>
                    <a:pt x="43200" y="9991"/>
                    <a:pt x="43200" y="15795"/>
                  </a:cubicBezTo>
                  <a:cubicBezTo>
                    <a:pt x="43200" y="27724"/>
                    <a:pt x="33529" y="37395"/>
                    <a:pt x="21600" y="37395"/>
                  </a:cubicBezTo>
                  <a:cubicBezTo>
                    <a:pt x="9670" y="37395"/>
                    <a:pt x="0" y="27724"/>
                    <a:pt x="0" y="15795"/>
                  </a:cubicBezTo>
                  <a:cubicBezTo>
                    <a:pt x="-1" y="9805"/>
                    <a:pt x="2486" y="4085"/>
                    <a:pt x="6866" y="0"/>
                  </a:cubicBezTo>
                </a:path>
                <a:path w="43200" h="37395" stroke="0" extrusionOk="0">
                  <a:moveTo>
                    <a:pt x="36720" y="369"/>
                  </a:moveTo>
                  <a:cubicBezTo>
                    <a:pt x="40864" y="4432"/>
                    <a:pt x="43200" y="9991"/>
                    <a:pt x="43200" y="15795"/>
                  </a:cubicBezTo>
                  <a:cubicBezTo>
                    <a:pt x="43200" y="27724"/>
                    <a:pt x="33529" y="37395"/>
                    <a:pt x="21600" y="37395"/>
                  </a:cubicBezTo>
                  <a:cubicBezTo>
                    <a:pt x="9670" y="37395"/>
                    <a:pt x="0" y="27724"/>
                    <a:pt x="0" y="15795"/>
                  </a:cubicBezTo>
                  <a:cubicBezTo>
                    <a:pt x="-1" y="9805"/>
                    <a:pt x="2486" y="4085"/>
                    <a:pt x="6866" y="0"/>
                  </a:cubicBezTo>
                  <a:lnTo>
                    <a:pt x="21600" y="15795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0" name="Arc 70"/>
            <p:cNvSpPr>
              <a:spLocks/>
            </p:cNvSpPr>
            <p:nvPr/>
          </p:nvSpPr>
          <p:spPr bwMode="auto">
            <a:xfrm>
              <a:off x="2408512" y="4328558"/>
              <a:ext cx="150814" cy="326764"/>
            </a:xfrm>
            <a:custGeom>
              <a:avLst/>
              <a:gdLst>
                <a:gd name="T0" fmla="*/ 99 w 43198"/>
                <a:gd name="T1" fmla="*/ 0 h 37968"/>
                <a:gd name="T2" fmla="*/ 0 w 43198"/>
                <a:gd name="T3" fmla="*/ 114 h 37968"/>
                <a:gd name="T4" fmla="*/ 60 w 43198"/>
                <a:gd name="T5" fmla="*/ 112 h 37968"/>
                <a:gd name="T6" fmla="*/ 0 60000 65536"/>
                <a:gd name="T7" fmla="*/ 0 60000 65536"/>
                <a:gd name="T8" fmla="*/ 0 60000 65536"/>
                <a:gd name="T9" fmla="*/ 0 w 43198"/>
                <a:gd name="T10" fmla="*/ 0 h 37968"/>
                <a:gd name="T11" fmla="*/ 43198 w 43198"/>
                <a:gd name="T12" fmla="*/ 37968 h 379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98" h="37968" fill="none" extrusionOk="0">
                  <a:moveTo>
                    <a:pt x="35692" y="-1"/>
                  </a:moveTo>
                  <a:cubicBezTo>
                    <a:pt x="40457" y="4103"/>
                    <a:pt x="43198" y="10079"/>
                    <a:pt x="43198" y="16368"/>
                  </a:cubicBezTo>
                  <a:cubicBezTo>
                    <a:pt x="43198" y="28297"/>
                    <a:pt x="33527" y="37968"/>
                    <a:pt x="21598" y="37968"/>
                  </a:cubicBezTo>
                  <a:cubicBezTo>
                    <a:pt x="9794" y="37968"/>
                    <a:pt x="176" y="28492"/>
                    <a:pt x="0" y="16689"/>
                  </a:cubicBezTo>
                </a:path>
                <a:path w="43198" h="37968" stroke="0" extrusionOk="0">
                  <a:moveTo>
                    <a:pt x="35692" y="-1"/>
                  </a:moveTo>
                  <a:cubicBezTo>
                    <a:pt x="40457" y="4103"/>
                    <a:pt x="43198" y="10079"/>
                    <a:pt x="43198" y="16368"/>
                  </a:cubicBezTo>
                  <a:cubicBezTo>
                    <a:pt x="43198" y="28297"/>
                    <a:pt x="33527" y="37968"/>
                    <a:pt x="21598" y="37968"/>
                  </a:cubicBezTo>
                  <a:cubicBezTo>
                    <a:pt x="9794" y="37968"/>
                    <a:pt x="176" y="28492"/>
                    <a:pt x="0" y="16689"/>
                  </a:cubicBezTo>
                  <a:lnTo>
                    <a:pt x="21598" y="16368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1" name="Line 71"/>
            <p:cNvSpPr>
              <a:spLocks noChangeShapeType="1"/>
            </p:cNvSpPr>
            <p:nvPr/>
          </p:nvSpPr>
          <p:spPr bwMode="auto">
            <a:xfrm>
              <a:off x="2967781" y="4450466"/>
              <a:ext cx="228358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92" name="Line 72"/>
            <p:cNvSpPr>
              <a:spLocks noChangeShapeType="1"/>
            </p:cNvSpPr>
            <p:nvPr/>
          </p:nvSpPr>
          <p:spPr bwMode="auto">
            <a:xfrm>
              <a:off x="420276" y="4494454"/>
              <a:ext cx="47883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93" name="Oval 73"/>
            <p:cNvSpPr>
              <a:spLocks noChangeArrowheads="1"/>
            </p:cNvSpPr>
            <p:nvPr/>
          </p:nvSpPr>
          <p:spPr bwMode="auto">
            <a:xfrm>
              <a:off x="372518" y="4465548"/>
              <a:ext cx="47758" cy="6032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4" name="Line 74"/>
            <p:cNvSpPr>
              <a:spLocks noChangeShapeType="1"/>
            </p:cNvSpPr>
            <p:nvPr/>
          </p:nvSpPr>
          <p:spPr bwMode="auto">
            <a:xfrm flipV="1">
              <a:off x="894084" y="4356207"/>
              <a:ext cx="52785" cy="1357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95" name="Line 75"/>
            <p:cNvSpPr>
              <a:spLocks noChangeShapeType="1"/>
            </p:cNvSpPr>
            <p:nvPr/>
          </p:nvSpPr>
          <p:spPr bwMode="auto">
            <a:xfrm flipV="1">
              <a:off x="980803" y="4359978"/>
              <a:ext cx="82948" cy="2375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96" name="Line 76"/>
            <p:cNvSpPr>
              <a:spLocks noChangeShapeType="1"/>
            </p:cNvSpPr>
            <p:nvPr/>
          </p:nvSpPr>
          <p:spPr bwMode="auto">
            <a:xfrm flipV="1">
              <a:off x="1101454" y="4359978"/>
              <a:ext cx="82948" cy="2375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97" name="Line 77"/>
            <p:cNvSpPr>
              <a:spLocks noChangeShapeType="1"/>
            </p:cNvSpPr>
            <p:nvPr/>
          </p:nvSpPr>
          <p:spPr bwMode="auto">
            <a:xfrm flipV="1">
              <a:off x="1227133" y="4359978"/>
              <a:ext cx="77921" cy="2237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98" name="Line 78"/>
            <p:cNvSpPr>
              <a:spLocks noChangeShapeType="1"/>
            </p:cNvSpPr>
            <p:nvPr/>
          </p:nvSpPr>
          <p:spPr bwMode="auto">
            <a:xfrm flipV="1">
              <a:off x="1346527" y="4352437"/>
              <a:ext cx="79178" cy="2299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99" name="Line 79"/>
            <p:cNvSpPr>
              <a:spLocks noChangeShapeType="1"/>
            </p:cNvSpPr>
            <p:nvPr/>
          </p:nvSpPr>
          <p:spPr bwMode="auto">
            <a:xfrm flipH="1" flipV="1">
              <a:off x="1420678" y="4357464"/>
              <a:ext cx="35190" cy="11688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00" name="Line 80"/>
            <p:cNvSpPr>
              <a:spLocks noChangeShapeType="1"/>
            </p:cNvSpPr>
            <p:nvPr/>
          </p:nvSpPr>
          <p:spPr bwMode="auto">
            <a:xfrm rot="19163305" flipV="1">
              <a:off x="1021020" y="4382600"/>
              <a:ext cx="120651" cy="2048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01" name="Line 81"/>
            <p:cNvSpPr>
              <a:spLocks noChangeShapeType="1"/>
            </p:cNvSpPr>
            <p:nvPr/>
          </p:nvSpPr>
          <p:spPr bwMode="auto">
            <a:xfrm rot="19163305" flipV="1">
              <a:off x="1145441" y="4367519"/>
              <a:ext cx="120651" cy="2048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02" name="Line 82"/>
            <p:cNvSpPr>
              <a:spLocks noChangeShapeType="1"/>
            </p:cNvSpPr>
            <p:nvPr/>
          </p:nvSpPr>
          <p:spPr bwMode="auto">
            <a:xfrm rot="19163305" flipV="1">
              <a:off x="1266093" y="4363748"/>
              <a:ext cx="120651" cy="2048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03" name="Line 83"/>
            <p:cNvSpPr>
              <a:spLocks noChangeShapeType="1"/>
            </p:cNvSpPr>
            <p:nvPr/>
          </p:nvSpPr>
          <p:spPr bwMode="auto">
            <a:xfrm rot="19163305" flipV="1">
              <a:off x="904139" y="4367519"/>
              <a:ext cx="120651" cy="2048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04" name="Line 84"/>
            <p:cNvSpPr>
              <a:spLocks noChangeShapeType="1"/>
            </p:cNvSpPr>
            <p:nvPr/>
          </p:nvSpPr>
          <p:spPr bwMode="auto">
            <a:xfrm rot="5366684">
              <a:off x="3269410" y="5752497"/>
              <a:ext cx="47883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05" name="Line 85"/>
            <p:cNvSpPr>
              <a:spLocks noChangeShapeType="1"/>
            </p:cNvSpPr>
            <p:nvPr/>
          </p:nvSpPr>
          <p:spPr bwMode="auto">
            <a:xfrm rot="5366684">
              <a:off x="3226679" y="4703080"/>
              <a:ext cx="506485" cy="50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06" name="Line 86"/>
            <p:cNvSpPr>
              <a:spLocks noChangeShapeType="1"/>
            </p:cNvSpPr>
            <p:nvPr/>
          </p:nvSpPr>
          <p:spPr bwMode="auto">
            <a:xfrm rot="5366684" flipV="1">
              <a:off x="3525794" y="4912964"/>
              <a:ext cx="52785" cy="1357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07" name="Line 87"/>
            <p:cNvSpPr>
              <a:spLocks noChangeShapeType="1"/>
            </p:cNvSpPr>
            <p:nvPr/>
          </p:nvSpPr>
          <p:spPr bwMode="auto">
            <a:xfrm rot="5366684" flipV="1">
              <a:off x="3456671" y="4964492"/>
              <a:ext cx="82948" cy="2375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08" name="Line 88"/>
            <p:cNvSpPr>
              <a:spLocks noChangeShapeType="1"/>
            </p:cNvSpPr>
            <p:nvPr/>
          </p:nvSpPr>
          <p:spPr bwMode="auto">
            <a:xfrm rot="5366684" flipV="1">
              <a:off x="3456671" y="5085144"/>
              <a:ext cx="82948" cy="2375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09" name="Line 89"/>
            <p:cNvSpPr>
              <a:spLocks noChangeShapeType="1"/>
            </p:cNvSpPr>
            <p:nvPr/>
          </p:nvSpPr>
          <p:spPr bwMode="auto">
            <a:xfrm rot="5366684" flipV="1">
              <a:off x="3457928" y="5205795"/>
              <a:ext cx="82948" cy="2375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10" name="Line 90"/>
            <p:cNvSpPr>
              <a:spLocks noChangeShapeType="1"/>
            </p:cNvSpPr>
            <p:nvPr/>
          </p:nvSpPr>
          <p:spPr bwMode="auto">
            <a:xfrm rot="5366684" flipV="1">
              <a:off x="3466725" y="5325190"/>
              <a:ext cx="82948" cy="2375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11" name="Line 91"/>
            <p:cNvSpPr>
              <a:spLocks noChangeShapeType="1"/>
            </p:cNvSpPr>
            <p:nvPr/>
          </p:nvSpPr>
          <p:spPr bwMode="auto">
            <a:xfrm rot="5366684" flipH="1" flipV="1">
              <a:off x="3548417" y="5442071"/>
              <a:ext cx="27649" cy="1143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12" name="Line 92"/>
            <p:cNvSpPr>
              <a:spLocks noChangeShapeType="1"/>
            </p:cNvSpPr>
            <p:nvPr/>
          </p:nvSpPr>
          <p:spPr bwMode="auto">
            <a:xfrm rot="2929989" flipV="1">
              <a:off x="3431535" y="5039899"/>
              <a:ext cx="120651" cy="2048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13" name="Line 93"/>
            <p:cNvSpPr>
              <a:spLocks noChangeShapeType="1"/>
            </p:cNvSpPr>
            <p:nvPr/>
          </p:nvSpPr>
          <p:spPr bwMode="auto">
            <a:xfrm rot="2929989" flipV="1">
              <a:off x="3447874" y="5163064"/>
              <a:ext cx="120651" cy="2048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14" name="Line 94"/>
            <p:cNvSpPr>
              <a:spLocks noChangeShapeType="1"/>
            </p:cNvSpPr>
            <p:nvPr/>
          </p:nvSpPr>
          <p:spPr bwMode="auto">
            <a:xfrm rot="2929989" flipV="1">
              <a:off x="3452901" y="5283716"/>
              <a:ext cx="120651" cy="2048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15" name="Line 95"/>
            <p:cNvSpPr>
              <a:spLocks noChangeShapeType="1"/>
            </p:cNvSpPr>
            <p:nvPr/>
          </p:nvSpPr>
          <p:spPr bwMode="auto">
            <a:xfrm rot="2929989" flipV="1">
              <a:off x="3445360" y="4921761"/>
              <a:ext cx="120651" cy="2048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16" name="Line 96"/>
            <p:cNvSpPr>
              <a:spLocks noChangeShapeType="1"/>
            </p:cNvSpPr>
            <p:nvPr/>
          </p:nvSpPr>
          <p:spPr bwMode="auto">
            <a:xfrm rot="5366684">
              <a:off x="3576066" y="5616764"/>
              <a:ext cx="732706" cy="377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17" name="Line 97"/>
            <p:cNvSpPr>
              <a:spLocks noChangeShapeType="1"/>
            </p:cNvSpPr>
            <p:nvPr/>
          </p:nvSpPr>
          <p:spPr bwMode="auto">
            <a:xfrm rot="5366684">
              <a:off x="3588634" y="4802367"/>
              <a:ext cx="710084" cy="50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18" name="Line 98"/>
            <p:cNvSpPr>
              <a:spLocks noChangeShapeType="1"/>
            </p:cNvSpPr>
            <p:nvPr/>
          </p:nvSpPr>
          <p:spPr bwMode="auto">
            <a:xfrm rot="5366684" flipV="1">
              <a:off x="3953102" y="4978317"/>
              <a:ext cx="3770" cy="37829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19" name="Line 99"/>
            <p:cNvSpPr>
              <a:spLocks noChangeShapeType="1"/>
            </p:cNvSpPr>
            <p:nvPr/>
          </p:nvSpPr>
          <p:spPr bwMode="auto">
            <a:xfrm rot="5366684" flipV="1">
              <a:off x="3950588" y="5066292"/>
              <a:ext cx="3770" cy="37829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20" name="Line 100"/>
            <p:cNvSpPr>
              <a:spLocks noChangeShapeType="1"/>
            </p:cNvSpPr>
            <p:nvPr/>
          </p:nvSpPr>
          <p:spPr bwMode="auto">
            <a:xfrm>
              <a:off x="402681" y="5983746"/>
              <a:ext cx="495676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21" name="Oval 101"/>
            <p:cNvSpPr>
              <a:spLocks noChangeArrowheads="1"/>
            </p:cNvSpPr>
            <p:nvPr/>
          </p:nvSpPr>
          <p:spPr bwMode="auto">
            <a:xfrm>
              <a:off x="354923" y="5954840"/>
              <a:ext cx="47758" cy="6032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2" name="Oval 102"/>
            <p:cNvSpPr>
              <a:spLocks noChangeArrowheads="1"/>
            </p:cNvSpPr>
            <p:nvPr/>
          </p:nvSpPr>
          <p:spPr bwMode="auto">
            <a:xfrm>
              <a:off x="5262673" y="4416533"/>
              <a:ext cx="47758" cy="6032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" name="Oval 103"/>
            <p:cNvSpPr>
              <a:spLocks noChangeArrowheads="1"/>
            </p:cNvSpPr>
            <p:nvPr/>
          </p:nvSpPr>
          <p:spPr bwMode="auto">
            <a:xfrm>
              <a:off x="5359445" y="5957353"/>
              <a:ext cx="47758" cy="6032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4" name="Line 104"/>
            <p:cNvSpPr>
              <a:spLocks noChangeShapeType="1"/>
            </p:cNvSpPr>
            <p:nvPr/>
          </p:nvSpPr>
          <p:spPr bwMode="auto">
            <a:xfrm>
              <a:off x="1455868" y="4478116"/>
              <a:ext cx="94636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25" name="Text Box 105"/>
            <p:cNvSpPr txBox="1">
              <a:spLocks noChangeArrowheads="1"/>
            </p:cNvSpPr>
            <p:nvPr/>
          </p:nvSpPr>
          <p:spPr bwMode="auto">
            <a:xfrm>
              <a:off x="905395" y="3952779"/>
              <a:ext cx="470038" cy="31419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2000" i="1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  <a:r>
                <a:rPr lang="en-US" sz="200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r>
                <a:rPr lang="en-US" sz="2000" i="1">
                  <a:solidFill>
                    <a:srgbClr val="000000"/>
                  </a:solidFill>
                  <a:latin typeface="Times New Roman" pitchFamily="18" charset="0"/>
                </a:rPr>
                <a:t>z</a:t>
              </a:r>
            </a:p>
          </p:txBody>
        </p:sp>
        <p:sp>
          <p:nvSpPr>
            <p:cNvPr id="3126" name="Text Box 106"/>
            <p:cNvSpPr txBox="1">
              <a:spLocks noChangeArrowheads="1"/>
            </p:cNvSpPr>
            <p:nvPr/>
          </p:nvSpPr>
          <p:spPr bwMode="auto">
            <a:xfrm>
              <a:off x="2399714" y="3998023"/>
              <a:ext cx="458727" cy="31419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2000" i="1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  <a:r>
                <a:rPr lang="en-US" sz="200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r>
                <a:rPr lang="en-US" sz="2000" i="1">
                  <a:solidFill>
                    <a:srgbClr val="000000"/>
                  </a:solidFill>
                  <a:latin typeface="Times New Roman" pitchFamily="18" charset="0"/>
                </a:rPr>
                <a:t>z</a:t>
              </a:r>
            </a:p>
          </p:txBody>
        </p:sp>
        <p:sp>
          <p:nvSpPr>
            <p:cNvPr id="3127" name="Text Box 107"/>
            <p:cNvSpPr txBox="1">
              <a:spLocks noChangeArrowheads="1"/>
            </p:cNvSpPr>
            <p:nvPr/>
          </p:nvSpPr>
          <p:spPr bwMode="auto">
            <a:xfrm>
              <a:off x="2869752" y="5098968"/>
              <a:ext cx="492660" cy="31419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2000" i="1">
                  <a:solidFill>
                    <a:srgbClr val="000000"/>
                  </a:solidFill>
                  <a:latin typeface="Times New Roman" pitchFamily="18" charset="0"/>
                </a:rPr>
                <a:t>G</a:t>
              </a:r>
              <a:r>
                <a:rPr lang="en-US" sz="200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r>
                <a:rPr lang="en-US" sz="2000" i="1">
                  <a:solidFill>
                    <a:srgbClr val="000000"/>
                  </a:solidFill>
                  <a:latin typeface="Times New Roman" pitchFamily="18" charset="0"/>
                </a:rPr>
                <a:t>z</a:t>
              </a:r>
            </a:p>
          </p:txBody>
        </p:sp>
        <p:sp>
          <p:nvSpPr>
            <p:cNvPr id="3128" name="Text Box 108"/>
            <p:cNvSpPr txBox="1">
              <a:spLocks noChangeArrowheads="1"/>
            </p:cNvSpPr>
            <p:nvPr/>
          </p:nvSpPr>
          <p:spPr bwMode="auto">
            <a:xfrm>
              <a:off x="4191891" y="5046183"/>
              <a:ext cx="481349" cy="31419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2000" i="1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  <a:r>
                <a:rPr lang="en-US" sz="200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r>
                <a:rPr lang="en-US" sz="2000" i="1">
                  <a:solidFill>
                    <a:srgbClr val="000000"/>
                  </a:solidFill>
                  <a:latin typeface="Times New Roman" pitchFamily="18" charset="0"/>
                </a:rPr>
                <a:t>z</a:t>
              </a:r>
            </a:p>
          </p:txBody>
        </p:sp>
        <p:sp>
          <p:nvSpPr>
            <p:cNvPr id="3129" name="Line 114"/>
            <p:cNvSpPr>
              <a:spLocks noChangeShapeType="1"/>
            </p:cNvSpPr>
            <p:nvPr/>
          </p:nvSpPr>
          <p:spPr bwMode="auto">
            <a:xfrm>
              <a:off x="5588874" y="4465548"/>
              <a:ext cx="50397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83" name="Line 122"/>
            <p:cNvSpPr>
              <a:spLocks noChangeShapeType="1"/>
            </p:cNvSpPr>
            <p:nvPr/>
          </p:nvSpPr>
          <p:spPr bwMode="auto">
            <a:xfrm flipH="1">
              <a:off x="380059" y="6354497"/>
              <a:ext cx="21139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4" name="Line 123"/>
            <p:cNvSpPr>
              <a:spLocks noChangeShapeType="1"/>
            </p:cNvSpPr>
            <p:nvPr/>
          </p:nvSpPr>
          <p:spPr bwMode="auto">
            <a:xfrm>
              <a:off x="3344818" y="6388430"/>
              <a:ext cx="20221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5" name="Text Box 10"/>
            <p:cNvSpPr txBox="1">
              <a:spLocks noChangeArrowheads="1"/>
            </p:cNvSpPr>
            <p:nvPr/>
          </p:nvSpPr>
          <p:spPr bwMode="auto">
            <a:xfrm>
              <a:off x="6214023" y="4241674"/>
              <a:ext cx="223708" cy="314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i="1" dirty="0">
                  <a:latin typeface="Times New Roman" pitchFamily="18" charset="0"/>
                </a:rPr>
                <a:t>z</a:t>
              </a:r>
            </a:p>
          </p:txBody>
        </p:sp>
      </p:grpSp>
      <p:sp>
        <p:nvSpPr>
          <p:cNvPr id="70" name="Text Box 3"/>
          <p:cNvSpPr txBox="1">
            <a:spLocks noChangeArrowheads="1"/>
          </p:cNvSpPr>
          <p:nvPr/>
        </p:nvSpPr>
        <p:spPr bwMode="auto">
          <a:xfrm>
            <a:off x="5720047" y="4567334"/>
            <a:ext cx="3214048" cy="1615827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BFBFBF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FF3300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latin typeface="Times New Roman" pitchFamily="18" charset="0"/>
              </a:rPr>
              <a:t>C </a:t>
            </a:r>
            <a:r>
              <a:rPr lang="en-US" dirty="0"/>
              <a:t>= capacitance/length [</a:t>
            </a:r>
            <a:r>
              <a:rPr lang="en-US" dirty="0">
                <a:latin typeface="Times New Roman" pitchFamily="18" charset="0"/>
              </a:rPr>
              <a:t>F/m</a:t>
            </a:r>
            <a:r>
              <a:rPr lang="en-US" dirty="0"/>
              <a:t>]</a:t>
            </a:r>
          </a:p>
          <a:p>
            <a:pPr>
              <a:spcBef>
                <a:spcPct val="50000"/>
              </a:spcBef>
            </a:pPr>
            <a:r>
              <a:rPr lang="en-US" i="1" dirty="0">
                <a:latin typeface="Times New Roman" pitchFamily="18" charset="0"/>
              </a:rPr>
              <a:t>L </a:t>
            </a:r>
            <a:r>
              <a:rPr lang="en-US" dirty="0"/>
              <a:t>= inductance/length [</a:t>
            </a:r>
            <a:r>
              <a:rPr lang="en-US" dirty="0">
                <a:latin typeface="Times New Roman" pitchFamily="18" charset="0"/>
              </a:rPr>
              <a:t>H/m</a:t>
            </a:r>
            <a:r>
              <a:rPr lang="en-US" dirty="0"/>
              <a:t>]</a:t>
            </a:r>
          </a:p>
          <a:p>
            <a:pPr>
              <a:spcBef>
                <a:spcPct val="50000"/>
              </a:spcBef>
            </a:pPr>
            <a:r>
              <a:rPr lang="en-US" i="1" dirty="0">
                <a:latin typeface="Times New Roman" pitchFamily="18" charset="0"/>
              </a:rPr>
              <a:t>R </a:t>
            </a:r>
            <a:r>
              <a:rPr lang="en-US" dirty="0"/>
              <a:t>= resistance/length [</a:t>
            </a:r>
            <a:r>
              <a:rPr lang="en-US" dirty="0">
                <a:sym typeface="Symbol" pitchFamily="18" charset="2"/>
              </a:rPr>
              <a:t></a:t>
            </a:r>
            <a:r>
              <a:rPr lang="en-US" dirty="0">
                <a:latin typeface="Times New Roman" pitchFamily="18" charset="0"/>
              </a:rPr>
              <a:t>/m</a:t>
            </a:r>
            <a:r>
              <a:rPr lang="en-US" dirty="0"/>
              <a:t>]</a:t>
            </a:r>
          </a:p>
          <a:p>
            <a:pPr>
              <a:spcBef>
                <a:spcPct val="50000"/>
              </a:spcBef>
            </a:pPr>
            <a:r>
              <a:rPr lang="en-US" i="1" dirty="0">
                <a:latin typeface="Times New Roman" pitchFamily="18" charset="0"/>
              </a:rPr>
              <a:t>G </a:t>
            </a:r>
            <a:r>
              <a:rPr lang="en-US" dirty="0"/>
              <a:t>= conductance/length [</a:t>
            </a:r>
            <a:r>
              <a:rPr lang="en-US" dirty="0">
                <a:latin typeface="Times New Roman" pitchFamily="18" charset="0"/>
              </a:rPr>
              <a:t>S/m</a:t>
            </a:r>
            <a:r>
              <a:rPr lang="en-US" dirty="0"/>
              <a:t>]</a:t>
            </a:r>
          </a:p>
        </p:txBody>
      </p:sp>
      <p:grpSp>
        <p:nvGrpSpPr>
          <p:cNvPr id="104" name="Group 67"/>
          <p:cNvGrpSpPr>
            <a:grpSpLocks/>
          </p:cNvGrpSpPr>
          <p:nvPr/>
        </p:nvGrpSpPr>
        <p:grpSpPr bwMode="auto">
          <a:xfrm>
            <a:off x="1435100" y="901633"/>
            <a:ext cx="6515100" cy="2106612"/>
            <a:chOff x="1435100" y="696913"/>
            <a:chExt cx="6515100" cy="2106612"/>
          </a:xfrm>
        </p:grpSpPr>
        <p:grpSp>
          <p:nvGrpSpPr>
            <p:cNvPr id="105" name="Group 119"/>
            <p:cNvGrpSpPr>
              <a:grpSpLocks/>
            </p:cNvGrpSpPr>
            <p:nvPr/>
          </p:nvGrpSpPr>
          <p:grpSpPr bwMode="auto">
            <a:xfrm>
              <a:off x="1435100" y="822325"/>
              <a:ext cx="6515100" cy="1981200"/>
              <a:chOff x="922" y="655"/>
              <a:chExt cx="4104" cy="1248"/>
            </a:xfrm>
          </p:grpSpPr>
          <p:grpSp>
            <p:nvGrpSpPr>
              <p:cNvPr id="111" name="Group 6"/>
              <p:cNvGrpSpPr>
                <a:grpSpLocks/>
              </p:cNvGrpSpPr>
              <p:nvPr/>
            </p:nvGrpSpPr>
            <p:grpSpPr bwMode="auto">
              <a:xfrm>
                <a:off x="922" y="860"/>
                <a:ext cx="4104" cy="756"/>
                <a:chOff x="684" y="1179"/>
                <a:chExt cx="4104" cy="756"/>
              </a:xfrm>
            </p:grpSpPr>
            <p:sp>
              <p:nvSpPr>
                <p:cNvPr id="115" name="AutoShape 7"/>
                <p:cNvSpPr>
                  <a:spLocks noChangeArrowheads="1"/>
                </p:cNvSpPr>
                <p:nvPr/>
              </p:nvSpPr>
              <p:spPr bwMode="auto">
                <a:xfrm rot="5400000">
                  <a:off x="2668" y="-418"/>
                  <a:ext cx="128" cy="4096"/>
                </a:xfrm>
                <a:prstGeom prst="can">
                  <a:avLst>
                    <a:gd name="adj" fmla="val 64593"/>
                  </a:avLst>
                </a:prstGeom>
                <a:solidFill>
                  <a:srgbClr val="FF9933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6" name="AutoShape 8"/>
                <p:cNvSpPr>
                  <a:spLocks noChangeArrowheads="1"/>
                </p:cNvSpPr>
                <p:nvPr/>
              </p:nvSpPr>
              <p:spPr bwMode="auto">
                <a:xfrm rot="5400000">
                  <a:off x="2680" y="-817"/>
                  <a:ext cx="112" cy="4104"/>
                </a:xfrm>
                <a:prstGeom prst="can">
                  <a:avLst>
                    <a:gd name="adj" fmla="val 73964"/>
                  </a:avLst>
                </a:prstGeom>
                <a:solidFill>
                  <a:srgbClr val="FF9933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7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708" y="1836"/>
                  <a:ext cx="109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8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853" y="1685"/>
                  <a:ext cx="178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000" i="1" dirty="0">
                      <a:latin typeface="Times New Roman" pitchFamily="18" charset="0"/>
                    </a:rPr>
                    <a:t>z</a:t>
                  </a:r>
                </a:p>
              </p:txBody>
            </p:sp>
          </p:grpSp>
          <p:sp>
            <p:nvSpPr>
              <p:cNvPr id="112" name="Line 116"/>
              <p:cNvSpPr>
                <a:spLocks noChangeShapeType="1"/>
              </p:cNvSpPr>
              <p:nvPr/>
            </p:nvSpPr>
            <p:spPr bwMode="auto">
              <a:xfrm>
                <a:off x="2679" y="658"/>
                <a:ext cx="0" cy="120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Line 117"/>
              <p:cNvSpPr>
                <a:spLocks noChangeShapeType="1"/>
              </p:cNvSpPr>
              <p:nvPr/>
            </p:nvSpPr>
            <p:spPr bwMode="auto">
              <a:xfrm>
                <a:off x="3054" y="655"/>
                <a:ext cx="0" cy="120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Text Box 118"/>
              <p:cNvSpPr txBox="1">
                <a:spLocks noChangeArrowheads="1"/>
              </p:cNvSpPr>
              <p:nvPr/>
            </p:nvSpPr>
            <p:spPr bwMode="auto">
              <a:xfrm>
                <a:off x="3175" y="1538"/>
                <a:ext cx="373" cy="365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sz="3200">
                    <a:solidFill>
                      <a:srgbClr val="000000"/>
                    </a:solidFill>
                    <a:latin typeface="Symbol" pitchFamily="18" charset="2"/>
                  </a:rPr>
                  <a:t>D</a:t>
                </a:r>
                <a:r>
                  <a:rPr lang="en-US" sz="3200" i="1">
                    <a:solidFill>
                      <a:srgbClr val="000000"/>
                    </a:solidFill>
                    <a:latin typeface="Times New Roman" pitchFamily="18" charset="0"/>
                  </a:rPr>
                  <a:t>z</a:t>
                </a:r>
              </a:p>
            </p:txBody>
          </p:sp>
        </p:grpSp>
        <p:sp>
          <p:nvSpPr>
            <p:cNvPr id="106" name="TextBox 62"/>
            <p:cNvSpPr txBox="1">
              <a:spLocks noChangeArrowheads="1"/>
            </p:cNvSpPr>
            <p:nvPr/>
          </p:nvSpPr>
          <p:spPr bwMode="auto">
            <a:xfrm>
              <a:off x="2400300" y="1206500"/>
              <a:ext cx="31931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+</a:t>
              </a:r>
            </a:p>
          </p:txBody>
        </p:sp>
        <p:sp>
          <p:nvSpPr>
            <p:cNvPr id="107" name="TextBox 63"/>
            <p:cNvSpPr txBox="1">
              <a:spLocks noChangeArrowheads="1"/>
            </p:cNvSpPr>
            <p:nvPr/>
          </p:nvSpPr>
          <p:spPr bwMode="auto">
            <a:xfrm>
              <a:off x="2425700" y="1473200"/>
              <a:ext cx="26161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-</a:t>
              </a:r>
            </a:p>
          </p:txBody>
        </p:sp>
        <p:graphicFrame>
          <p:nvGraphicFramePr>
            <p:cNvPr id="108" name="Object 124"/>
            <p:cNvGraphicFramePr>
              <a:graphicFrameLocks noChangeAspect="1"/>
            </p:cNvGraphicFramePr>
            <p:nvPr/>
          </p:nvGraphicFramePr>
          <p:xfrm>
            <a:off x="1822450" y="1356766"/>
            <a:ext cx="590550" cy="329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57200" imgH="253800" progId="Equation.DSMT4">
                    <p:embed/>
                  </p:oleObj>
                </mc:Choice>
                <mc:Fallback>
                  <p:oleObj name="Equation" r:id="rId3" imgW="4572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2450" y="1356766"/>
                          <a:ext cx="590550" cy="329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9" name="Straight Arrow Connector 108"/>
            <p:cNvCxnSpPr/>
            <p:nvPr/>
          </p:nvCxnSpPr>
          <p:spPr>
            <a:xfrm>
              <a:off x="3111500" y="1244600"/>
              <a:ext cx="533400" cy="0"/>
            </a:xfrm>
            <a:prstGeom prst="straightConnector1">
              <a:avLst/>
            </a:prstGeom>
            <a:ln w="28575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10" name="Object 125"/>
            <p:cNvGraphicFramePr>
              <a:graphicFrameLocks noChangeAspect="1"/>
            </p:cNvGraphicFramePr>
            <p:nvPr/>
          </p:nvGraphicFramePr>
          <p:xfrm>
            <a:off x="3082925" y="696913"/>
            <a:ext cx="558800" cy="328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431640" imgH="253800" progId="Equation.DSMT4">
                    <p:embed/>
                  </p:oleObj>
                </mc:Choice>
                <mc:Fallback>
                  <p:oleObj name="Equation" r:id="rId5" imgW="43164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2925" y="696913"/>
                          <a:ext cx="558800" cy="3286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1590454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611122"/>
              </p:ext>
            </p:extLst>
          </p:nvPr>
        </p:nvGraphicFramePr>
        <p:xfrm>
          <a:off x="668031" y="1616030"/>
          <a:ext cx="2566479" cy="1768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11280" imgH="1041120" progId="Equation.DSMT4">
                  <p:embed/>
                </p:oleObj>
              </mc:Choice>
              <mc:Fallback>
                <p:oleObj name="Equation" r:id="rId3" imgW="1511280" imgH="1041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031" y="1616030"/>
                        <a:ext cx="2566479" cy="17686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Text Box 8"/>
          <p:cNvSpPr txBox="1">
            <a:spLocks noChangeArrowheads="1"/>
          </p:cNvSpPr>
          <p:nvPr/>
        </p:nvSpPr>
        <p:spPr bwMode="auto">
          <a:xfrm>
            <a:off x="112188" y="994677"/>
            <a:ext cx="38862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rgbClr val="FF3300"/>
                </a:solidFill>
                <a:sym typeface="Symbol" pitchFamily="18" charset="2"/>
              </a:rPr>
              <a:t>“Telegrapher’s Equations (TEs)”</a:t>
            </a:r>
            <a:endParaRPr lang="en-US" sz="2000" baseline="-25000" dirty="0">
              <a:solidFill>
                <a:srgbClr val="FF3300"/>
              </a:solidFill>
            </a:endParaRPr>
          </a:p>
        </p:txBody>
      </p:sp>
      <p:sp>
        <p:nvSpPr>
          <p:cNvPr id="10248" name="Text Box 11"/>
          <p:cNvSpPr txBox="1">
            <a:spLocks noChangeArrowheads="1"/>
          </p:cNvSpPr>
          <p:nvPr/>
        </p:nvSpPr>
        <p:spPr bwMode="auto">
          <a:xfrm>
            <a:off x="767583" y="0"/>
            <a:ext cx="7576042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Equations of Transmission Line   </a:t>
            </a:r>
          </a:p>
        </p:txBody>
      </p:sp>
      <p:sp>
        <p:nvSpPr>
          <p:cNvPr id="10249" name="Slide Number Placeholder 8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084934A-EF02-4B07-B3E9-DD0EBA496124}" type="slidenum">
              <a:rPr lang="en-US"/>
              <a:pPr/>
              <a:t>7</a:t>
            </a:fld>
            <a:endParaRPr 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51455"/>
              </p:ext>
            </p:extLst>
          </p:nvPr>
        </p:nvGraphicFramePr>
        <p:xfrm>
          <a:off x="4402024" y="2005067"/>
          <a:ext cx="4537264" cy="665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10000" imgH="558800" progId="Equation.DSMT4">
                  <p:embed/>
                </p:oleObj>
              </mc:Choice>
              <mc:Fallback>
                <p:oleObj name="Equation" r:id="rId5" imgW="3810000" imgH="558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2024" y="2005067"/>
                        <a:ext cx="4537264" cy="6652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5191515" y="1112415"/>
            <a:ext cx="2874323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 err="1">
                <a:solidFill>
                  <a:srgbClr val="FF3300"/>
                </a:solidFill>
                <a:sym typeface="Symbol" pitchFamily="18" charset="2"/>
              </a:rPr>
              <a:t>Lossy</a:t>
            </a:r>
            <a:r>
              <a:rPr lang="en-US" sz="2000" dirty="0">
                <a:solidFill>
                  <a:srgbClr val="FF3300"/>
                </a:solidFill>
                <a:sym typeface="Symbol" pitchFamily="18" charset="2"/>
              </a:rPr>
              <a:t> wave equation</a:t>
            </a:r>
            <a:endParaRPr lang="en-US" sz="2000" baseline="-25000" dirty="0">
              <a:solidFill>
                <a:srgbClr val="FF3300"/>
              </a:solidFill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507476" y="2374712"/>
            <a:ext cx="682388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628676" y="1509290"/>
            <a:ext cx="20697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sym typeface="Symbol" pitchFamily="18" charset="2"/>
              </a:rPr>
              <a:t>(no exact solution)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6396666" y="2606007"/>
            <a:ext cx="0" cy="1338196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9"/>
          <p:cNvSpPr txBox="1">
            <a:spLocks noChangeArrowheads="1"/>
          </p:cNvSpPr>
          <p:nvPr/>
        </p:nvSpPr>
        <p:spPr bwMode="auto">
          <a:xfrm>
            <a:off x="6628676" y="2776409"/>
            <a:ext cx="18494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FF3300"/>
                </a:solidFill>
              </a:rPr>
              <a:t>Lossless case:</a:t>
            </a:r>
          </a:p>
        </p:txBody>
      </p:sp>
      <p:graphicFrame>
        <p:nvGraphicFramePr>
          <p:cNvPr id="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06893"/>
              </p:ext>
            </p:extLst>
          </p:nvPr>
        </p:nvGraphicFramePr>
        <p:xfrm>
          <a:off x="5485232" y="4436371"/>
          <a:ext cx="3051175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63560" imgH="558720" progId="Equation.DSMT4">
                  <p:embed/>
                </p:oleObj>
              </mc:Choice>
              <mc:Fallback>
                <p:oleObj name="Equation" r:id="rId7" imgW="166356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5232" y="4436371"/>
                        <a:ext cx="3051175" cy="102393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DDDDDD"/>
                          </a:gs>
                          <a:gs pos="100000">
                            <a:srgbClr val="DDDDDD">
                              <a:gamma/>
                              <a:shade val="96078"/>
                              <a:invGamma/>
                            </a:srgbClr>
                          </a:gs>
                        </a:gsLst>
                        <a:path path="shape">
                          <a:fillToRect l="50000" t="50000" r="50000" b="50000"/>
                        </a:path>
                      </a:gradFill>
                      <a:ln w="12700">
                        <a:solidFill>
                          <a:srgbClr val="FF33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171164"/>
              </p:ext>
            </p:extLst>
          </p:nvPr>
        </p:nvGraphicFramePr>
        <p:xfrm>
          <a:off x="6849156" y="3267130"/>
          <a:ext cx="153670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38080" imgH="203040" progId="Equation.DSMT4">
                  <p:embed/>
                </p:oleObj>
              </mc:Choice>
              <mc:Fallback>
                <p:oleObj name="Equation" r:id="rId9" imgW="838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9156" y="3267130"/>
                        <a:ext cx="1536700" cy="3730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576726" y="4012447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“wave equation”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9538616"/>
              </p:ext>
            </p:extLst>
          </p:nvPr>
        </p:nvGraphicFramePr>
        <p:xfrm>
          <a:off x="5305824" y="5747203"/>
          <a:ext cx="2188850" cy="794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74800" imgH="571500" progId="Equation.DSMT4">
                  <p:embed/>
                </p:oleObj>
              </mc:Choice>
              <mc:Fallback>
                <p:oleObj name="Equation" r:id="rId11" imgW="1574800" imgH="571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5824" y="5747203"/>
                        <a:ext cx="2188850" cy="7941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5804595"/>
              </p:ext>
            </p:extLst>
          </p:nvPr>
        </p:nvGraphicFramePr>
        <p:xfrm>
          <a:off x="7843768" y="5759356"/>
          <a:ext cx="1132209" cy="705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72840" imgH="419040" progId="Equation.DSMT4">
                  <p:embed/>
                </p:oleObj>
              </mc:Choice>
              <mc:Fallback>
                <p:oleObj name="Equation" r:id="rId13" imgW="6728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3768" y="5759356"/>
                        <a:ext cx="1132209" cy="7056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6216775"/>
              </p:ext>
            </p:extLst>
          </p:nvPr>
        </p:nvGraphicFramePr>
        <p:xfrm>
          <a:off x="224587" y="4584541"/>
          <a:ext cx="4163789" cy="494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65360" imgH="304560" progId="Equation.DSMT4">
                  <p:embed/>
                </p:oleObj>
              </mc:Choice>
              <mc:Fallback>
                <p:oleObj name="Equation" r:id="rId15" imgW="25653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587" y="4584541"/>
                        <a:ext cx="4163789" cy="4948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13"/>
          <p:cNvSpPr txBox="1">
            <a:spLocks noChangeArrowheads="1"/>
          </p:cNvSpPr>
          <p:nvPr/>
        </p:nvSpPr>
        <p:spPr bwMode="auto">
          <a:xfrm>
            <a:off x="194713" y="5210326"/>
            <a:ext cx="403187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where </a:t>
            </a:r>
            <a:r>
              <a:rPr lang="en-US" i="1" dirty="0">
                <a:solidFill>
                  <a:srgbClr val="0000FF"/>
                </a:solidFill>
                <a:latin typeface="Times New Roman" pitchFamily="18" charset="0"/>
              </a:rPr>
              <a:t> f  </a:t>
            </a:r>
            <a:r>
              <a:rPr lang="en-US" dirty="0">
                <a:solidFill>
                  <a:srgbClr val="0000FF"/>
                </a:solidFill>
              </a:rPr>
              <a:t>and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</a:rPr>
              <a:t>  </a:t>
            </a:r>
            <a:r>
              <a:rPr lang="en-US" i="1" dirty="0">
                <a:solidFill>
                  <a:srgbClr val="0000FF"/>
                </a:solidFill>
                <a:latin typeface="Times New Roman" pitchFamily="18" charset="0"/>
              </a:rPr>
              <a:t>g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</a:rPr>
              <a:t> are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rgbClr val="FF3300"/>
                </a:solidFill>
              </a:rPr>
              <a:t>arbitrary functions</a:t>
            </a:r>
            <a:r>
              <a:rPr lang="en-US" dirty="0">
                <a:solidFill>
                  <a:srgbClr val="0000FF"/>
                </a:solidFill>
              </a:rPr>
              <a:t>.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4509127" y="5040577"/>
            <a:ext cx="783288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02486" y="4032337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traveling wave solution</a:t>
            </a:r>
          </a:p>
        </p:txBody>
      </p:sp>
      <p:sp>
        <p:nvSpPr>
          <p:cNvPr id="21" name="Text Box 26"/>
          <p:cNvSpPr txBox="1">
            <a:spLocks noChangeArrowheads="1"/>
          </p:cNvSpPr>
          <p:nvPr/>
        </p:nvSpPr>
        <p:spPr bwMode="auto">
          <a:xfrm>
            <a:off x="208361" y="6479864"/>
            <a:ext cx="427713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</a:rPr>
              <a:t>Speed of light in dielectric / transmission line </a:t>
            </a:r>
          </a:p>
        </p:txBody>
      </p:sp>
      <p:graphicFrame>
        <p:nvGraphicFramePr>
          <p:cNvPr id="22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616817"/>
              </p:ext>
            </p:extLst>
          </p:nvPr>
        </p:nvGraphicFramePr>
        <p:xfrm>
          <a:off x="1217967" y="5746329"/>
          <a:ext cx="1757253" cy="684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43000" imgH="444240" progId="Equation.DSMT4">
                  <p:embed/>
                </p:oleObj>
              </mc:Choice>
              <mc:Fallback>
                <p:oleObj name="Equation" r:id="rId17" imgW="1143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967" y="5746329"/>
                        <a:ext cx="1757253" cy="6844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13510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" grpId="0"/>
      <p:bldP spid="17" grpId="0"/>
      <p:bldP spid="20" grpId="0"/>
      <p:bldP spid="28" grpId="0"/>
      <p:bldP spid="32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8"/>
          <p:cNvSpPr>
            <a:spLocks noChangeArrowheads="1"/>
          </p:cNvSpPr>
          <p:nvPr/>
        </p:nvSpPr>
        <p:spPr bwMode="auto">
          <a:xfrm>
            <a:off x="957263" y="4345420"/>
            <a:ext cx="7300912" cy="2278062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BFBFB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051319"/>
              </p:ext>
            </p:extLst>
          </p:nvPr>
        </p:nvGraphicFramePr>
        <p:xfrm>
          <a:off x="2032000" y="4680382"/>
          <a:ext cx="46577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39800" imgH="304560" progId="Equation.DSMT4">
                  <p:embed/>
                </p:oleObj>
              </mc:Choice>
              <mc:Fallback>
                <p:oleObj name="Equation" r:id="rId3" imgW="25398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4680382"/>
                        <a:ext cx="46577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DDDDDD"/>
                                </a:gs>
                                <a:gs pos="100000">
                                  <a:srgbClr val="DDDDDD">
                                    <a:gamma/>
                                    <a:shade val="96078"/>
                                    <a:invGamma/>
                                  </a:srgbClr>
                                </a:gs>
                              </a:gsLst>
                              <a:path path="shape">
                                <a:fillToRect l="50000" t="50000" r="50000" b="50000"/>
                              </a:path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33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753180"/>
              </p:ext>
            </p:extLst>
          </p:nvPr>
        </p:nvGraphicFramePr>
        <p:xfrm>
          <a:off x="1876425" y="5383645"/>
          <a:ext cx="5697538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73040" imgH="431640" progId="Equation.DSMT4">
                  <p:embed/>
                </p:oleObj>
              </mc:Choice>
              <mc:Fallback>
                <p:oleObj name="Equation" r:id="rId5" imgW="2273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6425" y="5383645"/>
                        <a:ext cx="5697538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DDDDDD"/>
                                </a:gs>
                                <a:gs pos="100000">
                                  <a:srgbClr val="DDDDDD">
                                    <a:gamma/>
                                    <a:shade val="96078"/>
                                    <a:invGamma/>
                                  </a:srgbClr>
                                </a:gs>
                              </a:gsLst>
                              <a:path path="shape">
                                <a:fillToRect l="50000" t="50000" r="50000" b="50000"/>
                              </a:path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33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Text Box 10"/>
          <p:cNvSpPr txBox="1">
            <a:spLocks noChangeArrowheads="1"/>
          </p:cNvSpPr>
          <p:nvPr/>
        </p:nvSpPr>
        <p:spPr bwMode="auto">
          <a:xfrm>
            <a:off x="2366580" y="13648"/>
            <a:ext cx="4225297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Traveling Wave</a:t>
            </a:r>
          </a:p>
        </p:txBody>
      </p:sp>
      <p:sp>
        <p:nvSpPr>
          <p:cNvPr id="21512" name="Slide Number Placeholder 7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FB0D383-ABCC-4AFB-9664-035445C59E06}" type="slidenum">
              <a:rPr lang="en-US"/>
              <a:pPr/>
              <a:t>8</a:t>
            </a:fld>
            <a:endParaRPr lang="en-US"/>
          </a:p>
        </p:txBody>
      </p:sp>
      <p:graphicFrame>
        <p:nvGraphicFramePr>
          <p:cNvPr id="30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2043086"/>
              </p:ext>
            </p:extLst>
          </p:nvPr>
        </p:nvGraphicFramePr>
        <p:xfrm>
          <a:off x="746118" y="1173383"/>
          <a:ext cx="288607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74640" imgH="304560" progId="Equation.DSMT4">
                  <p:embed/>
                </p:oleObj>
              </mc:Choice>
              <mc:Fallback>
                <p:oleObj name="Equation" r:id="rId7" imgW="15746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18" y="1173383"/>
                        <a:ext cx="2886075" cy="558800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254395" y="1219368"/>
            <a:ext cx="3267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forward traveling wave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723974"/>
              </p:ext>
            </p:extLst>
          </p:nvPr>
        </p:nvGraphicFramePr>
        <p:xfrm>
          <a:off x="763588" y="2102911"/>
          <a:ext cx="2862262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62100" imgH="304800" progId="Equation.DSMT4">
                  <p:embed/>
                </p:oleObj>
              </mc:Choice>
              <mc:Fallback>
                <p:oleObj name="Equation" r:id="rId9" imgW="1562100" imgH="304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8" y="2102911"/>
                        <a:ext cx="2862262" cy="558800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33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313241" y="2079104"/>
            <a:ext cx="35589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backward traveling wave</a:t>
            </a:r>
          </a:p>
        </p:txBody>
      </p:sp>
      <p:sp>
        <p:nvSpPr>
          <p:cNvPr id="34" name="AutoShape 26"/>
          <p:cNvSpPr>
            <a:spLocks noChangeArrowheads="1"/>
          </p:cNvSpPr>
          <p:nvPr/>
        </p:nvSpPr>
        <p:spPr bwMode="auto">
          <a:xfrm>
            <a:off x="4081390" y="1317666"/>
            <a:ext cx="768350" cy="260350"/>
          </a:xfrm>
          <a:custGeom>
            <a:avLst/>
            <a:gdLst>
              <a:gd name="T0" fmla="*/ 363 w 21600"/>
              <a:gd name="T1" fmla="*/ 0 h 21600"/>
              <a:gd name="T2" fmla="*/ 0 w 21600"/>
              <a:gd name="T3" fmla="*/ 82 h 21600"/>
              <a:gd name="T4" fmla="*/ 363 w 21600"/>
              <a:gd name="T5" fmla="*/ 164 h 21600"/>
              <a:gd name="T6" fmla="*/ 484 w 21600"/>
              <a:gd name="T7" fmla="*/ 8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92 w 21600"/>
              <a:gd name="T13" fmla="*/ 5400 h 21600"/>
              <a:gd name="T14" fmla="*/ 18878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AutoShape 22"/>
          <p:cNvSpPr>
            <a:spLocks noChangeArrowheads="1"/>
          </p:cNvSpPr>
          <p:nvPr/>
        </p:nvSpPr>
        <p:spPr bwMode="auto">
          <a:xfrm flipH="1">
            <a:off x="4046846" y="2220705"/>
            <a:ext cx="768350" cy="260350"/>
          </a:xfrm>
          <a:custGeom>
            <a:avLst/>
            <a:gdLst>
              <a:gd name="T0" fmla="*/ 576262 w 21600"/>
              <a:gd name="T1" fmla="*/ 0 h 21600"/>
              <a:gd name="T2" fmla="*/ 0 w 21600"/>
              <a:gd name="T3" fmla="*/ 130175 h 21600"/>
              <a:gd name="T4" fmla="*/ 576262 w 21600"/>
              <a:gd name="T5" fmla="*/ 260350 h 21600"/>
              <a:gd name="T6" fmla="*/ 768350 w 21600"/>
              <a:gd name="T7" fmla="*/ 130175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Text Box 10"/>
          <p:cNvSpPr txBox="1">
            <a:spLocks noChangeArrowheads="1"/>
          </p:cNvSpPr>
          <p:nvPr/>
        </p:nvSpPr>
        <p:spPr bwMode="auto">
          <a:xfrm>
            <a:off x="676968" y="3314048"/>
            <a:ext cx="334258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characteristic impedance </a:t>
            </a:r>
            <a:r>
              <a:rPr lang="en-US" sz="2200" i="1" dirty="0">
                <a:solidFill>
                  <a:srgbClr val="FF0000"/>
                </a:solidFill>
                <a:latin typeface="Times New Roman" pitchFamily="18" charset="0"/>
              </a:rPr>
              <a:t>Z</a:t>
            </a:r>
            <a:r>
              <a:rPr lang="en-US" sz="2200" baseline="-25000" dirty="0">
                <a:solidFill>
                  <a:srgbClr val="FF0000"/>
                </a:solidFill>
                <a:latin typeface="Times New Roman" pitchFamily="18" charset="0"/>
              </a:rPr>
              <a:t>0</a:t>
            </a:r>
            <a:endParaRPr lang="en-US" sz="2000" dirty="0"/>
          </a:p>
        </p:txBody>
      </p:sp>
      <p:graphicFrame>
        <p:nvGraphicFramePr>
          <p:cNvPr id="3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1582128"/>
              </p:ext>
            </p:extLst>
          </p:nvPr>
        </p:nvGraphicFramePr>
        <p:xfrm>
          <a:off x="4278178" y="2985779"/>
          <a:ext cx="1439862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96880" imgH="444240" progId="Equation.DSMT4">
                  <p:embed/>
                </p:oleObj>
              </mc:Choice>
              <mc:Fallback>
                <p:oleObj name="Equation" r:id="rId11" imgW="5968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8178" y="2985779"/>
                        <a:ext cx="1439862" cy="106838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DDDDDD"/>
                          </a:gs>
                          <a:gs pos="100000">
                            <a:srgbClr val="DDDDDD">
                              <a:gamma/>
                              <a:shade val="86275"/>
                              <a:invGamma/>
                            </a:srgbClr>
                          </a:gs>
                        </a:gsLst>
                        <a:path path="shape">
                          <a:fillToRect l="50000" t="50000" r="50000" b="50000"/>
                        </a:path>
                      </a:gradFill>
                      <a:ln w="12700">
                        <a:solidFill>
                          <a:srgbClr val="FF33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12"/>
          <p:cNvSpPr txBox="1">
            <a:spLocks noChangeArrowheads="1"/>
          </p:cNvSpPr>
          <p:nvPr/>
        </p:nvSpPr>
        <p:spPr bwMode="auto">
          <a:xfrm>
            <a:off x="5921757" y="3539182"/>
            <a:ext cx="28003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The units of </a:t>
            </a:r>
            <a:r>
              <a:rPr lang="en-US" i="1" dirty="0">
                <a:solidFill>
                  <a:srgbClr val="0000FF"/>
                </a:solidFill>
                <a:latin typeface="Times New Roman" pitchFamily="18" charset="0"/>
              </a:rPr>
              <a:t>Z</a:t>
            </a:r>
            <a:r>
              <a:rPr lang="en-US" baseline="-25000" dirty="0">
                <a:solidFill>
                  <a:srgbClr val="0000FF"/>
                </a:solidFill>
                <a:latin typeface="Times New Roman" pitchFamily="18" charset="0"/>
              </a:rPr>
              <a:t>0</a:t>
            </a:r>
            <a:r>
              <a:rPr lang="en-US" dirty="0">
                <a:solidFill>
                  <a:srgbClr val="0000FF"/>
                </a:solidFill>
              </a:rPr>
              <a:t> are Ohms.</a:t>
            </a:r>
          </a:p>
        </p:txBody>
      </p:sp>
    </p:spTree>
    <p:extLst>
      <p:ext uri="{BB962C8B-B14F-4D97-AF65-F5344CB8AC3E}">
        <p14:creationId xmlns:p14="http://schemas.microsoft.com/office/powerpoint/2010/main" val="14885897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nimBg="1"/>
      <p:bldP spid="36" grpId="0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Text Box 2"/>
          <p:cNvSpPr txBox="1">
            <a:spLocks noChangeArrowheads="1"/>
          </p:cNvSpPr>
          <p:nvPr/>
        </p:nvSpPr>
        <p:spPr bwMode="auto">
          <a:xfrm>
            <a:off x="859808" y="0"/>
            <a:ext cx="7478971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Wave Propagation in Time Domain</a:t>
            </a:r>
          </a:p>
        </p:txBody>
      </p:sp>
      <p:sp>
        <p:nvSpPr>
          <p:cNvPr id="272419" name="Text Box 35"/>
          <p:cNvSpPr txBox="1">
            <a:spLocks noChangeArrowheads="1"/>
          </p:cNvSpPr>
          <p:nvPr/>
        </p:nvSpPr>
        <p:spPr bwMode="auto">
          <a:xfrm>
            <a:off x="237506" y="757238"/>
            <a:ext cx="87164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A voltage signal is applied at the input of the </a:t>
            </a:r>
            <a:r>
              <a:rPr lang="en-US" dirty="0">
                <a:solidFill>
                  <a:srgbClr val="FF0000"/>
                </a:solidFill>
              </a:rPr>
              <a:t>semi-infinite</a:t>
            </a:r>
            <a:r>
              <a:rPr lang="en-US" dirty="0">
                <a:solidFill>
                  <a:srgbClr val="0000FF"/>
                </a:solidFill>
              </a:rPr>
              <a:t> transmission line.</a:t>
            </a:r>
          </a:p>
        </p:txBody>
      </p:sp>
      <p:grpSp>
        <p:nvGrpSpPr>
          <p:cNvPr id="272441" name="Group 57"/>
          <p:cNvGrpSpPr>
            <a:grpSpLocks/>
          </p:cNvGrpSpPr>
          <p:nvPr/>
        </p:nvGrpSpPr>
        <p:grpSpPr bwMode="auto">
          <a:xfrm>
            <a:off x="1480925" y="1185326"/>
            <a:ext cx="6805613" cy="1749425"/>
            <a:chOff x="312" y="1188"/>
            <a:chExt cx="4287" cy="1102"/>
          </a:xfrm>
        </p:grpSpPr>
        <p:grpSp>
          <p:nvGrpSpPr>
            <p:cNvPr id="272397" name="Group 13"/>
            <p:cNvGrpSpPr>
              <a:grpSpLocks/>
            </p:cNvGrpSpPr>
            <p:nvPr/>
          </p:nvGrpSpPr>
          <p:grpSpPr bwMode="auto">
            <a:xfrm>
              <a:off x="759" y="1536"/>
              <a:ext cx="3840" cy="504"/>
              <a:chOff x="576" y="1752"/>
              <a:chExt cx="3840" cy="504"/>
            </a:xfrm>
          </p:grpSpPr>
          <p:grpSp>
            <p:nvGrpSpPr>
              <p:cNvPr id="272398" name="Group 14"/>
              <p:cNvGrpSpPr>
                <a:grpSpLocks/>
              </p:cNvGrpSpPr>
              <p:nvPr/>
            </p:nvGrpSpPr>
            <p:grpSpPr bwMode="auto">
              <a:xfrm>
                <a:off x="1152" y="1752"/>
                <a:ext cx="3264" cy="48"/>
                <a:chOff x="1152" y="1728"/>
                <a:chExt cx="3264" cy="48"/>
              </a:xfrm>
            </p:grpSpPr>
            <p:sp>
              <p:nvSpPr>
                <p:cNvPr id="272399" name="Freeform 15"/>
                <p:cNvSpPr>
                  <a:spLocks/>
                </p:cNvSpPr>
                <p:nvPr/>
              </p:nvSpPr>
              <p:spPr bwMode="auto">
                <a:xfrm>
                  <a:off x="1194" y="1752"/>
                  <a:ext cx="3222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222" y="0"/>
                    </a:cxn>
                  </a:cxnLst>
                  <a:rect l="0" t="0" r="r" b="b"/>
                  <a:pathLst>
                    <a:path w="3222" h="1">
                      <a:moveTo>
                        <a:pt x="0" y="0"/>
                      </a:moveTo>
                      <a:lnTo>
                        <a:pt x="3222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2400" name="Oval 16"/>
                <p:cNvSpPr>
                  <a:spLocks noChangeArrowheads="1"/>
                </p:cNvSpPr>
                <p:nvPr/>
              </p:nvSpPr>
              <p:spPr bwMode="auto">
                <a:xfrm>
                  <a:off x="1152" y="1728"/>
                  <a:ext cx="48" cy="48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72401" name="Group 17"/>
              <p:cNvGrpSpPr>
                <a:grpSpLocks/>
              </p:cNvGrpSpPr>
              <p:nvPr/>
            </p:nvGrpSpPr>
            <p:grpSpPr bwMode="auto">
              <a:xfrm>
                <a:off x="1152" y="2208"/>
                <a:ext cx="3264" cy="48"/>
                <a:chOff x="1152" y="1728"/>
                <a:chExt cx="3264" cy="48"/>
              </a:xfrm>
            </p:grpSpPr>
            <p:sp>
              <p:nvSpPr>
                <p:cNvPr id="272402" name="Freeform 18"/>
                <p:cNvSpPr>
                  <a:spLocks/>
                </p:cNvSpPr>
                <p:nvPr/>
              </p:nvSpPr>
              <p:spPr bwMode="auto">
                <a:xfrm>
                  <a:off x="1194" y="1752"/>
                  <a:ext cx="3222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222" y="0"/>
                    </a:cxn>
                  </a:cxnLst>
                  <a:rect l="0" t="0" r="r" b="b"/>
                  <a:pathLst>
                    <a:path w="3222" h="1">
                      <a:moveTo>
                        <a:pt x="0" y="0"/>
                      </a:moveTo>
                      <a:lnTo>
                        <a:pt x="3222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2403" name="Oval 19"/>
                <p:cNvSpPr>
                  <a:spLocks noChangeArrowheads="1"/>
                </p:cNvSpPr>
                <p:nvPr/>
              </p:nvSpPr>
              <p:spPr bwMode="auto">
                <a:xfrm>
                  <a:off x="1152" y="1728"/>
                  <a:ext cx="48" cy="48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72404" name="Group 20"/>
              <p:cNvGrpSpPr>
                <a:grpSpLocks/>
              </p:cNvGrpSpPr>
              <p:nvPr/>
            </p:nvGrpSpPr>
            <p:grpSpPr bwMode="auto">
              <a:xfrm>
                <a:off x="576" y="1776"/>
                <a:ext cx="618" cy="384"/>
                <a:chOff x="576" y="1752"/>
                <a:chExt cx="618" cy="384"/>
              </a:xfrm>
            </p:grpSpPr>
            <p:sp>
              <p:nvSpPr>
                <p:cNvPr id="272405" name="Oval 21"/>
                <p:cNvSpPr>
                  <a:spLocks noChangeArrowheads="1"/>
                </p:cNvSpPr>
                <p:nvPr/>
              </p:nvSpPr>
              <p:spPr bwMode="auto">
                <a:xfrm>
                  <a:off x="576" y="1872"/>
                  <a:ext cx="240" cy="264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2406" name="Freeform 22"/>
                <p:cNvSpPr>
                  <a:spLocks/>
                </p:cNvSpPr>
                <p:nvPr/>
              </p:nvSpPr>
              <p:spPr bwMode="auto">
                <a:xfrm>
                  <a:off x="696" y="1752"/>
                  <a:ext cx="1" cy="114"/>
                </a:xfrm>
                <a:custGeom>
                  <a:avLst/>
                  <a:gdLst/>
                  <a:ahLst/>
                  <a:cxnLst>
                    <a:cxn ang="0">
                      <a:pos x="0" y="114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 h="114">
                      <a:moveTo>
                        <a:pt x="0" y="114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2407" name="Line 23"/>
                <p:cNvSpPr>
                  <a:spLocks noChangeShapeType="1"/>
                </p:cNvSpPr>
                <p:nvPr/>
              </p:nvSpPr>
              <p:spPr bwMode="auto">
                <a:xfrm>
                  <a:off x="696" y="1752"/>
                  <a:ext cx="49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72408" name="Line 24"/>
              <p:cNvSpPr>
                <a:spLocks noChangeShapeType="1"/>
              </p:cNvSpPr>
              <p:nvPr/>
            </p:nvSpPr>
            <p:spPr bwMode="auto">
              <a:xfrm flipH="1">
                <a:off x="696" y="2232"/>
                <a:ext cx="49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2409" name="Line 25"/>
              <p:cNvSpPr>
                <a:spLocks noChangeShapeType="1"/>
              </p:cNvSpPr>
              <p:nvPr/>
            </p:nvSpPr>
            <p:spPr bwMode="auto">
              <a:xfrm flipV="1">
                <a:off x="696" y="2160"/>
                <a:ext cx="0" cy="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272410" name="Object 26"/>
            <p:cNvGraphicFramePr>
              <a:graphicFrameLocks noChangeAspect="1"/>
            </p:cNvGraphicFramePr>
            <p:nvPr/>
          </p:nvGraphicFramePr>
          <p:xfrm>
            <a:off x="312" y="1472"/>
            <a:ext cx="407" cy="6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93480" imgH="672840" progId="Equation.DSMT4">
                    <p:embed/>
                  </p:oleObj>
                </mc:Choice>
                <mc:Fallback>
                  <p:oleObj name="Equation" r:id="rId3" imgW="393480" imgH="6728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" y="1472"/>
                          <a:ext cx="407" cy="6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2411" name="Text Box 27"/>
            <p:cNvSpPr txBox="1">
              <a:spLocks noChangeArrowheads="1"/>
            </p:cNvSpPr>
            <p:nvPr/>
          </p:nvSpPr>
          <p:spPr bwMode="auto">
            <a:xfrm>
              <a:off x="1072" y="2059"/>
              <a:ext cx="61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i="1">
                  <a:solidFill>
                    <a:srgbClr val="000000"/>
                  </a:solidFill>
                  <a:latin typeface="Times New Roman" pitchFamily="18" charset="0"/>
                </a:rPr>
                <a:t>z = </a:t>
              </a:r>
              <a:r>
                <a:rPr lang="en-US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72412" name="Line 28"/>
            <p:cNvSpPr>
              <a:spLocks noChangeShapeType="1"/>
            </p:cNvSpPr>
            <p:nvPr/>
          </p:nvSpPr>
          <p:spPr bwMode="auto">
            <a:xfrm>
              <a:off x="2984" y="1560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72413" name="Object 29"/>
            <p:cNvGraphicFramePr>
              <a:graphicFrameLocks noChangeAspect="1"/>
            </p:cNvGraphicFramePr>
            <p:nvPr/>
          </p:nvGraphicFramePr>
          <p:xfrm>
            <a:off x="2703" y="1188"/>
            <a:ext cx="812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736560" imgH="253800" progId="Equation.DSMT4">
                    <p:embed/>
                  </p:oleObj>
                </mc:Choice>
                <mc:Fallback>
                  <p:oleObj name="Equation" r:id="rId5" imgW="73656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3" y="1188"/>
                          <a:ext cx="812" cy="2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2414" name="Object 30"/>
            <p:cNvGraphicFramePr>
              <a:graphicFrameLocks noChangeAspect="1"/>
            </p:cNvGraphicFramePr>
            <p:nvPr/>
          </p:nvGraphicFramePr>
          <p:xfrm>
            <a:off x="1752" y="1674"/>
            <a:ext cx="224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90440" imgH="228600" progId="Equation.DSMT4">
                    <p:embed/>
                  </p:oleObj>
                </mc:Choice>
                <mc:Fallback>
                  <p:oleObj name="Equation" r:id="rId7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2" y="1674"/>
                          <a:ext cx="224" cy="2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2415" name="Object 31"/>
            <p:cNvGraphicFramePr>
              <a:graphicFrameLocks noChangeAspect="1"/>
            </p:cNvGraphicFramePr>
            <p:nvPr/>
          </p:nvGraphicFramePr>
          <p:xfrm>
            <a:off x="3617" y="1673"/>
            <a:ext cx="890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787320" imgH="253800" progId="Equation.DSMT4">
                    <p:embed/>
                  </p:oleObj>
                </mc:Choice>
                <mc:Fallback>
                  <p:oleObj name="Equation" r:id="rId9" imgW="78732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7" y="1673"/>
                          <a:ext cx="890" cy="2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2416" name="Text Box 32"/>
            <p:cNvSpPr txBox="1">
              <a:spLocks noChangeArrowheads="1"/>
            </p:cNvSpPr>
            <p:nvPr/>
          </p:nvSpPr>
          <p:spPr bwMode="auto">
            <a:xfrm>
              <a:off x="3302" y="1551"/>
              <a:ext cx="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+</a:t>
              </a:r>
            </a:p>
          </p:txBody>
        </p:sp>
        <p:sp>
          <p:nvSpPr>
            <p:cNvPr id="272417" name="Text Box 33"/>
            <p:cNvSpPr txBox="1">
              <a:spLocks noChangeArrowheads="1"/>
            </p:cNvSpPr>
            <p:nvPr/>
          </p:nvSpPr>
          <p:spPr bwMode="auto">
            <a:xfrm>
              <a:off x="3334" y="1831"/>
              <a:ext cx="16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-</a:t>
              </a:r>
            </a:p>
          </p:txBody>
        </p:sp>
        <p:sp>
          <p:nvSpPr>
            <p:cNvPr id="272418" name="AutoShape 34"/>
            <p:cNvSpPr>
              <a:spLocks noChangeArrowheads="1"/>
            </p:cNvSpPr>
            <p:nvPr/>
          </p:nvSpPr>
          <p:spPr bwMode="auto">
            <a:xfrm>
              <a:off x="2536" y="1744"/>
              <a:ext cx="504" cy="120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437" name="Line 53"/>
            <p:cNvSpPr>
              <a:spLocks noChangeShapeType="1"/>
            </p:cNvSpPr>
            <p:nvPr/>
          </p:nvSpPr>
          <p:spPr bwMode="auto">
            <a:xfrm>
              <a:off x="1360" y="136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2438" name="Text Box 54"/>
            <p:cNvSpPr txBox="1">
              <a:spLocks noChangeArrowheads="1"/>
            </p:cNvSpPr>
            <p:nvPr/>
          </p:nvSpPr>
          <p:spPr bwMode="auto">
            <a:xfrm>
              <a:off x="1642" y="1227"/>
              <a:ext cx="17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i="1" dirty="0">
                  <a:latin typeface="Times New Roman" pitchFamily="18" charset="0"/>
                </a:rPr>
                <a:t>z</a:t>
              </a:r>
            </a:p>
          </p:txBody>
        </p:sp>
        <p:sp>
          <p:nvSpPr>
            <p:cNvPr id="272439" name="Line 55"/>
            <p:cNvSpPr>
              <a:spLocks noChangeShapeType="1"/>
            </p:cNvSpPr>
            <p:nvPr/>
          </p:nvSpPr>
          <p:spPr bwMode="auto">
            <a:xfrm>
              <a:off x="1360" y="1280"/>
              <a:ext cx="0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Slide Number Placeholder 39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fld id="{00BC3C73-D451-4092-B0A6-2A3D725F2DBC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1362782" y="3058743"/>
            <a:ext cx="2177530" cy="1042022"/>
            <a:chOff x="663575" y="4457700"/>
            <a:chExt cx="3581400" cy="1713821"/>
          </a:xfrm>
        </p:grpSpPr>
        <p:grpSp>
          <p:nvGrpSpPr>
            <p:cNvPr id="42" name="Group 156"/>
            <p:cNvGrpSpPr>
              <a:grpSpLocks/>
            </p:cNvGrpSpPr>
            <p:nvPr/>
          </p:nvGrpSpPr>
          <p:grpSpPr bwMode="auto">
            <a:xfrm>
              <a:off x="663575" y="4457700"/>
              <a:ext cx="3581400" cy="1701800"/>
              <a:chOff x="1418" y="2872"/>
              <a:chExt cx="2256" cy="1072"/>
            </a:xfrm>
          </p:grpSpPr>
          <p:sp>
            <p:nvSpPr>
              <p:cNvPr id="45" name="Line 157"/>
              <p:cNvSpPr>
                <a:spLocks noChangeShapeType="1"/>
              </p:cNvSpPr>
              <p:nvPr/>
            </p:nvSpPr>
            <p:spPr bwMode="auto">
              <a:xfrm flipV="1">
                <a:off x="1480" y="3637"/>
                <a:ext cx="2002" cy="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Line 158"/>
              <p:cNvSpPr>
                <a:spLocks noChangeShapeType="1"/>
              </p:cNvSpPr>
              <p:nvPr/>
            </p:nvSpPr>
            <p:spPr bwMode="auto">
              <a:xfrm>
                <a:off x="1960" y="2872"/>
                <a:ext cx="0" cy="10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Text Box 159"/>
              <p:cNvSpPr txBox="1">
                <a:spLocks noChangeArrowheads="1"/>
              </p:cNvSpPr>
              <p:nvPr/>
            </p:nvSpPr>
            <p:spPr bwMode="auto">
              <a:xfrm>
                <a:off x="3514" y="3498"/>
                <a:ext cx="1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i="1" dirty="0">
                    <a:latin typeface="Times New Roman" pitchFamily="18" charset="0"/>
                  </a:rPr>
                  <a:t>t</a:t>
                </a:r>
              </a:p>
            </p:txBody>
          </p:sp>
          <p:graphicFrame>
            <p:nvGraphicFramePr>
              <p:cNvPr id="48" name="Object 160"/>
              <p:cNvGraphicFramePr>
                <a:graphicFrameLocks noChangeAspect="1"/>
              </p:cNvGraphicFramePr>
              <p:nvPr/>
            </p:nvGraphicFramePr>
            <p:xfrm>
              <a:off x="1418" y="2913"/>
              <a:ext cx="420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406080" imgH="253800" progId="Equation.DSMT4">
                      <p:embed/>
                    </p:oleObj>
                  </mc:Choice>
                  <mc:Fallback>
                    <p:oleObj name="Equation" r:id="rId11" imgW="406080" imgH="2538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18" y="2913"/>
                            <a:ext cx="420" cy="26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9" name="Line 161"/>
              <p:cNvSpPr>
                <a:spLocks noChangeShapeType="1"/>
              </p:cNvSpPr>
              <p:nvPr/>
            </p:nvSpPr>
            <p:spPr bwMode="auto">
              <a:xfrm flipV="1">
                <a:off x="1960" y="3008"/>
                <a:ext cx="0" cy="6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Line 162"/>
              <p:cNvSpPr>
                <a:spLocks noChangeShapeType="1"/>
              </p:cNvSpPr>
              <p:nvPr/>
            </p:nvSpPr>
            <p:spPr bwMode="auto">
              <a:xfrm flipV="1">
                <a:off x="1960" y="2968"/>
                <a:ext cx="1120" cy="67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Line 163"/>
              <p:cNvSpPr>
                <a:spLocks noChangeShapeType="1"/>
              </p:cNvSpPr>
              <p:nvPr/>
            </p:nvSpPr>
            <p:spPr bwMode="auto">
              <a:xfrm>
                <a:off x="3080" y="2968"/>
                <a:ext cx="0" cy="67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aphicFrame>
          <p:nvGraphicFramePr>
            <p:cNvPr id="43" name="Object 162"/>
            <p:cNvGraphicFramePr>
              <a:graphicFrameLocks noChangeAspect="1"/>
            </p:cNvGraphicFramePr>
            <p:nvPr/>
          </p:nvGraphicFramePr>
          <p:xfrm>
            <a:off x="2366510" y="5882596"/>
            <a:ext cx="311150" cy="288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90440" imgH="177480" progId="Equation.DSMT4">
                    <p:embed/>
                  </p:oleObj>
                </mc:Choice>
                <mc:Fallback>
                  <p:oleObj name="Equation" r:id="rId13" imgW="1904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6510" y="5882596"/>
                          <a:ext cx="311150" cy="288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4" name="Straight Arrow Connector 43"/>
            <p:cNvCxnSpPr/>
            <p:nvPr/>
          </p:nvCxnSpPr>
          <p:spPr>
            <a:xfrm>
              <a:off x="1611085" y="5802086"/>
              <a:ext cx="1709058" cy="0"/>
            </a:xfrm>
            <a:prstGeom prst="straightConnector1">
              <a:avLst/>
            </a:prstGeom>
            <a:ln>
              <a:solidFill>
                <a:schemeClr val="tx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/>
          <p:cNvSpPr txBox="1"/>
          <p:nvPr/>
        </p:nvSpPr>
        <p:spPr>
          <a:xfrm>
            <a:off x="184597" y="3248743"/>
            <a:ext cx="1749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Sawtooth</a:t>
            </a:r>
            <a:r>
              <a:rPr lang="en-US" dirty="0"/>
              <a:t> wave</a:t>
            </a:r>
          </a:p>
          <a:p>
            <a:r>
              <a:rPr lang="en-US" dirty="0"/>
              <a:t>at source</a:t>
            </a:r>
          </a:p>
        </p:txBody>
      </p:sp>
      <p:graphicFrame>
        <p:nvGraphicFramePr>
          <p:cNvPr id="53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3301878"/>
              </p:ext>
            </p:extLst>
          </p:nvPr>
        </p:nvGraphicFramePr>
        <p:xfrm>
          <a:off x="3717561" y="5535658"/>
          <a:ext cx="27908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84200" imgH="253800" progId="Equation.DSMT4">
                  <p:embed/>
                </p:oleObj>
              </mc:Choice>
              <mc:Fallback>
                <p:oleObj name="Equation" r:id="rId15" imgW="13842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7561" y="5535658"/>
                        <a:ext cx="2790825" cy="5111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" name="Group 53"/>
          <p:cNvGrpSpPr/>
          <p:nvPr/>
        </p:nvGrpSpPr>
        <p:grpSpPr>
          <a:xfrm>
            <a:off x="1480184" y="3594339"/>
            <a:ext cx="7200909" cy="2133601"/>
            <a:chOff x="945243" y="821417"/>
            <a:chExt cx="7200909" cy="2133601"/>
          </a:xfrm>
        </p:grpSpPr>
        <p:grpSp>
          <p:nvGrpSpPr>
            <p:cNvPr id="55" name="Group 3"/>
            <p:cNvGrpSpPr>
              <a:grpSpLocks/>
            </p:cNvGrpSpPr>
            <p:nvPr/>
          </p:nvGrpSpPr>
          <p:grpSpPr bwMode="auto">
            <a:xfrm>
              <a:off x="1654856" y="1758042"/>
              <a:ext cx="6096008" cy="800100"/>
              <a:chOff x="576" y="1752"/>
              <a:chExt cx="3840" cy="504"/>
            </a:xfrm>
          </p:grpSpPr>
          <p:grpSp>
            <p:nvGrpSpPr>
              <p:cNvPr id="67" name="Group 4"/>
              <p:cNvGrpSpPr>
                <a:grpSpLocks/>
              </p:cNvGrpSpPr>
              <p:nvPr/>
            </p:nvGrpSpPr>
            <p:grpSpPr bwMode="auto">
              <a:xfrm>
                <a:off x="1152" y="1752"/>
                <a:ext cx="3264" cy="48"/>
                <a:chOff x="1152" y="1728"/>
                <a:chExt cx="3264" cy="48"/>
              </a:xfrm>
            </p:grpSpPr>
            <p:sp>
              <p:nvSpPr>
                <p:cNvPr id="77" name="Freeform 5"/>
                <p:cNvSpPr>
                  <a:spLocks/>
                </p:cNvSpPr>
                <p:nvPr/>
              </p:nvSpPr>
              <p:spPr bwMode="auto">
                <a:xfrm>
                  <a:off x="1194" y="1752"/>
                  <a:ext cx="3222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222" y="0"/>
                    </a:cxn>
                  </a:cxnLst>
                  <a:rect l="0" t="0" r="r" b="b"/>
                  <a:pathLst>
                    <a:path w="3222" h="1">
                      <a:moveTo>
                        <a:pt x="0" y="0"/>
                      </a:moveTo>
                      <a:lnTo>
                        <a:pt x="3222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Oval 6"/>
                <p:cNvSpPr>
                  <a:spLocks noChangeArrowheads="1"/>
                </p:cNvSpPr>
                <p:nvPr/>
              </p:nvSpPr>
              <p:spPr bwMode="auto">
                <a:xfrm>
                  <a:off x="1152" y="1728"/>
                  <a:ext cx="48" cy="48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8" name="Group 7"/>
              <p:cNvGrpSpPr>
                <a:grpSpLocks/>
              </p:cNvGrpSpPr>
              <p:nvPr/>
            </p:nvGrpSpPr>
            <p:grpSpPr bwMode="auto">
              <a:xfrm>
                <a:off x="1152" y="2208"/>
                <a:ext cx="3264" cy="48"/>
                <a:chOff x="1152" y="1728"/>
                <a:chExt cx="3264" cy="48"/>
              </a:xfrm>
            </p:grpSpPr>
            <p:sp>
              <p:nvSpPr>
                <p:cNvPr id="75" name="Freeform 8"/>
                <p:cNvSpPr>
                  <a:spLocks/>
                </p:cNvSpPr>
                <p:nvPr/>
              </p:nvSpPr>
              <p:spPr bwMode="auto">
                <a:xfrm>
                  <a:off x="1194" y="1752"/>
                  <a:ext cx="3222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222" y="0"/>
                    </a:cxn>
                  </a:cxnLst>
                  <a:rect l="0" t="0" r="r" b="b"/>
                  <a:pathLst>
                    <a:path w="3222" h="1">
                      <a:moveTo>
                        <a:pt x="0" y="0"/>
                      </a:moveTo>
                      <a:lnTo>
                        <a:pt x="3222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Oval 9"/>
                <p:cNvSpPr>
                  <a:spLocks noChangeArrowheads="1"/>
                </p:cNvSpPr>
                <p:nvPr/>
              </p:nvSpPr>
              <p:spPr bwMode="auto">
                <a:xfrm>
                  <a:off x="1152" y="1728"/>
                  <a:ext cx="48" cy="48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9" name="Group 10"/>
              <p:cNvGrpSpPr>
                <a:grpSpLocks/>
              </p:cNvGrpSpPr>
              <p:nvPr/>
            </p:nvGrpSpPr>
            <p:grpSpPr bwMode="auto">
              <a:xfrm>
                <a:off x="576" y="1776"/>
                <a:ext cx="618" cy="384"/>
                <a:chOff x="576" y="1752"/>
                <a:chExt cx="618" cy="384"/>
              </a:xfrm>
            </p:grpSpPr>
            <p:sp>
              <p:nvSpPr>
                <p:cNvPr id="72" name="Oval 11"/>
                <p:cNvSpPr>
                  <a:spLocks noChangeArrowheads="1"/>
                </p:cNvSpPr>
                <p:nvPr/>
              </p:nvSpPr>
              <p:spPr bwMode="auto">
                <a:xfrm>
                  <a:off x="576" y="1872"/>
                  <a:ext cx="240" cy="264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12"/>
                <p:cNvSpPr>
                  <a:spLocks/>
                </p:cNvSpPr>
                <p:nvPr/>
              </p:nvSpPr>
              <p:spPr bwMode="auto">
                <a:xfrm>
                  <a:off x="696" y="1752"/>
                  <a:ext cx="1" cy="114"/>
                </a:xfrm>
                <a:custGeom>
                  <a:avLst/>
                  <a:gdLst/>
                  <a:ahLst/>
                  <a:cxnLst>
                    <a:cxn ang="0">
                      <a:pos x="0" y="114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 h="114">
                      <a:moveTo>
                        <a:pt x="0" y="114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Line 13"/>
                <p:cNvSpPr>
                  <a:spLocks noChangeShapeType="1"/>
                </p:cNvSpPr>
                <p:nvPr/>
              </p:nvSpPr>
              <p:spPr bwMode="auto">
                <a:xfrm>
                  <a:off x="696" y="1752"/>
                  <a:ext cx="49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70" name="Line 14"/>
              <p:cNvSpPr>
                <a:spLocks noChangeShapeType="1"/>
              </p:cNvSpPr>
              <p:nvPr/>
            </p:nvSpPr>
            <p:spPr bwMode="auto">
              <a:xfrm flipH="1">
                <a:off x="696" y="2232"/>
                <a:ext cx="49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" name="Line 15"/>
              <p:cNvSpPr>
                <a:spLocks noChangeShapeType="1"/>
              </p:cNvSpPr>
              <p:nvPr/>
            </p:nvSpPr>
            <p:spPr bwMode="auto">
              <a:xfrm flipV="1">
                <a:off x="696" y="2160"/>
                <a:ext cx="0" cy="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56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7483997"/>
                </p:ext>
              </p:extLst>
            </p:nvPr>
          </p:nvGraphicFramePr>
          <p:xfrm>
            <a:off x="945243" y="1656442"/>
            <a:ext cx="646113" cy="1106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393480" imgH="672840" progId="Equation.DSMT4">
                    <p:embed/>
                  </p:oleObj>
                </mc:Choice>
                <mc:Fallback>
                  <p:oleObj name="Equation" r:id="rId17" imgW="393480" imgH="6728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5243" y="1656442"/>
                          <a:ext cx="646113" cy="1106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" name="Text Box 17"/>
            <p:cNvSpPr txBox="1">
              <a:spLocks noChangeArrowheads="1"/>
            </p:cNvSpPr>
            <p:nvPr/>
          </p:nvSpPr>
          <p:spPr bwMode="auto">
            <a:xfrm>
              <a:off x="2151745" y="2588305"/>
              <a:ext cx="973139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i="1">
                  <a:solidFill>
                    <a:srgbClr val="000000"/>
                  </a:solidFill>
                  <a:latin typeface="Times New Roman" pitchFamily="18" charset="0"/>
                </a:rPr>
                <a:t>z = </a:t>
              </a:r>
              <a:r>
                <a:rPr lang="en-US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</a:p>
          </p:txBody>
        </p:sp>
        <p:graphicFrame>
          <p:nvGraphicFramePr>
            <p:cNvPr id="58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1637935"/>
                </p:ext>
              </p:extLst>
            </p:nvPr>
          </p:nvGraphicFramePr>
          <p:xfrm>
            <a:off x="4047222" y="1961242"/>
            <a:ext cx="387350" cy="463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90440" imgH="228600" progId="Equation.DSMT4">
                    <p:embed/>
                  </p:oleObj>
                </mc:Choice>
                <mc:Fallback>
                  <p:oleObj name="Equation" r:id="rId18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7222" y="1961242"/>
                          <a:ext cx="387350" cy="463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8538218"/>
                </p:ext>
              </p:extLst>
            </p:nvPr>
          </p:nvGraphicFramePr>
          <p:xfrm>
            <a:off x="6161775" y="1954892"/>
            <a:ext cx="1984377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104840" imgH="253800" progId="Equation.DSMT4">
                    <p:embed/>
                  </p:oleObj>
                </mc:Choice>
                <mc:Fallback>
                  <p:oleObj name="Equation" r:id="rId19" imgW="110484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61775" y="1954892"/>
                          <a:ext cx="1984377" cy="454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" name="Text Box 22"/>
            <p:cNvSpPr txBox="1">
              <a:spLocks noChangeArrowheads="1"/>
            </p:cNvSpPr>
            <p:nvPr/>
          </p:nvSpPr>
          <p:spPr bwMode="auto">
            <a:xfrm>
              <a:off x="5691874" y="1781855"/>
              <a:ext cx="3175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+</a:t>
              </a:r>
            </a:p>
          </p:txBody>
        </p:sp>
        <p:sp>
          <p:nvSpPr>
            <p:cNvPr id="61" name="Text Box 23"/>
            <p:cNvSpPr txBox="1">
              <a:spLocks noChangeArrowheads="1"/>
            </p:cNvSpPr>
            <p:nvPr/>
          </p:nvSpPr>
          <p:spPr bwMode="auto">
            <a:xfrm>
              <a:off x="5742674" y="2226355"/>
              <a:ext cx="2603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-</a:t>
              </a:r>
            </a:p>
          </p:txBody>
        </p:sp>
        <p:sp>
          <p:nvSpPr>
            <p:cNvPr id="62" name="AutoShape 24"/>
            <p:cNvSpPr>
              <a:spLocks noChangeArrowheads="1"/>
            </p:cNvSpPr>
            <p:nvPr/>
          </p:nvSpPr>
          <p:spPr bwMode="auto">
            <a:xfrm>
              <a:off x="4834623" y="1478642"/>
              <a:ext cx="800101" cy="190500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63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4201669"/>
                </p:ext>
              </p:extLst>
            </p:nvPr>
          </p:nvGraphicFramePr>
          <p:xfrm>
            <a:off x="5062777" y="821417"/>
            <a:ext cx="373063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64880" imgH="228600" progId="Equation.DSMT4">
                    <p:embed/>
                  </p:oleObj>
                </mc:Choice>
                <mc:Fallback>
                  <p:oleObj name="Equation" r:id="rId21" imgW="164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2777" y="821417"/>
                          <a:ext cx="373063" cy="5175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" name="Line 73"/>
            <p:cNvSpPr>
              <a:spLocks noChangeShapeType="1"/>
            </p:cNvSpPr>
            <p:nvPr/>
          </p:nvSpPr>
          <p:spPr bwMode="auto">
            <a:xfrm flipH="1" flipV="1">
              <a:off x="3602432" y="1277250"/>
              <a:ext cx="914400" cy="533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Line 74"/>
            <p:cNvSpPr>
              <a:spLocks noChangeShapeType="1"/>
            </p:cNvSpPr>
            <p:nvPr/>
          </p:nvSpPr>
          <p:spPr bwMode="auto">
            <a:xfrm>
              <a:off x="3618307" y="1277250"/>
              <a:ext cx="0" cy="533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721429" y="1186542"/>
              <a:ext cx="761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Pulse</a:t>
              </a:r>
            </a:p>
          </p:txBody>
        </p:sp>
      </p:grpSp>
      <p:sp>
        <p:nvSpPr>
          <p:cNvPr id="79" name="Text Box 165"/>
          <p:cNvSpPr txBox="1">
            <a:spLocks noChangeArrowheads="1"/>
          </p:cNvSpPr>
          <p:nvPr/>
        </p:nvSpPr>
        <p:spPr bwMode="auto">
          <a:xfrm>
            <a:off x="2376932" y="6143027"/>
            <a:ext cx="6226176" cy="646331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Note that the shape of the pulse as a function of </a:t>
            </a:r>
            <a:r>
              <a:rPr lang="en-US" i="1" dirty="0">
                <a:latin typeface="Times New Roman" pitchFamily="18" charset="0"/>
              </a:rPr>
              <a:t>z</a:t>
            </a:r>
            <a:r>
              <a:rPr lang="en-US" dirty="0"/>
              <a:t> is a scaled mirror image of the pulse shape as a function of </a:t>
            </a:r>
            <a:r>
              <a:rPr lang="en-US" i="1" dirty="0">
                <a:latin typeface="Times New Roman" pitchFamily="18" charset="0"/>
              </a:rPr>
              <a:t>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90698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7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443" name="Text Box 155"/>
          <p:cNvSpPr txBox="1">
            <a:spLocks noChangeArrowheads="1"/>
          </p:cNvSpPr>
          <p:nvPr/>
        </p:nvSpPr>
        <p:spPr bwMode="auto">
          <a:xfrm>
            <a:off x="2392507" y="0"/>
            <a:ext cx="4369254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Oscilloscope trace</a:t>
            </a:r>
          </a:p>
        </p:txBody>
      </p:sp>
      <p:sp>
        <p:nvSpPr>
          <p:cNvPr id="62" name="Slide Number Placeholder 61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fld id="{00BC3C73-D451-4092-B0A6-2A3D725F2DB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4637313" y="970189"/>
            <a:ext cx="409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Note the delay in the trace on this oscilloscope.</a:t>
            </a:r>
          </a:p>
        </p:txBody>
      </p:sp>
      <p:grpSp>
        <p:nvGrpSpPr>
          <p:cNvPr id="98" name="Group 97"/>
          <p:cNvGrpSpPr/>
          <p:nvPr/>
        </p:nvGrpSpPr>
        <p:grpSpPr>
          <a:xfrm>
            <a:off x="543779" y="4735280"/>
            <a:ext cx="3581400" cy="1893446"/>
            <a:chOff x="173655" y="4735280"/>
            <a:chExt cx="3581400" cy="1893446"/>
          </a:xfrm>
        </p:grpSpPr>
        <p:grpSp>
          <p:nvGrpSpPr>
            <p:cNvPr id="268444" name="Group 156"/>
            <p:cNvGrpSpPr>
              <a:grpSpLocks/>
            </p:cNvGrpSpPr>
            <p:nvPr/>
          </p:nvGrpSpPr>
          <p:grpSpPr bwMode="auto">
            <a:xfrm>
              <a:off x="173655" y="4914905"/>
              <a:ext cx="3581400" cy="1701800"/>
              <a:chOff x="1418" y="2872"/>
              <a:chExt cx="2256" cy="1072"/>
            </a:xfrm>
          </p:grpSpPr>
          <p:sp>
            <p:nvSpPr>
              <p:cNvPr id="268445" name="Line 157"/>
              <p:cNvSpPr>
                <a:spLocks noChangeShapeType="1"/>
              </p:cNvSpPr>
              <p:nvPr/>
            </p:nvSpPr>
            <p:spPr bwMode="auto">
              <a:xfrm flipV="1">
                <a:off x="1480" y="3637"/>
                <a:ext cx="2002" cy="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446" name="Line 158"/>
              <p:cNvSpPr>
                <a:spLocks noChangeShapeType="1"/>
              </p:cNvSpPr>
              <p:nvPr/>
            </p:nvSpPr>
            <p:spPr bwMode="auto">
              <a:xfrm>
                <a:off x="1960" y="2872"/>
                <a:ext cx="0" cy="10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447" name="Text Box 159"/>
              <p:cNvSpPr txBox="1">
                <a:spLocks noChangeArrowheads="1"/>
              </p:cNvSpPr>
              <p:nvPr/>
            </p:nvSpPr>
            <p:spPr bwMode="auto">
              <a:xfrm>
                <a:off x="3514" y="3498"/>
                <a:ext cx="1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i="1" dirty="0">
                    <a:latin typeface="Times New Roman" pitchFamily="18" charset="0"/>
                  </a:rPr>
                  <a:t>t</a:t>
                </a:r>
              </a:p>
            </p:txBody>
          </p:sp>
          <p:graphicFrame>
            <p:nvGraphicFramePr>
              <p:cNvPr id="268448" name="Object 160"/>
              <p:cNvGraphicFramePr>
                <a:graphicFrameLocks noChangeAspect="1"/>
              </p:cNvGraphicFramePr>
              <p:nvPr/>
            </p:nvGraphicFramePr>
            <p:xfrm>
              <a:off x="1418" y="2913"/>
              <a:ext cx="420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406080" imgH="253800" progId="Equation.DSMT4">
                      <p:embed/>
                    </p:oleObj>
                  </mc:Choice>
                  <mc:Fallback>
                    <p:oleObj name="Equation" r:id="rId3" imgW="406080" imgH="2538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18" y="2913"/>
                            <a:ext cx="420" cy="26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8449" name="Line 161"/>
              <p:cNvSpPr>
                <a:spLocks noChangeShapeType="1"/>
              </p:cNvSpPr>
              <p:nvPr/>
            </p:nvSpPr>
            <p:spPr bwMode="auto">
              <a:xfrm flipV="1">
                <a:off x="1960" y="3008"/>
                <a:ext cx="0" cy="6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450" name="Line 162"/>
              <p:cNvSpPr>
                <a:spLocks noChangeShapeType="1"/>
              </p:cNvSpPr>
              <p:nvPr/>
            </p:nvSpPr>
            <p:spPr bwMode="auto">
              <a:xfrm flipV="1">
                <a:off x="1960" y="2968"/>
                <a:ext cx="1120" cy="67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451" name="Line 163"/>
              <p:cNvSpPr>
                <a:spLocks noChangeShapeType="1"/>
              </p:cNvSpPr>
              <p:nvPr/>
            </p:nvSpPr>
            <p:spPr bwMode="auto">
              <a:xfrm>
                <a:off x="3080" y="2968"/>
                <a:ext cx="0" cy="67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aphicFrame>
          <p:nvGraphicFramePr>
            <p:cNvPr id="3" name="Object 162"/>
            <p:cNvGraphicFramePr>
              <a:graphicFrameLocks noChangeAspect="1"/>
            </p:cNvGraphicFramePr>
            <p:nvPr/>
          </p:nvGraphicFramePr>
          <p:xfrm>
            <a:off x="1876590" y="6339801"/>
            <a:ext cx="311150" cy="288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90440" imgH="177480" progId="Equation.DSMT4">
                    <p:embed/>
                  </p:oleObj>
                </mc:Choice>
                <mc:Fallback>
                  <p:oleObj name="Equation" r:id="rId5" imgW="1904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6590" y="6339801"/>
                          <a:ext cx="311150" cy="288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7" name="Straight Arrow Connector 66"/>
            <p:cNvCxnSpPr/>
            <p:nvPr/>
          </p:nvCxnSpPr>
          <p:spPr>
            <a:xfrm>
              <a:off x="1121165" y="6259291"/>
              <a:ext cx="1709058" cy="0"/>
            </a:xfrm>
            <a:prstGeom prst="straightConnector1">
              <a:avLst/>
            </a:prstGeom>
            <a:ln>
              <a:solidFill>
                <a:schemeClr val="tx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/>
            <p:cNvSpPr txBox="1"/>
            <p:nvPr/>
          </p:nvSpPr>
          <p:spPr>
            <a:xfrm>
              <a:off x="1632861" y="4735280"/>
              <a:ext cx="6479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z</a:t>
              </a:r>
              <a:r>
                <a:rPr lang="en-US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 = 0</a:t>
              </a: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4595588" y="4669967"/>
            <a:ext cx="4169684" cy="2013187"/>
            <a:chOff x="4443184" y="4669967"/>
            <a:chExt cx="4169684" cy="2013187"/>
          </a:xfrm>
        </p:grpSpPr>
        <p:sp>
          <p:nvSpPr>
            <p:cNvPr id="85" name="Line 157"/>
            <p:cNvSpPr>
              <a:spLocks noChangeShapeType="1"/>
            </p:cNvSpPr>
            <p:nvPr/>
          </p:nvSpPr>
          <p:spPr bwMode="auto">
            <a:xfrm flipV="1">
              <a:off x="4541608" y="6128657"/>
              <a:ext cx="3753305" cy="36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158"/>
            <p:cNvSpPr>
              <a:spLocks noChangeShapeType="1"/>
            </p:cNvSpPr>
            <p:nvPr/>
          </p:nvSpPr>
          <p:spPr bwMode="auto">
            <a:xfrm>
              <a:off x="5303609" y="4914905"/>
              <a:ext cx="0" cy="170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 Box 159"/>
            <p:cNvSpPr txBox="1">
              <a:spLocks noChangeArrowheads="1"/>
            </p:cNvSpPr>
            <p:nvPr/>
          </p:nvSpPr>
          <p:spPr bwMode="auto">
            <a:xfrm>
              <a:off x="8358868" y="5908905"/>
              <a:ext cx="254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i="1" dirty="0">
                  <a:latin typeface="Times New Roman" pitchFamily="18" charset="0"/>
                </a:rPr>
                <a:t>t</a:t>
              </a:r>
            </a:p>
          </p:txBody>
        </p:sp>
        <p:graphicFrame>
          <p:nvGraphicFramePr>
            <p:cNvPr id="88" name="Object 160"/>
            <p:cNvGraphicFramePr>
              <a:graphicFrameLocks noChangeAspect="1"/>
            </p:cNvGraphicFramePr>
            <p:nvPr/>
          </p:nvGraphicFramePr>
          <p:xfrm>
            <a:off x="4443184" y="4979993"/>
            <a:ext cx="666750" cy="417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406080" imgH="253800" progId="Equation.DSMT4">
                    <p:embed/>
                  </p:oleObj>
                </mc:Choice>
                <mc:Fallback>
                  <p:oleObj name="Equation" r:id="rId7" imgW="4060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3184" y="4979993"/>
                          <a:ext cx="666750" cy="4175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" name="Line 161"/>
            <p:cNvSpPr>
              <a:spLocks noChangeShapeType="1"/>
            </p:cNvSpPr>
            <p:nvPr/>
          </p:nvSpPr>
          <p:spPr bwMode="auto">
            <a:xfrm flipV="1">
              <a:off x="5303609" y="5130805"/>
              <a:ext cx="0" cy="1003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Line 162"/>
            <p:cNvSpPr>
              <a:spLocks noChangeShapeType="1"/>
            </p:cNvSpPr>
            <p:nvPr/>
          </p:nvSpPr>
          <p:spPr bwMode="auto">
            <a:xfrm flipV="1">
              <a:off x="6098287" y="5067305"/>
              <a:ext cx="1778001" cy="1066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Line 163"/>
            <p:cNvSpPr>
              <a:spLocks noChangeShapeType="1"/>
            </p:cNvSpPr>
            <p:nvPr/>
          </p:nvSpPr>
          <p:spPr bwMode="auto">
            <a:xfrm>
              <a:off x="7887174" y="5067305"/>
              <a:ext cx="0" cy="1066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83" name="Object 162"/>
            <p:cNvGraphicFramePr>
              <a:graphicFrameLocks noChangeAspect="1"/>
            </p:cNvGraphicFramePr>
            <p:nvPr/>
          </p:nvGraphicFramePr>
          <p:xfrm>
            <a:off x="6777490" y="6394229"/>
            <a:ext cx="311150" cy="288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90440" imgH="177480" progId="Equation.DSMT4">
                    <p:embed/>
                  </p:oleObj>
                </mc:Choice>
                <mc:Fallback>
                  <p:oleObj name="Equation" r:id="rId8" imgW="1904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77490" y="6394229"/>
                          <a:ext cx="311150" cy="288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84" name="Straight Arrow Connector 83"/>
            <p:cNvCxnSpPr/>
            <p:nvPr/>
          </p:nvCxnSpPr>
          <p:spPr>
            <a:xfrm>
              <a:off x="6207122" y="6270176"/>
              <a:ext cx="1709058" cy="0"/>
            </a:xfrm>
            <a:prstGeom prst="straightConnector1">
              <a:avLst/>
            </a:prstGeom>
            <a:ln>
              <a:solidFill>
                <a:schemeClr val="tx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>
            <a:xfrm>
              <a:off x="6662058" y="4669967"/>
              <a:ext cx="6479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z</a:t>
              </a:r>
              <a:r>
                <a:rPr lang="en-US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 &gt; 0</a:t>
              </a:r>
            </a:p>
          </p:txBody>
        </p:sp>
        <p:graphicFrame>
          <p:nvGraphicFramePr>
            <p:cNvPr id="4" name="Object 165"/>
            <p:cNvGraphicFramePr>
              <a:graphicFrameLocks noChangeAspect="1"/>
            </p:cNvGraphicFramePr>
            <p:nvPr/>
          </p:nvGraphicFramePr>
          <p:xfrm>
            <a:off x="5694364" y="5068683"/>
            <a:ext cx="858836" cy="3217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609480" imgH="228600" progId="Equation.DSMT4">
                    <p:embed/>
                  </p:oleObj>
                </mc:Choice>
                <mc:Fallback>
                  <p:oleObj name="Equation" r:id="rId9" imgW="609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94364" y="5068683"/>
                          <a:ext cx="858836" cy="321786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96" name="Straight Connector 95"/>
            <p:cNvCxnSpPr/>
            <p:nvPr/>
          </p:nvCxnSpPr>
          <p:spPr>
            <a:xfrm>
              <a:off x="6106886" y="5486400"/>
              <a:ext cx="0" cy="642257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 105"/>
          <p:cNvGrpSpPr/>
          <p:nvPr/>
        </p:nvGrpSpPr>
        <p:grpSpPr>
          <a:xfrm>
            <a:off x="937996" y="1603838"/>
            <a:ext cx="6742113" cy="2630697"/>
            <a:chOff x="937996" y="1603838"/>
            <a:chExt cx="6742113" cy="2630697"/>
          </a:xfrm>
        </p:grpSpPr>
        <p:grpSp>
          <p:nvGrpSpPr>
            <p:cNvPr id="268371" name="Group 83"/>
            <p:cNvGrpSpPr>
              <a:grpSpLocks/>
            </p:cNvGrpSpPr>
            <p:nvPr/>
          </p:nvGrpSpPr>
          <p:grpSpPr bwMode="auto">
            <a:xfrm>
              <a:off x="1584109" y="3127838"/>
              <a:ext cx="6096000" cy="800100"/>
              <a:chOff x="576" y="1752"/>
              <a:chExt cx="3840" cy="504"/>
            </a:xfrm>
          </p:grpSpPr>
          <p:grpSp>
            <p:nvGrpSpPr>
              <p:cNvPr id="268372" name="Group 84"/>
              <p:cNvGrpSpPr>
                <a:grpSpLocks/>
              </p:cNvGrpSpPr>
              <p:nvPr/>
            </p:nvGrpSpPr>
            <p:grpSpPr bwMode="auto">
              <a:xfrm>
                <a:off x="1152" y="1752"/>
                <a:ext cx="3264" cy="48"/>
                <a:chOff x="1152" y="1728"/>
                <a:chExt cx="3264" cy="48"/>
              </a:xfrm>
            </p:grpSpPr>
            <p:sp>
              <p:nvSpPr>
                <p:cNvPr id="268373" name="Freeform 85"/>
                <p:cNvSpPr>
                  <a:spLocks/>
                </p:cNvSpPr>
                <p:nvPr/>
              </p:nvSpPr>
              <p:spPr bwMode="auto">
                <a:xfrm>
                  <a:off x="1194" y="1752"/>
                  <a:ext cx="3222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222" y="0"/>
                    </a:cxn>
                  </a:cxnLst>
                  <a:rect l="0" t="0" r="r" b="b"/>
                  <a:pathLst>
                    <a:path w="3222" h="1">
                      <a:moveTo>
                        <a:pt x="0" y="0"/>
                      </a:moveTo>
                      <a:lnTo>
                        <a:pt x="3222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8374" name="Oval 86"/>
                <p:cNvSpPr>
                  <a:spLocks noChangeArrowheads="1"/>
                </p:cNvSpPr>
                <p:nvPr/>
              </p:nvSpPr>
              <p:spPr bwMode="auto">
                <a:xfrm>
                  <a:off x="1152" y="1728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68375" name="Group 87"/>
              <p:cNvGrpSpPr>
                <a:grpSpLocks/>
              </p:cNvGrpSpPr>
              <p:nvPr/>
            </p:nvGrpSpPr>
            <p:grpSpPr bwMode="auto">
              <a:xfrm>
                <a:off x="1152" y="2208"/>
                <a:ext cx="3264" cy="48"/>
                <a:chOff x="1152" y="1728"/>
                <a:chExt cx="3264" cy="48"/>
              </a:xfrm>
            </p:grpSpPr>
            <p:sp>
              <p:nvSpPr>
                <p:cNvPr id="268376" name="Freeform 88"/>
                <p:cNvSpPr>
                  <a:spLocks/>
                </p:cNvSpPr>
                <p:nvPr/>
              </p:nvSpPr>
              <p:spPr bwMode="auto">
                <a:xfrm>
                  <a:off x="1194" y="1752"/>
                  <a:ext cx="3222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222" y="0"/>
                    </a:cxn>
                  </a:cxnLst>
                  <a:rect l="0" t="0" r="r" b="b"/>
                  <a:pathLst>
                    <a:path w="3222" h="1">
                      <a:moveTo>
                        <a:pt x="0" y="0"/>
                      </a:moveTo>
                      <a:lnTo>
                        <a:pt x="3222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8377" name="Oval 89"/>
                <p:cNvSpPr>
                  <a:spLocks noChangeArrowheads="1"/>
                </p:cNvSpPr>
                <p:nvPr/>
              </p:nvSpPr>
              <p:spPr bwMode="auto">
                <a:xfrm>
                  <a:off x="1152" y="1728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68378" name="Group 90"/>
              <p:cNvGrpSpPr>
                <a:grpSpLocks/>
              </p:cNvGrpSpPr>
              <p:nvPr/>
            </p:nvGrpSpPr>
            <p:grpSpPr bwMode="auto">
              <a:xfrm>
                <a:off x="576" y="1776"/>
                <a:ext cx="618" cy="384"/>
                <a:chOff x="576" y="1752"/>
                <a:chExt cx="618" cy="384"/>
              </a:xfrm>
            </p:grpSpPr>
            <p:sp>
              <p:nvSpPr>
                <p:cNvPr id="268379" name="Oval 91"/>
                <p:cNvSpPr>
                  <a:spLocks noChangeArrowheads="1"/>
                </p:cNvSpPr>
                <p:nvPr/>
              </p:nvSpPr>
              <p:spPr bwMode="auto">
                <a:xfrm>
                  <a:off x="576" y="1872"/>
                  <a:ext cx="240" cy="264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8380" name="Freeform 92"/>
                <p:cNvSpPr>
                  <a:spLocks/>
                </p:cNvSpPr>
                <p:nvPr/>
              </p:nvSpPr>
              <p:spPr bwMode="auto">
                <a:xfrm>
                  <a:off x="696" y="1752"/>
                  <a:ext cx="1" cy="114"/>
                </a:xfrm>
                <a:custGeom>
                  <a:avLst/>
                  <a:gdLst/>
                  <a:ahLst/>
                  <a:cxnLst>
                    <a:cxn ang="0">
                      <a:pos x="0" y="114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 h="114">
                      <a:moveTo>
                        <a:pt x="0" y="114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8381" name="Line 93"/>
                <p:cNvSpPr>
                  <a:spLocks noChangeShapeType="1"/>
                </p:cNvSpPr>
                <p:nvPr/>
              </p:nvSpPr>
              <p:spPr bwMode="auto">
                <a:xfrm>
                  <a:off x="696" y="1752"/>
                  <a:ext cx="49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68382" name="Line 94"/>
              <p:cNvSpPr>
                <a:spLocks noChangeShapeType="1"/>
              </p:cNvSpPr>
              <p:nvPr/>
            </p:nvSpPr>
            <p:spPr bwMode="auto">
              <a:xfrm flipH="1">
                <a:off x="696" y="2232"/>
                <a:ext cx="49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383" name="Line 95"/>
              <p:cNvSpPr>
                <a:spLocks noChangeShapeType="1"/>
              </p:cNvSpPr>
              <p:nvPr/>
            </p:nvSpPr>
            <p:spPr bwMode="auto">
              <a:xfrm flipV="1">
                <a:off x="696" y="2160"/>
                <a:ext cx="0" cy="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268384" name="Object 96"/>
            <p:cNvGraphicFramePr>
              <a:graphicFrameLocks noChangeAspect="1"/>
            </p:cNvGraphicFramePr>
            <p:nvPr/>
          </p:nvGraphicFramePr>
          <p:xfrm>
            <a:off x="937996" y="3146888"/>
            <a:ext cx="582613" cy="998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393480" imgH="672840" progId="Equation.DSMT4">
                    <p:embed/>
                  </p:oleObj>
                </mc:Choice>
                <mc:Fallback>
                  <p:oleObj name="Equation" r:id="rId11" imgW="393480" imgH="6728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7996" y="3146888"/>
                          <a:ext cx="582613" cy="9985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8385" name="Group 97"/>
            <p:cNvGrpSpPr>
              <a:grpSpLocks/>
            </p:cNvGrpSpPr>
            <p:nvPr/>
          </p:nvGrpSpPr>
          <p:grpSpPr bwMode="auto">
            <a:xfrm>
              <a:off x="2544546" y="1603838"/>
              <a:ext cx="933450" cy="2286000"/>
              <a:chOff x="996" y="1488"/>
              <a:chExt cx="588" cy="1440"/>
            </a:xfrm>
          </p:grpSpPr>
          <p:sp>
            <p:nvSpPr>
              <p:cNvPr id="268386" name="Rectangle 98"/>
              <p:cNvSpPr>
                <a:spLocks noChangeArrowheads="1"/>
              </p:cNvSpPr>
              <p:nvPr/>
            </p:nvSpPr>
            <p:spPr bwMode="auto">
              <a:xfrm>
                <a:off x="1200" y="1488"/>
                <a:ext cx="384" cy="720"/>
              </a:xfrm>
              <a:prstGeom prst="rect">
                <a:avLst/>
              </a:prstGeom>
              <a:solidFill>
                <a:srgbClr val="FFFF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FF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  <p:sp>
            <p:nvSpPr>
              <p:cNvPr id="268387" name="Oval 99"/>
              <p:cNvSpPr>
                <a:spLocks noChangeArrowheads="1"/>
              </p:cNvSpPr>
              <p:nvPr/>
            </p:nvSpPr>
            <p:spPr bwMode="auto">
              <a:xfrm>
                <a:off x="1248" y="1584"/>
                <a:ext cx="288" cy="28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388" name="Oval 100"/>
              <p:cNvSpPr>
                <a:spLocks noChangeArrowheads="1"/>
              </p:cNvSpPr>
              <p:nvPr/>
            </p:nvSpPr>
            <p:spPr bwMode="auto">
              <a:xfrm flipV="1">
                <a:off x="1248" y="1969"/>
                <a:ext cx="48" cy="4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389" name="Oval 101"/>
              <p:cNvSpPr>
                <a:spLocks noChangeArrowheads="1"/>
              </p:cNvSpPr>
              <p:nvPr/>
            </p:nvSpPr>
            <p:spPr bwMode="auto">
              <a:xfrm flipV="1">
                <a:off x="1248" y="2112"/>
                <a:ext cx="48" cy="4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390" name="Freeform 102"/>
              <p:cNvSpPr>
                <a:spLocks/>
              </p:cNvSpPr>
              <p:nvPr/>
            </p:nvSpPr>
            <p:spPr bwMode="auto">
              <a:xfrm>
                <a:off x="996" y="1994"/>
                <a:ext cx="278" cy="484"/>
              </a:xfrm>
              <a:custGeom>
                <a:avLst/>
                <a:gdLst/>
                <a:ahLst/>
                <a:cxnLst>
                  <a:cxn ang="0">
                    <a:pos x="0" y="484"/>
                  </a:cxn>
                  <a:cxn ang="0">
                    <a:pos x="48" y="316"/>
                  </a:cxn>
                  <a:cxn ang="0">
                    <a:pos x="78" y="250"/>
                  </a:cxn>
                  <a:cxn ang="0">
                    <a:pos x="138" y="124"/>
                  </a:cxn>
                  <a:cxn ang="0">
                    <a:pos x="180" y="64"/>
                  </a:cxn>
                  <a:cxn ang="0">
                    <a:pos x="186" y="46"/>
                  </a:cxn>
                  <a:cxn ang="0">
                    <a:pos x="228" y="34"/>
                  </a:cxn>
                  <a:cxn ang="0">
                    <a:pos x="246" y="16"/>
                  </a:cxn>
                  <a:cxn ang="0">
                    <a:pos x="276" y="4"/>
                  </a:cxn>
                </a:cxnLst>
                <a:rect l="0" t="0" r="r" b="b"/>
                <a:pathLst>
                  <a:path w="278" h="484">
                    <a:moveTo>
                      <a:pt x="0" y="484"/>
                    </a:moveTo>
                    <a:cubicBezTo>
                      <a:pt x="6" y="429"/>
                      <a:pt x="16" y="364"/>
                      <a:pt x="48" y="316"/>
                    </a:cubicBezTo>
                    <a:cubicBezTo>
                      <a:pt x="55" y="290"/>
                      <a:pt x="68" y="275"/>
                      <a:pt x="78" y="250"/>
                    </a:cubicBezTo>
                    <a:cubicBezTo>
                      <a:pt x="94" y="209"/>
                      <a:pt x="100" y="149"/>
                      <a:pt x="138" y="124"/>
                    </a:cubicBezTo>
                    <a:cubicBezTo>
                      <a:pt x="151" y="104"/>
                      <a:pt x="169" y="85"/>
                      <a:pt x="180" y="64"/>
                    </a:cubicBezTo>
                    <a:cubicBezTo>
                      <a:pt x="183" y="58"/>
                      <a:pt x="182" y="50"/>
                      <a:pt x="186" y="46"/>
                    </a:cubicBezTo>
                    <a:cubicBezTo>
                      <a:pt x="189" y="43"/>
                      <a:pt x="228" y="34"/>
                      <a:pt x="228" y="34"/>
                    </a:cubicBezTo>
                    <a:cubicBezTo>
                      <a:pt x="234" y="28"/>
                      <a:pt x="238" y="20"/>
                      <a:pt x="246" y="16"/>
                    </a:cubicBezTo>
                    <a:cubicBezTo>
                      <a:pt x="278" y="0"/>
                      <a:pt x="276" y="22"/>
                      <a:pt x="276" y="4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391" name="Freeform 103"/>
              <p:cNvSpPr>
                <a:spLocks/>
              </p:cNvSpPr>
              <p:nvPr/>
            </p:nvSpPr>
            <p:spPr bwMode="auto">
              <a:xfrm>
                <a:off x="996" y="2520"/>
                <a:ext cx="90" cy="408"/>
              </a:xfrm>
              <a:custGeom>
                <a:avLst/>
                <a:gdLst/>
                <a:ahLst/>
                <a:cxnLst>
                  <a:cxn ang="0">
                    <a:pos x="0" y="408"/>
                  </a:cxn>
                  <a:cxn ang="0">
                    <a:pos x="42" y="306"/>
                  </a:cxn>
                  <a:cxn ang="0">
                    <a:pos x="78" y="60"/>
                  </a:cxn>
                  <a:cxn ang="0">
                    <a:pos x="90" y="0"/>
                  </a:cxn>
                </a:cxnLst>
                <a:rect l="0" t="0" r="r" b="b"/>
                <a:pathLst>
                  <a:path w="90" h="408">
                    <a:moveTo>
                      <a:pt x="0" y="408"/>
                    </a:moveTo>
                    <a:cubicBezTo>
                      <a:pt x="12" y="373"/>
                      <a:pt x="31" y="341"/>
                      <a:pt x="42" y="306"/>
                    </a:cubicBezTo>
                    <a:cubicBezTo>
                      <a:pt x="66" y="227"/>
                      <a:pt x="67" y="141"/>
                      <a:pt x="78" y="60"/>
                    </a:cubicBezTo>
                    <a:cubicBezTo>
                      <a:pt x="81" y="41"/>
                      <a:pt x="90" y="20"/>
                      <a:pt x="9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392" name="Freeform 104"/>
              <p:cNvSpPr>
                <a:spLocks/>
              </p:cNvSpPr>
              <p:nvPr/>
            </p:nvSpPr>
            <p:spPr bwMode="auto">
              <a:xfrm>
                <a:off x="1080" y="2134"/>
                <a:ext cx="168" cy="314"/>
              </a:xfrm>
              <a:custGeom>
                <a:avLst/>
                <a:gdLst/>
                <a:ahLst/>
                <a:cxnLst>
                  <a:cxn ang="0">
                    <a:pos x="0" y="314"/>
                  </a:cxn>
                  <a:cxn ang="0">
                    <a:pos x="78" y="122"/>
                  </a:cxn>
                  <a:cxn ang="0">
                    <a:pos x="84" y="104"/>
                  </a:cxn>
                  <a:cxn ang="0">
                    <a:pos x="102" y="92"/>
                  </a:cxn>
                  <a:cxn ang="0">
                    <a:pos x="138" y="26"/>
                  </a:cxn>
                  <a:cxn ang="0">
                    <a:pos x="168" y="8"/>
                  </a:cxn>
                </a:cxnLst>
                <a:rect l="0" t="0" r="r" b="b"/>
                <a:pathLst>
                  <a:path w="168" h="314">
                    <a:moveTo>
                      <a:pt x="0" y="314"/>
                    </a:moveTo>
                    <a:cubicBezTo>
                      <a:pt x="19" y="265"/>
                      <a:pt x="23" y="140"/>
                      <a:pt x="78" y="122"/>
                    </a:cubicBezTo>
                    <a:cubicBezTo>
                      <a:pt x="80" y="116"/>
                      <a:pt x="80" y="109"/>
                      <a:pt x="84" y="104"/>
                    </a:cubicBezTo>
                    <a:cubicBezTo>
                      <a:pt x="89" y="98"/>
                      <a:pt x="98" y="98"/>
                      <a:pt x="102" y="92"/>
                    </a:cubicBezTo>
                    <a:cubicBezTo>
                      <a:pt x="124" y="57"/>
                      <a:pt x="107" y="47"/>
                      <a:pt x="138" y="26"/>
                    </a:cubicBezTo>
                    <a:cubicBezTo>
                      <a:pt x="147" y="0"/>
                      <a:pt x="138" y="8"/>
                      <a:pt x="168" y="8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68393" name="Group 105"/>
            <p:cNvGrpSpPr>
              <a:grpSpLocks/>
            </p:cNvGrpSpPr>
            <p:nvPr/>
          </p:nvGrpSpPr>
          <p:grpSpPr bwMode="auto">
            <a:xfrm>
              <a:off x="5981484" y="1603838"/>
              <a:ext cx="944563" cy="2286000"/>
              <a:chOff x="989" y="1488"/>
              <a:chExt cx="595" cy="1440"/>
            </a:xfrm>
          </p:grpSpPr>
          <p:sp>
            <p:nvSpPr>
              <p:cNvPr id="268394" name="Rectangle 106"/>
              <p:cNvSpPr>
                <a:spLocks noChangeArrowheads="1"/>
              </p:cNvSpPr>
              <p:nvPr/>
            </p:nvSpPr>
            <p:spPr bwMode="auto">
              <a:xfrm>
                <a:off x="1200" y="1488"/>
                <a:ext cx="384" cy="720"/>
              </a:xfrm>
              <a:prstGeom prst="rect">
                <a:avLst/>
              </a:prstGeom>
              <a:solidFill>
                <a:srgbClr val="FFFF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FF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  <p:sp>
            <p:nvSpPr>
              <p:cNvPr id="268395" name="Oval 107"/>
              <p:cNvSpPr>
                <a:spLocks noChangeArrowheads="1"/>
              </p:cNvSpPr>
              <p:nvPr/>
            </p:nvSpPr>
            <p:spPr bwMode="auto">
              <a:xfrm>
                <a:off x="1248" y="1584"/>
                <a:ext cx="288" cy="28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396" name="Oval 108"/>
              <p:cNvSpPr>
                <a:spLocks noChangeArrowheads="1"/>
              </p:cNvSpPr>
              <p:nvPr/>
            </p:nvSpPr>
            <p:spPr bwMode="auto">
              <a:xfrm flipV="1">
                <a:off x="1248" y="1969"/>
                <a:ext cx="48" cy="4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397" name="Oval 109"/>
              <p:cNvSpPr>
                <a:spLocks noChangeArrowheads="1"/>
              </p:cNvSpPr>
              <p:nvPr/>
            </p:nvSpPr>
            <p:spPr bwMode="auto">
              <a:xfrm flipV="1">
                <a:off x="1248" y="2112"/>
                <a:ext cx="48" cy="4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398" name="Freeform 110"/>
              <p:cNvSpPr>
                <a:spLocks/>
              </p:cNvSpPr>
              <p:nvPr/>
            </p:nvSpPr>
            <p:spPr bwMode="auto">
              <a:xfrm>
                <a:off x="996" y="1994"/>
                <a:ext cx="278" cy="484"/>
              </a:xfrm>
              <a:custGeom>
                <a:avLst/>
                <a:gdLst/>
                <a:ahLst/>
                <a:cxnLst>
                  <a:cxn ang="0">
                    <a:pos x="0" y="484"/>
                  </a:cxn>
                  <a:cxn ang="0">
                    <a:pos x="48" y="316"/>
                  </a:cxn>
                  <a:cxn ang="0">
                    <a:pos x="78" y="250"/>
                  </a:cxn>
                  <a:cxn ang="0">
                    <a:pos x="138" y="124"/>
                  </a:cxn>
                  <a:cxn ang="0">
                    <a:pos x="180" y="64"/>
                  </a:cxn>
                  <a:cxn ang="0">
                    <a:pos x="186" y="46"/>
                  </a:cxn>
                  <a:cxn ang="0">
                    <a:pos x="228" y="34"/>
                  </a:cxn>
                  <a:cxn ang="0">
                    <a:pos x="246" y="16"/>
                  </a:cxn>
                  <a:cxn ang="0">
                    <a:pos x="276" y="4"/>
                  </a:cxn>
                </a:cxnLst>
                <a:rect l="0" t="0" r="r" b="b"/>
                <a:pathLst>
                  <a:path w="278" h="484">
                    <a:moveTo>
                      <a:pt x="0" y="484"/>
                    </a:moveTo>
                    <a:cubicBezTo>
                      <a:pt x="6" y="429"/>
                      <a:pt x="16" y="364"/>
                      <a:pt x="48" y="316"/>
                    </a:cubicBezTo>
                    <a:cubicBezTo>
                      <a:pt x="55" y="290"/>
                      <a:pt x="68" y="275"/>
                      <a:pt x="78" y="250"/>
                    </a:cubicBezTo>
                    <a:cubicBezTo>
                      <a:pt x="94" y="209"/>
                      <a:pt x="100" y="149"/>
                      <a:pt x="138" y="124"/>
                    </a:cubicBezTo>
                    <a:cubicBezTo>
                      <a:pt x="151" y="104"/>
                      <a:pt x="169" y="85"/>
                      <a:pt x="180" y="64"/>
                    </a:cubicBezTo>
                    <a:cubicBezTo>
                      <a:pt x="183" y="58"/>
                      <a:pt x="182" y="50"/>
                      <a:pt x="186" y="46"/>
                    </a:cubicBezTo>
                    <a:cubicBezTo>
                      <a:pt x="189" y="43"/>
                      <a:pt x="228" y="34"/>
                      <a:pt x="228" y="34"/>
                    </a:cubicBezTo>
                    <a:cubicBezTo>
                      <a:pt x="234" y="28"/>
                      <a:pt x="238" y="20"/>
                      <a:pt x="246" y="16"/>
                    </a:cubicBezTo>
                    <a:cubicBezTo>
                      <a:pt x="278" y="0"/>
                      <a:pt x="276" y="22"/>
                      <a:pt x="276" y="4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399" name="Freeform 111"/>
              <p:cNvSpPr>
                <a:spLocks/>
              </p:cNvSpPr>
              <p:nvPr/>
            </p:nvSpPr>
            <p:spPr bwMode="auto">
              <a:xfrm>
                <a:off x="989" y="2520"/>
                <a:ext cx="90" cy="408"/>
              </a:xfrm>
              <a:custGeom>
                <a:avLst/>
                <a:gdLst/>
                <a:ahLst/>
                <a:cxnLst>
                  <a:cxn ang="0">
                    <a:pos x="0" y="408"/>
                  </a:cxn>
                  <a:cxn ang="0">
                    <a:pos x="42" y="306"/>
                  </a:cxn>
                  <a:cxn ang="0">
                    <a:pos x="78" y="60"/>
                  </a:cxn>
                  <a:cxn ang="0">
                    <a:pos x="90" y="0"/>
                  </a:cxn>
                </a:cxnLst>
                <a:rect l="0" t="0" r="r" b="b"/>
                <a:pathLst>
                  <a:path w="90" h="408">
                    <a:moveTo>
                      <a:pt x="0" y="408"/>
                    </a:moveTo>
                    <a:cubicBezTo>
                      <a:pt x="12" y="373"/>
                      <a:pt x="31" y="341"/>
                      <a:pt x="42" y="306"/>
                    </a:cubicBezTo>
                    <a:cubicBezTo>
                      <a:pt x="66" y="227"/>
                      <a:pt x="67" y="141"/>
                      <a:pt x="78" y="60"/>
                    </a:cubicBezTo>
                    <a:cubicBezTo>
                      <a:pt x="81" y="41"/>
                      <a:pt x="90" y="20"/>
                      <a:pt x="9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400" name="Freeform 112"/>
              <p:cNvSpPr>
                <a:spLocks/>
              </p:cNvSpPr>
              <p:nvPr/>
            </p:nvSpPr>
            <p:spPr bwMode="auto">
              <a:xfrm>
                <a:off x="1080" y="2134"/>
                <a:ext cx="168" cy="314"/>
              </a:xfrm>
              <a:custGeom>
                <a:avLst/>
                <a:gdLst/>
                <a:ahLst/>
                <a:cxnLst>
                  <a:cxn ang="0">
                    <a:pos x="0" y="314"/>
                  </a:cxn>
                  <a:cxn ang="0">
                    <a:pos x="78" y="122"/>
                  </a:cxn>
                  <a:cxn ang="0">
                    <a:pos x="84" y="104"/>
                  </a:cxn>
                  <a:cxn ang="0">
                    <a:pos x="102" y="92"/>
                  </a:cxn>
                  <a:cxn ang="0">
                    <a:pos x="138" y="26"/>
                  </a:cxn>
                  <a:cxn ang="0">
                    <a:pos x="168" y="8"/>
                  </a:cxn>
                </a:cxnLst>
                <a:rect l="0" t="0" r="r" b="b"/>
                <a:pathLst>
                  <a:path w="168" h="314">
                    <a:moveTo>
                      <a:pt x="0" y="314"/>
                    </a:moveTo>
                    <a:cubicBezTo>
                      <a:pt x="19" y="265"/>
                      <a:pt x="23" y="140"/>
                      <a:pt x="78" y="122"/>
                    </a:cubicBezTo>
                    <a:cubicBezTo>
                      <a:pt x="80" y="116"/>
                      <a:pt x="80" y="109"/>
                      <a:pt x="84" y="104"/>
                    </a:cubicBezTo>
                    <a:cubicBezTo>
                      <a:pt x="89" y="98"/>
                      <a:pt x="98" y="98"/>
                      <a:pt x="102" y="92"/>
                    </a:cubicBezTo>
                    <a:cubicBezTo>
                      <a:pt x="124" y="57"/>
                      <a:pt x="107" y="47"/>
                      <a:pt x="138" y="26"/>
                    </a:cubicBezTo>
                    <a:cubicBezTo>
                      <a:pt x="147" y="0"/>
                      <a:pt x="138" y="8"/>
                      <a:pt x="168" y="8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68401" name="Oval 113"/>
            <p:cNvSpPr>
              <a:spLocks noChangeArrowheads="1"/>
            </p:cNvSpPr>
            <p:nvPr/>
          </p:nvSpPr>
          <p:spPr bwMode="auto">
            <a:xfrm>
              <a:off x="5970824" y="3127838"/>
              <a:ext cx="76200" cy="762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402" name="Oval 114"/>
            <p:cNvSpPr>
              <a:spLocks noChangeArrowheads="1"/>
            </p:cNvSpPr>
            <p:nvPr/>
          </p:nvSpPr>
          <p:spPr bwMode="auto">
            <a:xfrm flipH="1">
              <a:off x="5916396" y="3851738"/>
              <a:ext cx="76200" cy="7461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68403" name="Group 115"/>
            <p:cNvGrpSpPr>
              <a:grpSpLocks/>
            </p:cNvGrpSpPr>
            <p:nvPr/>
          </p:nvGrpSpPr>
          <p:grpSpPr bwMode="auto">
            <a:xfrm>
              <a:off x="3020796" y="1883238"/>
              <a:ext cx="354013" cy="177800"/>
              <a:chOff x="1274" y="1664"/>
              <a:chExt cx="223" cy="112"/>
            </a:xfrm>
          </p:grpSpPr>
          <p:sp>
            <p:nvSpPr>
              <p:cNvPr id="268404" name="Line 116"/>
              <p:cNvSpPr>
                <a:spLocks noChangeShapeType="1"/>
              </p:cNvSpPr>
              <p:nvPr/>
            </p:nvSpPr>
            <p:spPr bwMode="auto">
              <a:xfrm>
                <a:off x="1274" y="1664"/>
                <a:ext cx="0" cy="1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405" name="Freeform 117"/>
              <p:cNvSpPr>
                <a:spLocks/>
              </p:cNvSpPr>
              <p:nvPr/>
            </p:nvSpPr>
            <p:spPr bwMode="auto">
              <a:xfrm>
                <a:off x="1274" y="1773"/>
                <a:ext cx="223" cy="3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223" y="0"/>
                  </a:cxn>
                </a:cxnLst>
                <a:rect l="0" t="0" r="r" b="b"/>
                <a:pathLst>
                  <a:path w="223" h="3">
                    <a:moveTo>
                      <a:pt x="0" y="3"/>
                    </a:moveTo>
                    <a:lnTo>
                      <a:pt x="223" y="0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406" name="Line 118"/>
              <p:cNvSpPr>
                <a:spLocks noChangeShapeType="1"/>
              </p:cNvSpPr>
              <p:nvPr/>
            </p:nvSpPr>
            <p:spPr bwMode="auto">
              <a:xfrm flipV="1">
                <a:off x="1274" y="1689"/>
                <a:ext cx="125" cy="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407" name="Line 119"/>
              <p:cNvSpPr>
                <a:spLocks noChangeShapeType="1"/>
              </p:cNvSpPr>
              <p:nvPr/>
            </p:nvSpPr>
            <p:spPr bwMode="auto">
              <a:xfrm>
                <a:off x="1399" y="1689"/>
                <a:ext cx="0" cy="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68408" name="Text Box 120"/>
            <p:cNvSpPr txBox="1">
              <a:spLocks noChangeArrowheads="1"/>
            </p:cNvSpPr>
            <p:nvPr/>
          </p:nvSpPr>
          <p:spPr bwMode="auto">
            <a:xfrm>
              <a:off x="2211357" y="3895981"/>
              <a:ext cx="58541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600" i="1" dirty="0">
                  <a:latin typeface="Times New Roman" pitchFamily="18" charset="0"/>
                </a:rPr>
                <a:t>z</a:t>
              </a:r>
              <a:r>
                <a:rPr lang="en-US" sz="1600" dirty="0">
                  <a:latin typeface="Times New Roman" pitchFamily="18" charset="0"/>
                </a:rPr>
                <a:t> = 0</a:t>
              </a:r>
            </a:p>
          </p:txBody>
        </p:sp>
        <p:sp>
          <p:nvSpPr>
            <p:cNvPr id="268409" name="Line 121"/>
            <p:cNvSpPr>
              <a:spLocks noChangeShapeType="1"/>
            </p:cNvSpPr>
            <p:nvPr/>
          </p:nvSpPr>
          <p:spPr bwMode="auto">
            <a:xfrm>
              <a:off x="6433921" y="1897526"/>
              <a:ext cx="0" cy="17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410" name="Freeform 122"/>
            <p:cNvSpPr>
              <a:spLocks/>
            </p:cNvSpPr>
            <p:nvPr/>
          </p:nvSpPr>
          <p:spPr bwMode="auto">
            <a:xfrm>
              <a:off x="6433921" y="2070563"/>
              <a:ext cx="354013" cy="4763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23" y="0"/>
                </a:cxn>
              </a:cxnLst>
              <a:rect l="0" t="0" r="r" b="b"/>
              <a:pathLst>
                <a:path w="223" h="3">
                  <a:moveTo>
                    <a:pt x="0" y="3"/>
                  </a:moveTo>
                  <a:lnTo>
                    <a:pt x="223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411" name="Line 123"/>
            <p:cNvSpPr>
              <a:spLocks noChangeShapeType="1"/>
            </p:cNvSpPr>
            <p:nvPr/>
          </p:nvSpPr>
          <p:spPr bwMode="auto">
            <a:xfrm flipV="1">
              <a:off x="6556159" y="1937213"/>
              <a:ext cx="198437" cy="138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412" name="Line 124"/>
            <p:cNvSpPr>
              <a:spLocks noChangeShapeType="1"/>
            </p:cNvSpPr>
            <p:nvPr/>
          </p:nvSpPr>
          <p:spPr bwMode="auto">
            <a:xfrm>
              <a:off x="6754596" y="1937213"/>
              <a:ext cx="0" cy="138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418" name="Text Box 130"/>
            <p:cNvSpPr txBox="1">
              <a:spLocks noChangeArrowheads="1"/>
            </p:cNvSpPr>
            <p:nvPr/>
          </p:nvSpPr>
          <p:spPr bwMode="auto">
            <a:xfrm>
              <a:off x="5656723" y="3895980"/>
              <a:ext cx="647934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600" i="1" dirty="0">
                  <a:latin typeface="Times New Roman" pitchFamily="18" charset="0"/>
                </a:rPr>
                <a:t>z</a:t>
              </a:r>
              <a:r>
                <a:rPr lang="en-US" sz="1600" dirty="0">
                  <a:latin typeface="Times New Roman" pitchFamily="18" charset="0"/>
                </a:rPr>
                <a:t> &gt; 0 </a:t>
              </a:r>
            </a:p>
          </p:txBody>
        </p:sp>
        <p:grpSp>
          <p:nvGrpSpPr>
            <p:cNvPr id="100" name="Group 72"/>
            <p:cNvGrpSpPr>
              <a:grpSpLocks/>
            </p:cNvGrpSpPr>
            <p:nvPr/>
          </p:nvGrpSpPr>
          <p:grpSpPr bwMode="auto">
            <a:xfrm>
              <a:off x="4103162" y="2637964"/>
              <a:ext cx="914400" cy="533400"/>
              <a:chOff x="2318" y="1136"/>
              <a:chExt cx="576" cy="336"/>
            </a:xfrm>
          </p:grpSpPr>
          <p:sp>
            <p:nvSpPr>
              <p:cNvPr id="101" name="Line 73"/>
              <p:cNvSpPr>
                <a:spLocks noChangeShapeType="1"/>
              </p:cNvSpPr>
              <p:nvPr/>
            </p:nvSpPr>
            <p:spPr bwMode="auto">
              <a:xfrm flipH="1" flipV="1">
                <a:off x="2318" y="1136"/>
                <a:ext cx="576" cy="33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" name="Line 74"/>
              <p:cNvSpPr>
                <a:spLocks noChangeShapeType="1"/>
              </p:cNvSpPr>
              <p:nvPr/>
            </p:nvSpPr>
            <p:spPr bwMode="auto">
              <a:xfrm>
                <a:off x="2328" y="1136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3" name="AutoShape 131"/>
            <p:cNvSpPr>
              <a:spLocks noChangeArrowheads="1"/>
            </p:cNvSpPr>
            <p:nvPr/>
          </p:nvSpPr>
          <p:spPr bwMode="auto">
            <a:xfrm>
              <a:off x="4855029" y="2661557"/>
              <a:ext cx="419100" cy="190500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68454" name="Object 42"/>
            <p:cNvGraphicFramePr>
              <a:graphicFrameLocks noChangeAspect="1"/>
            </p:cNvGraphicFramePr>
            <p:nvPr/>
          </p:nvGraphicFramePr>
          <p:xfrm>
            <a:off x="4953907" y="2029732"/>
            <a:ext cx="373063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64880" imgH="228600" progId="Equation.DSMT4">
                    <p:embed/>
                  </p:oleObj>
                </mc:Choice>
                <mc:Fallback>
                  <p:oleObj name="Equation" r:id="rId13" imgW="164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3907" y="2029732"/>
                          <a:ext cx="373063" cy="5175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4" name="Straight Arrow Connector 103"/>
            <p:cNvCxnSpPr/>
            <p:nvPr/>
          </p:nvCxnSpPr>
          <p:spPr>
            <a:xfrm>
              <a:off x="4038600" y="3320140"/>
              <a:ext cx="1055914" cy="0"/>
            </a:xfrm>
            <a:prstGeom prst="straightConnector1">
              <a:avLst/>
            </a:prstGeom>
            <a:ln>
              <a:solidFill>
                <a:schemeClr val="tx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68455" name="Object 161"/>
            <p:cNvGraphicFramePr>
              <a:graphicFrameLocks noChangeAspect="1"/>
            </p:cNvGraphicFramePr>
            <p:nvPr/>
          </p:nvGraphicFramePr>
          <p:xfrm>
            <a:off x="4004583" y="3391128"/>
            <a:ext cx="1039813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634680" imgH="228600" progId="Equation.DSMT4">
                    <p:embed/>
                  </p:oleObj>
                </mc:Choice>
                <mc:Fallback>
                  <p:oleObj name="Equation" r:id="rId15" imgW="6346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4583" y="3391128"/>
                          <a:ext cx="1039813" cy="3730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2183726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134" name="Text Box 78"/>
          <p:cNvSpPr txBox="1">
            <a:spLocks noChangeArrowheads="1"/>
          </p:cNvSpPr>
          <p:nvPr/>
        </p:nvSpPr>
        <p:spPr bwMode="auto">
          <a:xfrm>
            <a:off x="925739" y="837066"/>
            <a:ext cx="71215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The pulse is shown emerging from the source end of the line. </a:t>
            </a:r>
          </a:p>
        </p:txBody>
      </p:sp>
      <p:sp>
        <p:nvSpPr>
          <p:cNvPr id="301143" name="Text Box 87"/>
          <p:cNvSpPr txBox="1">
            <a:spLocks noChangeArrowheads="1"/>
          </p:cNvSpPr>
          <p:nvPr/>
        </p:nvSpPr>
        <p:spPr bwMode="auto">
          <a:xfrm>
            <a:off x="2754281" y="0"/>
            <a:ext cx="3258834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Snapshots</a:t>
            </a:r>
          </a:p>
        </p:txBody>
      </p:sp>
      <p:sp>
        <p:nvSpPr>
          <p:cNvPr id="49" name="Slide Number Placeholder 48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fld id="{00BC3C73-D451-4092-B0A6-2A3D725F2DB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2758167" y="1488621"/>
            <a:ext cx="3685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series of “snapshots” is shown.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945848" y="2204357"/>
            <a:ext cx="6900933" cy="2136776"/>
            <a:chOff x="945848" y="2204357"/>
            <a:chExt cx="6900933" cy="2136776"/>
          </a:xfrm>
        </p:grpSpPr>
        <p:sp>
          <p:nvSpPr>
            <p:cNvPr id="301060" name="Freeform 4"/>
            <p:cNvSpPr>
              <a:spLocks/>
            </p:cNvSpPr>
            <p:nvPr/>
          </p:nvSpPr>
          <p:spPr bwMode="auto">
            <a:xfrm>
              <a:off x="2636536" y="3182257"/>
              <a:ext cx="5114925" cy="15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222" y="0"/>
                </a:cxn>
              </a:cxnLst>
              <a:rect l="0" t="0" r="r" b="b"/>
              <a:pathLst>
                <a:path w="3222" h="1">
                  <a:moveTo>
                    <a:pt x="0" y="0"/>
                  </a:moveTo>
                  <a:lnTo>
                    <a:pt x="322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01062" name="Group 6"/>
            <p:cNvGrpSpPr>
              <a:grpSpLocks/>
            </p:cNvGrpSpPr>
            <p:nvPr/>
          </p:nvGrpSpPr>
          <p:grpSpPr bwMode="auto">
            <a:xfrm>
              <a:off x="2569861" y="3868057"/>
              <a:ext cx="5181600" cy="76200"/>
              <a:chOff x="1152" y="1728"/>
              <a:chExt cx="3264" cy="48"/>
            </a:xfrm>
          </p:grpSpPr>
          <p:sp>
            <p:nvSpPr>
              <p:cNvPr id="301063" name="Freeform 7"/>
              <p:cNvSpPr>
                <a:spLocks/>
              </p:cNvSpPr>
              <p:nvPr/>
            </p:nvSpPr>
            <p:spPr bwMode="auto">
              <a:xfrm>
                <a:off x="1194" y="1752"/>
                <a:ext cx="3222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222" y="0"/>
                  </a:cxn>
                </a:cxnLst>
                <a:rect l="0" t="0" r="r" b="b"/>
                <a:pathLst>
                  <a:path w="3222" h="1">
                    <a:moveTo>
                      <a:pt x="0" y="0"/>
                    </a:moveTo>
                    <a:lnTo>
                      <a:pt x="3222" y="0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1064" name="Oval 8"/>
              <p:cNvSpPr>
                <a:spLocks noChangeArrowheads="1"/>
              </p:cNvSpPr>
              <p:nvPr/>
            </p:nvSpPr>
            <p:spPr bwMode="auto">
              <a:xfrm>
                <a:off x="1152" y="1728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01065" name="Group 9"/>
            <p:cNvGrpSpPr>
              <a:grpSpLocks/>
            </p:cNvGrpSpPr>
            <p:nvPr/>
          </p:nvGrpSpPr>
          <p:grpSpPr bwMode="auto">
            <a:xfrm>
              <a:off x="1655461" y="3182257"/>
              <a:ext cx="981075" cy="609600"/>
              <a:chOff x="576" y="1752"/>
              <a:chExt cx="618" cy="384"/>
            </a:xfrm>
          </p:grpSpPr>
          <p:sp>
            <p:nvSpPr>
              <p:cNvPr id="301066" name="Oval 10"/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240" cy="26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1067" name="Freeform 11"/>
              <p:cNvSpPr>
                <a:spLocks/>
              </p:cNvSpPr>
              <p:nvPr/>
            </p:nvSpPr>
            <p:spPr bwMode="auto">
              <a:xfrm>
                <a:off x="696" y="1752"/>
                <a:ext cx="1" cy="114"/>
              </a:xfrm>
              <a:custGeom>
                <a:avLst/>
                <a:gdLst/>
                <a:ahLst/>
                <a:cxnLst>
                  <a:cxn ang="0">
                    <a:pos x="0" y="114"/>
                  </a:cxn>
                  <a:cxn ang="0">
                    <a:pos x="0" y="0"/>
                  </a:cxn>
                </a:cxnLst>
                <a:rect l="0" t="0" r="r" b="b"/>
                <a:pathLst>
                  <a:path w="1" h="114">
                    <a:moveTo>
                      <a:pt x="0" y="114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1068" name="Line 12"/>
              <p:cNvSpPr>
                <a:spLocks noChangeShapeType="1"/>
              </p:cNvSpPr>
              <p:nvPr/>
            </p:nvSpPr>
            <p:spPr bwMode="auto">
              <a:xfrm>
                <a:off x="696" y="1752"/>
                <a:ext cx="49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01069" name="Line 13"/>
            <p:cNvSpPr>
              <a:spLocks noChangeShapeType="1"/>
            </p:cNvSpPr>
            <p:nvPr/>
          </p:nvSpPr>
          <p:spPr bwMode="auto">
            <a:xfrm flipH="1">
              <a:off x="1845961" y="3906157"/>
              <a:ext cx="79057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1070" name="Line 14"/>
            <p:cNvSpPr>
              <a:spLocks noChangeShapeType="1"/>
            </p:cNvSpPr>
            <p:nvPr/>
          </p:nvSpPr>
          <p:spPr bwMode="auto">
            <a:xfrm flipV="1">
              <a:off x="1845961" y="3791857"/>
              <a:ext cx="0" cy="1143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01071" name="Object 15"/>
            <p:cNvGraphicFramePr>
              <a:graphicFrameLocks noChangeAspect="1"/>
            </p:cNvGraphicFramePr>
            <p:nvPr/>
          </p:nvGraphicFramePr>
          <p:xfrm>
            <a:off x="945848" y="3042557"/>
            <a:ext cx="646113" cy="1106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93480" imgH="672840" progId="Equation.DSMT4">
                    <p:embed/>
                  </p:oleObj>
                </mc:Choice>
                <mc:Fallback>
                  <p:oleObj name="Equation" r:id="rId3" imgW="393480" imgH="6728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5848" y="3042557"/>
                          <a:ext cx="646113" cy="1106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1072" name="Text Box 16"/>
            <p:cNvSpPr txBox="1">
              <a:spLocks noChangeArrowheads="1"/>
            </p:cNvSpPr>
            <p:nvPr/>
          </p:nvSpPr>
          <p:spPr bwMode="auto">
            <a:xfrm>
              <a:off x="2152348" y="3974420"/>
              <a:ext cx="973138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i="1">
                  <a:solidFill>
                    <a:srgbClr val="000000"/>
                  </a:solidFill>
                  <a:latin typeface="Times New Roman" pitchFamily="18" charset="0"/>
                </a:rPr>
                <a:t>z = </a:t>
              </a:r>
              <a:r>
                <a:rPr lang="en-US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301124" name="Line 68"/>
            <p:cNvSpPr>
              <a:spLocks noChangeShapeType="1"/>
            </p:cNvSpPr>
            <p:nvPr/>
          </p:nvSpPr>
          <p:spPr bwMode="auto">
            <a:xfrm>
              <a:off x="1707848" y="2661557"/>
              <a:ext cx="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1125" name="Line 69"/>
            <p:cNvSpPr>
              <a:spLocks noChangeShapeType="1"/>
            </p:cNvSpPr>
            <p:nvPr/>
          </p:nvSpPr>
          <p:spPr bwMode="auto">
            <a:xfrm flipH="1" flipV="1">
              <a:off x="2203148" y="2678331"/>
              <a:ext cx="368300" cy="2159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1126" name="Line 70"/>
            <p:cNvSpPr>
              <a:spLocks noChangeShapeType="1"/>
            </p:cNvSpPr>
            <p:nvPr/>
          </p:nvSpPr>
          <p:spPr bwMode="auto">
            <a:xfrm>
              <a:off x="2203148" y="2686957"/>
              <a:ext cx="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1127" name="Line 71"/>
            <p:cNvSpPr>
              <a:spLocks noChangeShapeType="1"/>
            </p:cNvSpPr>
            <p:nvPr/>
          </p:nvSpPr>
          <p:spPr bwMode="auto">
            <a:xfrm>
              <a:off x="2612572" y="2897860"/>
              <a:ext cx="527443" cy="29391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01128" name="Group 72"/>
            <p:cNvGrpSpPr>
              <a:grpSpLocks/>
            </p:cNvGrpSpPr>
            <p:nvPr/>
          </p:nvGrpSpPr>
          <p:grpSpPr bwMode="auto">
            <a:xfrm>
              <a:off x="4190258" y="2648857"/>
              <a:ext cx="914400" cy="533400"/>
              <a:chOff x="2318" y="1136"/>
              <a:chExt cx="576" cy="336"/>
            </a:xfrm>
          </p:grpSpPr>
          <p:sp>
            <p:nvSpPr>
              <p:cNvPr id="301129" name="Line 73"/>
              <p:cNvSpPr>
                <a:spLocks noChangeShapeType="1"/>
              </p:cNvSpPr>
              <p:nvPr/>
            </p:nvSpPr>
            <p:spPr bwMode="auto">
              <a:xfrm flipH="1" flipV="1">
                <a:off x="2318" y="1136"/>
                <a:ext cx="576" cy="33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1130" name="Line 74"/>
              <p:cNvSpPr>
                <a:spLocks noChangeShapeType="1"/>
              </p:cNvSpPr>
              <p:nvPr/>
            </p:nvSpPr>
            <p:spPr bwMode="auto">
              <a:xfrm>
                <a:off x="2328" y="1136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01131" name="Group 75"/>
            <p:cNvGrpSpPr>
              <a:grpSpLocks/>
            </p:cNvGrpSpPr>
            <p:nvPr/>
          </p:nvGrpSpPr>
          <p:grpSpPr bwMode="auto">
            <a:xfrm>
              <a:off x="2605106" y="2641873"/>
              <a:ext cx="914400" cy="533400"/>
              <a:chOff x="2322" y="1178"/>
              <a:chExt cx="576" cy="336"/>
            </a:xfrm>
          </p:grpSpPr>
          <p:sp>
            <p:nvSpPr>
              <p:cNvPr id="301133" name="Line 77"/>
              <p:cNvSpPr>
                <a:spLocks noChangeShapeType="1"/>
              </p:cNvSpPr>
              <p:nvPr/>
            </p:nvSpPr>
            <p:spPr bwMode="auto">
              <a:xfrm>
                <a:off x="2328" y="1178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1132" name="Line 76"/>
              <p:cNvSpPr>
                <a:spLocks noChangeShapeType="1"/>
              </p:cNvSpPr>
              <p:nvPr/>
            </p:nvSpPr>
            <p:spPr bwMode="auto">
              <a:xfrm flipH="1" flipV="1">
                <a:off x="2322" y="1178"/>
                <a:ext cx="576" cy="33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01135" name="Text Box 79"/>
            <p:cNvSpPr txBox="1">
              <a:spLocks noChangeArrowheads="1"/>
            </p:cNvSpPr>
            <p:nvPr/>
          </p:nvSpPr>
          <p:spPr bwMode="auto">
            <a:xfrm>
              <a:off x="1044273" y="2476500"/>
              <a:ext cx="57740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i="1" dirty="0">
                  <a:latin typeface="Times New Roman" pitchFamily="18" charset="0"/>
                </a:rPr>
                <a:t>t= </a:t>
              </a:r>
              <a:r>
                <a:rPr lang="en-US" dirty="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301136" name="Text Box 80"/>
            <p:cNvSpPr txBox="1">
              <a:spLocks noChangeArrowheads="1"/>
            </p:cNvSpPr>
            <p:nvPr/>
          </p:nvSpPr>
          <p:spPr bwMode="auto">
            <a:xfrm>
              <a:off x="1688345" y="2204357"/>
              <a:ext cx="102784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i="1" dirty="0">
                  <a:latin typeface="Times New Roman" pitchFamily="18" charset="0"/>
                </a:rPr>
                <a:t>t </a:t>
              </a:r>
              <a:r>
                <a:rPr lang="en-US" dirty="0">
                  <a:latin typeface="Times New Roman" pitchFamily="18" charset="0"/>
                </a:rPr>
                <a:t>= </a:t>
              </a:r>
              <a:r>
                <a:rPr lang="en-US" i="1" dirty="0">
                  <a:latin typeface="Times New Roman" pitchFamily="18" charset="0"/>
                </a:rPr>
                <a:t>t</a:t>
              </a:r>
              <a:r>
                <a:rPr lang="en-US" baseline="-25000" dirty="0">
                  <a:latin typeface="Times New Roman" pitchFamily="18" charset="0"/>
                </a:rPr>
                <a:t>1</a:t>
              </a:r>
              <a:r>
                <a:rPr lang="en-US" dirty="0">
                  <a:latin typeface="Times New Roman" pitchFamily="18" charset="0"/>
                </a:rPr>
                <a:t>&lt; </a:t>
              </a:r>
              <a:r>
                <a:rPr lang="en-US" dirty="0">
                  <a:latin typeface="Times New Roman" pitchFamily="18" charset="0"/>
                  <a:sym typeface="Symbol"/>
                </a:rPr>
                <a:t></a:t>
              </a:r>
              <a:r>
                <a:rPr lang="en-US" i="1" dirty="0">
                  <a:latin typeface="Times New Roman" pitchFamily="18" charset="0"/>
                  <a:sym typeface="Symbol"/>
                </a:rPr>
                <a:t>t</a:t>
              </a:r>
              <a:endParaRPr lang="en-US" dirty="0">
                <a:latin typeface="Times New Roman" pitchFamily="18" charset="0"/>
              </a:endParaRPr>
            </a:p>
          </p:txBody>
        </p:sp>
        <p:sp>
          <p:nvSpPr>
            <p:cNvPr id="301137" name="Text Box 81"/>
            <p:cNvSpPr txBox="1">
              <a:spLocks noChangeArrowheads="1"/>
            </p:cNvSpPr>
            <p:nvPr/>
          </p:nvSpPr>
          <p:spPr bwMode="auto">
            <a:xfrm>
              <a:off x="3016401" y="2307771"/>
              <a:ext cx="108555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i="1" dirty="0">
                  <a:latin typeface="Times New Roman" pitchFamily="18" charset="0"/>
                </a:rPr>
                <a:t>t </a:t>
              </a:r>
              <a:r>
                <a:rPr lang="en-US" dirty="0">
                  <a:latin typeface="Times New Roman" pitchFamily="18" charset="0"/>
                </a:rPr>
                <a:t>= </a:t>
              </a:r>
              <a:r>
                <a:rPr lang="en-US" i="1" dirty="0">
                  <a:latin typeface="Times New Roman" pitchFamily="18" charset="0"/>
                </a:rPr>
                <a:t>t</a:t>
              </a:r>
              <a:r>
                <a:rPr lang="en-US" baseline="-25000" dirty="0">
                  <a:latin typeface="Times New Roman" pitchFamily="18" charset="0"/>
                </a:rPr>
                <a:t>2</a:t>
              </a:r>
              <a:r>
                <a:rPr lang="en-US" dirty="0">
                  <a:latin typeface="Times New Roman" pitchFamily="18" charset="0"/>
                </a:rPr>
                <a:t> = </a:t>
              </a:r>
              <a:r>
                <a:rPr lang="en-US" dirty="0">
                  <a:latin typeface="Times New Roman" pitchFamily="18" charset="0"/>
                  <a:sym typeface="Symbol"/>
                </a:rPr>
                <a:t></a:t>
              </a:r>
              <a:r>
                <a:rPr lang="en-US" i="1" dirty="0">
                  <a:latin typeface="Times New Roman" pitchFamily="18" charset="0"/>
                  <a:sym typeface="Symbol"/>
                </a:rPr>
                <a:t>t</a:t>
              </a:r>
              <a:endParaRPr lang="en-US" i="1" dirty="0">
                <a:latin typeface="Times New Roman" pitchFamily="18" charset="0"/>
              </a:endParaRPr>
            </a:p>
          </p:txBody>
        </p:sp>
        <p:sp>
          <p:nvSpPr>
            <p:cNvPr id="301138" name="Text Box 82"/>
            <p:cNvSpPr txBox="1">
              <a:spLocks noChangeArrowheads="1"/>
            </p:cNvSpPr>
            <p:nvPr/>
          </p:nvSpPr>
          <p:spPr bwMode="auto">
            <a:xfrm>
              <a:off x="4698257" y="2458357"/>
              <a:ext cx="1040670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i="1" dirty="0">
                  <a:latin typeface="Times New Roman" pitchFamily="18" charset="0"/>
                </a:rPr>
                <a:t>t </a:t>
              </a:r>
              <a:r>
                <a:rPr lang="en-US" dirty="0">
                  <a:latin typeface="Times New Roman" pitchFamily="18" charset="0"/>
                </a:rPr>
                <a:t>= </a:t>
              </a:r>
              <a:r>
                <a:rPr lang="en-US" i="1" dirty="0">
                  <a:latin typeface="Times New Roman" pitchFamily="18" charset="0"/>
                </a:rPr>
                <a:t>t</a:t>
              </a:r>
              <a:r>
                <a:rPr lang="en-US" baseline="-25000" dirty="0">
                  <a:latin typeface="Times New Roman" pitchFamily="18" charset="0"/>
                </a:rPr>
                <a:t>3 </a:t>
              </a:r>
              <a:r>
                <a:rPr lang="en-US" dirty="0">
                  <a:latin typeface="Times New Roman" pitchFamily="18" charset="0"/>
                </a:rPr>
                <a:t>&gt; </a:t>
              </a:r>
              <a:r>
                <a:rPr lang="en-US" i="1" dirty="0">
                  <a:latin typeface="Times New Roman" pitchFamily="18" charset="0"/>
                  <a:sym typeface="Symbol"/>
                </a:rPr>
                <a:t>t</a:t>
              </a:r>
              <a:r>
                <a:rPr lang="en-US" baseline="-25000" dirty="0">
                  <a:latin typeface="Times New Roman" pitchFamily="18" charset="0"/>
                  <a:sym typeface="Symbol"/>
                </a:rPr>
                <a:t>2</a:t>
              </a:r>
              <a:endParaRPr lang="en-US" i="1" baseline="-25000" dirty="0">
                <a:latin typeface="Times New Roman" pitchFamily="18" charset="0"/>
              </a:endParaRPr>
            </a:p>
            <a:p>
              <a:r>
                <a:rPr lang="en-US" dirty="0">
                  <a:latin typeface="Times New Roman" pitchFamily="18" charset="0"/>
                </a:rPr>
                <a:t> </a:t>
              </a:r>
            </a:p>
          </p:txBody>
        </p:sp>
        <p:grpSp>
          <p:nvGrpSpPr>
            <p:cNvPr id="301139" name="Group 83"/>
            <p:cNvGrpSpPr>
              <a:grpSpLocks/>
            </p:cNvGrpSpPr>
            <p:nvPr/>
          </p:nvGrpSpPr>
          <p:grpSpPr bwMode="auto">
            <a:xfrm>
              <a:off x="6253104" y="2648857"/>
              <a:ext cx="914400" cy="533400"/>
              <a:chOff x="2318" y="1136"/>
              <a:chExt cx="576" cy="336"/>
            </a:xfrm>
          </p:grpSpPr>
          <p:sp>
            <p:nvSpPr>
              <p:cNvPr id="301140" name="Line 84"/>
              <p:cNvSpPr>
                <a:spLocks noChangeShapeType="1"/>
              </p:cNvSpPr>
              <p:nvPr/>
            </p:nvSpPr>
            <p:spPr bwMode="auto">
              <a:xfrm flipH="1" flipV="1">
                <a:off x="2318" y="1136"/>
                <a:ext cx="576" cy="33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1141" name="Line 85"/>
              <p:cNvSpPr>
                <a:spLocks noChangeShapeType="1"/>
              </p:cNvSpPr>
              <p:nvPr/>
            </p:nvSpPr>
            <p:spPr bwMode="auto">
              <a:xfrm>
                <a:off x="2328" y="1136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01142" name="Text Box 86"/>
            <p:cNvSpPr txBox="1">
              <a:spLocks noChangeArrowheads="1"/>
            </p:cNvSpPr>
            <p:nvPr/>
          </p:nvSpPr>
          <p:spPr bwMode="auto">
            <a:xfrm>
              <a:off x="6748403" y="2432957"/>
              <a:ext cx="109837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i="1" dirty="0">
                  <a:latin typeface="Times New Roman" pitchFamily="18" charset="0"/>
                </a:rPr>
                <a:t>t </a:t>
              </a:r>
              <a:r>
                <a:rPr lang="en-US" dirty="0">
                  <a:latin typeface="Times New Roman" pitchFamily="18" charset="0"/>
                </a:rPr>
                <a:t>= </a:t>
              </a:r>
              <a:r>
                <a:rPr lang="en-US" i="1" dirty="0">
                  <a:latin typeface="Times New Roman" pitchFamily="18" charset="0"/>
                </a:rPr>
                <a:t>t</a:t>
              </a:r>
              <a:r>
                <a:rPr lang="en-US" baseline="-25000" dirty="0">
                  <a:latin typeface="Times New Roman" pitchFamily="18" charset="0"/>
                </a:rPr>
                <a:t>4 </a:t>
              </a:r>
              <a:r>
                <a:rPr lang="en-US" dirty="0">
                  <a:latin typeface="Times New Roman" pitchFamily="18" charset="0"/>
                </a:rPr>
                <a:t> &gt; </a:t>
              </a:r>
              <a:r>
                <a:rPr lang="en-US" i="1" dirty="0">
                  <a:latin typeface="Times New Roman" pitchFamily="18" charset="0"/>
                </a:rPr>
                <a:t>t</a:t>
              </a:r>
              <a:r>
                <a:rPr lang="en-US" baseline="-25000" dirty="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301123" name="Line 67"/>
            <p:cNvSpPr>
              <a:spLocks noChangeShapeType="1"/>
            </p:cNvSpPr>
            <p:nvPr/>
          </p:nvSpPr>
          <p:spPr bwMode="auto">
            <a:xfrm flipH="1" flipV="1">
              <a:off x="1707848" y="2661557"/>
              <a:ext cx="91440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1061" name="Oval 5"/>
            <p:cNvSpPr>
              <a:spLocks noChangeArrowheads="1"/>
            </p:cNvSpPr>
            <p:nvPr/>
          </p:nvSpPr>
          <p:spPr bwMode="auto">
            <a:xfrm>
              <a:off x="2569861" y="3144157"/>
              <a:ext cx="76200" cy="7620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64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52286" y="5099232"/>
            <a:ext cx="3592058" cy="1309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9948017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6" name="Text Box 2"/>
          <p:cNvSpPr txBox="1">
            <a:spLocks noChangeArrowheads="1"/>
          </p:cNvSpPr>
          <p:nvPr/>
        </p:nvSpPr>
        <p:spPr bwMode="auto">
          <a:xfrm>
            <a:off x="2624443" y="0"/>
            <a:ext cx="3708400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>
                <a:solidFill>
                  <a:srgbClr val="FFFF00"/>
                </a:solidFill>
              </a:rPr>
              <a:t>Bounce Diagram</a:t>
            </a:r>
          </a:p>
        </p:txBody>
      </p:sp>
      <p:graphicFrame>
        <p:nvGraphicFramePr>
          <p:cNvPr id="3074" name="Object 1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515277"/>
              </p:ext>
            </p:extLst>
          </p:nvPr>
        </p:nvGraphicFramePr>
        <p:xfrm>
          <a:off x="1187932" y="2700338"/>
          <a:ext cx="750888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7200" imgH="431640" progId="Equation.DSMT4">
                  <p:embed/>
                </p:oleObj>
              </mc:Choice>
              <mc:Fallback>
                <p:oleObj name="Equation" r:id="rId3" imgW="457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932" y="2700338"/>
                        <a:ext cx="750888" cy="7096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1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7846844"/>
              </p:ext>
            </p:extLst>
          </p:nvPr>
        </p:nvGraphicFramePr>
        <p:xfrm>
          <a:off x="833920" y="3600450"/>
          <a:ext cx="164306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3000" imgH="507960" progId="Equation.DSMT4">
                  <p:embed/>
                </p:oleObj>
              </mc:Choice>
              <mc:Fallback>
                <p:oleObj name="Equation" r:id="rId5" imgW="114300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920" y="3600450"/>
                        <a:ext cx="1643062" cy="787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1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206801"/>
              </p:ext>
            </p:extLst>
          </p:nvPr>
        </p:nvGraphicFramePr>
        <p:xfrm>
          <a:off x="857732" y="5610225"/>
          <a:ext cx="1687513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90360" imgH="507960" progId="Equation.DSMT4">
                  <p:embed/>
                </p:oleObj>
              </mc:Choice>
              <mc:Fallback>
                <p:oleObj name="Equation" r:id="rId7" imgW="99036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732" y="5610225"/>
                        <a:ext cx="1687513" cy="8683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1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13809"/>
              </p:ext>
            </p:extLst>
          </p:nvPr>
        </p:nvGraphicFramePr>
        <p:xfrm>
          <a:off x="845032" y="4703763"/>
          <a:ext cx="16875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90360" imgH="482400" progId="Equation.DSMT4">
                  <p:embed/>
                </p:oleObj>
              </mc:Choice>
              <mc:Fallback>
                <p:oleObj name="Equation" r:id="rId9" imgW="9903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032" y="4703763"/>
                        <a:ext cx="1687513" cy="8255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08" name="Group 105"/>
          <p:cNvGrpSpPr>
            <a:grpSpLocks/>
          </p:cNvGrpSpPr>
          <p:nvPr/>
        </p:nvGrpSpPr>
        <p:grpSpPr bwMode="auto">
          <a:xfrm>
            <a:off x="4065784" y="3490913"/>
            <a:ext cx="3232150" cy="550862"/>
            <a:chOff x="2349" y="2592"/>
            <a:chExt cx="1817" cy="288"/>
          </a:xfrm>
        </p:grpSpPr>
        <p:sp>
          <p:nvSpPr>
            <p:cNvPr id="3132" name="Line 106"/>
            <p:cNvSpPr>
              <a:spLocks noChangeShapeType="1"/>
            </p:cNvSpPr>
            <p:nvPr/>
          </p:nvSpPr>
          <p:spPr bwMode="auto">
            <a:xfrm flipH="1">
              <a:off x="2349" y="2784"/>
              <a:ext cx="621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3" name="Line 107"/>
            <p:cNvSpPr>
              <a:spLocks noChangeShapeType="1"/>
            </p:cNvSpPr>
            <p:nvPr/>
          </p:nvSpPr>
          <p:spPr bwMode="auto">
            <a:xfrm flipH="1">
              <a:off x="3542" y="2592"/>
              <a:ext cx="624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09" name="Group 108"/>
          <p:cNvGrpSpPr>
            <a:grpSpLocks/>
          </p:cNvGrpSpPr>
          <p:nvPr/>
        </p:nvGrpSpPr>
        <p:grpSpPr bwMode="auto">
          <a:xfrm>
            <a:off x="4010221" y="5695950"/>
            <a:ext cx="3232150" cy="550862"/>
            <a:chOff x="2349" y="2592"/>
            <a:chExt cx="1817" cy="288"/>
          </a:xfrm>
        </p:grpSpPr>
        <p:sp>
          <p:nvSpPr>
            <p:cNvPr id="3130" name="Line 109"/>
            <p:cNvSpPr>
              <a:spLocks noChangeShapeType="1"/>
            </p:cNvSpPr>
            <p:nvPr/>
          </p:nvSpPr>
          <p:spPr bwMode="auto">
            <a:xfrm flipH="1">
              <a:off x="2349" y="2784"/>
              <a:ext cx="621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1" name="Line 110"/>
            <p:cNvSpPr>
              <a:spLocks noChangeShapeType="1"/>
            </p:cNvSpPr>
            <p:nvPr/>
          </p:nvSpPr>
          <p:spPr bwMode="auto">
            <a:xfrm flipH="1">
              <a:off x="3542" y="2592"/>
              <a:ext cx="624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10" name="Group 114"/>
          <p:cNvGrpSpPr>
            <a:grpSpLocks/>
          </p:cNvGrpSpPr>
          <p:nvPr/>
        </p:nvGrpSpPr>
        <p:grpSpPr bwMode="auto">
          <a:xfrm>
            <a:off x="4065784" y="4594225"/>
            <a:ext cx="3232150" cy="549275"/>
            <a:chOff x="2349" y="2592"/>
            <a:chExt cx="1817" cy="288"/>
          </a:xfrm>
        </p:grpSpPr>
        <p:sp>
          <p:nvSpPr>
            <p:cNvPr id="3128" name="Line 115"/>
            <p:cNvSpPr>
              <a:spLocks noChangeShapeType="1"/>
            </p:cNvSpPr>
            <p:nvPr/>
          </p:nvSpPr>
          <p:spPr bwMode="auto">
            <a:xfrm flipH="1">
              <a:off x="2349" y="2784"/>
              <a:ext cx="621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9" name="Line 116"/>
            <p:cNvSpPr>
              <a:spLocks noChangeShapeType="1"/>
            </p:cNvSpPr>
            <p:nvPr/>
          </p:nvSpPr>
          <p:spPr bwMode="auto">
            <a:xfrm flipH="1">
              <a:off x="3542" y="2592"/>
              <a:ext cx="624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11" name="Group 117"/>
          <p:cNvGrpSpPr>
            <a:grpSpLocks/>
          </p:cNvGrpSpPr>
          <p:nvPr/>
        </p:nvGrpSpPr>
        <p:grpSpPr bwMode="auto">
          <a:xfrm flipH="1">
            <a:off x="4091184" y="5143500"/>
            <a:ext cx="3232150" cy="552450"/>
            <a:chOff x="2349" y="2592"/>
            <a:chExt cx="1817" cy="288"/>
          </a:xfrm>
        </p:grpSpPr>
        <p:sp>
          <p:nvSpPr>
            <p:cNvPr id="3126" name="Line 118"/>
            <p:cNvSpPr>
              <a:spLocks noChangeShapeType="1"/>
            </p:cNvSpPr>
            <p:nvPr/>
          </p:nvSpPr>
          <p:spPr bwMode="auto">
            <a:xfrm flipH="1">
              <a:off x="2349" y="2784"/>
              <a:ext cx="621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7" name="Line 119"/>
            <p:cNvSpPr>
              <a:spLocks noChangeShapeType="1"/>
            </p:cNvSpPr>
            <p:nvPr/>
          </p:nvSpPr>
          <p:spPr bwMode="auto">
            <a:xfrm flipH="1">
              <a:off x="3542" y="2592"/>
              <a:ext cx="624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12" name="Group 120"/>
          <p:cNvGrpSpPr>
            <a:grpSpLocks/>
          </p:cNvGrpSpPr>
          <p:nvPr/>
        </p:nvGrpSpPr>
        <p:grpSpPr bwMode="auto">
          <a:xfrm flipH="1">
            <a:off x="4111821" y="4041775"/>
            <a:ext cx="3232150" cy="552450"/>
            <a:chOff x="2349" y="2592"/>
            <a:chExt cx="1817" cy="288"/>
          </a:xfrm>
        </p:grpSpPr>
        <p:sp>
          <p:nvSpPr>
            <p:cNvPr id="3124" name="Line 121"/>
            <p:cNvSpPr>
              <a:spLocks noChangeShapeType="1"/>
            </p:cNvSpPr>
            <p:nvPr/>
          </p:nvSpPr>
          <p:spPr bwMode="auto">
            <a:xfrm flipH="1">
              <a:off x="2349" y="2784"/>
              <a:ext cx="621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5" name="Line 122"/>
            <p:cNvSpPr>
              <a:spLocks noChangeShapeType="1"/>
            </p:cNvSpPr>
            <p:nvPr/>
          </p:nvSpPr>
          <p:spPr bwMode="auto">
            <a:xfrm flipH="1">
              <a:off x="3542" y="2592"/>
              <a:ext cx="624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3081" name="Object 132"/>
          <p:cNvGraphicFramePr>
            <a:graphicFrameLocks noChangeAspect="1"/>
          </p:cNvGraphicFramePr>
          <p:nvPr/>
        </p:nvGraphicFramePr>
        <p:xfrm>
          <a:off x="5450084" y="3057525"/>
          <a:ext cx="227012" cy="24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03040" imgH="203040" progId="Equation.DSMT4">
                  <p:embed/>
                </p:oleObj>
              </mc:Choice>
              <mc:Fallback>
                <p:oleObj name="Equation" r:id="rId11" imgW="2030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0084" y="3057525"/>
                        <a:ext cx="227012" cy="246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" name="Object 133"/>
          <p:cNvGraphicFramePr>
            <a:graphicFrameLocks noChangeAspect="1"/>
          </p:cNvGraphicFramePr>
          <p:nvPr/>
        </p:nvGraphicFramePr>
        <p:xfrm>
          <a:off x="5465959" y="3635375"/>
          <a:ext cx="43815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93480" imgH="228600" progId="Equation.DSMT4">
                  <p:embed/>
                </p:oleObj>
              </mc:Choice>
              <mc:Fallback>
                <p:oleObj name="Equation" r:id="rId13" imgW="393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5959" y="3635375"/>
                        <a:ext cx="438150" cy="27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3" name="Object 134"/>
          <p:cNvGraphicFramePr>
            <a:graphicFrameLocks noChangeAspect="1"/>
          </p:cNvGraphicFramePr>
          <p:nvPr/>
        </p:nvGraphicFramePr>
        <p:xfrm>
          <a:off x="5465959" y="4137025"/>
          <a:ext cx="609600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45760" imgH="253800" progId="Equation.DSMT4">
                  <p:embed/>
                </p:oleObj>
              </mc:Choice>
              <mc:Fallback>
                <p:oleObj name="Equation" r:id="rId15" imgW="5457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5959" y="4137025"/>
                        <a:ext cx="609600" cy="303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4" name="Object 135"/>
          <p:cNvGraphicFramePr>
            <a:graphicFrameLocks noChangeAspect="1"/>
          </p:cNvGraphicFramePr>
          <p:nvPr/>
        </p:nvGraphicFramePr>
        <p:xfrm>
          <a:off x="5397696" y="4692650"/>
          <a:ext cx="609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45760" imgH="253800" progId="Equation.DSMT4">
                  <p:embed/>
                </p:oleObj>
              </mc:Choice>
              <mc:Fallback>
                <p:oleObj name="Equation" r:id="rId17" imgW="5457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696" y="4692650"/>
                        <a:ext cx="6096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5" name="Object 136"/>
          <p:cNvGraphicFramePr>
            <a:graphicFrameLocks noChangeAspect="1"/>
          </p:cNvGraphicFramePr>
          <p:nvPr/>
        </p:nvGraphicFramePr>
        <p:xfrm>
          <a:off x="5397696" y="5243513"/>
          <a:ext cx="609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45760" imgH="253800" progId="Equation.DSMT4">
                  <p:embed/>
                </p:oleObj>
              </mc:Choice>
              <mc:Fallback>
                <p:oleObj name="Equation" r:id="rId19" imgW="5457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696" y="5243513"/>
                        <a:ext cx="6096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6" name="Object 137"/>
          <p:cNvGraphicFramePr>
            <a:graphicFrameLocks noChangeAspect="1"/>
          </p:cNvGraphicFramePr>
          <p:nvPr/>
        </p:nvGraphicFramePr>
        <p:xfrm>
          <a:off x="5294509" y="5757863"/>
          <a:ext cx="609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45760" imgH="253800" progId="Equation.DSMT4">
                  <p:embed/>
                </p:oleObj>
              </mc:Choice>
              <mc:Fallback>
                <p:oleObj name="Equation" r:id="rId21" imgW="5457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4509" y="5757863"/>
                        <a:ext cx="6096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7" name="Object 138"/>
          <p:cNvGraphicFramePr>
            <a:graphicFrameLocks noChangeAspect="1"/>
          </p:cNvGraphicFramePr>
          <p:nvPr/>
        </p:nvGraphicFramePr>
        <p:xfrm>
          <a:off x="6666109" y="3016250"/>
          <a:ext cx="141287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26720" imgH="177480" progId="Equation.DSMT4">
                  <p:embed/>
                </p:oleObj>
              </mc:Choice>
              <mc:Fallback>
                <p:oleObj name="Equation" r:id="rId23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6109" y="3016250"/>
                        <a:ext cx="141287" cy="21272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8" name="Object 139"/>
          <p:cNvGraphicFramePr>
            <a:graphicFrameLocks noChangeAspect="1"/>
          </p:cNvGraphicFramePr>
          <p:nvPr/>
        </p:nvGraphicFramePr>
        <p:xfrm>
          <a:off x="4551559" y="3348038"/>
          <a:ext cx="225425" cy="24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03040" imgH="203040" progId="Equation.DSMT4">
                  <p:embed/>
                </p:oleObj>
              </mc:Choice>
              <mc:Fallback>
                <p:oleObj name="Equation" r:id="rId25" imgW="2030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1559" y="3348038"/>
                        <a:ext cx="225425" cy="242887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9" name="Object 140"/>
          <p:cNvGraphicFramePr>
            <a:graphicFrameLocks noChangeAspect="1"/>
          </p:cNvGraphicFramePr>
          <p:nvPr/>
        </p:nvGraphicFramePr>
        <p:xfrm>
          <a:off x="6310509" y="3895725"/>
          <a:ext cx="768350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685800" imgH="228600" progId="Equation.DSMT4">
                  <p:embed/>
                </p:oleObj>
              </mc:Choice>
              <mc:Fallback>
                <p:oleObj name="Equation" r:id="rId27" imgW="685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0509" y="3895725"/>
                        <a:ext cx="768350" cy="274637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0" name="Object 141"/>
          <p:cNvGraphicFramePr>
            <a:graphicFrameLocks noChangeAspect="1"/>
          </p:cNvGraphicFramePr>
          <p:nvPr/>
        </p:nvGraphicFramePr>
        <p:xfrm>
          <a:off x="4216596" y="4437063"/>
          <a:ext cx="1281112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143000" imgH="253800" progId="Equation.DSMT4">
                  <p:embed/>
                </p:oleObj>
              </mc:Choice>
              <mc:Fallback>
                <p:oleObj name="Equation" r:id="rId29" imgW="11430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6596" y="4437063"/>
                        <a:ext cx="1281112" cy="303212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1" name="Object 142"/>
          <p:cNvGraphicFramePr>
            <a:graphicFrameLocks noChangeAspect="1"/>
          </p:cNvGraphicFramePr>
          <p:nvPr/>
        </p:nvGraphicFramePr>
        <p:xfrm>
          <a:off x="5450084" y="4960938"/>
          <a:ext cx="179228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600200" imgH="253800" progId="Equation.DSMT4">
                  <p:embed/>
                </p:oleObj>
              </mc:Choice>
              <mc:Fallback>
                <p:oleObj name="Equation" r:id="rId31" imgW="16002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0084" y="4960938"/>
                        <a:ext cx="1792287" cy="30480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" name="Object 143"/>
          <p:cNvGraphicFramePr>
            <a:graphicFrameLocks noChangeAspect="1"/>
          </p:cNvGraphicFramePr>
          <p:nvPr/>
        </p:nvGraphicFramePr>
        <p:xfrm>
          <a:off x="4227709" y="5472113"/>
          <a:ext cx="12382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104840" imgH="253800" progId="Equation.DSMT4">
                  <p:embed/>
                </p:oleObj>
              </mc:Choice>
              <mc:Fallback>
                <p:oleObj name="Equation" r:id="rId33" imgW="11048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7709" y="5472113"/>
                        <a:ext cx="1238250" cy="30480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3" name="Object 144"/>
          <p:cNvGraphicFramePr>
            <a:graphicFrameLocks noChangeAspect="1"/>
          </p:cNvGraphicFramePr>
          <p:nvPr/>
        </p:nvGraphicFramePr>
        <p:xfrm>
          <a:off x="5904109" y="6089650"/>
          <a:ext cx="12382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104840" imgH="253800" progId="Equation.DSMT4">
                  <p:embed/>
                </p:oleObj>
              </mc:Choice>
              <mc:Fallback>
                <p:oleObj name="Equation" r:id="rId35" imgW="11048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4109" y="6089650"/>
                        <a:ext cx="1238250" cy="30480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9" name="Line 145"/>
          <p:cNvSpPr>
            <a:spLocks noChangeShapeType="1"/>
          </p:cNvSpPr>
          <p:nvPr/>
        </p:nvSpPr>
        <p:spPr bwMode="auto">
          <a:xfrm>
            <a:off x="4065784" y="6246813"/>
            <a:ext cx="1049337" cy="147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22" name="Line 112"/>
          <p:cNvSpPr>
            <a:spLocks noChangeShapeType="1"/>
          </p:cNvSpPr>
          <p:nvPr/>
        </p:nvSpPr>
        <p:spPr bwMode="auto">
          <a:xfrm>
            <a:off x="5748534" y="3230563"/>
            <a:ext cx="1549400" cy="260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23" name="Line 113"/>
          <p:cNvSpPr>
            <a:spLocks noChangeShapeType="1"/>
          </p:cNvSpPr>
          <p:nvPr/>
        </p:nvSpPr>
        <p:spPr bwMode="auto">
          <a:xfrm>
            <a:off x="4065784" y="2938463"/>
            <a:ext cx="1223962" cy="1968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3218059" y="2449513"/>
            <a:ext cx="5157787" cy="4256087"/>
            <a:chOff x="3218059" y="2449513"/>
            <a:chExt cx="5157787" cy="4256087"/>
          </a:xfrm>
        </p:grpSpPr>
        <p:sp>
          <p:nvSpPr>
            <p:cNvPr id="3100" name="Line 97"/>
            <p:cNvSpPr>
              <a:spLocks noChangeShapeType="1"/>
            </p:cNvSpPr>
            <p:nvPr/>
          </p:nvSpPr>
          <p:spPr bwMode="auto">
            <a:xfrm>
              <a:off x="7297934" y="2938463"/>
              <a:ext cx="0" cy="37671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3218059" y="2449513"/>
              <a:ext cx="5157787" cy="4256087"/>
              <a:chOff x="3218059" y="2449513"/>
              <a:chExt cx="5157787" cy="4256087"/>
            </a:xfrm>
          </p:grpSpPr>
          <p:sp>
            <p:nvSpPr>
              <p:cNvPr id="3099" name="Line 96"/>
              <p:cNvSpPr>
                <a:spLocks noChangeShapeType="1"/>
              </p:cNvSpPr>
              <p:nvPr/>
            </p:nvSpPr>
            <p:spPr bwMode="auto">
              <a:xfrm>
                <a:off x="4065784" y="2938463"/>
                <a:ext cx="0" cy="376713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01" name="Line 98"/>
              <p:cNvSpPr>
                <a:spLocks noChangeShapeType="1"/>
              </p:cNvSpPr>
              <p:nvPr/>
            </p:nvSpPr>
            <p:spPr bwMode="auto">
              <a:xfrm>
                <a:off x="3984821" y="4594225"/>
                <a:ext cx="20637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02" name="Line 99"/>
              <p:cNvSpPr>
                <a:spLocks noChangeShapeType="1"/>
              </p:cNvSpPr>
              <p:nvPr/>
            </p:nvSpPr>
            <p:spPr bwMode="auto">
              <a:xfrm>
                <a:off x="3984821" y="5143500"/>
                <a:ext cx="20637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03" name="Line 100"/>
              <p:cNvSpPr>
                <a:spLocks noChangeShapeType="1"/>
              </p:cNvSpPr>
              <p:nvPr/>
            </p:nvSpPr>
            <p:spPr bwMode="auto">
              <a:xfrm>
                <a:off x="3968946" y="4041775"/>
                <a:ext cx="20637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04" name="Line 101"/>
              <p:cNvSpPr>
                <a:spLocks noChangeShapeType="1"/>
              </p:cNvSpPr>
              <p:nvPr/>
            </p:nvSpPr>
            <p:spPr bwMode="auto">
              <a:xfrm>
                <a:off x="3970534" y="5695950"/>
                <a:ext cx="20637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05" name="Line 102"/>
              <p:cNvSpPr>
                <a:spLocks noChangeShapeType="1"/>
              </p:cNvSpPr>
              <p:nvPr/>
            </p:nvSpPr>
            <p:spPr bwMode="auto">
              <a:xfrm>
                <a:off x="3970534" y="6246813"/>
                <a:ext cx="20637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06" name="Line 103"/>
              <p:cNvSpPr>
                <a:spLocks noChangeShapeType="1"/>
              </p:cNvSpPr>
              <p:nvPr/>
            </p:nvSpPr>
            <p:spPr bwMode="auto">
              <a:xfrm>
                <a:off x="3984821" y="3490913"/>
                <a:ext cx="20637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07" name="Line 104"/>
              <p:cNvSpPr>
                <a:spLocks noChangeShapeType="1"/>
              </p:cNvSpPr>
              <p:nvPr/>
            </p:nvSpPr>
            <p:spPr bwMode="auto">
              <a:xfrm>
                <a:off x="3984821" y="2938463"/>
                <a:ext cx="20637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3078" name="Object 12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50467743"/>
                  </p:ext>
                </p:extLst>
              </p:nvPr>
            </p:nvGraphicFramePr>
            <p:xfrm>
              <a:off x="3581596" y="2847975"/>
              <a:ext cx="354012" cy="2127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7" imgW="317160" imgH="177480" progId="Equation.DSMT4">
                      <p:embed/>
                    </p:oleObj>
                  </mc:Choice>
                  <mc:Fallback>
                    <p:oleObj name="Equation" r:id="rId37" imgW="31716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81596" y="2847975"/>
                            <a:ext cx="354012" cy="2127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13" name="Text Box 124"/>
              <p:cNvSpPr txBox="1">
                <a:spLocks noChangeArrowheads="1"/>
              </p:cNvSpPr>
              <p:nvPr/>
            </p:nvSpPr>
            <p:spPr bwMode="auto">
              <a:xfrm>
                <a:off x="3583184" y="3371850"/>
                <a:ext cx="420687" cy="2746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200" i="1">
                    <a:solidFill>
                      <a:srgbClr val="000000"/>
                    </a:solidFill>
                    <a:latin typeface="Times New Roman" pitchFamily="18" charset="0"/>
                  </a:rPr>
                  <a:t>T</a:t>
                </a:r>
              </a:p>
            </p:txBody>
          </p:sp>
          <p:sp>
            <p:nvSpPr>
              <p:cNvPr id="3114" name="Text Box 125"/>
              <p:cNvSpPr txBox="1">
                <a:spLocks noChangeArrowheads="1"/>
              </p:cNvSpPr>
              <p:nvPr/>
            </p:nvSpPr>
            <p:spPr bwMode="auto">
              <a:xfrm>
                <a:off x="3591121" y="3922713"/>
                <a:ext cx="419100" cy="2746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2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r>
                  <a:rPr lang="en-US" sz="1200" i="1">
                    <a:solidFill>
                      <a:srgbClr val="000000"/>
                    </a:solidFill>
                    <a:latin typeface="Times New Roman" pitchFamily="18" charset="0"/>
                  </a:rPr>
                  <a:t>T</a:t>
                </a:r>
              </a:p>
            </p:txBody>
          </p:sp>
          <p:sp>
            <p:nvSpPr>
              <p:cNvPr id="3115" name="Text Box 126"/>
              <p:cNvSpPr txBox="1">
                <a:spLocks noChangeArrowheads="1"/>
              </p:cNvSpPr>
              <p:nvPr/>
            </p:nvSpPr>
            <p:spPr bwMode="auto">
              <a:xfrm>
                <a:off x="3565721" y="4437063"/>
                <a:ext cx="419100" cy="2746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2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r>
                  <a:rPr lang="en-US" sz="1200" i="1">
                    <a:solidFill>
                      <a:srgbClr val="000000"/>
                    </a:solidFill>
                    <a:latin typeface="Times New Roman" pitchFamily="18" charset="0"/>
                  </a:rPr>
                  <a:t>T</a:t>
                </a:r>
              </a:p>
            </p:txBody>
          </p:sp>
          <p:sp>
            <p:nvSpPr>
              <p:cNvPr id="3116" name="Text Box 127"/>
              <p:cNvSpPr txBox="1">
                <a:spLocks noChangeArrowheads="1"/>
              </p:cNvSpPr>
              <p:nvPr/>
            </p:nvSpPr>
            <p:spPr bwMode="auto">
              <a:xfrm>
                <a:off x="3565721" y="5024438"/>
                <a:ext cx="473075" cy="2746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2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r>
                  <a:rPr lang="en-US" sz="1200" i="1">
                    <a:solidFill>
                      <a:srgbClr val="000000"/>
                    </a:solidFill>
                    <a:latin typeface="Times New Roman" pitchFamily="18" charset="0"/>
                  </a:rPr>
                  <a:t>T</a:t>
                </a:r>
              </a:p>
            </p:txBody>
          </p:sp>
          <p:sp>
            <p:nvSpPr>
              <p:cNvPr id="3117" name="Text Box 128"/>
              <p:cNvSpPr txBox="1">
                <a:spLocks noChangeArrowheads="1"/>
              </p:cNvSpPr>
              <p:nvPr/>
            </p:nvSpPr>
            <p:spPr bwMode="auto">
              <a:xfrm>
                <a:off x="3565721" y="5575300"/>
                <a:ext cx="419100" cy="2746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2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r>
                  <a:rPr lang="en-US" sz="1200" i="1">
                    <a:solidFill>
                      <a:srgbClr val="000000"/>
                    </a:solidFill>
                    <a:latin typeface="Times New Roman" pitchFamily="18" charset="0"/>
                  </a:rPr>
                  <a:t>T</a:t>
                </a:r>
              </a:p>
            </p:txBody>
          </p:sp>
          <p:sp>
            <p:nvSpPr>
              <p:cNvPr id="3118" name="Text Box 129"/>
              <p:cNvSpPr txBox="1">
                <a:spLocks noChangeArrowheads="1"/>
              </p:cNvSpPr>
              <p:nvPr/>
            </p:nvSpPr>
            <p:spPr bwMode="auto">
              <a:xfrm>
                <a:off x="3565721" y="6091238"/>
                <a:ext cx="419100" cy="2746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2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r>
                  <a:rPr lang="en-US" sz="1200" i="1">
                    <a:solidFill>
                      <a:srgbClr val="000000"/>
                    </a:solidFill>
                    <a:latin typeface="Times New Roman" pitchFamily="18" charset="0"/>
                  </a:rPr>
                  <a:t>T</a:t>
                </a:r>
              </a:p>
            </p:txBody>
          </p:sp>
          <p:graphicFrame>
            <p:nvGraphicFramePr>
              <p:cNvPr id="3079" name="Object 13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72034004"/>
                  </p:ext>
                </p:extLst>
              </p:nvPr>
            </p:nvGraphicFramePr>
            <p:xfrm>
              <a:off x="7169346" y="2486025"/>
              <a:ext cx="314325" cy="358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9" imgW="203040" imgH="215640" progId="Equation.DSMT4">
                      <p:embed/>
                    </p:oleObj>
                  </mc:Choice>
                  <mc:Fallback>
                    <p:oleObj name="Equation" r:id="rId39" imgW="203040" imgH="2156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169346" y="2486025"/>
                            <a:ext cx="314325" cy="358775"/>
                          </a:xfrm>
                          <a:prstGeom prst="rect">
                            <a:avLst/>
                          </a:prstGeom>
                          <a:solidFill>
                            <a:srgbClr val="00FFFF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80" name="Object 13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08736545"/>
                  </p:ext>
                </p:extLst>
              </p:nvPr>
            </p:nvGraphicFramePr>
            <p:xfrm>
              <a:off x="3957834" y="2449513"/>
              <a:ext cx="301625" cy="387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1" imgW="203040" imgH="241200" progId="Equation.DSMT4">
                      <p:embed/>
                    </p:oleObj>
                  </mc:Choice>
                  <mc:Fallback>
                    <p:oleObj name="Equation" r:id="rId41" imgW="20304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57834" y="2449513"/>
                            <a:ext cx="301625" cy="387350"/>
                          </a:xfrm>
                          <a:prstGeom prst="rect">
                            <a:avLst/>
                          </a:prstGeom>
                          <a:solidFill>
                            <a:srgbClr val="00FFFF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20" name="Line 149"/>
              <p:cNvSpPr>
                <a:spLocks noChangeShapeType="1"/>
              </p:cNvSpPr>
              <p:nvPr/>
            </p:nvSpPr>
            <p:spPr bwMode="auto">
              <a:xfrm>
                <a:off x="4076896" y="2922588"/>
                <a:ext cx="3797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1" name="Text Box 151"/>
              <p:cNvSpPr txBox="1">
                <a:spLocks noChangeArrowheads="1"/>
              </p:cNvSpPr>
              <p:nvPr/>
            </p:nvSpPr>
            <p:spPr bwMode="auto">
              <a:xfrm>
                <a:off x="8071046" y="2649538"/>
                <a:ext cx="304800" cy="4619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i="1" dirty="0">
                    <a:latin typeface="Times New Roman" pitchFamily="18" charset="0"/>
                  </a:rPr>
                  <a:t>z</a:t>
                </a:r>
              </a:p>
            </p:txBody>
          </p:sp>
          <p:graphicFrame>
            <p:nvGraphicFramePr>
              <p:cNvPr id="3094" name="Object 15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59694523"/>
                  </p:ext>
                </p:extLst>
              </p:nvPr>
            </p:nvGraphicFramePr>
            <p:xfrm>
              <a:off x="3218059" y="3811588"/>
              <a:ext cx="282575" cy="822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3" imgW="139680" imgH="406080" progId="Equation.DSMT4">
                      <p:embed/>
                    </p:oleObj>
                  </mc:Choice>
                  <mc:Fallback>
                    <p:oleObj name="Equation" r:id="rId43" imgW="139680" imgH="4060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18059" y="3811588"/>
                            <a:ext cx="282575" cy="8223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00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90" name="Slide Number Placeholder 89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fld id="{1624D6AB-9590-4342-BC0E-0E5A626D3798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108" name="Group 107"/>
          <p:cNvGrpSpPr/>
          <p:nvPr/>
        </p:nvGrpSpPr>
        <p:grpSpPr>
          <a:xfrm>
            <a:off x="2591458" y="848327"/>
            <a:ext cx="6369844" cy="1634444"/>
            <a:chOff x="593725" y="592138"/>
            <a:chExt cx="6985000" cy="1792287"/>
          </a:xfrm>
        </p:grpSpPr>
        <p:sp>
          <p:nvSpPr>
            <p:cNvPr id="3134" name="Freeform 14"/>
            <p:cNvSpPr>
              <a:spLocks/>
            </p:cNvSpPr>
            <p:nvPr/>
          </p:nvSpPr>
          <p:spPr bwMode="auto">
            <a:xfrm>
              <a:off x="3176588" y="1176338"/>
              <a:ext cx="3794125" cy="42862"/>
            </a:xfrm>
            <a:custGeom>
              <a:avLst/>
              <a:gdLst>
                <a:gd name="T0" fmla="*/ 0 w 3222"/>
                <a:gd name="T1" fmla="*/ 0 h 1"/>
                <a:gd name="T2" fmla="*/ 3222 w 3222"/>
                <a:gd name="T3" fmla="*/ 0 h 1"/>
                <a:gd name="T4" fmla="*/ 0 60000 65536"/>
                <a:gd name="T5" fmla="*/ 0 60000 65536"/>
                <a:gd name="T6" fmla="*/ 0 w 3222"/>
                <a:gd name="T7" fmla="*/ 0 h 1"/>
                <a:gd name="T8" fmla="*/ 3222 w 322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222" h="1">
                  <a:moveTo>
                    <a:pt x="0" y="0"/>
                  </a:moveTo>
                  <a:lnTo>
                    <a:pt x="3222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6" name="Oval 16"/>
            <p:cNvSpPr>
              <a:spLocks noChangeArrowheads="1"/>
            </p:cNvSpPr>
            <p:nvPr/>
          </p:nvSpPr>
          <p:spPr bwMode="auto">
            <a:xfrm>
              <a:off x="2487613" y="1860550"/>
              <a:ext cx="76200" cy="7620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3137" name="Text Box 17"/>
            <p:cNvSpPr txBox="1">
              <a:spLocks noChangeArrowheads="1"/>
            </p:cNvSpPr>
            <p:nvPr/>
          </p:nvSpPr>
          <p:spPr bwMode="auto">
            <a:xfrm>
              <a:off x="3213100" y="2017713"/>
              <a:ext cx="973138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i="1">
                  <a:solidFill>
                    <a:srgbClr val="000000"/>
                  </a:solidFill>
                  <a:latin typeface="Times New Roman" pitchFamily="18" charset="0"/>
                </a:rPr>
                <a:t>z = </a:t>
              </a:r>
              <a:r>
                <a:rPr lang="en-US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3139" name="Line 19"/>
            <p:cNvSpPr>
              <a:spLocks noChangeShapeType="1"/>
            </p:cNvSpPr>
            <p:nvPr/>
          </p:nvSpPr>
          <p:spPr bwMode="auto">
            <a:xfrm>
              <a:off x="6972300" y="1184275"/>
              <a:ext cx="0" cy="190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40" name="Line 20"/>
            <p:cNvSpPr>
              <a:spLocks noChangeShapeType="1"/>
            </p:cNvSpPr>
            <p:nvPr/>
          </p:nvSpPr>
          <p:spPr bwMode="auto">
            <a:xfrm flipH="1">
              <a:off x="6972300" y="1660525"/>
              <a:ext cx="0" cy="2458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41" name="Text Box 21"/>
            <p:cNvSpPr txBox="1">
              <a:spLocks noChangeArrowheads="1"/>
            </p:cNvSpPr>
            <p:nvPr/>
          </p:nvSpPr>
          <p:spPr bwMode="auto">
            <a:xfrm>
              <a:off x="7146925" y="1328738"/>
              <a:ext cx="431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i="1">
                  <a:latin typeface="Times New Roman" pitchFamily="18" charset="0"/>
                </a:rPr>
                <a:t>R</a:t>
              </a:r>
              <a:r>
                <a:rPr lang="en-US" sz="2000" i="1" baseline="-25000"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3142" name="Text Box 22"/>
            <p:cNvSpPr txBox="1">
              <a:spLocks noChangeArrowheads="1"/>
            </p:cNvSpPr>
            <p:nvPr/>
          </p:nvSpPr>
          <p:spPr bwMode="auto">
            <a:xfrm>
              <a:off x="6477000" y="1954213"/>
              <a:ext cx="973138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i="1">
                  <a:solidFill>
                    <a:srgbClr val="000000"/>
                  </a:solidFill>
                  <a:latin typeface="Times New Roman" pitchFamily="18" charset="0"/>
                </a:rPr>
                <a:t>z = L</a:t>
              </a:r>
            </a:p>
          </p:txBody>
        </p:sp>
        <p:sp>
          <p:nvSpPr>
            <p:cNvPr id="3143" name="Freeform 23"/>
            <p:cNvSpPr>
              <a:spLocks/>
            </p:cNvSpPr>
            <p:nvPr/>
          </p:nvSpPr>
          <p:spPr bwMode="auto">
            <a:xfrm flipH="1">
              <a:off x="1733550" y="1174750"/>
              <a:ext cx="42863" cy="333375"/>
            </a:xfrm>
            <a:custGeom>
              <a:avLst/>
              <a:gdLst>
                <a:gd name="T0" fmla="*/ 0 w 1"/>
                <a:gd name="T1" fmla="*/ 114 h 114"/>
                <a:gd name="T2" fmla="*/ 0 w 1"/>
                <a:gd name="T3" fmla="*/ 0 h 114"/>
                <a:gd name="T4" fmla="*/ 0 60000 65536"/>
                <a:gd name="T5" fmla="*/ 0 60000 65536"/>
                <a:gd name="T6" fmla="*/ 0 w 1"/>
                <a:gd name="T7" fmla="*/ 0 h 114"/>
                <a:gd name="T8" fmla="*/ 1 w 1"/>
                <a:gd name="T9" fmla="*/ 114 h 11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14">
                  <a:moveTo>
                    <a:pt x="0" y="114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4" name="Line 24"/>
            <p:cNvSpPr>
              <a:spLocks noChangeShapeType="1"/>
            </p:cNvSpPr>
            <p:nvPr/>
          </p:nvSpPr>
          <p:spPr bwMode="auto">
            <a:xfrm flipV="1">
              <a:off x="1776413" y="895350"/>
              <a:ext cx="473075" cy="279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5" name="Line 25"/>
            <p:cNvSpPr>
              <a:spLocks noChangeShapeType="1"/>
            </p:cNvSpPr>
            <p:nvPr/>
          </p:nvSpPr>
          <p:spPr bwMode="auto">
            <a:xfrm flipH="1">
              <a:off x="1776413" y="1898650"/>
              <a:ext cx="79057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6" name="Line 26"/>
            <p:cNvSpPr>
              <a:spLocks noChangeShapeType="1"/>
            </p:cNvSpPr>
            <p:nvPr/>
          </p:nvSpPr>
          <p:spPr bwMode="auto">
            <a:xfrm flipV="1">
              <a:off x="1776413" y="1619250"/>
              <a:ext cx="0" cy="279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7" name="Line 27"/>
            <p:cNvSpPr>
              <a:spLocks noChangeShapeType="1"/>
            </p:cNvSpPr>
            <p:nvPr/>
          </p:nvSpPr>
          <p:spPr bwMode="auto">
            <a:xfrm>
              <a:off x="1511300" y="1517650"/>
              <a:ext cx="520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48" name="Line 28"/>
            <p:cNvSpPr>
              <a:spLocks noChangeShapeType="1"/>
            </p:cNvSpPr>
            <p:nvPr/>
          </p:nvSpPr>
          <p:spPr bwMode="auto">
            <a:xfrm>
              <a:off x="1625600" y="1619250"/>
              <a:ext cx="2921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49" name="Text Box 29"/>
            <p:cNvSpPr txBox="1">
              <a:spLocks noChangeArrowheads="1"/>
            </p:cNvSpPr>
            <p:nvPr/>
          </p:nvSpPr>
          <p:spPr bwMode="auto">
            <a:xfrm>
              <a:off x="593725" y="1377950"/>
              <a:ext cx="77470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i="1">
                  <a:latin typeface="Times New Roman" pitchFamily="18" charset="0"/>
                </a:rPr>
                <a:t>V</a:t>
              </a:r>
              <a:r>
                <a:rPr lang="en-US" baseline="-25000">
                  <a:latin typeface="Times New Roman" pitchFamily="18" charset="0"/>
                </a:rPr>
                <a:t>0</a:t>
              </a:r>
              <a:r>
                <a:rPr lang="en-US">
                  <a:latin typeface="Times New Roman" pitchFamily="18" charset="0"/>
                </a:rPr>
                <a:t> [V]</a:t>
              </a:r>
              <a:endParaRPr lang="en-US" baseline="-25000">
                <a:latin typeface="Times New Roman" pitchFamily="18" charset="0"/>
              </a:endParaRPr>
            </a:p>
          </p:txBody>
        </p:sp>
        <p:sp>
          <p:nvSpPr>
            <p:cNvPr id="3150" name="Freeform 30"/>
            <p:cNvSpPr>
              <a:spLocks/>
            </p:cNvSpPr>
            <p:nvPr/>
          </p:nvSpPr>
          <p:spPr bwMode="auto">
            <a:xfrm>
              <a:off x="1917700" y="984250"/>
              <a:ext cx="342900" cy="330200"/>
            </a:xfrm>
            <a:custGeom>
              <a:avLst/>
              <a:gdLst>
                <a:gd name="T0" fmla="*/ 0 w 216"/>
                <a:gd name="T1" fmla="*/ 0 h 208"/>
                <a:gd name="T2" fmla="*/ 120 w 216"/>
                <a:gd name="T3" fmla="*/ 24 h 208"/>
                <a:gd name="T4" fmla="*/ 200 w 216"/>
                <a:gd name="T5" fmla="*/ 88 h 208"/>
                <a:gd name="T6" fmla="*/ 216 w 216"/>
                <a:gd name="T7" fmla="*/ 208 h 2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"/>
                <a:gd name="T13" fmla="*/ 0 h 208"/>
                <a:gd name="T14" fmla="*/ 216 w 216"/>
                <a:gd name="T15" fmla="*/ 208 h 2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" h="208">
                  <a:moveTo>
                    <a:pt x="0" y="0"/>
                  </a:moveTo>
                  <a:cubicBezTo>
                    <a:pt x="20" y="4"/>
                    <a:pt x="87" y="9"/>
                    <a:pt x="120" y="24"/>
                  </a:cubicBezTo>
                  <a:cubicBezTo>
                    <a:pt x="153" y="39"/>
                    <a:pt x="184" y="57"/>
                    <a:pt x="200" y="88"/>
                  </a:cubicBezTo>
                  <a:cubicBezTo>
                    <a:pt x="216" y="119"/>
                    <a:pt x="213" y="183"/>
                    <a:pt x="216" y="20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51" name="Text Box 31"/>
            <p:cNvSpPr txBox="1">
              <a:spLocks noChangeArrowheads="1"/>
            </p:cNvSpPr>
            <p:nvPr/>
          </p:nvSpPr>
          <p:spPr bwMode="auto">
            <a:xfrm>
              <a:off x="1114425" y="757238"/>
              <a:ext cx="6794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i="1">
                  <a:latin typeface="Times New Roman" pitchFamily="18" charset="0"/>
                </a:rPr>
                <a:t>t = </a:t>
              </a:r>
              <a:r>
                <a:rPr lang="en-US" sz="20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3152" name="Text Box 32"/>
            <p:cNvSpPr txBox="1">
              <a:spLocks noChangeArrowheads="1"/>
            </p:cNvSpPr>
            <p:nvPr/>
          </p:nvSpPr>
          <p:spPr bwMode="auto">
            <a:xfrm>
              <a:off x="2359025" y="1160463"/>
              <a:ext cx="31750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+</a:t>
              </a:r>
            </a:p>
          </p:txBody>
        </p:sp>
        <p:sp>
          <p:nvSpPr>
            <p:cNvPr id="3153" name="Text Box 33"/>
            <p:cNvSpPr txBox="1">
              <a:spLocks noChangeArrowheads="1"/>
            </p:cNvSpPr>
            <p:nvPr/>
          </p:nvSpPr>
          <p:spPr bwMode="auto">
            <a:xfrm>
              <a:off x="2422525" y="1541463"/>
              <a:ext cx="2603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-</a:t>
              </a:r>
            </a:p>
          </p:txBody>
        </p:sp>
        <p:sp>
          <p:nvSpPr>
            <p:cNvPr id="3154" name="Line 34"/>
            <p:cNvSpPr>
              <a:spLocks noChangeShapeType="1"/>
            </p:cNvSpPr>
            <p:nvPr/>
          </p:nvSpPr>
          <p:spPr bwMode="auto">
            <a:xfrm flipH="1">
              <a:off x="2082800" y="1174750"/>
              <a:ext cx="457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55" name="Rectangle 35"/>
            <p:cNvSpPr>
              <a:spLocks noChangeArrowheads="1"/>
            </p:cNvSpPr>
            <p:nvPr/>
          </p:nvSpPr>
          <p:spPr bwMode="auto">
            <a:xfrm>
              <a:off x="2844800" y="1085850"/>
              <a:ext cx="393700" cy="177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6" name="Text Box 36"/>
            <p:cNvSpPr txBox="1">
              <a:spLocks noChangeArrowheads="1"/>
            </p:cNvSpPr>
            <p:nvPr/>
          </p:nvSpPr>
          <p:spPr bwMode="auto">
            <a:xfrm>
              <a:off x="2854325" y="592138"/>
              <a:ext cx="48577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 i="1">
                  <a:latin typeface="Times New Roman" pitchFamily="18" charset="0"/>
                </a:rPr>
                <a:t>R</a:t>
              </a:r>
              <a:r>
                <a:rPr lang="en-US" sz="2000" i="1" baseline="-25000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3157" name="Line 37"/>
            <p:cNvSpPr>
              <a:spLocks noChangeShapeType="1"/>
            </p:cNvSpPr>
            <p:nvPr/>
          </p:nvSpPr>
          <p:spPr bwMode="auto">
            <a:xfrm flipH="1">
              <a:off x="2476500" y="1174750"/>
              <a:ext cx="355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58" name="Oval 38"/>
            <p:cNvSpPr>
              <a:spLocks noChangeArrowheads="1"/>
            </p:cNvSpPr>
            <p:nvPr/>
          </p:nvSpPr>
          <p:spPr bwMode="auto">
            <a:xfrm>
              <a:off x="2487613" y="1136650"/>
              <a:ext cx="76200" cy="7620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095" name="Object 39"/>
            <p:cNvGraphicFramePr>
              <a:graphicFrameLocks noChangeAspect="1"/>
            </p:cNvGraphicFramePr>
            <p:nvPr/>
          </p:nvGraphicFramePr>
          <p:xfrm>
            <a:off x="2593975" y="1341438"/>
            <a:ext cx="666750" cy="417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5" imgW="406080" imgH="253800" progId="Equation.DSMT4">
                    <p:embed/>
                  </p:oleObj>
                </mc:Choice>
                <mc:Fallback>
                  <p:oleObj name="Equation" r:id="rId45" imgW="4060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3975" y="1341438"/>
                          <a:ext cx="666750" cy="4175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59" name="Oval 40"/>
            <p:cNvSpPr>
              <a:spLocks noChangeArrowheads="1"/>
            </p:cNvSpPr>
            <p:nvPr/>
          </p:nvSpPr>
          <p:spPr bwMode="auto">
            <a:xfrm>
              <a:off x="3656013" y="1149350"/>
              <a:ext cx="76200" cy="7620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0" name="Oval 41"/>
            <p:cNvSpPr>
              <a:spLocks noChangeArrowheads="1"/>
            </p:cNvSpPr>
            <p:nvPr/>
          </p:nvSpPr>
          <p:spPr bwMode="auto">
            <a:xfrm>
              <a:off x="3630613" y="1860550"/>
              <a:ext cx="76200" cy="7620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1" name="Text Box 42"/>
            <p:cNvSpPr txBox="1">
              <a:spLocks noChangeArrowheads="1"/>
            </p:cNvSpPr>
            <p:nvPr/>
          </p:nvSpPr>
          <p:spPr bwMode="auto">
            <a:xfrm>
              <a:off x="5267325" y="1316038"/>
              <a:ext cx="407988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i="1">
                  <a:latin typeface="Times New Roman" pitchFamily="18" charset="0"/>
                </a:rPr>
                <a:t>Z</a:t>
              </a:r>
              <a:r>
                <a:rPr lang="en-US" sz="2000" baseline="-25000">
                  <a:latin typeface="Times New Roman" pitchFamily="18" charset="0"/>
                </a:rPr>
                <a:t>0</a:t>
              </a:r>
            </a:p>
          </p:txBody>
        </p:sp>
        <p:cxnSp>
          <p:nvCxnSpPr>
            <p:cNvPr id="92" name="Straight Connector 91"/>
            <p:cNvCxnSpPr>
              <a:stCxn id="3153" idx="2"/>
            </p:cNvCxnSpPr>
            <p:nvPr/>
          </p:nvCxnSpPr>
          <p:spPr>
            <a:xfrm>
              <a:off x="2552700" y="1908175"/>
              <a:ext cx="442253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38" name="Rectangle 18"/>
            <p:cNvSpPr>
              <a:spLocks noChangeArrowheads="1"/>
            </p:cNvSpPr>
            <p:nvPr/>
          </p:nvSpPr>
          <p:spPr bwMode="auto">
            <a:xfrm>
              <a:off x="6858000" y="1365250"/>
              <a:ext cx="2159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1" name="Text Box 35"/>
          <p:cNvSpPr txBox="1">
            <a:spLocks noChangeArrowheads="1"/>
          </p:cNvSpPr>
          <p:nvPr/>
        </p:nvSpPr>
        <p:spPr bwMode="auto">
          <a:xfrm>
            <a:off x="1642640" y="659142"/>
            <a:ext cx="603471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</a:rPr>
              <a:t>Bounce diagram is for a unit step response on a terminated line. </a:t>
            </a:r>
          </a:p>
        </p:txBody>
      </p:sp>
      <p:grpSp>
        <p:nvGrpSpPr>
          <p:cNvPr id="93" name="Group 143"/>
          <p:cNvGrpSpPr>
            <a:grpSpLocks/>
          </p:cNvGrpSpPr>
          <p:nvPr/>
        </p:nvGrpSpPr>
        <p:grpSpPr bwMode="auto">
          <a:xfrm>
            <a:off x="86641" y="1194188"/>
            <a:ext cx="3435566" cy="1256491"/>
            <a:chOff x="1104" y="2737"/>
            <a:chExt cx="3169" cy="1159"/>
          </a:xfrm>
        </p:grpSpPr>
        <p:sp>
          <p:nvSpPr>
            <p:cNvPr id="94" name="Line 54"/>
            <p:cNvSpPr>
              <a:spLocks noChangeShapeType="1"/>
            </p:cNvSpPr>
            <p:nvPr/>
          </p:nvSpPr>
          <p:spPr bwMode="auto">
            <a:xfrm>
              <a:off x="1384" y="3584"/>
              <a:ext cx="26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Line 55"/>
            <p:cNvSpPr>
              <a:spLocks noChangeShapeType="1"/>
            </p:cNvSpPr>
            <p:nvPr/>
          </p:nvSpPr>
          <p:spPr bwMode="auto">
            <a:xfrm>
              <a:off x="1864" y="2824"/>
              <a:ext cx="0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Text Box 56"/>
            <p:cNvSpPr txBox="1">
              <a:spLocks noChangeArrowheads="1"/>
            </p:cNvSpPr>
            <p:nvPr/>
          </p:nvSpPr>
          <p:spPr bwMode="auto">
            <a:xfrm>
              <a:off x="4113" y="3442"/>
              <a:ext cx="16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i="1" dirty="0">
                  <a:latin typeface="Times New Roman" pitchFamily="18" charset="0"/>
                </a:rPr>
                <a:t>t</a:t>
              </a:r>
            </a:p>
          </p:txBody>
        </p:sp>
        <p:graphicFrame>
          <p:nvGraphicFramePr>
            <p:cNvPr id="97" name="Object 57"/>
            <p:cNvGraphicFramePr>
              <a:graphicFrameLocks noChangeAspect="1"/>
            </p:cNvGraphicFramePr>
            <p:nvPr/>
          </p:nvGraphicFramePr>
          <p:xfrm>
            <a:off x="1274" y="2737"/>
            <a:ext cx="420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7" imgW="406080" imgH="253800" progId="Equation.DSMT4">
                    <p:embed/>
                  </p:oleObj>
                </mc:Choice>
                <mc:Fallback>
                  <p:oleObj name="Equation" r:id="rId47" imgW="4060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4" y="2737"/>
                          <a:ext cx="420" cy="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" name="Line 58"/>
            <p:cNvSpPr>
              <a:spLocks noChangeShapeType="1"/>
            </p:cNvSpPr>
            <p:nvPr/>
          </p:nvSpPr>
          <p:spPr bwMode="auto">
            <a:xfrm flipV="1">
              <a:off x="1864" y="2960"/>
              <a:ext cx="0" cy="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Line 81"/>
            <p:cNvSpPr>
              <a:spLocks noChangeShapeType="1"/>
            </p:cNvSpPr>
            <p:nvPr/>
          </p:nvSpPr>
          <p:spPr bwMode="auto">
            <a:xfrm>
              <a:off x="1864" y="3040"/>
              <a:ext cx="104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Line 82"/>
            <p:cNvSpPr>
              <a:spLocks noChangeShapeType="1"/>
            </p:cNvSpPr>
            <p:nvPr/>
          </p:nvSpPr>
          <p:spPr bwMode="auto">
            <a:xfrm>
              <a:off x="1104" y="3592"/>
              <a:ext cx="7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Line 83"/>
            <p:cNvSpPr>
              <a:spLocks noChangeShapeType="1"/>
            </p:cNvSpPr>
            <p:nvPr/>
          </p:nvSpPr>
          <p:spPr bwMode="auto">
            <a:xfrm>
              <a:off x="1880" y="3040"/>
              <a:ext cx="0" cy="56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02" name="Object 84"/>
            <p:cNvGraphicFramePr>
              <a:graphicFrameLocks noChangeAspect="1"/>
            </p:cNvGraphicFramePr>
            <p:nvPr/>
          </p:nvGraphicFramePr>
          <p:xfrm>
            <a:off x="2314" y="3201"/>
            <a:ext cx="997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8" imgW="965160" imgH="253800" progId="Equation.DSMT4">
                    <p:embed/>
                  </p:oleObj>
                </mc:Choice>
                <mc:Fallback>
                  <p:oleObj name="Equation" r:id="rId48" imgW="96516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4" y="3201"/>
                          <a:ext cx="997" cy="263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" name="Object 142"/>
            <p:cNvGraphicFramePr>
              <a:graphicFrameLocks noChangeAspect="1"/>
            </p:cNvGraphicFramePr>
            <p:nvPr/>
          </p:nvGraphicFramePr>
          <p:xfrm>
            <a:off x="2261" y="2742"/>
            <a:ext cx="223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0" imgW="215640" imgH="228600" progId="Equation.DSMT4">
                    <p:embed/>
                  </p:oleObj>
                </mc:Choice>
                <mc:Fallback>
                  <p:oleObj name="Equation" r:id="rId50" imgW="215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1" y="2742"/>
                          <a:ext cx="223" cy="2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914083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9" grpId="0" animBg="1"/>
      <p:bldP spid="3122" grpId="0" animBg="1"/>
      <p:bldP spid="31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8" name="Text Box 2"/>
          <p:cNvSpPr txBox="1">
            <a:spLocks noChangeArrowheads="1"/>
          </p:cNvSpPr>
          <p:nvPr/>
        </p:nvSpPr>
        <p:spPr bwMode="auto">
          <a:xfrm>
            <a:off x="2448795" y="13648"/>
            <a:ext cx="4458154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Oscilloscope Trance</a:t>
            </a:r>
          </a:p>
        </p:txBody>
      </p:sp>
      <p:sp>
        <p:nvSpPr>
          <p:cNvPr id="8209" name="Rectangle 93"/>
          <p:cNvSpPr>
            <a:spLocks noChangeArrowheads="1"/>
          </p:cNvSpPr>
          <p:nvPr/>
        </p:nvSpPr>
        <p:spPr bwMode="auto">
          <a:xfrm>
            <a:off x="323850" y="1086046"/>
            <a:ext cx="8820150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dirty="0">
                <a:solidFill>
                  <a:srgbClr val="0000FF"/>
                </a:solidFill>
              </a:rPr>
              <a:t>Bounce diagram can be used to get an </a:t>
            </a:r>
            <a:r>
              <a:rPr lang="en-US" dirty="0">
                <a:solidFill>
                  <a:srgbClr val="FF0000"/>
                </a:solidFill>
              </a:rPr>
              <a:t>“oscilloscope trace”</a:t>
            </a:r>
            <a:r>
              <a:rPr lang="en-US" dirty="0">
                <a:solidFill>
                  <a:srgbClr val="0000FF"/>
                </a:solidFill>
              </a:rPr>
              <a:t>  at any point on the line. </a:t>
            </a:r>
          </a:p>
        </p:txBody>
      </p:sp>
      <p:sp>
        <p:nvSpPr>
          <p:cNvPr id="49" name="Slide Number Placeholder 48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fld id="{1624D6AB-9590-4342-BC0E-0E5A626D3798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54" name="Group 53"/>
          <p:cNvGrpSpPr/>
          <p:nvPr/>
        </p:nvGrpSpPr>
        <p:grpSpPr>
          <a:xfrm>
            <a:off x="4465638" y="3369488"/>
            <a:ext cx="4484687" cy="2701925"/>
            <a:chOff x="4456113" y="2794000"/>
            <a:chExt cx="4484687" cy="2701925"/>
          </a:xfrm>
        </p:grpSpPr>
        <p:grpSp>
          <p:nvGrpSpPr>
            <p:cNvPr id="52" name="Group 51"/>
            <p:cNvGrpSpPr/>
            <p:nvPr/>
          </p:nvGrpSpPr>
          <p:grpSpPr>
            <a:xfrm>
              <a:off x="4900613" y="2794000"/>
              <a:ext cx="4040187" cy="2701925"/>
              <a:chOff x="4900613" y="2794000"/>
              <a:chExt cx="4040187" cy="2701925"/>
            </a:xfrm>
          </p:grpSpPr>
          <p:grpSp>
            <p:nvGrpSpPr>
              <p:cNvPr id="8210" name="Group 132"/>
              <p:cNvGrpSpPr>
                <a:grpSpLocks/>
              </p:cNvGrpSpPr>
              <p:nvPr/>
            </p:nvGrpSpPr>
            <p:grpSpPr bwMode="auto">
              <a:xfrm>
                <a:off x="4900613" y="2794000"/>
                <a:ext cx="4040187" cy="2701925"/>
                <a:chOff x="3087" y="1760"/>
                <a:chExt cx="2545" cy="1702"/>
              </a:xfrm>
            </p:grpSpPr>
            <p:graphicFrame>
              <p:nvGraphicFramePr>
                <p:cNvPr id="8196" name="Object 102"/>
                <p:cNvGraphicFramePr>
                  <a:graphicFrameLocks noChangeAspect="1"/>
                </p:cNvGraphicFramePr>
                <p:nvPr/>
              </p:nvGraphicFramePr>
              <p:xfrm>
                <a:off x="4192" y="3241"/>
                <a:ext cx="419" cy="22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" imgW="393480" imgH="203040" progId="Equation.DSMT4">
                        <p:embed/>
                      </p:oleObj>
                    </mc:Choice>
                    <mc:Fallback>
                      <p:oleObj name="Equation" r:id="rId3" imgW="393480" imgH="20304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92" y="3241"/>
                              <a:ext cx="419" cy="22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8224" name="Line 95"/>
                <p:cNvSpPr>
                  <a:spLocks noChangeShapeType="1"/>
                </p:cNvSpPr>
                <p:nvPr/>
              </p:nvSpPr>
              <p:spPr bwMode="auto">
                <a:xfrm flipV="1">
                  <a:off x="3087" y="2964"/>
                  <a:ext cx="2283" cy="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5" name="Line 96"/>
                <p:cNvSpPr>
                  <a:spLocks noChangeShapeType="1"/>
                </p:cNvSpPr>
                <p:nvPr/>
              </p:nvSpPr>
              <p:spPr bwMode="auto">
                <a:xfrm>
                  <a:off x="3547" y="2850"/>
                  <a:ext cx="0" cy="11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6" name="Line 97"/>
                <p:cNvSpPr>
                  <a:spLocks noChangeShapeType="1"/>
                </p:cNvSpPr>
                <p:nvPr/>
              </p:nvSpPr>
              <p:spPr bwMode="auto">
                <a:xfrm>
                  <a:off x="4448" y="2856"/>
                  <a:ext cx="0" cy="11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7" name="Line 98"/>
                <p:cNvSpPr>
                  <a:spLocks noChangeShapeType="1"/>
                </p:cNvSpPr>
                <p:nvPr/>
              </p:nvSpPr>
              <p:spPr bwMode="auto">
                <a:xfrm>
                  <a:off x="3998" y="2850"/>
                  <a:ext cx="0" cy="11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8" name="Line 99"/>
                <p:cNvSpPr>
                  <a:spLocks noChangeShapeType="1"/>
                </p:cNvSpPr>
                <p:nvPr/>
              </p:nvSpPr>
              <p:spPr bwMode="auto">
                <a:xfrm>
                  <a:off x="4872" y="2856"/>
                  <a:ext cx="0" cy="11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9" name="Line 100"/>
                <p:cNvSpPr>
                  <a:spLocks noChangeShapeType="1"/>
                </p:cNvSpPr>
                <p:nvPr/>
              </p:nvSpPr>
              <p:spPr bwMode="auto">
                <a:xfrm flipV="1">
                  <a:off x="3087" y="1794"/>
                  <a:ext cx="0" cy="1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0" name="Line 101"/>
                <p:cNvSpPr>
                  <a:spLocks noChangeShapeType="1"/>
                </p:cNvSpPr>
                <p:nvPr/>
              </p:nvSpPr>
              <p:spPr bwMode="auto">
                <a:xfrm>
                  <a:off x="5243" y="2850"/>
                  <a:ext cx="0" cy="11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aphicFrame>
              <p:nvGraphicFramePr>
                <p:cNvPr id="8197" name="Object 103"/>
                <p:cNvGraphicFramePr>
                  <a:graphicFrameLocks noChangeAspect="1"/>
                </p:cNvGraphicFramePr>
                <p:nvPr/>
              </p:nvGraphicFramePr>
              <p:xfrm>
                <a:off x="3494" y="3000"/>
                <a:ext cx="105" cy="14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5" imgW="152280" imgH="203040" progId="Equation.DSMT4">
                        <p:embed/>
                      </p:oleObj>
                    </mc:Choice>
                    <mc:Fallback>
                      <p:oleObj name="Equation" r:id="rId5" imgW="152280" imgH="20304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94" y="3000"/>
                              <a:ext cx="105" cy="14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198" name="Object 104"/>
                <p:cNvGraphicFramePr>
                  <a:graphicFrameLocks noChangeAspect="1"/>
                </p:cNvGraphicFramePr>
                <p:nvPr/>
              </p:nvGraphicFramePr>
              <p:xfrm>
                <a:off x="3971" y="2986"/>
                <a:ext cx="123" cy="1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7" imgW="177480" imgH="203040" progId="Equation.DSMT4">
                        <p:embed/>
                      </p:oleObj>
                    </mc:Choice>
                    <mc:Fallback>
                      <p:oleObj name="Equation" r:id="rId7" imgW="177480" imgH="20304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71" y="2986"/>
                              <a:ext cx="123" cy="14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199" name="Object 105"/>
                <p:cNvGraphicFramePr>
                  <a:graphicFrameLocks noChangeAspect="1"/>
                </p:cNvGraphicFramePr>
                <p:nvPr/>
              </p:nvGraphicFramePr>
              <p:xfrm>
                <a:off x="4395" y="2995"/>
                <a:ext cx="114" cy="1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9" imgW="164880" imgH="203040" progId="Equation.DSMT4">
                        <p:embed/>
                      </p:oleObj>
                    </mc:Choice>
                    <mc:Fallback>
                      <p:oleObj name="Equation" r:id="rId9" imgW="164880" imgH="20304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95" y="2995"/>
                              <a:ext cx="114" cy="14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200" name="Object 106"/>
                <p:cNvGraphicFramePr>
                  <a:graphicFrameLocks noChangeAspect="1"/>
                </p:cNvGraphicFramePr>
                <p:nvPr/>
              </p:nvGraphicFramePr>
              <p:xfrm>
                <a:off x="4819" y="3000"/>
                <a:ext cx="105" cy="14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1" imgW="152280" imgH="203040" progId="Equation.DSMT4">
                        <p:embed/>
                      </p:oleObj>
                    </mc:Choice>
                    <mc:Fallback>
                      <p:oleObj name="Equation" r:id="rId11" imgW="152280" imgH="20304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19" y="3000"/>
                              <a:ext cx="105" cy="14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201" name="Object 107"/>
                <p:cNvGraphicFramePr>
                  <a:graphicFrameLocks noChangeAspect="1"/>
                </p:cNvGraphicFramePr>
                <p:nvPr/>
              </p:nvGraphicFramePr>
              <p:xfrm>
                <a:off x="5190" y="3000"/>
                <a:ext cx="123" cy="14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3" imgW="177480" imgH="203040" progId="Equation.DSMT4">
                        <p:embed/>
                      </p:oleObj>
                    </mc:Choice>
                    <mc:Fallback>
                      <p:oleObj name="Equation" r:id="rId13" imgW="177480" imgH="20304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190" y="3000"/>
                              <a:ext cx="123" cy="14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8231" name="Line 108"/>
                <p:cNvSpPr>
                  <a:spLocks noChangeShapeType="1"/>
                </p:cNvSpPr>
                <p:nvPr/>
              </p:nvSpPr>
              <p:spPr bwMode="auto">
                <a:xfrm>
                  <a:off x="3450" y="2286"/>
                  <a:ext cx="212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2" name="Line 109"/>
                <p:cNvSpPr>
                  <a:spLocks noChangeShapeType="1"/>
                </p:cNvSpPr>
                <p:nvPr/>
              </p:nvSpPr>
              <p:spPr bwMode="auto">
                <a:xfrm>
                  <a:off x="3662" y="2286"/>
                  <a:ext cx="0" cy="324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3" name="Line 110"/>
                <p:cNvSpPr>
                  <a:spLocks noChangeShapeType="1"/>
                </p:cNvSpPr>
                <p:nvPr/>
              </p:nvSpPr>
              <p:spPr bwMode="auto">
                <a:xfrm>
                  <a:off x="3662" y="2611"/>
                  <a:ext cx="672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4" name="Line 111"/>
                <p:cNvSpPr>
                  <a:spLocks noChangeShapeType="1"/>
                </p:cNvSpPr>
                <p:nvPr/>
              </p:nvSpPr>
              <p:spPr bwMode="auto">
                <a:xfrm>
                  <a:off x="4334" y="2782"/>
                  <a:ext cx="212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5" name="Line 112"/>
                <p:cNvSpPr>
                  <a:spLocks noChangeShapeType="1"/>
                </p:cNvSpPr>
                <p:nvPr/>
              </p:nvSpPr>
              <p:spPr bwMode="auto">
                <a:xfrm flipV="1">
                  <a:off x="4334" y="2611"/>
                  <a:ext cx="0" cy="171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6" name="Line 113"/>
                <p:cNvSpPr>
                  <a:spLocks noChangeShapeType="1"/>
                </p:cNvSpPr>
                <p:nvPr/>
              </p:nvSpPr>
              <p:spPr bwMode="auto">
                <a:xfrm>
                  <a:off x="3450" y="2286"/>
                  <a:ext cx="0" cy="67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8" name="Freeform 115"/>
                <p:cNvSpPr>
                  <a:spLocks/>
                </p:cNvSpPr>
                <p:nvPr/>
              </p:nvSpPr>
              <p:spPr bwMode="auto">
                <a:xfrm>
                  <a:off x="5144" y="2650"/>
                  <a:ext cx="214" cy="3"/>
                </a:xfrm>
                <a:custGeom>
                  <a:avLst/>
                  <a:gdLst>
                    <a:gd name="T0" fmla="*/ 0 w 194"/>
                    <a:gd name="T1" fmla="*/ 0 h 2"/>
                    <a:gd name="T2" fmla="*/ 194 w 194"/>
                    <a:gd name="T3" fmla="*/ 2 h 2"/>
                    <a:gd name="T4" fmla="*/ 0 60000 65536"/>
                    <a:gd name="T5" fmla="*/ 0 60000 65536"/>
                    <a:gd name="T6" fmla="*/ 0 w 194"/>
                    <a:gd name="T7" fmla="*/ 0 h 2"/>
                    <a:gd name="T8" fmla="*/ 194 w 194"/>
                    <a:gd name="T9" fmla="*/ 2 h 2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94" h="2">
                      <a:moveTo>
                        <a:pt x="0" y="0"/>
                      </a:moveTo>
                      <a:lnTo>
                        <a:pt x="194" y="2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9" name="Line 116"/>
                <p:cNvSpPr>
                  <a:spLocks noChangeShapeType="1"/>
                </p:cNvSpPr>
                <p:nvPr/>
              </p:nvSpPr>
              <p:spPr bwMode="auto">
                <a:xfrm>
                  <a:off x="4550" y="2693"/>
                  <a:ext cx="0" cy="89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aphicFrame>
              <p:nvGraphicFramePr>
                <p:cNvPr id="8202" name="Object 118"/>
                <p:cNvGraphicFramePr>
                  <a:graphicFrameLocks noChangeAspect="1"/>
                </p:cNvGraphicFramePr>
                <p:nvPr/>
              </p:nvGraphicFramePr>
              <p:xfrm>
                <a:off x="3362" y="2100"/>
                <a:ext cx="237" cy="1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5" imgW="342720" imgH="203040" progId="Equation.DSMT4">
                        <p:embed/>
                      </p:oleObj>
                    </mc:Choice>
                    <mc:Fallback>
                      <p:oleObj name="Equation" r:id="rId15" imgW="342720" imgH="20304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62" y="2100"/>
                              <a:ext cx="237" cy="14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203" name="Object 119"/>
                <p:cNvGraphicFramePr>
                  <a:graphicFrameLocks noChangeAspect="1"/>
                </p:cNvGraphicFramePr>
                <p:nvPr/>
              </p:nvGraphicFramePr>
              <p:xfrm>
                <a:off x="3812" y="2421"/>
                <a:ext cx="335" cy="1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7" imgW="482400" imgH="203040" progId="Equation.DSMT4">
                        <p:embed/>
                      </p:oleObj>
                    </mc:Choice>
                    <mc:Fallback>
                      <p:oleObj name="Equation" r:id="rId17" imgW="482400" imgH="20304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12" y="2421"/>
                              <a:ext cx="335" cy="14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204" name="Object 120"/>
                <p:cNvGraphicFramePr>
                  <a:graphicFrameLocks noChangeAspect="1"/>
                </p:cNvGraphicFramePr>
                <p:nvPr/>
              </p:nvGraphicFramePr>
              <p:xfrm>
                <a:off x="4607" y="2485"/>
                <a:ext cx="441" cy="14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9" imgW="634680" imgH="203040" progId="Equation.DSMT4">
                        <p:embed/>
                      </p:oleObj>
                    </mc:Choice>
                    <mc:Fallback>
                      <p:oleObj name="Equation" r:id="rId19" imgW="634680" imgH="20304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07" y="2485"/>
                              <a:ext cx="441" cy="14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205" name="Object 121"/>
                <p:cNvGraphicFramePr>
                  <a:graphicFrameLocks noChangeAspect="1"/>
                </p:cNvGraphicFramePr>
                <p:nvPr/>
              </p:nvGraphicFramePr>
              <p:xfrm>
                <a:off x="5137" y="2466"/>
                <a:ext cx="495" cy="1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1" imgW="711000" imgH="203040" progId="Equation.DSMT4">
                        <p:embed/>
                      </p:oleObj>
                    </mc:Choice>
                    <mc:Fallback>
                      <p:oleObj name="Equation" r:id="rId21" imgW="711000" imgH="20304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137" y="2466"/>
                              <a:ext cx="495" cy="14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206" name="Object 122"/>
                <p:cNvGraphicFramePr>
                  <a:graphicFrameLocks noChangeAspect="1"/>
                </p:cNvGraphicFramePr>
                <p:nvPr/>
              </p:nvGraphicFramePr>
              <p:xfrm>
                <a:off x="4257" y="2811"/>
                <a:ext cx="389" cy="14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3" imgW="558720" imgH="203040" progId="Equation.DSMT4">
                        <p:embed/>
                      </p:oleObj>
                    </mc:Choice>
                    <mc:Fallback>
                      <p:oleObj name="Equation" r:id="rId23" imgW="558720" imgH="20304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57" y="2811"/>
                              <a:ext cx="389" cy="143"/>
                            </a:xfrm>
                            <a:prstGeom prst="rect">
                              <a:avLst/>
                            </a:prstGeom>
                            <a:solidFill>
                              <a:schemeClr val="bg1"/>
                            </a:solidFill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207" name="Object 123"/>
                <p:cNvGraphicFramePr>
                  <a:graphicFrameLocks noChangeAspect="1"/>
                </p:cNvGraphicFramePr>
                <p:nvPr/>
              </p:nvGraphicFramePr>
              <p:xfrm>
                <a:off x="3407" y="1760"/>
                <a:ext cx="2024" cy="22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5" imgW="2095200" imgH="228600" progId="Equation.DSMT4">
                        <p:embed/>
                      </p:oleObj>
                    </mc:Choice>
                    <mc:Fallback>
                      <p:oleObj name="Equation" r:id="rId25" imgW="2095200" imgH="2286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07" y="1760"/>
                              <a:ext cx="2024" cy="226"/>
                            </a:xfrm>
                            <a:prstGeom prst="rect">
                              <a:avLst/>
                            </a:prstGeom>
                            <a:solidFill>
                              <a:srgbClr val="FFFF00"/>
                            </a:solidFill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50" name="Line 110"/>
              <p:cNvSpPr>
                <a:spLocks noChangeShapeType="1"/>
              </p:cNvSpPr>
              <p:nvPr/>
            </p:nvSpPr>
            <p:spPr bwMode="auto">
              <a:xfrm>
                <a:off x="7226055" y="4279778"/>
                <a:ext cx="94493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Line 112"/>
              <p:cNvSpPr>
                <a:spLocks noChangeShapeType="1"/>
              </p:cNvSpPr>
              <p:nvPr/>
            </p:nvSpPr>
            <p:spPr bwMode="auto">
              <a:xfrm flipV="1">
                <a:off x="8169764" y="4214446"/>
                <a:ext cx="0" cy="64478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53" name="Object 102"/>
            <p:cNvGraphicFramePr>
              <a:graphicFrameLocks noChangeAspect="1"/>
            </p:cNvGraphicFramePr>
            <p:nvPr/>
          </p:nvGraphicFramePr>
          <p:xfrm>
            <a:off x="4456113" y="3245442"/>
            <a:ext cx="401637" cy="2978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279360" imgH="203040" progId="Equation.DSMT4">
                    <p:embed/>
                  </p:oleObj>
                </mc:Choice>
                <mc:Fallback>
                  <p:oleObj name="Equation" r:id="rId27" imgW="2793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6113" y="3245442"/>
                          <a:ext cx="401637" cy="29785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Group 54"/>
          <p:cNvGrpSpPr/>
          <p:nvPr/>
        </p:nvGrpSpPr>
        <p:grpSpPr>
          <a:xfrm>
            <a:off x="73025" y="1785163"/>
            <a:ext cx="5009189" cy="4108450"/>
            <a:chOff x="282575" y="1628775"/>
            <a:chExt cx="5009189" cy="4108450"/>
          </a:xfrm>
        </p:grpSpPr>
        <p:sp>
          <p:nvSpPr>
            <p:cNvPr id="8223" name="Line 125"/>
            <p:cNvSpPr>
              <a:spLocks noChangeShapeType="1"/>
            </p:cNvSpPr>
            <p:nvPr/>
          </p:nvSpPr>
          <p:spPr bwMode="auto">
            <a:xfrm>
              <a:off x="3562350" y="1628775"/>
              <a:ext cx="6350" cy="404336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8195" name="Object 129"/>
            <p:cNvGraphicFramePr>
              <a:graphicFrameLocks noChangeAspect="1"/>
            </p:cNvGraphicFramePr>
            <p:nvPr/>
          </p:nvGraphicFramePr>
          <p:xfrm>
            <a:off x="2724150" y="1700213"/>
            <a:ext cx="660400" cy="554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469800" imgH="393480" progId="Equation.DSMT4">
                    <p:embed/>
                  </p:oleObj>
                </mc:Choice>
                <mc:Fallback>
                  <p:oleObj name="Equation" r:id="rId29" imgW="46980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4150" y="1700213"/>
                          <a:ext cx="660400" cy="5540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4" name="Text Box 136"/>
            <p:cNvSpPr txBox="1">
              <a:spLocks noChangeArrowheads="1"/>
            </p:cNvSpPr>
            <p:nvPr/>
          </p:nvSpPr>
          <p:spPr bwMode="auto">
            <a:xfrm>
              <a:off x="3581400" y="2598738"/>
              <a:ext cx="725488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rgbClr val="0000FF"/>
                  </a:solidFill>
                  <a:latin typeface="Times New Roman" pitchFamily="18" charset="0"/>
                </a:rPr>
                <a:t>0.75 [ns]</a:t>
              </a:r>
            </a:p>
          </p:txBody>
        </p:sp>
        <p:sp>
          <p:nvSpPr>
            <p:cNvPr id="8215" name="Oval 138"/>
            <p:cNvSpPr>
              <a:spLocks noChangeArrowheads="1"/>
            </p:cNvSpPr>
            <p:nvPr/>
          </p:nvSpPr>
          <p:spPr bwMode="auto">
            <a:xfrm>
              <a:off x="3511550" y="2774951"/>
              <a:ext cx="114300" cy="1143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6" name="Oval 139"/>
            <p:cNvSpPr>
              <a:spLocks noChangeArrowheads="1"/>
            </p:cNvSpPr>
            <p:nvPr/>
          </p:nvSpPr>
          <p:spPr bwMode="auto">
            <a:xfrm>
              <a:off x="3511550" y="2984501"/>
              <a:ext cx="114300" cy="1143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7" name="Text Box 140"/>
            <p:cNvSpPr txBox="1">
              <a:spLocks noChangeArrowheads="1"/>
            </p:cNvSpPr>
            <p:nvPr/>
          </p:nvSpPr>
          <p:spPr bwMode="auto">
            <a:xfrm>
              <a:off x="3568700" y="3005138"/>
              <a:ext cx="725488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rgbClr val="0000FF"/>
                  </a:solidFill>
                  <a:latin typeface="Times New Roman" pitchFamily="18" charset="0"/>
                </a:rPr>
                <a:t>1.25 [ns]</a:t>
              </a:r>
            </a:p>
          </p:txBody>
        </p:sp>
        <p:sp>
          <p:nvSpPr>
            <p:cNvPr id="8218" name="Oval 141"/>
            <p:cNvSpPr>
              <a:spLocks noChangeArrowheads="1"/>
            </p:cNvSpPr>
            <p:nvPr/>
          </p:nvSpPr>
          <p:spPr bwMode="auto">
            <a:xfrm>
              <a:off x="3527425" y="3698876"/>
              <a:ext cx="114300" cy="1143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9" name="Text Box 142"/>
            <p:cNvSpPr txBox="1">
              <a:spLocks noChangeArrowheads="1"/>
            </p:cNvSpPr>
            <p:nvPr/>
          </p:nvSpPr>
          <p:spPr bwMode="auto">
            <a:xfrm>
              <a:off x="3625850" y="3535363"/>
              <a:ext cx="725488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rgbClr val="0000FF"/>
                  </a:solidFill>
                  <a:latin typeface="Times New Roman" pitchFamily="18" charset="0"/>
                </a:rPr>
                <a:t>2.75 [ns]</a:t>
              </a:r>
            </a:p>
          </p:txBody>
        </p:sp>
        <p:sp>
          <p:nvSpPr>
            <p:cNvPr id="8220" name="Oval 143"/>
            <p:cNvSpPr>
              <a:spLocks noChangeArrowheads="1"/>
            </p:cNvSpPr>
            <p:nvPr/>
          </p:nvSpPr>
          <p:spPr bwMode="auto">
            <a:xfrm>
              <a:off x="3527425" y="3921126"/>
              <a:ext cx="114300" cy="1143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1" name="Text Box 144"/>
            <p:cNvSpPr txBox="1">
              <a:spLocks noChangeArrowheads="1"/>
            </p:cNvSpPr>
            <p:nvPr/>
          </p:nvSpPr>
          <p:spPr bwMode="auto">
            <a:xfrm>
              <a:off x="3581400" y="3967163"/>
              <a:ext cx="725488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rgbClr val="0000FF"/>
                  </a:solidFill>
                  <a:latin typeface="Times New Roman" pitchFamily="18" charset="0"/>
                </a:rPr>
                <a:t>3.25 [ns]</a:t>
              </a:r>
            </a:p>
          </p:txBody>
        </p:sp>
        <p:pic>
          <p:nvPicPr>
            <p:cNvPr id="8242" name="Picture 50"/>
            <p:cNvPicPr>
              <a:picLocks noChangeAspect="1" noChangeArrowheads="1"/>
            </p:cNvPicPr>
            <p:nvPr/>
          </p:nvPicPr>
          <p:blipFill>
            <a:blip r:embed="rId31" cstate="print"/>
            <a:srcRect/>
            <a:stretch>
              <a:fillRect/>
            </a:stretch>
          </p:blipFill>
          <p:spPr bwMode="auto">
            <a:xfrm>
              <a:off x="282575" y="2009775"/>
              <a:ext cx="5009189" cy="3727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115639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7" name="Rectangle 3"/>
          <p:cNvSpPr>
            <a:spLocks noChangeArrowheads="1"/>
          </p:cNvSpPr>
          <p:nvPr/>
        </p:nvSpPr>
        <p:spPr bwMode="auto">
          <a:xfrm>
            <a:off x="609599" y="973732"/>
            <a:ext cx="8166265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dirty="0">
                <a:solidFill>
                  <a:srgbClr val="0000FF"/>
                </a:solidFill>
              </a:rPr>
              <a:t>The bounce diagram can also be used to get a </a:t>
            </a:r>
            <a:r>
              <a:rPr lang="en-US" dirty="0">
                <a:solidFill>
                  <a:srgbClr val="FF0000"/>
                </a:solidFill>
              </a:rPr>
              <a:t>“snapshot”</a:t>
            </a:r>
            <a:r>
              <a:rPr lang="en-US" dirty="0">
                <a:solidFill>
                  <a:srgbClr val="0000FF"/>
                </a:solidFill>
              </a:rPr>
              <a:t> of the line voltage</a:t>
            </a:r>
          </a:p>
          <a:p>
            <a:r>
              <a:rPr lang="en-US" dirty="0">
                <a:solidFill>
                  <a:srgbClr val="0000FF"/>
                </a:solidFill>
              </a:rPr>
              <a:t> at any point in time.</a:t>
            </a:r>
          </a:p>
        </p:txBody>
      </p:sp>
      <p:sp>
        <p:nvSpPr>
          <p:cNvPr id="9228" name="Text Box 76"/>
          <p:cNvSpPr txBox="1">
            <a:spLocks noChangeArrowheads="1"/>
          </p:cNvSpPr>
          <p:nvPr/>
        </p:nvSpPr>
        <p:spPr bwMode="auto">
          <a:xfrm>
            <a:off x="2493818" y="0"/>
            <a:ext cx="3479800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Snapshot</a:t>
            </a:r>
          </a:p>
        </p:txBody>
      </p:sp>
      <p:grpSp>
        <p:nvGrpSpPr>
          <p:cNvPr id="9229" name="Group 80"/>
          <p:cNvGrpSpPr>
            <a:grpSpLocks/>
          </p:cNvGrpSpPr>
          <p:nvPr/>
        </p:nvGrpSpPr>
        <p:grpSpPr bwMode="auto">
          <a:xfrm>
            <a:off x="68263" y="1859350"/>
            <a:ext cx="4710113" cy="3529013"/>
            <a:chOff x="179" y="1236"/>
            <a:chExt cx="2967" cy="2223"/>
          </a:xfrm>
        </p:grpSpPr>
        <p:pic>
          <p:nvPicPr>
            <p:cNvPr id="9241" name="Picture 3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0" y="1236"/>
              <a:ext cx="2956" cy="22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9226" name="Object 36"/>
            <p:cNvGraphicFramePr>
              <a:graphicFrameLocks noChangeAspect="1"/>
            </p:cNvGraphicFramePr>
            <p:nvPr/>
          </p:nvGraphicFramePr>
          <p:xfrm>
            <a:off x="179" y="2665"/>
            <a:ext cx="685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774360" imgH="203040" progId="Equation.DSMT4">
                    <p:embed/>
                  </p:oleObj>
                </mc:Choice>
                <mc:Fallback>
                  <p:oleObj name="Equation" r:id="rId4" imgW="7743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" y="2665"/>
                          <a:ext cx="685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2" name="Line 73"/>
            <p:cNvSpPr>
              <a:spLocks noChangeShapeType="1"/>
            </p:cNvSpPr>
            <p:nvPr/>
          </p:nvSpPr>
          <p:spPr bwMode="auto">
            <a:xfrm>
              <a:off x="766" y="2546"/>
              <a:ext cx="201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3" name="Text Box 78"/>
            <p:cNvSpPr txBox="1">
              <a:spLocks noChangeArrowheads="1"/>
            </p:cNvSpPr>
            <p:nvPr/>
          </p:nvSpPr>
          <p:spPr bwMode="auto">
            <a:xfrm>
              <a:off x="1198" y="2343"/>
              <a:ext cx="24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i="1" dirty="0">
                  <a:solidFill>
                    <a:srgbClr val="0000FF"/>
                  </a:solidFill>
                  <a:latin typeface="Times New Roman" pitchFamily="18" charset="0"/>
                </a:rPr>
                <a:t>L</a:t>
              </a:r>
              <a:r>
                <a:rPr lang="en-US" sz="1200" dirty="0">
                  <a:solidFill>
                    <a:srgbClr val="0000FF"/>
                  </a:solidFill>
                  <a:latin typeface="Times New Roman" pitchFamily="18" charset="0"/>
                </a:rPr>
                <a:t>/4</a:t>
              </a:r>
            </a:p>
          </p:txBody>
        </p:sp>
        <p:sp>
          <p:nvSpPr>
            <p:cNvPr id="9244" name="Oval 79"/>
            <p:cNvSpPr>
              <a:spLocks noChangeArrowheads="1"/>
            </p:cNvSpPr>
            <p:nvPr/>
          </p:nvSpPr>
          <p:spPr bwMode="auto">
            <a:xfrm>
              <a:off x="1208" y="2504"/>
              <a:ext cx="72" cy="7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" name="Slide Number Placeholder 28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fld id="{1624D6AB-9590-4342-BC0E-0E5A626D3798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4481513" y="2837250"/>
            <a:ext cx="4367212" cy="3338513"/>
            <a:chOff x="4522788" y="3140075"/>
            <a:chExt cx="4367212" cy="3338513"/>
          </a:xfrm>
        </p:grpSpPr>
        <p:grpSp>
          <p:nvGrpSpPr>
            <p:cNvPr id="9230" name="Group 83"/>
            <p:cNvGrpSpPr>
              <a:grpSpLocks/>
            </p:cNvGrpSpPr>
            <p:nvPr/>
          </p:nvGrpSpPr>
          <p:grpSpPr bwMode="auto">
            <a:xfrm>
              <a:off x="5080000" y="3140075"/>
              <a:ext cx="3810000" cy="3338513"/>
              <a:chOff x="3200" y="1978"/>
              <a:chExt cx="2400" cy="2103"/>
            </a:xfrm>
          </p:grpSpPr>
          <p:sp>
            <p:nvSpPr>
              <p:cNvPr id="9231" name="Freeform 56"/>
              <p:cNvSpPr>
                <a:spLocks/>
              </p:cNvSpPr>
              <p:nvPr/>
            </p:nvSpPr>
            <p:spPr bwMode="auto">
              <a:xfrm>
                <a:off x="3201" y="3345"/>
                <a:ext cx="2335" cy="2"/>
              </a:xfrm>
              <a:custGeom>
                <a:avLst/>
                <a:gdLst>
                  <a:gd name="T0" fmla="*/ 0 w 1611"/>
                  <a:gd name="T1" fmla="*/ 0 h 1"/>
                  <a:gd name="T2" fmla="*/ 1611 w 1611"/>
                  <a:gd name="T3" fmla="*/ 0 h 1"/>
                  <a:gd name="T4" fmla="*/ 0 60000 65536"/>
                  <a:gd name="T5" fmla="*/ 0 60000 65536"/>
                  <a:gd name="T6" fmla="*/ 0 w 1611"/>
                  <a:gd name="T7" fmla="*/ 0 h 1"/>
                  <a:gd name="T8" fmla="*/ 1611 w 1611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11" h="1">
                    <a:moveTo>
                      <a:pt x="0" y="0"/>
                    </a:moveTo>
                    <a:lnTo>
                      <a:pt x="1611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32" name="Line 57"/>
              <p:cNvSpPr>
                <a:spLocks noChangeShapeType="1"/>
              </p:cNvSpPr>
              <p:nvPr/>
            </p:nvSpPr>
            <p:spPr bwMode="auto">
              <a:xfrm>
                <a:off x="3806" y="3190"/>
                <a:ext cx="0" cy="1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33" name="Line 58"/>
              <p:cNvSpPr>
                <a:spLocks noChangeShapeType="1"/>
              </p:cNvSpPr>
              <p:nvPr/>
            </p:nvSpPr>
            <p:spPr bwMode="auto">
              <a:xfrm>
                <a:off x="4988" y="3198"/>
                <a:ext cx="0" cy="1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34" name="Line 59"/>
              <p:cNvSpPr>
                <a:spLocks noChangeShapeType="1"/>
              </p:cNvSpPr>
              <p:nvPr/>
            </p:nvSpPr>
            <p:spPr bwMode="auto">
              <a:xfrm>
                <a:off x="4397" y="3190"/>
                <a:ext cx="0" cy="1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35" name="Line 60"/>
              <p:cNvSpPr>
                <a:spLocks noChangeShapeType="1"/>
              </p:cNvSpPr>
              <p:nvPr/>
            </p:nvSpPr>
            <p:spPr bwMode="auto">
              <a:xfrm>
                <a:off x="5545" y="3198"/>
                <a:ext cx="0" cy="1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36" name="Line 61"/>
              <p:cNvSpPr>
                <a:spLocks noChangeShapeType="1"/>
              </p:cNvSpPr>
              <p:nvPr/>
            </p:nvSpPr>
            <p:spPr bwMode="auto">
              <a:xfrm flipV="1">
                <a:off x="3201" y="2103"/>
                <a:ext cx="0" cy="12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9218" name="Object 62"/>
              <p:cNvGraphicFramePr>
                <a:graphicFrameLocks noChangeAspect="1"/>
              </p:cNvGraphicFramePr>
              <p:nvPr/>
            </p:nvGraphicFramePr>
            <p:xfrm>
              <a:off x="4174" y="3854"/>
              <a:ext cx="436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406080" imgH="203040" progId="Equation.DSMT4">
                      <p:embed/>
                    </p:oleObj>
                  </mc:Choice>
                  <mc:Fallback>
                    <p:oleObj name="Equation" r:id="rId6" imgW="40608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74" y="3854"/>
                            <a:ext cx="436" cy="22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19" name="Object 63"/>
              <p:cNvGraphicFramePr>
                <a:graphicFrameLocks noChangeAspect="1"/>
              </p:cNvGraphicFramePr>
              <p:nvPr/>
            </p:nvGraphicFramePr>
            <p:xfrm>
              <a:off x="3758" y="3340"/>
              <a:ext cx="196" cy="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215640" imgH="393480" progId="Equation.DSMT4">
                      <p:embed/>
                    </p:oleObj>
                  </mc:Choice>
                  <mc:Fallback>
                    <p:oleObj name="Equation" r:id="rId8" imgW="215640" imgH="393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58" y="3340"/>
                            <a:ext cx="196" cy="37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37" name="Freeform 64"/>
              <p:cNvSpPr>
                <a:spLocks/>
              </p:cNvSpPr>
              <p:nvPr/>
            </p:nvSpPr>
            <p:spPr bwMode="auto">
              <a:xfrm>
                <a:off x="3200" y="3100"/>
                <a:ext cx="606" cy="2"/>
              </a:xfrm>
              <a:custGeom>
                <a:avLst/>
                <a:gdLst>
                  <a:gd name="T0" fmla="*/ 0 w 418"/>
                  <a:gd name="T1" fmla="*/ 1 h 1"/>
                  <a:gd name="T2" fmla="*/ 418 w 418"/>
                  <a:gd name="T3" fmla="*/ 0 h 1"/>
                  <a:gd name="T4" fmla="*/ 0 60000 65536"/>
                  <a:gd name="T5" fmla="*/ 0 60000 65536"/>
                  <a:gd name="T6" fmla="*/ 0 w 418"/>
                  <a:gd name="T7" fmla="*/ 0 h 1"/>
                  <a:gd name="T8" fmla="*/ 418 w 418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18" h="1">
                    <a:moveTo>
                      <a:pt x="0" y="1"/>
                    </a:moveTo>
                    <a:lnTo>
                      <a:pt x="418" y="0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38" name="Freeform 65"/>
              <p:cNvSpPr>
                <a:spLocks/>
              </p:cNvSpPr>
              <p:nvPr/>
            </p:nvSpPr>
            <p:spPr bwMode="auto">
              <a:xfrm>
                <a:off x="3809" y="2980"/>
                <a:ext cx="1" cy="122"/>
              </a:xfrm>
              <a:custGeom>
                <a:avLst/>
                <a:gdLst>
                  <a:gd name="T0" fmla="*/ 0 w 1"/>
                  <a:gd name="T1" fmla="*/ 0 h 80"/>
                  <a:gd name="T2" fmla="*/ 0 w 1"/>
                  <a:gd name="T3" fmla="*/ 80 h 80"/>
                  <a:gd name="T4" fmla="*/ 0 60000 65536"/>
                  <a:gd name="T5" fmla="*/ 0 60000 65536"/>
                  <a:gd name="T6" fmla="*/ 0 w 1"/>
                  <a:gd name="T7" fmla="*/ 0 h 80"/>
                  <a:gd name="T8" fmla="*/ 1 w 1"/>
                  <a:gd name="T9" fmla="*/ 80 h 8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80">
                    <a:moveTo>
                      <a:pt x="0" y="0"/>
                    </a:moveTo>
                    <a:lnTo>
                      <a:pt x="0" y="80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9220" name="Object 66"/>
              <p:cNvGraphicFramePr>
                <a:graphicFrameLocks noChangeAspect="1"/>
              </p:cNvGraphicFramePr>
              <p:nvPr/>
            </p:nvGraphicFramePr>
            <p:xfrm>
              <a:off x="4496" y="2748"/>
              <a:ext cx="578" cy="1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634680" imgH="203040" progId="Equation.DSMT4">
                      <p:embed/>
                    </p:oleObj>
                  </mc:Choice>
                  <mc:Fallback>
                    <p:oleObj name="Equation" r:id="rId10" imgW="63468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96" y="2748"/>
                            <a:ext cx="578" cy="19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21" name="Object 67"/>
              <p:cNvGraphicFramePr>
                <a:graphicFrameLocks noChangeAspect="1"/>
              </p:cNvGraphicFramePr>
              <p:nvPr/>
            </p:nvGraphicFramePr>
            <p:xfrm>
              <a:off x="3249" y="2848"/>
              <a:ext cx="510" cy="1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558720" imgH="203040" progId="Equation.DSMT4">
                      <p:embed/>
                    </p:oleObj>
                  </mc:Choice>
                  <mc:Fallback>
                    <p:oleObj name="Equation" r:id="rId12" imgW="55872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49" y="2848"/>
                            <a:ext cx="510" cy="193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22" name="Object 68"/>
              <p:cNvGraphicFramePr>
                <a:graphicFrameLocks noChangeAspect="1"/>
              </p:cNvGraphicFramePr>
              <p:nvPr/>
            </p:nvGraphicFramePr>
            <p:xfrm>
              <a:off x="3489" y="1978"/>
              <a:ext cx="1897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1854000" imgH="203040" progId="Equation.DSMT4">
                      <p:embed/>
                    </p:oleObj>
                  </mc:Choice>
                  <mc:Fallback>
                    <p:oleObj name="Equation" r:id="rId14" imgW="185400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89" y="1978"/>
                            <a:ext cx="1897" cy="216"/>
                          </a:xfrm>
                          <a:prstGeom prst="rect">
                            <a:avLst/>
                          </a:prstGeom>
                          <a:solidFill>
                            <a:srgbClr val="FFFF00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39" name="Freeform 69"/>
              <p:cNvSpPr>
                <a:spLocks/>
              </p:cNvSpPr>
              <p:nvPr/>
            </p:nvSpPr>
            <p:spPr bwMode="auto">
              <a:xfrm>
                <a:off x="3809" y="2980"/>
                <a:ext cx="1733" cy="2"/>
              </a:xfrm>
              <a:custGeom>
                <a:avLst/>
                <a:gdLst>
                  <a:gd name="T0" fmla="*/ 0 w 1196"/>
                  <a:gd name="T1" fmla="*/ 0 h 1"/>
                  <a:gd name="T2" fmla="*/ 1196 w 1196"/>
                  <a:gd name="T3" fmla="*/ 0 h 1"/>
                  <a:gd name="T4" fmla="*/ 0 60000 65536"/>
                  <a:gd name="T5" fmla="*/ 0 60000 65536"/>
                  <a:gd name="T6" fmla="*/ 0 w 1196"/>
                  <a:gd name="T7" fmla="*/ 0 h 1"/>
                  <a:gd name="T8" fmla="*/ 1196 w 1196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96" h="1">
                    <a:moveTo>
                      <a:pt x="0" y="0"/>
                    </a:moveTo>
                    <a:lnTo>
                      <a:pt x="1196" y="0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9223" name="Object 70"/>
              <p:cNvGraphicFramePr>
                <a:graphicFrameLocks noChangeAspect="1"/>
              </p:cNvGraphicFramePr>
              <p:nvPr/>
            </p:nvGraphicFramePr>
            <p:xfrm>
              <a:off x="4314" y="3340"/>
              <a:ext cx="196" cy="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215640" imgH="393480" progId="Equation.DSMT4">
                      <p:embed/>
                    </p:oleObj>
                  </mc:Choice>
                  <mc:Fallback>
                    <p:oleObj name="Equation" r:id="rId16" imgW="215640" imgH="393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14" y="3340"/>
                            <a:ext cx="196" cy="37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24" name="Object 71"/>
              <p:cNvGraphicFramePr>
                <a:graphicFrameLocks noChangeAspect="1"/>
              </p:cNvGraphicFramePr>
              <p:nvPr/>
            </p:nvGraphicFramePr>
            <p:xfrm>
              <a:off x="4906" y="3348"/>
              <a:ext cx="265" cy="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291960" imgH="393480" progId="Equation.DSMT4">
                      <p:embed/>
                    </p:oleObj>
                  </mc:Choice>
                  <mc:Fallback>
                    <p:oleObj name="Equation" r:id="rId18" imgW="291960" imgH="393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06" y="3348"/>
                            <a:ext cx="265" cy="37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25" name="Object 72"/>
              <p:cNvGraphicFramePr>
                <a:graphicFrameLocks noChangeAspect="1"/>
              </p:cNvGraphicFramePr>
              <p:nvPr/>
            </p:nvGraphicFramePr>
            <p:xfrm>
              <a:off x="5451" y="3439"/>
              <a:ext cx="149" cy="1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164880" imgH="203040" progId="Equation.DSMT4">
                      <p:embed/>
                    </p:oleObj>
                  </mc:Choice>
                  <mc:Fallback>
                    <p:oleObj name="Equation" r:id="rId20" imgW="16488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51" y="3439"/>
                            <a:ext cx="149" cy="19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40" name="AutoShape 82"/>
              <p:cNvSpPr>
                <a:spLocks noChangeArrowheads="1"/>
              </p:cNvSpPr>
              <p:nvPr/>
            </p:nvSpPr>
            <p:spPr bwMode="auto">
              <a:xfrm flipH="1">
                <a:off x="3440" y="2656"/>
                <a:ext cx="352" cy="88"/>
              </a:xfrm>
              <a:custGeom>
                <a:avLst/>
                <a:gdLst>
                  <a:gd name="T0" fmla="*/ 264 w 21600"/>
                  <a:gd name="T1" fmla="*/ 0 h 21600"/>
                  <a:gd name="T2" fmla="*/ 0 w 21600"/>
                  <a:gd name="T3" fmla="*/ 44 h 21600"/>
                  <a:gd name="T4" fmla="*/ 264 w 21600"/>
                  <a:gd name="T5" fmla="*/ 88 h 21600"/>
                  <a:gd name="T6" fmla="*/ 352 w 21600"/>
                  <a:gd name="T7" fmla="*/ 44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3375 w 21600"/>
                  <a:gd name="T13" fmla="*/ 5400 h 21600"/>
                  <a:gd name="T14" fmla="*/ 18900 w 21600"/>
                  <a:gd name="T15" fmla="*/ 162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0" name="TextBox 29"/>
            <p:cNvSpPr txBox="1"/>
            <p:nvPr/>
          </p:nvSpPr>
          <p:spPr>
            <a:xfrm>
              <a:off x="5610225" y="3829050"/>
              <a:ext cx="22468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Wavefront</a:t>
              </a:r>
              <a:r>
                <a:rPr lang="en-US" sz="1200" dirty="0"/>
                <a:t> is moving to the left</a:t>
              </a:r>
            </a:p>
          </p:txBody>
        </p:sp>
        <p:graphicFrame>
          <p:nvGraphicFramePr>
            <p:cNvPr id="9245" name="Object 102"/>
            <p:cNvGraphicFramePr>
              <a:graphicFrameLocks noChangeAspect="1"/>
            </p:cNvGraphicFramePr>
            <p:nvPr/>
          </p:nvGraphicFramePr>
          <p:xfrm>
            <a:off x="4522788" y="3540824"/>
            <a:ext cx="414337" cy="307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279360" imgH="203040" progId="Equation.DSMT4">
                    <p:embed/>
                  </p:oleObj>
                </mc:Choice>
                <mc:Fallback>
                  <p:oleObj name="Equation" r:id="rId22" imgW="2793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2788" y="3540824"/>
                          <a:ext cx="414337" cy="3072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AutoShape 82"/>
          <p:cNvSpPr>
            <a:spLocks noChangeArrowheads="1"/>
          </p:cNvSpPr>
          <p:nvPr/>
        </p:nvSpPr>
        <p:spPr bwMode="auto">
          <a:xfrm rot="20972599" flipH="1">
            <a:off x="1479551" y="4032974"/>
            <a:ext cx="558800" cy="139700"/>
          </a:xfrm>
          <a:custGeom>
            <a:avLst/>
            <a:gdLst>
              <a:gd name="T0" fmla="*/ 264 w 21600"/>
              <a:gd name="T1" fmla="*/ 0 h 21600"/>
              <a:gd name="T2" fmla="*/ 0 w 21600"/>
              <a:gd name="T3" fmla="*/ 44 h 21600"/>
              <a:gd name="T4" fmla="*/ 264 w 21600"/>
              <a:gd name="T5" fmla="*/ 88 h 21600"/>
              <a:gd name="T6" fmla="*/ 352 w 21600"/>
              <a:gd name="T7" fmla="*/ 44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616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0" name="Rectangle 3"/>
          <p:cNvSpPr>
            <a:spLocks noChangeArrowheads="1"/>
          </p:cNvSpPr>
          <p:nvPr/>
        </p:nvSpPr>
        <p:spPr bwMode="auto">
          <a:xfrm>
            <a:off x="469900" y="711200"/>
            <a:ext cx="8382000" cy="83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dirty="0">
                <a:solidFill>
                  <a:srgbClr val="0000FF"/>
                </a:solidFill>
              </a:rPr>
              <a:t>To obtain a </a:t>
            </a:r>
            <a:r>
              <a:rPr lang="en-US" dirty="0">
                <a:solidFill>
                  <a:srgbClr val="FF0000"/>
                </a:solidFill>
              </a:rPr>
              <a:t>current bounce diagram</a:t>
            </a:r>
            <a:r>
              <a:rPr lang="en-US" dirty="0">
                <a:solidFill>
                  <a:srgbClr val="0000FF"/>
                </a:solidFill>
              </a:rPr>
              <a:t> from the voltage diagram, multiply forward-traveling voltages by 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</a:rPr>
              <a:t>1/</a:t>
            </a:r>
            <a:r>
              <a:rPr lang="en-US" i="1" dirty="0">
                <a:solidFill>
                  <a:srgbClr val="0000FF"/>
                </a:solidFill>
                <a:latin typeface="Times New Roman" pitchFamily="18" charset="0"/>
              </a:rPr>
              <a:t>Z</a:t>
            </a:r>
            <a:r>
              <a:rPr lang="en-US" baseline="-25000" dirty="0">
                <a:solidFill>
                  <a:srgbClr val="0000FF"/>
                </a:solidFill>
                <a:latin typeface="Times New Roman" pitchFamily="18" charset="0"/>
              </a:rPr>
              <a:t>0</a:t>
            </a:r>
            <a:r>
              <a:rPr lang="en-US" dirty="0">
                <a:solidFill>
                  <a:srgbClr val="0000FF"/>
                </a:solidFill>
              </a:rPr>
              <a:t>, backward-traveling voltages by 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</a:rPr>
              <a:t>-1/</a:t>
            </a:r>
            <a:r>
              <a:rPr lang="en-US" i="1" dirty="0">
                <a:solidFill>
                  <a:srgbClr val="0000FF"/>
                </a:solidFill>
                <a:latin typeface="Times New Roman" pitchFamily="18" charset="0"/>
              </a:rPr>
              <a:t>Z</a:t>
            </a:r>
            <a:r>
              <a:rPr lang="en-US" baseline="-25000" dirty="0">
                <a:solidFill>
                  <a:srgbClr val="0000FF"/>
                </a:solidFill>
                <a:latin typeface="Times New Roman" pitchFamily="18" charset="0"/>
              </a:rPr>
              <a:t>0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</a:rPr>
              <a:t>.</a:t>
            </a:r>
            <a:r>
              <a:rPr lang="en-US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10261" name="Line 4"/>
          <p:cNvSpPr>
            <a:spLocks noChangeShapeType="1"/>
          </p:cNvSpPr>
          <p:nvPr/>
        </p:nvSpPr>
        <p:spPr bwMode="auto">
          <a:xfrm>
            <a:off x="5419725" y="2182813"/>
            <a:ext cx="0" cy="3124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2" name="Line 5"/>
          <p:cNvSpPr>
            <a:spLocks noChangeShapeType="1"/>
          </p:cNvSpPr>
          <p:nvPr/>
        </p:nvSpPr>
        <p:spPr bwMode="auto">
          <a:xfrm>
            <a:off x="8304213" y="2182813"/>
            <a:ext cx="0" cy="3124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3" name="Line 6"/>
          <p:cNvSpPr>
            <a:spLocks noChangeShapeType="1"/>
          </p:cNvSpPr>
          <p:nvPr/>
        </p:nvSpPr>
        <p:spPr bwMode="auto">
          <a:xfrm>
            <a:off x="5348288" y="3554413"/>
            <a:ext cx="1841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4" name="Line 7"/>
          <p:cNvSpPr>
            <a:spLocks noChangeShapeType="1"/>
          </p:cNvSpPr>
          <p:nvPr/>
        </p:nvSpPr>
        <p:spPr bwMode="auto">
          <a:xfrm>
            <a:off x="5348288" y="4011613"/>
            <a:ext cx="1841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5" name="Line 8"/>
          <p:cNvSpPr>
            <a:spLocks noChangeShapeType="1"/>
          </p:cNvSpPr>
          <p:nvPr/>
        </p:nvSpPr>
        <p:spPr bwMode="auto">
          <a:xfrm>
            <a:off x="5334000" y="3097213"/>
            <a:ext cx="1841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6" name="Line 9"/>
          <p:cNvSpPr>
            <a:spLocks noChangeShapeType="1"/>
          </p:cNvSpPr>
          <p:nvPr/>
        </p:nvSpPr>
        <p:spPr bwMode="auto">
          <a:xfrm>
            <a:off x="5335588" y="4468813"/>
            <a:ext cx="1841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7" name="Line 10"/>
          <p:cNvSpPr>
            <a:spLocks noChangeShapeType="1"/>
          </p:cNvSpPr>
          <p:nvPr/>
        </p:nvSpPr>
        <p:spPr bwMode="auto">
          <a:xfrm>
            <a:off x="5335588" y="4926013"/>
            <a:ext cx="1841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8" name="Line 11"/>
          <p:cNvSpPr>
            <a:spLocks noChangeShapeType="1"/>
          </p:cNvSpPr>
          <p:nvPr/>
        </p:nvSpPr>
        <p:spPr bwMode="auto">
          <a:xfrm>
            <a:off x="5348288" y="2640013"/>
            <a:ext cx="1841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9" name="Line 12"/>
          <p:cNvSpPr>
            <a:spLocks noChangeShapeType="1"/>
          </p:cNvSpPr>
          <p:nvPr/>
        </p:nvSpPr>
        <p:spPr bwMode="auto">
          <a:xfrm>
            <a:off x="5348288" y="2182813"/>
            <a:ext cx="1841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270" name="Group 13"/>
          <p:cNvGrpSpPr>
            <a:grpSpLocks/>
          </p:cNvGrpSpPr>
          <p:nvPr/>
        </p:nvGrpSpPr>
        <p:grpSpPr bwMode="auto">
          <a:xfrm>
            <a:off x="5419725" y="2640013"/>
            <a:ext cx="2884488" cy="438150"/>
            <a:chOff x="2349" y="2592"/>
            <a:chExt cx="1817" cy="276"/>
          </a:xfrm>
        </p:grpSpPr>
        <p:sp>
          <p:nvSpPr>
            <p:cNvPr id="10300" name="Line 14"/>
            <p:cNvSpPr>
              <a:spLocks noChangeShapeType="1"/>
            </p:cNvSpPr>
            <p:nvPr/>
          </p:nvSpPr>
          <p:spPr bwMode="auto">
            <a:xfrm flipH="1">
              <a:off x="2349" y="2772"/>
              <a:ext cx="621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1" name="Line 15"/>
            <p:cNvSpPr>
              <a:spLocks noChangeShapeType="1"/>
            </p:cNvSpPr>
            <p:nvPr/>
          </p:nvSpPr>
          <p:spPr bwMode="auto">
            <a:xfrm flipH="1">
              <a:off x="3542" y="2592"/>
              <a:ext cx="624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271" name="Group 16"/>
          <p:cNvGrpSpPr>
            <a:grpSpLocks/>
          </p:cNvGrpSpPr>
          <p:nvPr/>
        </p:nvGrpSpPr>
        <p:grpSpPr bwMode="auto">
          <a:xfrm>
            <a:off x="5370513" y="4468813"/>
            <a:ext cx="2884487" cy="457200"/>
            <a:chOff x="2349" y="2592"/>
            <a:chExt cx="1817" cy="288"/>
          </a:xfrm>
        </p:grpSpPr>
        <p:sp>
          <p:nvSpPr>
            <p:cNvPr id="10298" name="Line 17"/>
            <p:cNvSpPr>
              <a:spLocks noChangeShapeType="1"/>
            </p:cNvSpPr>
            <p:nvPr/>
          </p:nvSpPr>
          <p:spPr bwMode="auto">
            <a:xfrm flipH="1">
              <a:off x="2349" y="2784"/>
              <a:ext cx="621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9" name="Line 18"/>
            <p:cNvSpPr>
              <a:spLocks noChangeShapeType="1"/>
            </p:cNvSpPr>
            <p:nvPr/>
          </p:nvSpPr>
          <p:spPr bwMode="auto">
            <a:xfrm flipH="1">
              <a:off x="3542" y="2592"/>
              <a:ext cx="624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272" name="Group 19"/>
          <p:cNvGrpSpPr>
            <a:grpSpLocks/>
          </p:cNvGrpSpPr>
          <p:nvPr/>
        </p:nvGrpSpPr>
        <p:grpSpPr bwMode="auto">
          <a:xfrm flipH="1">
            <a:off x="5397500" y="2209800"/>
            <a:ext cx="2884488" cy="438150"/>
            <a:chOff x="2349" y="2592"/>
            <a:chExt cx="1817" cy="276"/>
          </a:xfrm>
        </p:grpSpPr>
        <p:sp>
          <p:nvSpPr>
            <p:cNvPr id="10296" name="Line 20"/>
            <p:cNvSpPr>
              <a:spLocks noChangeShapeType="1"/>
            </p:cNvSpPr>
            <p:nvPr/>
          </p:nvSpPr>
          <p:spPr bwMode="auto">
            <a:xfrm flipH="1">
              <a:off x="2349" y="2772"/>
              <a:ext cx="621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7" name="Line 21"/>
            <p:cNvSpPr>
              <a:spLocks noChangeShapeType="1"/>
            </p:cNvSpPr>
            <p:nvPr/>
          </p:nvSpPr>
          <p:spPr bwMode="auto">
            <a:xfrm flipH="1">
              <a:off x="3542" y="2592"/>
              <a:ext cx="624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273" name="Group 22"/>
          <p:cNvGrpSpPr>
            <a:grpSpLocks/>
          </p:cNvGrpSpPr>
          <p:nvPr/>
        </p:nvGrpSpPr>
        <p:grpSpPr bwMode="auto">
          <a:xfrm>
            <a:off x="5419725" y="3554413"/>
            <a:ext cx="2884488" cy="457200"/>
            <a:chOff x="2349" y="2592"/>
            <a:chExt cx="1817" cy="288"/>
          </a:xfrm>
        </p:grpSpPr>
        <p:sp>
          <p:nvSpPr>
            <p:cNvPr id="10294" name="Line 23"/>
            <p:cNvSpPr>
              <a:spLocks noChangeShapeType="1"/>
            </p:cNvSpPr>
            <p:nvPr/>
          </p:nvSpPr>
          <p:spPr bwMode="auto">
            <a:xfrm flipH="1">
              <a:off x="2349" y="2784"/>
              <a:ext cx="621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5" name="Line 24"/>
            <p:cNvSpPr>
              <a:spLocks noChangeShapeType="1"/>
            </p:cNvSpPr>
            <p:nvPr/>
          </p:nvSpPr>
          <p:spPr bwMode="auto">
            <a:xfrm flipH="1">
              <a:off x="3542" y="2592"/>
              <a:ext cx="624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274" name="Group 25"/>
          <p:cNvGrpSpPr>
            <a:grpSpLocks/>
          </p:cNvGrpSpPr>
          <p:nvPr/>
        </p:nvGrpSpPr>
        <p:grpSpPr bwMode="auto">
          <a:xfrm flipH="1">
            <a:off x="5441950" y="4011613"/>
            <a:ext cx="2884488" cy="457200"/>
            <a:chOff x="2349" y="2592"/>
            <a:chExt cx="1817" cy="288"/>
          </a:xfrm>
        </p:grpSpPr>
        <p:sp>
          <p:nvSpPr>
            <p:cNvPr id="10292" name="Line 26"/>
            <p:cNvSpPr>
              <a:spLocks noChangeShapeType="1"/>
            </p:cNvSpPr>
            <p:nvPr/>
          </p:nvSpPr>
          <p:spPr bwMode="auto">
            <a:xfrm flipH="1">
              <a:off x="2349" y="2784"/>
              <a:ext cx="621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3" name="Line 27"/>
            <p:cNvSpPr>
              <a:spLocks noChangeShapeType="1"/>
            </p:cNvSpPr>
            <p:nvPr/>
          </p:nvSpPr>
          <p:spPr bwMode="auto">
            <a:xfrm flipH="1">
              <a:off x="3542" y="2592"/>
              <a:ext cx="624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275" name="Group 28"/>
          <p:cNvGrpSpPr>
            <a:grpSpLocks/>
          </p:cNvGrpSpPr>
          <p:nvPr/>
        </p:nvGrpSpPr>
        <p:grpSpPr bwMode="auto">
          <a:xfrm flipH="1">
            <a:off x="5461000" y="3097213"/>
            <a:ext cx="2865438" cy="457200"/>
            <a:chOff x="2361" y="2592"/>
            <a:chExt cx="1805" cy="288"/>
          </a:xfrm>
        </p:grpSpPr>
        <p:sp>
          <p:nvSpPr>
            <p:cNvPr id="10290" name="Line 29"/>
            <p:cNvSpPr>
              <a:spLocks noChangeShapeType="1"/>
            </p:cNvSpPr>
            <p:nvPr/>
          </p:nvSpPr>
          <p:spPr bwMode="auto">
            <a:xfrm flipH="1">
              <a:off x="2361" y="2784"/>
              <a:ext cx="621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1" name="Line 30"/>
            <p:cNvSpPr>
              <a:spLocks noChangeShapeType="1"/>
            </p:cNvSpPr>
            <p:nvPr/>
          </p:nvSpPr>
          <p:spPr bwMode="auto">
            <a:xfrm flipH="1">
              <a:off x="3542" y="2592"/>
              <a:ext cx="624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0242" name="Object 31"/>
          <p:cNvGraphicFramePr>
            <a:graphicFrameLocks noChangeAspect="1"/>
          </p:cNvGraphicFramePr>
          <p:nvPr/>
        </p:nvGraphicFramePr>
        <p:xfrm>
          <a:off x="5138738" y="2101850"/>
          <a:ext cx="150812" cy="20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203040" progId="Equation.DSMT4">
                  <p:embed/>
                </p:oleObj>
              </mc:Choice>
              <mc:Fallback>
                <p:oleObj name="Equation" r:id="rId3" imgW="152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8738" y="2101850"/>
                        <a:ext cx="150812" cy="201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6" name="Text Box 32"/>
          <p:cNvSpPr txBox="1">
            <a:spLocks noChangeArrowheads="1"/>
          </p:cNvSpPr>
          <p:nvPr/>
        </p:nvSpPr>
        <p:spPr bwMode="auto">
          <a:xfrm>
            <a:off x="4989513" y="2517775"/>
            <a:ext cx="3746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200">
                <a:solidFill>
                  <a:srgbClr val="000000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10277" name="Text Box 33"/>
          <p:cNvSpPr txBox="1">
            <a:spLocks noChangeArrowheads="1"/>
          </p:cNvSpPr>
          <p:nvPr/>
        </p:nvSpPr>
        <p:spPr bwMode="auto">
          <a:xfrm>
            <a:off x="4995863" y="2974975"/>
            <a:ext cx="3746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20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10278" name="Text Box 34"/>
          <p:cNvSpPr txBox="1">
            <a:spLocks noChangeArrowheads="1"/>
          </p:cNvSpPr>
          <p:nvPr/>
        </p:nvSpPr>
        <p:spPr bwMode="auto">
          <a:xfrm>
            <a:off x="4973638" y="3402013"/>
            <a:ext cx="3746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200">
                <a:solidFill>
                  <a:srgbClr val="000000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10279" name="Text Box 35"/>
          <p:cNvSpPr txBox="1">
            <a:spLocks noChangeArrowheads="1"/>
          </p:cNvSpPr>
          <p:nvPr/>
        </p:nvSpPr>
        <p:spPr bwMode="auto">
          <a:xfrm>
            <a:off x="4973638" y="3889375"/>
            <a:ext cx="4222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200">
                <a:solidFill>
                  <a:srgbClr val="000000"/>
                </a:solidFill>
                <a:latin typeface="Times New Roman" pitchFamily="18" charset="0"/>
              </a:rPr>
              <a:t>4</a:t>
            </a:r>
          </a:p>
        </p:txBody>
      </p:sp>
      <p:sp>
        <p:nvSpPr>
          <p:cNvPr id="10280" name="Text Box 36"/>
          <p:cNvSpPr txBox="1">
            <a:spLocks noChangeArrowheads="1"/>
          </p:cNvSpPr>
          <p:nvPr/>
        </p:nvSpPr>
        <p:spPr bwMode="auto">
          <a:xfrm>
            <a:off x="4973638" y="4346575"/>
            <a:ext cx="3746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200">
                <a:solidFill>
                  <a:srgbClr val="000000"/>
                </a:solidFill>
                <a:latin typeface="Times New Roman" pitchFamily="18" charset="0"/>
              </a:rPr>
              <a:t>5</a:t>
            </a:r>
          </a:p>
        </p:txBody>
      </p:sp>
      <p:sp>
        <p:nvSpPr>
          <p:cNvPr id="10281" name="Text Box 37"/>
          <p:cNvSpPr txBox="1">
            <a:spLocks noChangeArrowheads="1"/>
          </p:cNvSpPr>
          <p:nvPr/>
        </p:nvSpPr>
        <p:spPr bwMode="auto">
          <a:xfrm>
            <a:off x="4973638" y="4773613"/>
            <a:ext cx="3746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200">
                <a:solidFill>
                  <a:srgbClr val="000000"/>
                </a:solidFill>
                <a:latin typeface="Times New Roman" pitchFamily="18" charset="0"/>
              </a:rPr>
              <a:t>6</a:t>
            </a:r>
          </a:p>
        </p:txBody>
      </p:sp>
      <p:graphicFrame>
        <p:nvGraphicFramePr>
          <p:cNvPr id="10243" name="Object 40"/>
          <p:cNvGraphicFramePr>
            <a:graphicFrameLocks noChangeAspect="1"/>
          </p:cNvGraphicFramePr>
          <p:nvPr/>
        </p:nvGraphicFramePr>
        <p:xfrm>
          <a:off x="6864350" y="2286000"/>
          <a:ext cx="150813" cy="20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80" imgH="203040" progId="Equation.DSMT4">
                  <p:embed/>
                </p:oleObj>
              </mc:Choice>
              <mc:Fallback>
                <p:oleObj name="Equation" r:id="rId5" imgW="152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350" y="2286000"/>
                        <a:ext cx="150813" cy="201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41"/>
          <p:cNvGraphicFramePr>
            <a:graphicFrameLocks noChangeAspect="1"/>
          </p:cNvGraphicFramePr>
          <p:nvPr/>
        </p:nvGraphicFramePr>
        <p:xfrm>
          <a:off x="6788150" y="2667000"/>
          <a:ext cx="2016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3040" imgH="393480" progId="Equation.DSMT4">
                  <p:embed/>
                </p:oleObj>
              </mc:Choice>
              <mc:Fallback>
                <p:oleObj name="Equation" r:id="rId7" imgW="2030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8150" y="2667000"/>
                        <a:ext cx="2016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42"/>
          <p:cNvGraphicFramePr>
            <a:graphicFrameLocks noChangeAspect="1"/>
          </p:cNvGraphicFramePr>
          <p:nvPr/>
        </p:nvGraphicFramePr>
        <p:xfrm>
          <a:off x="6800850" y="3168650"/>
          <a:ext cx="2794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9360" imgH="393480" progId="Equation.DSMT4">
                  <p:embed/>
                </p:oleObj>
              </mc:Choice>
              <mc:Fallback>
                <p:oleObj name="Equation" r:id="rId9" imgW="2793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0850" y="3168650"/>
                        <a:ext cx="279400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43"/>
          <p:cNvGraphicFramePr>
            <a:graphicFrameLocks noChangeAspect="1"/>
          </p:cNvGraphicFramePr>
          <p:nvPr/>
        </p:nvGraphicFramePr>
        <p:xfrm>
          <a:off x="6761163" y="4024313"/>
          <a:ext cx="239712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41200" imgH="393480" progId="Equation.DSMT4">
                  <p:embed/>
                </p:oleObj>
              </mc:Choice>
              <mc:Fallback>
                <p:oleObj name="Equation" r:id="rId11" imgW="2412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1163" y="4024313"/>
                        <a:ext cx="239712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44"/>
          <p:cNvGraphicFramePr>
            <a:graphicFrameLocks noChangeAspect="1"/>
          </p:cNvGraphicFramePr>
          <p:nvPr/>
        </p:nvGraphicFramePr>
        <p:xfrm>
          <a:off x="6692900" y="4495800"/>
          <a:ext cx="2794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79360" imgH="393480" progId="Equation.DSMT4">
                  <p:embed/>
                </p:oleObj>
              </mc:Choice>
              <mc:Fallback>
                <p:oleObj name="Equation" r:id="rId13" imgW="2793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2900" y="4495800"/>
                        <a:ext cx="279400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45"/>
          <p:cNvGraphicFramePr>
            <a:graphicFrameLocks noChangeAspect="1"/>
          </p:cNvGraphicFramePr>
          <p:nvPr/>
        </p:nvGraphicFramePr>
        <p:xfrm>
          <a:off x="7740650" y="2246313"/>
          <a:ext cx="125413" cy="176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26720" imgH="177480" progId="Equation.DSMT4">
                  <p:embed/>
                </p:oleObj>
              </mc:Choice>
              <mc:Fallback>
                <p:oleObj name="Equation" r:id="rId15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0650" y="2246313"/>
                        <a:ext cx="125413" cy="176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46"/>
          <p:cNvGraphicFramePr>
            <a:graphicFrameLocks noChangeAspect="1"/>
          </p:cNvGraphicFramePr>
          <p:nvPr/>
        </p:nvGraphicFramePr>
        <p:xfrm>
          <a:off x="5697538" y="2543175"/>
          <a:ext cx="150812" cy="20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2280" imgH="203040" progId="Equation.DSMT4">
                  <p:embed/>
                </p:oleObj>
              </mc:Choice>
              <mc:Fallback>
                <p:oleObj name="Equation" r:id="rId17" imgW="152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7538" y="2543175"/>
                        <a:ext cx="150812" cy="201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47"/>
          <p:cNvGraphicFramePr>
            <a:graphicFrameLocks noChangeAspect="1"/>
          </p:cNvGraphicFramePr>
          <p:nvPr/>
        </p:nvGraphicFramePr>
        <p:xfrm>
          <a:off x="7707313" y="2971800"/>
          <a:ext cx="279400" cy="20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79360" imgH="203040" progId="Equation.DSMT4">
                  <p:embed/>
                </p:oleObj>
              </mc:Choice>
              <mc:Fallback>
                <p:oleObj name="Equation" r:id="rId19" imgW="279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7313" y="2971800"/>
                        <a:ext cx="279400" cy="201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Object 48"/>
          <p:cNvGraphicFramePr>
            <a:graphicFrameLocks noChangeAspect="1"/>
          </p:cNvGraphicFramePr>
          <p:nvPr/>
        </p:nvGraphicFramePr>
        <p:xfrm>
          <a:off x="5741988" y="3449638"/>
          <a:ext cx="354012" cy="20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55320" imgH="203040" progId="Equation.DSMT4">
                  <p:embed/>
                </p:oleObj>
              </mc:Choice>
              <mc:Fallback>
                <p:oleObj name="Equation" r:id="rId21" imgW="355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1988" y="3449638"/>
                        <a:ext cx="354012" cy="201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2" name="Object 49"/>
          <p:cNvGraphicFramePr>
            <a:graphicFrameLocks noChangeAspect="1"/>
          </p:cNvGraphicFramePr>
          <p:nvPr/>
        </p:nvGraphicFramePr>
        <p:xfrm>
          <a:off x="7632700" y="3962400"/>
          <a:ext cx="430213" cy="20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431640" imgH="203040" progId="Equation.DSMT4">
                  <p:embed/>
                </p:oleObj>
              </mc:Choice>
              <mc:Fallback>
                <p:oleObj name="Equation" r:id="rId23" imgW="431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700" y="3962400"/>
                        <a:ext cx="430213" cy="201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50"/>
          <p:cNvGraphicFramePr>
            <a:graphicFrameLocks noChangeAspect="1"/>
          </p:cNvGraphicFramePr>
          <p:nvPr/>
        </p:nvGraphicFramePr>
        <p:xfrm>
          <a:off x="5761038" y="4371975"/>
          <a:ext cx="469900" cy="20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469800" imgH="203040" progId="Equation.DSMT4">
                  <p:embed/>
                </p:oleObj>
              </mc:Choice>
              <mc:Fallback>
                <p:oleObj name="Equation" r:id="rId25" imgW="469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1038" y="4371975"/>
                        <a:ext cx="469900" cy="201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2" name="Line 51"/>
          <p:cNvSpPr>
            <a:spLocks noChangeShapeType="1"/>
          </p:cNvSpPr>
          <p:nvPr/>
        </p:nvSpPr>
        <p:spPr bwMode="auto">
          <a:xfrm>
            <a:off x="5419725" y="4926013"/>
            <a:ext cx="936625" cy="1222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254" name="Object 52"/>
          <p:cNvGraphicFramePr>
            <a:graphicFrameLocks noChangeAspect="1"/>
          </p:cNvGraphicFramePr>
          <p:nvPr/>
        </p:nvGraphicFramePr>
        <p:xfrm>
          <a:off x="6672263" y="4926013"/>
          <a:ext cx="3810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380880" imgH="393480" progId="Equation.DSMT4">
                  <p:embed/>
                </p:oleObj>
              </mc:Choice>
              <mc:Fallback>
                <p:oleObj name="Equation" r:id="rId27" imgW="3808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3" y="4926013"/>
                        <a:ext cx="381000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53"/>
          <p:cNvGraphicFramePr>
            <a:graphicFrameLocks noChangeAspect="1"/>
          </p:cNvGraphicFramePr>
          <p:nvPr/>
        </p:nvGraphicFramePr>
        <p:xfrm>
          <a:off x="5721350" y="5181600"/>
          <a:ext cx="660400" cy="20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660240" imgH="203040" progId="Equation.DSMT4">
                  <p:embed/>
                </p:oleObj>
              </mc:Choice>
              <mc:Fallback>
                <p:oleObj name="Equation" r:id="rId29" imgW="660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1350" y="5181600"/>
                        <a:ext cx="660400" cy="201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6" name="Object 54"/>
          <p:cNvGraphicFramePr>
            <a:graphicFrameLocks noChangeAspect="1"/>
          </p:cNvGraphicFramePr>
          <p:nvPr/>
        </p:nvGraphicFramePr>
        <p:xfrm>
          <a:off x="4460875" y="3159125"/>
          <a:ext cx="608013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342720" imgH="457200" progId="Equation.DSMT4">
                  <p:embed/>
                </p:oleObj>
              </mc:Choice>
              <mc:Fallback>
                <p:oleObj name="Equation" r:id="rId31" imgW="3427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75" y="3159125"/>
                        <a:ext cx="608013" cy="814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7" name="Object 56"/>
          <p:cNvGraphicFramePr>
            <a:graphicFrameLocks noChangeAspect="1"/>
          </p:cNvGraphicFramePr>
          <p:nvPr/>
        </p:nvGraphicFramePr>
        <p:xfrm>
          <a:off x="6761163" y="3567113"/>
          <a:ext cx="265112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66400" imgH="393480" progId="Equation.DSMT4">
                  <p:embed/>
                </p:oleObj>
              </mc:Choice>
              <mc:Fallback>
                <p:oleObj name="Equation" r:id="rId33" imgW="2664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1163" y="3567113"/>
                        <a:ext cx="265112" cy="39211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8" name="Object 57"/>
          <p:cNvGraphicFramePr>
            <a:graphicFrameLocks noChangeAspect="1"/>
          </p:cNvGraphicFramePr>
          <p:nvPr/>
        </p:nvGraphicFramePr>
        <p:xfrm>
          <a:off x="7378700" y="4800600"/>
          <a:ext cx="544513" cy="20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545760" imgH="203040" progId="Equation.DSMT4">
                  <p:embed/>
                </p:oleObj>
              </mc:Choice>
              <mc:Fallback>
                <p:oleObj name="Equation" r:id="rId35" imgW="545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8700" y="4800600"/>
                        <a:ext cx="544513" cy="20161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83" name="Picture 58"/>
          <p:cNvPicPr>
            <a:picLocks noChangeAspect="1" noChangeArrowheads="1"/>
          </p:cNvPicPr>
          <p:nvPr/>
        </p:nvPicPr>
        <p:blipFill>
          <a:blip r:embed="rId37" cstate="print"/>
          <a:srcRect/>
          <a:stretch>
            <a:fillRect/>
          </a:stretch>
        </p:blipFill>
        <p:spPr bwMode="auto">
          <a:xfrm>
            <a:off x="50800" y="1797050"/>
            <a:ext cx="4692650" cy="3529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4" name="Text Box 59"/>
          <p:cNvSpPr txBox="1">
            <a:spLocks noChangeArrowheads="1"/>
          </p:cNvSpPr>
          <p:nvPr/>
        </p:nvSpPr>
        <p:spPr bwMode="auto">
          <a:xfrm>
            <a:off x="4543425" y="5645150"/>
            <a:ext cx="4216400" cy="584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 dirty="0">
                <a:solidFill>
                  <a:srgbClr val="3333CC"/>
                </a:solidFill>
              </a:rPr>
              <a:t>Note: This diagram is for the </a:t>
            </a:r>
            <a:r>
              <a:rPr lang="en-US" sz="1600" i="1" dirty="0">
                <a:solidFill>
                  <a:srgbClr val="3333CC"/>
                </a:solidFill>
              </a:rPr>
              <a:t>normalized</a:t>
            </a:r>
            <a:r>
              <a:rPr lang="en-US" sz="1600" dirty="0">
                <a:solidFill>
                  <a:srgbClr val="3333CC"/>
                </a:solidFill>
              </a:rPr>
              <a:t> current, defined as </a:t>
            </a:r>
            <a:r>
              <a:rPr lang="en-US" sz="1600" dirty="0">
                <a:solidFill>
                  <a:srgbClr val="3333CC"/>
                </a:solidFill>
                <a:latin typeface="Times New Roman" pitchFamily="18" charset="0"/>
              </a:rPr>
              <a:t> </a:t>
            </a:r>
            <a:r>
              <a:rPr lang="en-US" sz="1600" i="1" dirty="0">
                <a:solidFill>
                  <a:srgbClr val="3333CC"/>
                </a:solidFill>
                <a:latin typeface="Times New Roman" pitchFamily="18" charset="0"/>
              </a:rPr>
              <a:t>Z</a:t>
            </a:r>
            <a:r>
              <a:rPr lang="en-US" sz="1600" baseline="-25000" dirty="0">
                <a:solidFill>
                  <a:srgbClr val="3333CC"/>
                </a:solidFill>
                <a:latin typeface="Times New Roman" pitchFamily="18" charset="0"/>
              </a:rPr>
              <a:t>0</a:t>
            </a:r>
            <a:r>
              <a:rPr lang="en-US" sz="1600" i="1" baseline="-25000" dirty="0">
                <a:solidFill>
                  <a:srgbClr val="3333CC"/>
                </a:solidFill>
                <a:latin typeface="Times New Roman" pitchFamily="18" charset="0"/>
              </a:rPr>
              <a:t> </a:t>
            </a:r>
            <a:r>
              <a:rPr lang="en-US" sz="1600" i="1" dirty="0">
                <a:solidFill>
                  <a:srgbClr val="3333CC"/>
                </a:solidFill>
                <a:latin typeface="Times New Roman" pitchFamily="18" charset="0"/>
              </a:rPr>
              <a:t>I </a:t>
            </a:r>
            <a:r>
              <a:rPr lang="en-US" sz="1600" dirty="0">
                <a:solidFill>
                  <a:srgbClr val="3333CC"/>
                </a:solidFill>
                <a:latin typeface="Times New Roman" pitchFamily="18" charset="0"/>
              </a:rPr>
              <a:t>(</a:t>
            </a:r>
            <a:r>
              <a:rPr lang="en-US" sz="1600" i="1" dirty="0" err="1">
                <a:solidFill>
                  <a:srgbClr val="3333CC"/>
                </a:solidFill>
                <a:latin typeface="Times New Roman" pitchFamily="18" charset="0"/>
              </a:rPr>
              <a:t>z,t</a:t>
            </a:r>
            <a:r>
              <a:rPr lang="en-US" sz="1600" dirty="0">
                <a:solidFill>
                  <a:srgbClr val="3333CC"/>
                </a:solidFill>
                <a:latin typeface="Times New Roman" pitchFamily="18" charset="0"/>
              </a:rPr>
              <a:t>).</a:t>
            </a:r>
          </a:p>
        </p:txBody>
      </p:sp>
      <p:sp>
        <p:nvSpPr>
          <p:cNvPr id="10285" name="Line 62"/>
          <p:cNvSpPr>
            <a:spLocks noChangeShapeType="1"/>
          </p:cNvSpPr>
          <p:nvPr/>
        </p:nvSpPr>
        <p:spPr bwMode="auto">
          <a:xfrm>
            <a:off x="5397500" y="2184400"/>
            <a:ext cx="3340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259" name="Object 64"/>
          <p:cNvGraphicFramePr>
            <a:graphicFrameLocks noChangeAspect="1"/>
          </p:cNvGraphicFramePr>
          <p:nvPr/>
        </p:nvGraphicFramePr>
        <p:xfrm>
          <a:off x="8394700" y="2325688"/>
          <a:ext cx="520700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380880" imgH="203040" progId="Equation.DSMT4">
                  <p:embed/>
                </p:oleObj>
              </mc:Choice>
              <mc:Fallback>
                <p:oleObj name="Equation" r:id="rId38" imgW="380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4700" y="2325688"/>
                        <a:ext cx="520700" cy="277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6" name="AutoShape 65"/>
          <p:cNvSpPr>
            <a:spLocks noChangeArrowheads="1"/>
          </p:cNvSpPr>
          <p:nvPr/>
        </p:nvSpPr>
        <p:spPr bwMode="auto">
          <a:xfrm>
            <a:off x="4216400" y="4267200"/>
            <a:ext cx="673100" cy="381000"/>
          </a:xfrm>
          <a:prstGeom prst="rightArrow">
            <a:avLst>
              <a:gd name="adj1" fmla="val 50000"/>
              <a:gd name="adj2" fmla="val 44167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7" name="Text Box 66"/>
          <p:cNvSpPr txBox="1">
            <a:spLocks noChangeArrowheads="1"/>
          </p:cNvSpPr>
          <p:nvPr/>
        </p:nvSpPr>
        <p:spPr bwMode="auto">
          <a:xfrm>
            <a:off x="1889125" y="1801813"/>
            <a:ext cx="95417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Voltage</a:t>
            </a:r>
          </a:p>
        </p:txBody>
      </p:sp>
      <p:sp>
        <p:nvSpPr>
          <p:cNvPr id="10288" name="Text Box 67"/>
          <p:cNvSpPr txBox="1">
            <a:spLocks noChangeArrowheads="1"/>
          </p:cNvSpPr>
          <p:nvPr/>
        </p:nvSpPr>
        <p:spPr bwMode="auto">
          <a:xfrm>
            <a:off x="6423025" y="1751013"/>
            <a:ext cx="9541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Current</a:t>
            </a:r>
          </a:p>
        </p:txBody>
      </p:sp>
      <p:sp>
        <p:nvSpPr>
          <p:cNvPr id="10289" name="Text Box 68"/>
          <p:cNvSpPr txBox="1">
            <a:spLocks noChangeArrowheads="1"/>
          </p:cNvSpPr>
          <p:nvPr/>
        </p:nvSpPr>
        <p:spPr bwMode="auto">
          <a:xfrm>
            <a:off x="1460308" y="0"/>
            <a:ext cx="6400800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Bounce Diagram for Current</a:t>
            </a:r>
          </a:p>
        </p:txBody>
      </p:sp>
      <p:sp>
        <p:nvSpPr>
          <p:cNvPr id="62" name="Slide Number Placeholder 61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fld id="{1624D6AB-9590-4342-BC0E-0E5A626D379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758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1" grpId="0" animBg="1"/>
      <p:bldP spid="10262" grpId="0" animBg="1"/>
      <p:bldP spid="10263" grpId="0" animBg="1"/>
      <p:bldP spid="10264" grpId="0" animBg="1"/>
      <p:bldP spid="10265" grpId="0" animBg="1"/>
      <p:bldP spid="10266" grpId="0" animBg="1"/>
      <p:bldP spid="10267" grpId="0" animBg="1"/>
      <p:bldP spid="10268" grpId="0" animBg="1"/>
      <p:bldP spid="10269" grpId="0" animBg="1"/>
      <p:bldP spid="10276" grpId="0"/>
      <p:bldP spid="10277" grpId="0"/>
      <p:bldP spid="10278" grpId="0"/>
      <p:bldP spid="10279" grpId="0"/>
      <p:bldP spid="10280" grpId="0"/>
      <p:bldP spid="10281" grpId="0"/>
      <p:bldP spid="10282" grpId="0" animBg="1"/>
      <p:bldP spid="10284" grpId="0" animBg="1"/>
      <p:bldP spid="10285" grpId="0" animBg="1"/>
      <p:bldP spid="10286" grpId="0" animBg="1"/>
      <p:bldP spid="1028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Text Box 2"/>
          <p:cNvSpPr txBox="1">
            <a:spLocks noChangeArrowheads="1"/>
          </p:cNvSpPr>
          <p:nvPr/>
        </p:nvSpPr>
        <p:spPr bwMode="auto">
          <a:xfrm>
            <a:off x="2493819" y="0"/>
            <a:ext cx="3797300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>
                <a:solidFill>
                  <a:srgbClr val="FFFF00"/>
                </a:solidFill>
              </a:rPr>
              <a:t>Pulse Response</a:t>
            </a:r>
          </a:p>
        </p:txBody>
      </p:sp>
      <p:graphicFrame>
        <p:nvGraphicFramePr>
          <p:cNvPr id="16387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9686186"/>
              </p:ext>
            </p:extLst>
          </p:nvPr>
        </p:nvGraphicFramePr>
        <p:xfrm>
          <a:off x="715671" y="1694591"/>
          <a:ext cx="2614904" cy="41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52480" imgH="279360" progId="Equation.DSMT4">
                  <p:embed/>
                </p:oleObj>
              </mc:Choice>
              <mc:Fallback>
                <p:oleObj name="Equation" r:id="rId3" imgW="17524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671" y="1694591"/>
                        <a:ext cx="2614904" cy="4189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2" name="Group 55"/>
          <p:cNvGrpSpPr>
            <a:grpSpLocks/>
          </p:cNvGrpSpPr>
          <p:nvPr/>
        </p:nvGrpSpPr>
        <p:grpSpPr bwMode="auto">
          <a:xfrm>
            <a:off x="459651" y="320587"/>
            <a:ext cx="3463987" cy="1246247"/>
            <a:chOff x="445325" y="3722688"/>
            <a:chExt cx="5114100" cy="1839912"/>
          </a:xfrm>
        </p:grpSpPr>
        <p:sp>
          <p:nvSpPr>
            <p:cNvPr id="16421" name="Line 35"/>
            <p:cNvSpPr>
              <a:spLocks noChangeShapeType="1"/>
            </p:cNvSpPr>
            <p:nvPr/>
          </p:nvSpPr>
          <p:spPr bwMode="auto">
            <a:xfrm>
              <a:off x="901700" y="5067300"/>
              <a:ext cx="42037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2" name="Line 36"/>
            <p:cNvSpPr>
              <a:spLocks noChangeShapeType="1"/>
            </p:cNvSpPr>
            <p:nvPr/>
          </p:nvSpPr>
          <p:spPr bwMode="auto">
            <a:xfrm>
              <a:off x="1663700" y="3860800"/>
              <a:ext cx="0" cy="170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3" name="Text Box 37"/>
            <p:cNvSpPr txBox="1">
              <a:spLocks noChangeArrowheads="1"/>
            </p:cNvSpPr>
            <p:nvPr/>
          </p:nvSpPr>
          <p:spPr bwMode="auto">
            <a:xfrm>
              <a:off x="5305425" y="4865688"/>
              <a:ext cx="254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i="1">
                  <a:latin typeface="Times New Roman" pitchFamily="18" charset="0"/>
                </a:rPr>
                <a:t>t</a:t>
              </a:r>
            </a:p>
          </p:txBody>
        </p:sp>
        <p:graphicFrame>
          <p:nvGraphicFramePr>
            <p:cNvPr id="16386" name="Object 38"/>
            <p:cNvGraphicFramePr>
              <a:graphicFrameLocks noChangeAspect="1"/>
            </p:cNvGraphicFramePr>
            <p:nvPr/>
          </p:nvGraphicFramePr>
          <p:xfrm>
            <a:off x="727075" y="3722688"/>
            <a:ext cx="666750" cy="417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406080" imgH="253800" progId="Equation.DSMT4">
                    <p:embed/>
                  </p:oleObj>
                </mc:Choice>
                <mc:Fallback>
                  <p:oleObj name="Equation" r:id="rId5" imgW="4060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7075" y="3722688"/>
                          <a:ext cx="666750" cy="4175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24" name="Line 39"/>
            <p:cNvSpPr>
              <a:spLocks noChangeShapeType="1"/>
            </p:cNvSpPr>
            <p:nvPr/>
          </p:nvSpPr>
          <p:spPr bwMode="auto">
            <a:xfrm flipV="1">
              <a:off x="1663700" y="4076700"/>
              <a:ext cx="0" cy="1003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5" name="Line 40"/>
            <p:cNvSpPr>
              <a:spLocks noChangeShapeType="1"/>
            </p:cNvSpPr>
            <p:nvPr/>
          </p:nvSpPr>
          <p:spPr bwMode="auto">
            <a:xfrm>
              <a:off x="1663700" y="4180939"/>
              <a:ext cx="12065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6" name="Line 41"/>
            <p:cNvSpPr>
              <a:spLocks noChangeShapeType="1"/>
            </p:cNvSpPr>
            <p:nvPr/>
          </p:nvSpPr>
          <p:spPr bwMode="auto">
            <a:xfrm>
              <a:off x="445325" y="5068125"/>
              <a:ext cx="12319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7" name="Line 42"/>
            <p:cNvSpPr>
              <a:spLocks noChangeShapeType="1"/>
            </p:cNvSpPr>
            <p:nvPr/>
          </p:nvSpPr>
          <p:spPr bwMode="auto">
            <a:xfrm>
              <a:off x="1665350" y="4182300"/>
              <a:ext cx="0" cy="9017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6388" name="Object 44"/>
            <p:cNvGraphicFramePr>
              <a:graphicFrameLocks noChangeAspect="1"/>
            </p:cNvGraphicFramePr>
            <p:nvPr/>
          </p:nvGraphicFramePr>
          <p:xfrm>
            <a:off x="2293938" y="3730625"/>
            <a:ext cx="354012" cy="376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15640" imgH="228600" progId="Equation.DSMT4">
                    <p:embed/>
                  </p:oleObj>
                </mc:Choice>
                <mc:Fallback>
                  <p:oleObj name="Equation" r:id="rId7" imgW="215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3938" y="3730625"/>
                          <a:ext cx="354012" cy="376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28" name="Line 46"/>
            <p:cNvSpPr>
              <a:spLocks noChangeShapeType="1"/>
            </p:cNvSpPr>
            <p:nvPr/>
          </p:nvSpPr>
          <p:spPr bwMode="auto">
            <a:xfrm>
              <a:off x="2858448" y="4172775"/>
              <a:ext cx="0" cy="9017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9" name="Line 47"/>
            <p:cNvSpPr>
              <a:spLocks noChangeShapeType="1"/>
            </p:cNvSpPr>
            <p:nvPr/>
          </p:nvSpPr>
          <p:spPr bwMode="auto">
            <a:xfrm>
              <a:off x="2855850" y="5067300"/>
              <a:ext cx="12319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0" name="Text Box 48"/>
            <p:cNvSpPr txBox="1">
              <a:spLocks noChangeArrowheads="1"/>
            </p:cNvSpPr>
            <p:nvPr/>
          </p:nvSpPr>
          <p:spPr bwMode="auto">
            <a:xfrm>
              <a:off x="2105025" y="5156200"/>
              <a:ext cx="374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i="1">
                  <a:latin typeface="Times New Roman" pitchFamily="18" charset="0"/>
                </a:rPr>
                <a:t>W</a:t>
              </a:r>
            </a:p>
          </p:txBody>
        </p:sp>
      </p:grpSp>
      <p:sp>
        <p:nvSpPr>
          <p:cNvPr id="16393" name="Text Box 52"/>
          <p:cNvSpPr txBox="1">
            <a:spLocks noChangeArrowheads="1"/>
          </p:cNvSpPr>
          <p:nvPr/>
        </p:nvSpPr>
        <p:spPr bwMode="auto">
          <a:xfrm>
            <a:off x="5605173" y="896972"/>
            <a:ext cx="332046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/>
              <a:t>We subtract two bounce diagrams, with the second one being a shifted version of the first one. 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fld id="{1624D6AB-9590-4342-BC0E-0E5A626D379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8" name="Text Box 155"/>
          <p:cNvSpPr txBox="1">
            <a:spLocks noChangeArrowheads="1"/>
          </p:cNvSpPr>
          <p:nvPr/>
        </p:nvSpPr>
        <p:spPr bwMode="auto">
          <a:xfrm>
            <a:off x="4057649" y="1477407"/>
            <a:ext cx="1352551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/>
              <a:t>Subtract</a:t>
            </a:r>
          </a:p>
        </p:txBody>
      </p:sp>
      <p:grpSp>
        <p:nvGrpSpPr>
          <p:cNvPr id="53" name="Group 171"/>
          <p:cNvGrpSpPr>
            <a:grpSpLocks/>
          </p:cNvGrpSpPr>
          <p:nvPr/>
        </p:nvGrpSpPr>
        <p:grpSpPr bwMode="auto">
          <a:xfrm>
            <a:off x="47625" y="2317194"/>
            <a:ext cx="4632325" cy="4305300"/>
            <a:chOff x="30" y="1428"/>
            <a:chExt cx="2918" cy="2712"/>
          </a:xfrm>
        </p:grpSpPr>
        <p:sp>
          <p:nvSpPr>
            <p:cNvPr id="146" name="Line 34"/>
            <p:cNvSpPr>
              <a:spLocks noChangeShapeType="1"/>
            </p:cNvSpPr>
            <p:nvPr/>
          </p:nvSpPr>
          <p:spPr bwMode="auto">
            <a:xfrm>
              <a:off x="2691" y="1758"/>
              <a:ext cx="0" cy="23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" name="Line 35"/>
            <p:cNvSpPr>
              <a:spLocks noChangeShapeType="1"/>
            </p:cNvSpPr>
            <p:nvPr/>
          </p:nvSpPr>
          <p:spPr bwMode="auto">
            <a:xfrm>
              <a:off x="502" y="2781"/>
              <a:ext cx="1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" name="Line 36"/>
            <p:cNvSpPr>
              <a:spLocks noChangeShapeType="1"/>
            </p:cNvSpPr>
            <p:nvPr/>
          </p:nvSpPr>
          <p:spPr bwMode="auto">
            <a:xfrm>
              <a:off x="502" y="3122"/>
              <a:ext cx="1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" name="Line 37"/>
            <p:cNvSpPr>
              <a:spLocks noChangeShapeType="1"/>
            </p:cNvSpPr>
            <p:nvPr/>
          </p:nvSpPr>
          <p:spPr bwMode="auto">
            <a:xfrm>
              <a:off x="492" y="2440"/>
              <a:ext cx="1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0" name="Line 38"/>
            <p:cNvSpPr>
              <a:spLocks noChangeShapeType="1"/>
            </p:cNvSpPr>
            <p:nvPr/>
          </p:nvSpPr>
          <p:spPr bwMode="auto">
            <a:xfrm>
              <a:off x="493" y="3463"/>
              <a:ext cx="1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" name="Line 39"/>
            <p:cNvSpPr>
              <a:spLocks noChangeShapeType="1"/>
            </p:cNvSpPr>
            <p:nvPr/>
          </p:nvSpPr>
          <p:spPr bwMode="auto">
            <a:xfrm>
              <a:off x="493" y="3804"/>
              <a:ext cx="1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2" name="Line 40"/>
            <p:cNvSpPr>
              <a:spLocks noChangeShapeType="1"/>
            </p:cNvSpPr>
            <p:nvPr/>
          </p:nvSpPr>
          <p:spPr bwMode="auto">
            <a:xfrm>
              <a:off x="502" y="2099"/>
              <a:ext cx="1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" name="Line 41"/>
            <p:cNvSpPr>
              <a:spLocks noChangeShapeType="1"/>
            </p:cNvSpPr>
            <p:nvPr/>
          </p:nvSpPr>
          <p:spPr bwMode="auto">
            <a:xfrm>
              <a:off x="502" y="1758"/>
              <a:ext cx="1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54" name="Group 42"/>
            <p:cNvGrpSpPr>
              <a:grpSpLocks/>
            </p:cNvGrpSpPr>
            <p:nvPr/>
          </p:nvGrpSpPr>
          <p:grpSpPr bwMode="auto">
            <a:xfrm>
              <a:off x="555" y="2099"/>
              <a:ext cx="2136" cy="341"/>
              <a:chOff x="2349" y="2592"/>
              <a:chExt cx="1817" cy="288"/>
            </a:xfrm>
          </p:grpSpPr>
          <p:sp>
            <p:nvSpPr>
              <p:cNvPr id="198" name="Line 43"/>
              <p:cNvSpPr>
                <a:spLocks noChangeShapeType="1"/>
              </p:cNvSpPr>
              <p:nvPr/>
            </p:nvSpPr>
            <p:spPr bwMode="auto">
              <a:xfrm flipH="1">
                <a:off x="2349" y="2784"/>
                <a:ext cx="621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9" name="Line 44"/>
              <p:cNvSpPr>
                <a:spLocks noChangeShapeType="1"/>
              </p:cNvSpPr>
              <p:nvPr/>
            </p:nvSpPr>
            <p:spPr bwMode="auto">
              <a:xfrm flipH="1">
                <a:off x="3542" y="2592"/>
                <a:ext cx="624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55" name="Group 45"/>
            <p:cNvGrpSpPr>
              <a:grpSpLocks/>
            </p:cNvGrpSpPr>
            <p:nvPr/>
          </p:nvGrpSpPr>
          <p:grpSpPr bwMode="auto">
            <a:xfrm>
              <a:off x="519" y="3463"/>
              <a:ext cx="2136" cy="341"/>
              <a:chOff x="2349" y="2592"/>
              <a:chExt cx="1817" cy="288"/>
            </a:xfrm>
          </p:grpSpPr>
          <p:sp>
            <p:nvSpPr>
              <p:cNvPr id="196" name="Line 46"/>
              <p:cNvSpPr>
                <a:spLocks noChangeShapeType="1"/>
              </p:cNvSpPr>
              <p:nvPr/>
            </p:nvSpPr>
            <p:spPr bwMode="auto">
              <a:xfrm flipH="1">
                <a:off x="2349" y="2784"/>
                <a:ext cx="621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7" name="Line 47"/>
              <p:cNvSpPr>
                <a:spLocks noChangeShapeType="1"/>
              </p:cNvSpPr>
              <p:nvPr/>
            </p:nvSpPr>
            <p:spPr bwMode="auto">
              <a:xfrm flipH="1">
                <a:off x="3542" y="2592"/>
                <a:ext cx="624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56" name="Group 48"/>
            <p:cNvGrpSpPr>
              <a:grpSpLocks/>
            </p:cNvGrpSpPr>
            <p:nvPr/>
          </p:nvGrpSpPr>
          <p:grpSpPr bwMode="auto">
            <a:xfrm>
              <a:off x="555" y="2781"/>
              <a:ext cx="2136" cy="341"/>
              <a:chOff x="2349" y="2592"/>
              <a:chExt cx="1817" cy="288"/>
            </a:xfrm>
          </p:grpSpPr>
          <p:sp>
            <p:nvSpPr>
              <p:cNvPr id="194" name="Line 49"/>
              <p:cNvSpPr>
                <a:spLocks noChangeShapeType="1"/>
              </p:cNvSpPr>
              <p:nvPr/>
            </p:nvSpPr>
            <p:spPr bwMode="auto">
              <a:xfrm flipH="1">
                <a:off x="2349" y="2784"/>
                <a:ext cx="621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5" name="Line 50"/>
              <p:cNvSpPr>
                <a:spLocks noChangeShapeType="1"/>
              </p:cNvSpPr>
              <p:nvPr/>
            </p:nvSpPr>
            <p:spPr bwMode="auto">
              <a:xfrm flipH="1">
                <a:off x="3542" y="2592"/>
                <a:ext cx="624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57" name="Group 51"/>
            <p:cNvGrpSpPr>
              <a:grpSpLocks/>
            </p:cNvGrpSpPr>
            <p:nvPr/>
          </p:nvGrpSpPr>
          <p:grpSpPr bwMode="auto">
            <a:xfrm flipH="1">
              <a:off x="572" y="3122"/>
              <a:ext cx="2136" cy="341"/>
              <a:chOff x="2349" y="2592"/>
              <a:chExt cx="1817" cy="288"/>
            </a:xfrm>
          </p:grpSpPr>
          <p:sp>
            <p:nvSpPr>
              <p:cNvPr id="192" name="Line 52"/>
              <p:cNvSpPr>
                <a:spLocks noChangeShapeType="1"/>
              </p:cNvSpPr>
              <p:nvPr/>
            </p:nvSpPr>
            <p:spPr bwMode="auto">
              <a:xfrm flipH="1">
                <a:off x="2349" y="2784"/>
                <a:ext cx="621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3" name="Line 53"/>
              <p:cNvSpPr>
                <a:spLocks noChangeShapeType="1"/>
              </p:cNvSpPr>
              <p:nvPr/>
            </p:nvSpPr>
            <p:spPr bwMode="auto">
              <a:xfrm flipH="1">
                <a:off x="3542" y="2592"/>
                <a:ext cx="624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58" name="Group 54"/>
            <p:cNvGrpSpPr>
              <a:grpSpLocks/>
            </p:cNvGrpSpPr>
            <p:nvPr/>
          </p:nvGrpSpPr>
          <p:grpSpPr bwMode="auto">
            <a:xfrm flipH="1">
              <a:off x="586" y="2440"/>
              <a:ext cx="2136" cy="341"/>
              <a:chOff x="2349" y="2592"/>
              <a:chExt cx="1817" cy="288"/>
            </a:xfrm>
          </p:grpSpPr>
          <p:sp>
            <p:nvSpPr>
              <p:cNvPr id="190" name="Line 55"/>
              <p:cNvSpPr>
                <a:spLocks noChangeShapeType="1"/>
              </p:cNvSpPr>
              <p:nvPr/>
            </p:nvSpPr>
            <p:spPr bwMode="auto">
              <a:xfrm flipH="1">
                <a:off x="2349" y="2784"/>
                <a:ext cx="621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1" name="Line 56"/>
              <p:cNvSpPr>
                <a:spLocks noChangeShapeType="1"/>
              </p:cNvSpPr>
              <p:nvPr/>
            </p:nvSpPr>
            <p:spPr bwMode="auto">
              <a:xfrm flipH="1">
                <a:off x="3542" y="2592"/>
                <a:ext cx="624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159" name="Object 57"/>
            <p:cNvGraphicFramePr>
              <a:graphicFrameLocks noChangeAspect="1"/>
            </p:cNvGraphicFramePr>
            <p:nvPr/>
          </p:nvGraphicFramePr>
          <p:xfrm>
            <a:off x="316" y="1698"/>
            <a:ext cx="112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52280" imgH="203040" progId="Equation.DSMT4">
                    <p:embed/>
                  </p:oleObj>
                </mc:Choice>
                <mc:Fallback>
                  <p:oleObj name="Equation" r:id="rId9" imgW="152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" y="1698"/>
                          <a:ext cx="112" cy="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0" name="Text Box 58"/>
            <p:cNvSpPr txBox="1">
              <a:spLocks noChangeArrowheads="1"/>
            </p:cNvSpPr>
            <p:nvPr/>
          </p:nvSpPr>
          <p:spPr bwMode="auto">
            <a:xfrm>
              <a:off x="234" y="2024"/>
              <a:ext cx="27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61" name="Text Box 59"/>
            <p:cNvSpPr txBox="1">
              <a:spLocks noChangeArrowheads="1"/>
            </p:cNvSpPr>
            <p:nvPr/>
          </p:nvSpPr>
          <p:spPr bwMode="auto">
            <a:xfrm>
              <a:off x="233" y="2365"/>
              <a:ext cx="27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62" name="Text Box 60"/>
            <p:cNvSpPr txBox="1">
              <a:spLocks noChangeArrowheads="1"/>
            </p:cNvSpPr>
            <p:nvPr/>
          </p:nvSpPr>
          <p:spPr bwMode="auto">
            <a:xfrm>
              <a:off x="233" y="2683"/>
              <a:ext cx="277" cy="1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163" name="Text Box 61"/>
            <p:cNvSpPr txBox="1">
              <a:spLocks noChangeArrowheads="1"/>
            </p:cNvSpPr>
            <p:nvPr/>
          </p:nvSpPr>
          <p:spPr bwMode="auto">
            <a:xfrm>
              <a:off x="225" y="3046"/>
              <a:ext cx="313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164" name="Text Box 62"/>
            <p:cNvSpPr txBox="1">
              <a:spLocks noChangeArrowheads="1"/>
            </p:cNvSpPr>
            <p:nvPr/>
          </p:nvSpPr>
          <p:spPr bwMode="auto">
            <a:xfrm>
              <a:off x="233" y="3387"/>
              <a:ext cx="27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165" name="Text Box 63"/>
            <p:cNvSpPr txBox="1">
              <a:spLocks noChangeArrowheads="1"/>
            </p:cNvSpPr>
            <p:nvPr/>
          </p:nvSpPr>
          <p:spPr bwMode="auto">
            <a:xfrm>
              <a:off x="233" y="3705"/>
              <a:ext cx="277" cy="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</a:p>
          </p:txBody>
        </p:sp>
        <p:graphicFrame>
          <p:nvGraphicFramePr>
            <p:cNvPr id="166" name="Object 64"/>
            <p:cNvGraphicFramePr>
              <a:graphicFrameLocks noChangeAspect="1"/>
            </p:cNvGraphicFramePr>
            <p:nvPr/>
          </p:nvGraphicFramePr>
          <p:xfrm>
            <a:off x="2482" y="1428"/>
            <a:ext cx="423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571320" imgH="393480" progId="Equation.DSMT4">
                    <p:embed/>
                  </p:oleObj>
                </mc:Choice>
                <mc:Fallback>
                  <p:oleObj name="Equation" r:id="rId11" imgW="57132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2" y="1428"/>
                          <a:ext cx="423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7" name="Object 65"/>
            <p:cNvGraphicFramePr>
              <a:graphicFrameLocks noChangeAspect="1"/>
            </p:cNvGraphicFramePr>
            <p:nvPr/>
          </p:nvGraphicFramePr>
          <p:xfrm>
            <a:off x="400" y="1450"/>
            <a:ext cx="34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469800" imgH="393480" progId="Equation.DSMT4">
                    <p:embed/>
                  </p:oleObj>
                </mc:Choice>
                <mc:Fallback>
                  <p:oleObj name="Equation" r:id="rId13" imgW="46980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" y="1450"/>
                          <a:ext cx="348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8" name="Object 66"/>
            <p:cNvGraphicFramePr>
              <a:graphicFrameLocks noChangeAspect="1"/>
            </p:cNvGraphicFramePr>
            <p:nvPr/>
          </p:nvGraphicFramePr>
          <p:xfrm>
            <a:off x="1545" y="1848"/>
            <a:ext cx="253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342720" imgH="203040" progId="Equation.DSMT4">
                    <p:embed/>
                  </p:oleObj>
                </mc:Choice>
                <mc:Fallback>
                  <p:oleObj name="Equation" r:id="rId15" imgW="342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5" y="1848"/>
                          <a:ext cx="253" cy="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9" name="Object 67"/>
            <p:cNvGraphicFramePr>
              <a:graphicFrameLocks noChangeAspect="1"/>
            </p:cNvGraphicFramePr>
            <p:nvPr/>
          </p:nvGraphicFramePr>
          <p:xfrm>
            <a:off x="1427" y="2085"/>
            <a:ext cx="377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507960" imgH="393480" progId="Equation.DSMT4">
                    <p:embed/>
                  </p:oleObj>
                </mc:Choice>
                <mc:Fallback>
                  <p:oleObj name="Equation" r:id="rId17" imgW="50796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7" y="2085"/>
                          <a:ext cx="377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0" name="Object 68"/>
            <p:cNvGraphicFramePr>
              <a:graphicFrameLocks noChangeAspect="1"/>
            </p:cNvGraphicFramePr>
            <p:nvPr/>
          </p:nvGraphicFramePr>
          <p:xfrm>
            <a:off x="1494" y="2493"/>
            <a:ext cx="376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507960" imgH="393480" progId="Equation.DSMT4">
                    <p:embed/>
                  </p:oleObj>
                </mc:Choice>
                <mc:Fallback>
                  <p:oleObj name="Equation" r:id="rId19" imgW="50796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4" y="2493"/>
                          <a:ext cx="376" cy="2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" name="Object 69"/>
            <p:cNvGraphicFramePr>
              <a:graphicFrameLocks noChangeAspect="1"/>
            </p:cNvGraphicFramePr>
            <p:nvPr/>
          </p:nvGraphicFramePr>
          <p:xfrm>
            <a:off x="1455" y="2790"/>
            <a:ext cx="365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495000" imgH="393480" progId="Equation.DSMT4">
                    <p:embed/>
                  </p:oleObj>
                </mc:Choice>
                <mc:Fallback>
                  <p:oleObj name="Equation" r:id="rId21" imgW="49500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5" y="2790"/>
                          <a:ext cx="365" cy="2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" name="Object 70"/>
            <p:cNvGraphicFramePr>
              <a:graphicFrameLocks noChangeAspect="1"/>
            </p:cNvGraphicFramePr>
            <p:nvPr/>
          </p:nvGraphicFramePr>
          <p:xfrm>
            <a:off x="1431" y="3131"/>
            <a:ext cx="414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558720" imgH="393480" progId="Equation.DSMT4">
                    <p:embed/>
                  </p:oleObj>
                </mc:Choice>
                <mc:Fallback>
                  <p:oleObj name="Equation" r:id="rId23" imgW="55872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1" y="3131"/>
                          <a:ext cx="414" cy="2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" name="Object 71"/>
            <p:cNvGraphicFramePr>
              <a:graphicFrameLocks noChangeAspect="1"/>
            </p:cNvGraphicFramePr>
            <p:nvPr/>
          </p:nvGraphicFramePr>
          <p:xfrm>
            <a:off x="1422" y="3450"/>
            <a:ext cx="423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571320" imgH="393480" progId="Equation.DSMT4">
                    <p:embed/>
                  </p:oleObj>
                </mc:Choice>
                <mc:Fallback>
                  <p:oleObj name="Equation" r:id="rId25" imgW="57132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2" y="3450"/>
                          <a:ext cx="423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" name="Object 72"/>
            <p:cNvGraphicFramePr>
              <a:graphicFrameLocks noChangeAspect="1"/>
            </p:cNvGraphicFramePr>
            <p:nvPr/>
          </p:nvGraphicFramePr>
          <p:xfrm>
            <a:off x="2282" y="1828"/>
            <a:ext cx="26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368280" imgH="203040" progId="Equation.DSMT4">
                    <p:embed/>
                  </p:oleObj>
                </mc:Choice>
                <mc:Fallback>
                  <p:oleObj name="Equation" r:id="rId27" imgW="368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2" y="1828"/>
                          <a:ext cx="269" cy="1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5" name="Object 73"/>
            <p:cNvGraphicFramePr>
              <a:graphicFrameLocks noChangeAspect="1"/>
            </p:cNvGraphicFramePr>
            <p:nvPr/>
          </p:nvGraphicFramePr>
          <p:xfrm>
            <a:off x="691" y="2027"/>
            <a:ext cx="252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342720" imgH="203040" progId="Equation.DSMT4">
                    <p:embed/>
                  </p:oleObj>
                </mc:Choice>
                <mc:Fallback>
                  <p:oleObj name="Equation" r:id="rId29" imgW="342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1" y="2027"/>
                          <a:ext cx="252" cy="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6" name="Object 74"/>
            <p:cNvGraphicFramePr>
              <a:graphicFrameLocks noChangeAspect="1"/>
            </p:cNvGraphicFramePr>
            <p:nvPr/>
          </p:nvGraphicFramePr>
          <p:xfrm>
            <a:off x="2182" y="2358"/>
            <a:ext cx="357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482400" imgH="203040" progId="Equation.DSMT4">
                    <p:embed/>
                  </p:oleObj>
                </mc:Choice>
                <mc:Fallback>
                  <p:oleObj name="Equation" r:id="rId31" imgW="4824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2" y="2358"/>
                          <a:ext cx="357" cy="1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7" name="Object 75"/>
            <p:cNvGraphicFramePr>
              <a:graphicFrameLocks noChangeAspect="1"/>
            </p:cNvGraphicFramePr>
            <p:nvPr/>
          </p:nvGraphicFramePr>
          <p:xfrm>
            <a:off x="719" y="2703"/>
            <a:ext cx="414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558720" imgH="203040" progId="Equation.DSMT4">
                    <p:embed/>
                  </p:oleObj>
                </mc:Choice>
                <mc:Fallback>
                  <p:oleObj name="Equation" r:id="rId33" imgW="558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9" y="2703"/>
                          <a:ext cx="414" cy="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" name="Object 76"/>
            <p:cNvGraphicFramePr>
              <a:graphicFrameLocks noChangeAspect="1"/>
            </p:cNvGraphicFramePr>
            <p:nvPr/>
          </p:nvGraphicFramePr>
          <p:xfrm>
            <a:off x="2070" y="3031"/>
            <a:ext cx="469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634680" imgH="203040" progId="Equation.DSMT4">
                    <p:embed/>
                  </p:oleObj>
                </mc:Choice>
                <mc:Fallback>
                  <p:oleObj name="Equation" r:id="rId35" imgW="6346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0" y="3031"/>
                          <a:ext cx="469" cy="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" name="Object 77"/>
            <p:cNvGraphicFramePr>
              <a:graphicFrameLocks noChangeAspect="1"/>
            </p:cNvGraphicFramePr>
            <p:nvPr/>
          </p:nvGraphicFramePr>
          <p:xfrm>
            <a:off x="719" y="3391"/>
            <a:ext cx="526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711000" imgH="203040" progId="Equation.DSMT4">
                    <p:embed/>
                  </p:oleObj>
                </mc:Choice>
                <mc:Fallback>
                  <p:oleObj name="Equation" r:id="rId37" imgW="7110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9" y="3391"/>
                          <a:ext cx="526" cy="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0" name="Object 78"/>
            <p:cNvGraphicFramePr>
              <a:graphicFrameLocks noChangeAspect="1"/>
            </p:cNvGraphicFramePr>
            <p:nvPr/>
          </p:nvGraphicFramePr>
          <p:xfrm>
            <a:off x="1961" y="3726"/>
            <a:ext cx="583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9" imgW="787320" imgH="203040" progId="Equation.DSMT4">
                    <p:embed/>
                  </p:oleObj>
                </mc:Choice>
                <mc:Fallback>
                  <p:oleObj name="Equation" r:id="rId39" imgW="7873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1" y="3726"/>
                          <a:ext cx="583" cy="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1" name="Line 79"/>
            <p:cNvSpPr>
              <a:spLocks noChangeShapeType="1"/>
            </p:cNvSpPr>
            <p:nvPr/>
          </p:nvSpPr>
          <p:spPr bwMode="auto">
            <a:xfrm>
              <a:off x="555" y="3804"/>
              <a:ext cx="694" cy="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82" name="Object 80"/>
            <p:cNvGraphicFramePr>
              <a:graphicFrameLocks noChangeAspect="1"/>
            </p:cNvGraphicFramePr>
            <p:nvPr/>
          </p:nvGraphicFramePr>
          <p:xfrm>
            <a:off x="1412" y="3804"/>
            <a:ext cx="424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1" imgW="571320" imgH="393480" progId="Equation.DSMT4">
                    <p:embed/>
                  </p:oleObj>
                </mc:Choice>
                <mc:Fallback>
                  <p:oleObj name="Equation" r:id="rId41" imgW="57132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2" y="3804"/>
                          <a:ext cx="424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3" name="Object 81"/>
            <p:cNvGraphicFramePr>
              <a:graphicFrameLocks noChangeAspect="1"/>
            </p:cNvGraphicFramePr>
            <p:nvPr/>
          </p:nvGraphicFramePr>
          <p:xfrm>
            <a:off x="709" y="3990"/>
            <a:ext cx="639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3" imgW="863280" imgH="203040" progId="Equation.DSMT4">
                    <p:embed/>
                  </p:oleObj>
                </mc:Choice>
                <mc:Fallback>
                  <p:oleObj name="Equation" r:id="rId43" imgW="863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9" y="3990"/>
                          <a:ext cx="639" cy="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" name="Object 82"/>
            <p:cNvGraphicFramePr>
              <a:graphicFrameLocks noChangeAspect="1"/>
            </p:cNvGraphicFramePr>
            <p:nvPr/>
          </p:nvGraphicFramePr>
          <p:xfrm>
            <a:off x="30" y="2502"/>
            <a:ext cx="405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5" imgW="342720" imgH="203040" progId="Equation.DSMT4">
                    <p:embed/>
                  </p:oleObj>
                </mc:Choice>
                <mc:Fallback>
                  <p:oleObj name="Equation" r:id="rId45" imgW="342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" y="2502"/>
                          <a:ext cx="405" cy="2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5" name="Line 84"/>
            <p:cNvSpPr>
              <a:spLocks noChangeShapeType="1"/>
            </p:cNvSpPr>
            <p:nvPr/>
          </p:nvSpPr>
          <p:spPr bwMode="auto">
            <a:xfrm>
              <a:off x="548" y="1752"/>
              <a:ext cx="2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" name="Line 85"/>
            <p:cNvSpPr>
              <a:spLocks noChangeShapeType="1"/>
            </p:cNvSpPr>
            <p:nvPr/>
          </p:nvSpPr>
          <p:spPr bwMode="auto">
            <a:xfrm>
              <a:off x="555" y="1758"/>
              <a:ext cx="0" cy="233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87" name="Group 86"/>
            <p:cNvGrpSpPr>
              <a:grpSpLocks/>
            </p:cNvGrpSpPr>
            <p:nvPr/>
          </p:nvGrpSpPr>
          <p:grpSpPr bwMode="auto">
            <a:xfrm flipH="1">
              <a:off x="555" y="1758"/>
              <a:ext cx="2136" cy="341"/>
              <a:chOff x="2349" y="2592"/>
              <a:chExt cx="1817" cy="288"/>
            </a:xfrm>
          </p:grpSpPr>
          <p:sp>
            <p:nvSpPr>
              <p:cNvPr id="188" name="Line 87"/>
              <p:cNvSpPr>
                <a:spLocks noChangeShapeType="1"/>
              </p:cNvSpPr>
              <p:nvPr/>
            </p:nvSpPr>
            <p:spPr bwMode="auto">
              <a:xfrm flipH="1">
                <a:off x="2349" y="2784"/>
                <a:ext cx="621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9" name="Line 88"/>
              <p:cNvSpPr>
                <a:spLocks noChangeShapeType="1"/>
              </p:cNvSpPr>
              <p:nvPr/>
            </p:nvSpPr>
            <p:spPr bwMode="auto">
              <a:xfrm flipH="1">
                <a:off x="3542" y="2592"/>
                <a:ext cx="624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4" name="Line 156"/>
          <p:cNvSpPr>
            <a:spLocks noChangeShapeType="1"/>
          </p:cNvSpPr>
          <p:nvPr/>
        </p:nvSpPr>
        <p:spPr bwMode="auto">
          <a:xfrm>
            <a:off x="3371850" y="2853769"/>
            <a:ext cx="0" cy="3532188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Oval 168"/>
          <p:cNvSpPr>
            <a:spLocks noChangeArrowheads="1"/>
          </p:cNvSpPr>
          <p:nvPr/>
        </p:nvSpPr>
        <p:spPr bwMode="auto">
          <a:xfrm>
            <a:off x="3314700" y="3174444"/>
            <a:ext cx="1143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Text Box 170"/>
          <p:cNvSpPr txBox="1">
            <a:spLocks noChangeArrowheads="1"/>
          </p:cNvSpPr>
          <p:nvPr/>
        </p:nvSpPr>
        <p:spPr bwMode="auto">
          <a:xfrm>
            <a:off x="2663825" y="3195082"/>
            <a:ext cx="666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>
                <a:solidFill>
                  <a:srgbClr val="0000FF"/>
                </a:solidFill>
              </a:rPr>
              <a:t>0.75 [ns]</a:t>
            </a:r>
          </a:p>
        </p:txBody>
      </p:sp>
      <p:sp>
        <p:nvSpPr>
          <p:cNvPr id="57" name="Oval 173"/>
          <p:cNvSpPr>
            <a:spLocks noChangeArrowheads="1"/>
          </p:cNvSpPr>
          <p:nvPr/>
        </p:nvSpPr>
        <p:spPr bwMode="auto">
          <a:xfrm>
            <a:off x="3302000" y="3466544"/>
            <a:ext cx="1143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Text Box 176"/>
          <p:cNvSpPr txBox="1">
            <a:spLocks noChangeArrowheads="1"/>
          </p:cNvSpPr>
          <p:nvPr/>
        </p:nvSpPr>
        <p:spPr bwMode="auto">
          <a:xfrm>
            <a:off x="2663825" y="3664982"/>
            <a:ext cx="666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>
                <a:solidFill>
                  <a:srgbClr val="0000FF"/>
                </a:solidFill>
              </a:rPr>
              <a:t>1.25 [ns]</a:t>
            </a:r>
          </a:p>
        </p:txBody>
      </p:sp>
      <p:sp>
        <p:nvSpPr>
          <p:cNvPr id="59" name="Oval 178"/>
          <p:cNvSpPr>
            <a:spLocks noChangeArrowheads="1"/>
          </p:cNvSpPr>
          <p:nvPr/>
        </p:nvSpPr>
        <p:spPr bwMode="auto">
          <a:xfrm>
            <a:off x="3314700" y="4266644"/>
            <a:ext cx="1143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Oval 179"/>
          <p:cNvSpPr>
            <a:spLocks noChangeArrowheads="1"/>
          </p:cNvSpPr>
          <p:nvPr/>
        </p:nvSpPr>
        <p:spPr bwMode="auto">
          <a:xfrm>
            <a:off x="3314700" y="4546044"/>
            <a:ext cx="1143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Text Box 180"/>
          <p:cNvSpPr txBox="1">
            <a:spLocks noChangeArrowheads="1"/>
          </p:cNvSpPr>
          <p:nvPr/>
        </p:nvSpPr>
        <p:spPr bwMode="auto">
          <a:xfrm>
            <a:off x="2676525" y="4325382"/>
            <a:ext cx="666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>
                <a:solidFill>
                  <a:srgbClr val="0000FF"/>
                </a:solidFill>
              </a:rPr>
              <a:t>2.75 [ns]</a:t>
            </a:r>
          </a:p>
        </p:txBody>
      </p:sp>
      <p:sp>
        <p:nvSpPr>
          <p:cNvPr id="62" name="Text Box 183"/>
          <p:cNvSpPr txBox="1">
            <a:spLocks noChangeArrowheads="1"/>
          </p:cNvSpPr>
          <p:nvPr/>
        </p:nvSpPr>
        <p:spPr bwMode="auto">
          <a:xfrm>
            <a:off x="2701925" y="4757182"/>
            <a:ext cx="666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>
                <a:solidFill>
                  <a:srgbClr val="0000FF"/>
                </a:solidFill>
              </a:rPr>
              <a:t>3.25 [ns]</a:t>
            </a:r>
          </a:p>
        </p:txBody>
      </p:sp>
      <p:sp>
        <p:nvSpPr>
          <p:cNvPr id="63" name="Oval 185"/>
          <p:cNvSpPr>
            <a:spLocks noChangeArrowheads="1"/>
          </p:cNvSpPr>
          <p:nvPr/>
        </p:nvSpPr>
        <p:spPr bwMode="auto">
          <a:xfrm>
            <a:off x="3314700" y="5346144"/>
            <a:ext cx="1143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4" name="Oval 187"/>
          <p:cNvSpPr>
            <a:spLocks noChangeArrowheads="1"/>
          </p:cNvSpPr>
          <p:nvPr/>
        </p:nvSpPr>
        <p:spPr bwMode="auto">
          <a:xfrm>
            <a:off x="3314700" y="5612844"/>
            <a:ext cx="1143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" name="Text Box 188"/>
          <p:cNvSpPr txBox="1">
            <a:spLocks noChangeArrowheads="1"/>
          </p:cNvSpPr>
          <p:nvPr/>
        </p:nvSpPr>
        <p:spPr bwMode="auto">
          <a:xfrm>
            <a:off x="2638425" y="5379482"/>
            <a:ext cx="666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>
                <a:solidFill>
                  <a:srgbClr val="0000FF"/>
                </a:solidFill>
              </a:rPr>
              <a:t>4.75 [ns]</a:t>
            </a:r>
          </a:p>
        </p:txBody>
      </p:sp>
      <p:sp>
        <p:nvSpPr>
          <p:cNvPr id="66" name="Text Box 190"/>
          <p:cNvSpPr txBox="1">
            <a:spLocks noChangeArrowheads="1"/>
          </p:cNvSpPr>
          <p:nvPr/>
        </p:nvSpPr>
        <p:spPr bwMode="auto">
          <a:xfrm>
            <a:off x="2765425" y="5798582"/>
            <a:ext cx="666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>
                <a:solidFill>
                  <a:srgbClr val="0000FF"/>
                </a:solidFill>
              </a:rPr>
              <a:t>5.25 [ns]</a:t>
            </a:r>
          </a:p>
        </p:txBody>
      </p:sp>
      <p:grpSp>
        <p:nvGrpSpPr>
          <p:cNvPr id="67" name="Group 195"/>
          <p:cNvGrpSpPr>
            <a:grpSpLocks/>
          </p:cNvGrpSpPr>
          <p:nvPr/>
        </p:nvGrpSpPr>
        <p:grpSpPr bwMode="auto">
          <a:xfrm>
            <a:off x="4427538" y="2458482"/>
            <a:ext cx="4767262" cy="4305300"/>
            <a:chOff x="2789" y="1517"/>
            <a:chExt cx="3003" cy="2712"/>
          </a:xfrm>
        </p:grpSpPr>
        <p:grpSp>
          <p:nvGrpSpPr>
            <p:cNvPr id="74" name="Group 172"/>
            <p:cNvGrpSpPr>
              <a:grpSpLocks/>
            </p:cNvGrpSpPr>
            <p:nvPr/>
          </p:nvGrpSpPr>
          <p:grpSpPr bwMode="auto">
            <a:xfrm>
              <a:off x="2789" y="1517"/>
              <a:ext cx="3003" cy="2712"/>
              <a:chOff x="2789" y="1517"/>
              <a:chExt cx="3003" cy="2712"/>
            </a:xfrm>
          </p:grpSpPr>
          <p:sp>
            <p:nvSpPr>
              <p:cNvPr id="92" name="Line 99"/>
              <p:cNvSpPr>
                <a:spLocks noChangeShapeType="1"/>
              </p:cNvSpPr>
              <p:nvPr/>
            </p:nvSpPr>
            <p:spPr bwMode="auto">
              <a:xfrm>
                <a:off x="5319" y="1847"/>
                <a:ext cx="0" cy="23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3" name="Line 100"/>
              <p:cNvSpPr>
                <a:spLocks noChangeShapeType="1"/>
              </p:cNvSpPr>
              <p:nvPr/>
            </p:nvSpPr>
            <p:spPr bwMode="auto">
              <a:xfrm>
                <a:off x="3130" y="2870"/>
                <a:ext cx="13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4" name="Line 101"/>
              <p:cNvSpPr>
                <a:spLocks noChangeShapeType="1"/>
              </p:cNvSpPr>
              <p:nvPr/>
            </p:nvSpPr>
            <p:spPr bwMode="auto">
              <a:xfrm>
                <a:off x="3130" y="3211"/>
                <a:ext cx="13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5" name="Line 102"/>
              <p:cNvSpPr>
                <a:spLocks noChangeShapeType="1"/>
              </p:cNvSpPr>
              <p:nvPr/>
            </p:nvSpPr>
            <p:spPr bwMode="auto">
              <a:xfrm>
                <a:off x="3120" y="2529"/>
                <a:ext cx="1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6" name="Line 103"/>
              <p:cNvSpPr>
                <a:spLocks noChangeShapeType="1"/>
              </p:cNvSpPr>
              <p:nvPr/>
            </p:nvSpPr>
            <p:spPr bwMode="auto">
              <a:xfrm>
                <a:off x="3121" y="3552"/>
                <a:ext cx="1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" name="Line 104"/>
              <p:cNvSpPr>
                <a:spLocks noChangeShapeType="1"/>
              </p:cNvSpPr>
              <p:nvPr/>
            </p:nvSpPr>
            <p:spPr bwMode="auto">
              <a:xfrm>
                <a:off x="3121" y="3893"/>
                <a:ext cx="1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" name="Line 105"/>
              <p:cNvSpPr>
                <a:spLocks noChangeShapeType="1"/>
              </p:cNvSpPr>
              <p:nvPr/>
            </p:nvSpPr>
            <p:spPr bwMode="auto">
              <a:xfrm>
                <a:off x="3130" y="2188"/>
                <a:ext cx="13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9" name="Line 106"/>
              <p:cNvSpPr>
                <a:spLocks noChangeShapeType="1"/>
              </p:cNvSpPr>
              <p:nvPr/>
            </p:nvSpPr>
            <p:spPr bwMode="auto">
              <a:xfrm>
                <a:off x="3130" y="1847"/>
                <a:ext cx="13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0" name="Group 107"/>
              <p:cNvGrpSpPr>
                <a:grpSpLocks/>
              </p:cNvGrpSpPr>
              <p:nvPr/>
            </p:nvGrpSpPr>
            <p:grpSpPr bwMode="auto">
              <a:xfrm>
                <a:off x="3183" y="2188"/>
                <a:ext cx="2136" cy="341"/>
                <a:chOff x="2349" y="2592"/>
                <a:chExt cx="1817" cy="288"/>
              </a:xfrm>
            </p:grpSpPr>
            <p:sp>
              <p:nvSpPr>
                <p:cNvPr id="144" name="Line 108"/>
                <p:cNvSpPr>
                  <a:spLocks noChangeShapeType="1"/>
                </p:cNvSpPr>
                <p:nvPr/>
              </p:nvSpPr>
              <p:spPr bwMode="auto">
                <a:xfrm flipH="1">
                  <a:off x="2349" y="2784"/>
                  <a:ext cx="621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5" name="Line 109"/>
                <p:cNvSpPr>
                  <a:spLocks noChangeShapeType="1"/>
                </p:cNvSpPr>
                <p:nvPr/>
              </p:nvSpPr>
              <p:spPr bwMode="auto">
                <a:xfrm flipH="1">
                  <a:off x="3542" y="2592"/>
                  <a:ext cx="624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1" name="Group 110"/>
              <p:cNvGrpSpPr>
                <a:grpSpLocks/>
              </p:cNvGrpSpPr>
              <p:nvPr/>
            </p:nvGrpSpPr>
            <p:grpSpPr bwMode="auto">
              <a:xfrm>
                <a:off x="3147" y="3552"/>
                <a:ext cx="2136" cy="341"/>
                <a:chOff x="2349" y="2592"/>
                <a:chExt cx="1817" cy="288"/>
              </a:xfrm>
            </p:grpSpPr>
            <p:sp>
              <p:nvSpPr>
                <p:cNvPr id="142" name="Line 111"/>
                <p:cNvSpPr>
                  <a:spLocks noChangeShapeType="1"/>
                </p:cNvSpPr>
                <p:nvPr/>
              </p:nvSpPr>
              <p:spPr bwMode="auto">
                <a:xfrm flipH="1">
                  <a:off x="2349" y="2784"/>
                  <a:ext cx="621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3" name="Line 112"/>
                <p:cNvSpPr>
                  <a:spLocks noChangeShapeType="1"/>
                </p:cNvSpPr>
                <p:nvPr/>
              </p:nvSpPr>
              <p:spPr bwMode="auto">
                <a:xfrm flipH="1">
                  <a:off x="3542" y="2592"/>
                  <a:ext cx="624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2" name="Group 113"/>
              <p:cNvGrpSpPr>
                <a:grpSpLocks/>
              </p:cNvGrpSpPr>
              <p:nvPr/>
            </p:nvGrpSpPr>
            <p:grpSpPr bwMode="auto">
              <a:xfrm>
                <a:off x="3183" y="2870"/>
                <a:ext cx="2136" cy="341"/>
                <a:chOff x="2349" y="2592"/>
                <a:chExt cx="1817" cy="288"/>
              </a:xfrm>
            </p:grpSpPr>
            <p:sp>
              <p:nvSpPr>
                <p:cNvPr id="140" name="Line 114"/>
                <p:cNvSpPr>
                  <a:spLocks noChangeShapeType="1"/>
                </p:cNvSpPr>
                <p:nvPr/>
              </p:nvSpPr>
              <p:spPr bwMode="auto">
                <a:xfrm flipH="1">
                  <a:off x="2349" y="2784"/>
                  <a:ext cx="621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1" name="Line 115"/>
                <p:cNvSpPr>
                  <a:spLocks noChangeShapeType="1"/>
                </p:cNvSpPr>
                <p:nvPr/>
              </p:nvSpPr>
              <p:spPr bwMode="auto">
                <a:xfrm flipH="1">
                  <a:off x="3542" y="2592"/>
                  <a:ext cx="624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" name="Group 116"/>
              <p:cNvGrpSpPr>
                <a:grpSpLocks/>
              </p:cNvGrpSpPr>
              <p:nvPr/>
            </p:nvGrpSpPr>
            <p:grpSpPr bwMode="auto">
              <a:xfrm flipH="1">
                <a:off x="3200" y="3211"/>
                <a:ext cx="2136" cy="341"/>
                <a:chOff x="2349" y="2592"/>
                <a:chExt cx="1817" cy="288"/>
              </a:xfrm>
            </p:grpSpPr>
            <p:sp>
              <p:nvSpPr>
                <p:cNvPr id="138" name="Line 117"/>
                <p:cNvSpPr>
                  <a:spLocks noChangeShapeType="1"/>
                </p:cNvSpPr>
                <p:nvPr/>
              </p:nvSpPr>
              <p:spPr bwMode="auto">
                <a:xfrm flipH="1">
                  <a:off x="2349" y="2784"/>
                  <a:ext cx="621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" name="Line 118"/>
                <p:cNvSpPr>
                  <a:spLocks noChangeShapeType="1"/>
                </p:cNvSpPr>
                <p:nvPr/>
              </p:nvSpPr>
              <p:spPr bwMode="auto">
                <a:xfrm flipH="1">
                  <a:off x="3542" y="2592"/>
                  <a:ext cx="624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4" name="Group 119"/>
              <p:cNvGrpSpPr>
                <a:grpSpLocks/>
              </p:cNvGrpSpPr>
              <p:nvPr/>
            </p:nvGrpSpPr>
            <p:grpSpPr bwMode="auto">
              <a:xfrm flipH="1">
                <a:off x="3214" y="2529"/>
                <a:ext cx="2136" cy="341"/>
                <a:chOff x="2349" y="2592"/>
                <a:chExt cx="1817" cy="288"/>
              </a:xfrm>
            </p:grpSpPr>
            <p:sp>
              <p:nvSpPr>
                <p:cNvPr id="136" name="Line 120"/>
                <p:cNvSpPr>
                  <a:spLocks noChangeShapeType="1"/>
                </p:cNvSpPr>
                <p:nvPr/>
              </p:nvSpPr>
              <p:spPr bwMode="auto">
                <a:xfrm flipH="1">
                  <a:off x="2349" y="2784"/>
                  <a:ext cx="621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7" name="Line 121"/>
                <p:cNvSpPr>
                  <a:spLocks noChangeShapeType="1"/>
                </p:cNvSpPr>
                <p:nvPr/>
              </p:nvSpPr>
              <p:spPr bwMode="auto">
                <a:xfrm flipH="1">
                  <a:off x="3542" y="2592"/>
                  <a:ext cx="624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05" name="Text Box 123"/>
              <p:cNvSpPr txBox="1">
                <a:spLocks noChangeArrowheads="1"/>
              </p:cNvSpPr>
              <p:nvPr/>
            </p:nvSpPr>
            <p:spPr bwMode="auto">
              <a:xfrm>
                <a:off x="2790" y="2113"/>
                <a:ext cx="349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200">
                    <a:solidFill>
                      <a:srgbClr val="000000"/>
                    </a:solidFill>
                    <a:latin typeface="Times New Roman" pitchFamily="18" charset="0"/>
                  </a:rPr>
                  <a:t>1.25</a:t>
                </a:r>
              </a:p>
            </p:txBody>
          </p:sp>
          <p:sp>
            <p:nvSpPr>
              <p:cNvPr id="106" name="Text Box 124"/>
              <p:cNvSpPr txBox="1">
                <a:spLocks noChangeArrowheads="1"/>
              </p:cNvSpPr>
              <p:nvPr/>
            </p:nvSpPr>
            <p:spPr bwMode="auto">
              <a:xfrm>
                <a:off x="2805" y="2454"/>
                <a:ext cx="334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200">
                    <a:solidFill>
                      <a:srgbClr val="000000"/>
                    </a:solidFill>
                    <a:latin typeface="Times New Roman" pitchFamily="18" charset="0"/>
                  </a:rPr>
                  <a:t>2.25</a:t>
                </a:r>
              </a:p>
            </p:txBody>
          </p:sp>
          <p:sp>
            <p:nvSpPr>
              <p:cNvPr id="107" name="Text Box 125"/>
              <p:cNvSpPr txBox="1">
                <a:spLocks noChangeArrowheads="1"/>
              </p:cNvSpPr>
              <p:nvPr/>
            </p:nvSpPr>
            <p:spPr bwMode="auto">
              <a:xfrm>
                <a:off x="2789" y="2772"/>
                <a:ext cx="349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200">
                    <a:solidFill>
                      <a:srgbClr val="000000"/>
                    </a:solidFill>
                    <a:latin typeface="Times New Roman" pitchFamily="18" charset="0"/>
                  </a:rPr>
                  <a:t>3.25</a:t>
                </a:r>
              </a:p>
            </p:txBody>
          </p:sp>
          <p:sp>
            <p:nvSpPr>
              <p:cNvPr id="108" name="Text Box 126"/>
              <p:cNvSpPr txBox="1">
                <a:spLocks noChangeArrowheads="1"/>
              </p:cNvSpPr>
              <p:nvPr/>
            </p:nvSpPr>
            <p:spPr bwMode="auto">
              <a:xfrm>
                <a:off x="2797" y="3135"/>
                <a:ext cx="321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200">
                    <a:solidFill>
                      <a:srgbClr val="000000"/>
                    </a:solidFill>
                    <a:latin typeface="Times New Roman" pitchFamily="18" charset="0"/>
                  </a:rPr>
                  <a:t>4.25</a:t>
                </a:r>
              </a:p>
            </p:txBody>
          </p:sp>
          <p:sp>
            <p:nvSpPr>
              <p:cNvPr id="109" name="Text Box 127"/>
              <p:cNvSpPr txBox="1">
                <a:spLocks noChangeArrowheads="1"/>
              </p:cNvSpPr>
              <p:nvPr/>
            </p:nvSpPr>
            <p:spPr bwMode="auto">
              <a:xfrm>
                <a:off x="2813" y="3476"/>
                <a:ext cx="309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200">
                    <a:solidFill>
                      <a:srgbClr val="000000"/>
                    </a:solidFill>
                    <a:latin typeface="Times New Roman" pitchFamily="18" charset="0"/>
                  </a:rPr>
                  <a:t>5.25</a:t>
                </a:r>
              </a:p>
            </p:txBody>
          </p:sp>
          <p:sp>
            <p:nvSpPr>
              <p:cNvPr id="110" name="Text Box 128"/>
              <p:cNvSpPr txBox="1">
                <a:spLocks noChangeArrowheads="1"/>
              </p:cNvSpPr>
              <p:nvPr/>
            </p:nvSpPr>
            <p:spPr bwMode="auto">
              <a:xfrm>
                <a:off x="2813" y="3795"/>
                <a:ext cx="309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200">
                    <a:solidFill>
                      <a:srgbClr val="000000"/>
                    </a:solidFill>
                    <a:latin typeface="Times New Roman" pitchFamily="18" charset="0"/>
                  </a:rPr>
                  <a:t>6.25</a:t>
                </a:r>
              </a:p>
            </p:txBody>
          </p:sp>
          <p:graphicFrame>
            <p:nvGraphicFramePr>
              <p:cNvPr id="111" name="Object 129"/>
              <p:cNvGraphicFramePr>
                <a:graphicFrameLocks noChangeAspect="1"/>
              </p:cNvGraphicFramePr>
              <p:nvPr/>
            </p:nvGraphicFramePr>
            <p:xfrm>
              <a:off x="5110" y="1517"/>
              <a:ext cx="423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7" imgW="571320" imgH="393480" progId="Equation.DSMT4">
                      <p:embed/>
                    </p:oleObj>
                  </mc:Choice>
                  <mc:Fallback>
                    <p:oleObj name="Equation" r:id="rId47" imgW="571320" imgH="393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10" y="1517"/>
                            <a:ext cx="423" cy="29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00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" name="Object 130"/>
              <p:cNvGraphicFramePr>
                <a:graphicFrameLocks noChangeAspect="1"/>
              </p:cNvGraphicFramePr>
              <p:nvPr/>
            </p:nvGraphicFramePr>
            <p:xfrm>
              <a:off x="3068" y="1523"/>
              <a:ext cx="348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8" imgW="469800" imgH="393480" progId="Equation.DSMT4">
                      <p:embed/>
                    </p:oleObj>
                  </mc:Choice>
                  <mc:Fallback>
                    <p:oleObj name="Equation" r:id="rId48" imgW="469800" imgH="393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68" y="1523"/>
                            <a:ext cx="348" cy="29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00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" name="Object 131"/>
              <p:cNvGraphicFramePr>
                <a:graphicFrameLocks noChangeAspect="1"/>
              </p:cNvGraphicFramePr>
              <p:nvPr/>
            </p:nvGraphicFramePr>
            <p:xfrm>
              <a:off x="4173" y="1937"/>
              <a:ext cx="253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9" imgW="342720" imgH="203040" progId="Equation.DSMT4">
                      <p:embed/>
                    </p:oleObj>
                  </mc:Choice>
                  <mc:Fallback>
                    <p:oleObj name="Equation" r:id="rId49" imgW="34272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73" y="1937"/>
                            <a:ext cx="253" cy="1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4" name="Object 132"/>
              <p:cNvGraphicFramePr>
                <a:graphicFrameLocks noChangeAspect="1"/>
              </p:cNvGraphicFramePr>
              <p:nvPr/>
            </p:nvGraphicFramePr>
            <p:xfrm>
              <a:off x="4055" y="2174"/>
              <a:ext cx="377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0" imgW="507960" imgH="393480" progId="Equation.DSMT4">
                      <p:embed/>
                    </p:oleObj>
                  </mc:Choice>
                  <mc:Fallback>
                    <p:oleObj name="Equation" r:id="rId50" imgW="507960" imgH="393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5" y="2174"/>
                            <a:ext cx="377" cy="29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5" name="Object 133"/>
              <p:cNvGraphicFramePr>
                <a:graphicFrameLocks noChangeAspect="1"/>
              </p:cNvGraphicFramePr>
              <p:nvPr/>
            </p:nvGraphicFramePr>
            <p:xfrm>
              <a:off x="4122" y="2582"/>
              <a:ext cx="376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1" imgW="507960" imgH="393480" progId="Equation.DSMT4">
                      <p:embed/>
                    </p:oleObj>
                  </mc:Choice>
                  <mc:Fallback>
                    <p:oleObj name="Equation" r:id="rId51" imgW="507960" imgH="393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2" y="2582"/>
                            <a:ext cx="376" cy="29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6" name="Object 134"/>
              <p:cNvGraphicFramePr>
                <a:graphicFrameLocks noChangeAspect="1"/>
              </p:cNvGraphicFramePr>
              <p:nvPr/>
            </p:nvGraphicFramePr>
            <p:xfrm>
              <a:off x="4083" y="2879"/>
              <a:ext cx="365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2" imgW="495000" imgH="393480" progId="Equation.DSMT4">
                      <p:embed/>
                    </p:oleObj>
                  </mc:Choice>
                  <mc:Fallback>
                    <p:oleObj name="Equation" r:id="rId52" imgW="495000" imgH="393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3" y="2879"/>
                            <a:ext cx="365" cy="29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7" name="Object 135"/>
              <p:cNvGraphicFramePr>
                <a:graphicFrameLocks noChangeAspect="1"/>
              </p:cNvGraphicFramePr>
              <p:nvPr/>
            </p:nvGraphicFramePr>
            <p:xfrm>
              <a:off x="4059" y="3220"/>
              <a:ext cx="414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3" imgW="558720" imgH="393480" progId="Equation.DSMT4">
                      <p:embed/>
                    </p:oleObj>
                  </mc:Choice>
                  <mc:Fallback>
                    <p:oleObj name="Equation" r:id="rId53" imgW="558720" imgH="393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9" y="3220"/>
                            <a:ext cx="414" cy="29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8" name="Object 136"/>
              <p:cNvGraphicFramePr>
                <a:graphicFrameLocks noChangeAspect="1"/>
              </p:cNvGraphicFramePr>
              <p:nvPr/>
            </p:nvGraphicFramePr>
            <p:xfrm>
              <a:off x="4050" y="3539"/>
              <a:ext cx="423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4" imgW="571320" imgH="393480" progId="Equation.DSMT4">
                      <p:embed/>
                    </p:oleObj>
                  </mc:Choice>
                  <mc:Fallback>
                    <p:oleObj name="Equation" r:id="rId54" imgW="571320" imgH="393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0" y="3539"/>
                            <a:ext cx="423" cy="29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9" name="Object 137"/>
              <p:cNvGraphicFramePr>
                <a:graphicFrameLocks noChangeAspect="1"/>
              </p:cNvGraphicFramePr>
              <p:nvPr/>
            </p:nvGraphicFramePr>
            <p:xfrm>
              <a:off x="4902" y="1901"/>
              <a:ext cx="270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5" imgW="368280" imgH="203040" progId="Equation.DSMT4">
                      <p:embed/>
                    </p:oleObj>
                  </mc:Choice>
                  <mc:Fallback>
                    <p:oleObj name="Equation" r:id="rId55" imgW="36828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02" y="1901"/>
                            <a:ext cx="270" cy="1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0" name="Object 138"/>
              <p:cNvGraphicFramePr>
                <a:graphicFrameLocks noChangeAspect="1"/>
              </p:cNvGraphicFramePr>
              <p:nvPr/>
            </p:nvGraphicFramePr>
            <p:xfrm>
              <a:off x="3319" y="2116"/>
              <a:ext cx="252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7" imgW="342720" imgH="203040" progId="Equation.DSMT4">
                      <p:embed/>
                    </p:oleObj>
                  </mc:Choice>
                  <mc:Fallback>
                    <p:oleObj name="Equation" r:id="rId57" imgW="34272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9" y="2116"/>
                            <a:ext cx="252" cy="1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1" name="Object 139"/>
              <p:cNvGraphicFramePr>
                <a:graphicFrameLocks noChangeAspect="1"/>
              </p:cNvGraphicFramePr>
              <p:nvPr/>
            </p:nvGraphicFramePr>
            <p:xfrm>
              <a:off x="4810" y="2447"/>
              <a:ext cx="357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8" imgW="482400" imgH="203040" progId="Equation.DSMT4">
                      <p:embed/>
                    </p:oleObj>
                  </mc:Choice>
                  <mc:Fallback>
                    <p:oleObj name="Equation" r:id="rId58" imgW="48240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10" y="2447"/>
                            <a:ext cx="357" cy="15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2" name="Object 140"/>
              <p:cNvGraphicFramePr>
                <a:graphicFrameLocks noChangeAspect="1"/>
              </p:cNvGraphicFramePr>
              <p:nvPr/>
            </p:nvGraphicFramePr>
            <p:xfrm>
              <a:off x="3347" y="2792"/>
              <a:ext cx="414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9" imgW="558720" imgH="203040" progId="Equation.DSMT4">
                      <p:embed/>
                    </p:oleObj>
                  </mc:Choice>
                  <mc:Fallback>
                    <p:oleObj name="Equation" r:id="rId59" imgW="55872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47" y="2792"/>
                            <a:ext cx="414" cy="1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" name="Object 141"/>
              <p:cNvGraphicFramePr>
                <a:graphicFrameLocks noChangeAspect="1"/>
              </p:cNvGraphicFramePr>
              <p:nvPr/>
            </p:nvGraphicFramePr>
            <p:xfrm>
              <a:off x="4698" y="3120"/>
              <a:ext cx="469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0" imgW="634680" imgH="203040" progId="Equation.DSMT4">
                      <p:embed/>
                    </p:oleObj>
                  </mc:Choice>
                  <mc:Fallback>
                    <p:oleObj name="Equation" r:id="rId60" imgW="63468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98" y="3120"/>
                            <a:ext cx="469" cy="1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4" name="Object 142"/>
              <p:cNvGraphicFramePr>
                <a:graphicFrameLocks noChangeAspect="1"/>
              </p:cNvGraphicFramePr>
              <p:nvPr/>
            </p:nvGraphicFramePr>
            <p:xfrm>
              <a:off x="3347" y="3480"/>
              <a:ext cx="526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1" imgW="711000" imgH="203040" progId="Equation.DSMT4">
                      <p:embed/>
                    </p:oleObj>
                  </mc:Choice>
                  <mc:Fallback>
                    <p:oleObj name="Equation" r:id="rId61" imgW="71100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47" y="3480"/>
                            <a:ext cx="526" cy="1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5" name="Object 143"/>
              <p:cNvGraphicFramePr>
                <a:graphicFrameLocks noChangeAspect="1"/>
              </p:cNvGraphicFramePr>
              <p:nvPr/>
            </p:nvGraphicFramePr>
            <p:xfrm>
              <a:off x="4589" y="3815"/>
              <a:ext cx="583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2" imgW="787320" imgH="203040" progId="Equation.DSMT4">
                      <p:embed/>
                    </p:oleObj>
                  </mc:Choice>
                  <mc:Fallback>
                    <p:oleObj name="Equation" r:id="rId62" imgW="78732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89" y="3815"/>
                            <a:ext cx="583" cy="1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6" name="Line 144"/>
              <p:cNvSpPr>
                <a:spLocks noChangeShapeType="1"/>
              </p:cNvSpPr>
              <p:nvPr/>
            </p:nvSpPr>
            <p:spPr bwMode="auto">
              <a:xfrm>
                <a:off x="3183" y="3893"/>
                <a:ext cx="694" cy="9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127" name="Object 145"/>
              <p:cNvGraphicFramePr>
                <a:graphicFrameLocks noChangeAspect="1"/>
              </p:cNvGraphicFramePr>
              <p:nvPr/>
            </p:nvGraphicFramePr>
            <p:xfrm>
              <a:off x="4040" y="3893"/>
              <a:ext cx="424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3" imgW="571320" imgH="393480" progId="Equation.DSMT4">
                      <p:embed/>
                    </p:oleObj>
                  </mc:Choice>
                  <mc:Fallback>
                    <p:oleObj name="Equation" r:id="rId63" imgW="571320" imgH="393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40" y="3893"/>
                            <a:ext cx="424" cy="29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8" name="Object 146"/>
              <p:cNvGraphicFramePr>
                <a:graphicFrameLocks noChangeAspect="1"/>
              </p:cNvGraphicFramePr>
              <p:nvPr/>
            </p:nvGraphicFramePr>
            <p:xfrm>
              <a:off x="3337" y="4079"/>
              <a:ext cx="639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4" imgW="863280" imgH="203040" progId="Equation.DSMT4">
                      <p:embed/>
                    </p:oleObj>
                  </mc:Choice>
                  <mc:Fallback>
                    <p:oleObj name="Equation" r:id="rId64" imgW="86328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37" y="4079"/>
                            <a:ext cx="639" cy="1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9" name="Object 148"/>
              <p:cNvGraphicFramePr>
                <a:graphicFrameLocks noChangeAspect="1"/>
              </p:cNvGraphicFramePr>
              <p:nvPr/>
            </p:nvGraphicFramePr>
            <p:xfrm>
              <a:off x="5397" y="1888"/>
              <a:ext cx="395" cy="2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5" imgW="380880" imgH="203040" progId="Equation.DSMT4">
                      <p:embed/>
                    </p:oleObj>
                  </mc:Choice>
                  <mc:Fallback>
                    <p:oleObj name="Equation" r:id="rId65" imgW="38088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97" y="1888"/>
                            <a:ext cx="395" cy="21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0" name="Line 149"/>
              <p:cNvSpPr>
                <a:spLocks noChangeShapeType="1"/>
              </p:cNvSpPr>
              <p:nvPr/>
            </p:nvSpPr>
            <p:spPr bwMode="auto">
              <a:xfrm>
                <a:off x="3176" y="1841"/>
                <a:ext cx="24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Line 150"/>
              <p:cNvSpPr>
                <a:spLocks noChangeShapeType="1"/>
              </p:cNvSpPr>
              <p:nvPr/>
            </p:nvSpPr>
            <p:spPr bwMode="auto">
              <a:xfrm>
                <a:off x="3183" y="1847"/>
                <a:ext cx="0" cy="233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2" name="Group 151"/>
              <p:cNvGrpSpPr>
                <a:grpSpLocks/>
              </p:cNvGrpSpPr>
              <p:nvPr/>
            </p:nvGrpSpPr>
            <p:grpSpPr bwMode="auto">
              <a:xfrm flipH="1">
                <a:off x="3183" y="1847"/>
                <a:ext cx="2136" cy="341"/>
                <a:chOff x="2349" y="2592"/>
                <a:chExt cx="1817" cy="288"/>
              </a:xfrm>
            </p:grpSpPr>
            <p:sp>
              <p:nvSpPr>
                <p:cNvPr id="134" name="Line 152"/>
                <p:cNvSpPr>
                  <a:spLocks noChangeShapeType="1"/>
                </p:cNvSpPr>
                <p:nvPr/>
              </p:nvSpPr>
              <p:spPr bwMode="auto">
                <a:xfrm flipH="1">
                  <a:off x="2349" y="2784"/>
                  <a:ext cx="621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" name="Line 153"/>
                <p:cNvSpPr>
                  <a:spLocks noChangeShapeType="1"/>
                </p:cNvSpPr>
                <p:nvPr/>
              </p:nvSpPr>
              <p:spPr bwMode="auto">
                <a:xfrm flipH="1">
                  <a:off x="3542" y="2592"/>
                  <a:ext cx="624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33" name="Line 157"/>
              <p:cNvSpPr>
                <a:spLocks noChangeShapeType="1"/>
              </p:cNvSpPr>
              <p:nvPr/>
            </p:nvSpPr>
            <p:spPr bwMode="auto">
              <a:xfrm>
                <a:off x="4788" y="1855"/>
                <a:ext cx="0" cy="2225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5" name="Line 161"/>
            <p:cNvSpPr>
              <a:spLocks noChangeShapeType="1"/>
            </p:cNvSpPr>
            <p:nvPr/>
          </p:nvSpPr>
          <p:spPr bwMode="auto">
            <a:xfrm>
              <a:off x="3640" y="1738"/>
              <a:ext cx="47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162"/>
            <p:cNvSpPr>
              <a:spLocks noChangeShapeType="1"/>
            </p:cNvSpPr>
            <p:nvPr/>
          </p:nvSpPr>
          <p:spPr bwMode="auto">
            <a:xfrm>
              <a:off x="3872" y="1532"/>
              <a:ext cx="0" cy="20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 Box 163"/>
            <p:cNvSpPr txBox="1">
              <a:spLocks noChangeArrowheads="1"/>
            </p:cNvSpPr>
            <p:nvPr/>
          </p:nvSpPr>
          <p:spPr bwMode="auto">
            <a:xfrm>
              <a:off x="4150" y="1611"/>
              <a:ext cx="24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i="1" dirty="0">
                  <a:solidFill>
                    <a:srgbClr val="0000FF"/>
                  </a:solidFill>
                  <a:latin typeface="Times New Roman" pitchFamily="18" charset="0"/>
                </a:rPr>
                <a:t>W</a:t>
              </a:r>
            </a:p>
          </p:txBody>
        </p:sp>
        <p:sp>
          <p:nvSpPr>
            <p:cNvPr id="78" name="Line 165"/>
            <p:cNvSpPr>
              <a:spLocks noChangeShapeType="1"/>
            </p:cNvSpPr>
            <p:nvPr/>
          </p:nvSpPr>
          <p:spPr bwMode="auto">
            <a:xfrm flipV="1">
              <a:off x="3872" y="1844"/>
              <a:ext cx="0" cy="20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 Box 166"/>
            <p:cNvSpPr txBox="1">
              <a:spLocks noChangeArrowheads="1"/>
            </p:cNvSpPr>
            <p:nvPr/>
          </p:nvSpPr>
          <p:spPr bwMode="auto">
            <a:xfrm>
              <a:off x="2790" y="1761"/>
              <a:ext cx="34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0.25</a:t>
              </a:r>
            </a:p>
          </p:txBody>
        </p:sp>
        <p:sp>
          <p:nvSpPr>
            <p:cNvPr id="80" name="Oval 169"/>
            <p:cNvSpPr>
              <a:spLocks noChangeArrowheads="1"/>
            </p:cNvSpPr>
            <p:nvPr/>
          </p:nvSpPr>
          <p:spPr bwMode="auto">
            <a:xfrm>
              <a:off x="4752" y="2064"/>
              <a:ext cx="72" cy="7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Oval 174"/>
            <p:cNvSpPr>
              <a:spLocks noChangeArrowheads="1"/>
            </p:cNvSpPr>
            <p:nvPr/>
          </p:nvSpPr>
          <p:spPr bwMode="auto">
            <a:xfrm>
              <a:off x="4752" y="2232"/>
              <a:ext cx="72" cy="7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Text Box 175"/>
            <p:cNvSpPr txBox="1">
              <a:spLocks noChangeArrowheads="1"/>
            </p:cNvSpPr>
            <p:nvPr/>
          </p:nvSpPr>
          <p:spPr bwMode="auto">
            <a:xfrm>
              <a:off x="4342" y="2061"/>
              <a:ext cx="42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>
                  <a:solidFill>
                    <a:srgbClr val="0000FF"/>
                  </a:solidFill>
                </a:rPr>
                <a:t>1.00 [ns]</a:t>
              </a:r>
            </a:p>
          </p:txBody>
        </p:sp>
        <p:sp>
          <p:nvSpPr>
            <p:cNvPr id="83" name="Text Box 177"/>
            <p:cNvSpPr txBox="1">
              <a:spLocks noChangeArrowheads="1"/>
            </p:cNvSpPr>
            <p:nvPr/>
          </p:nvSpPr>
          <p:spPr bwMode="auto">
            <a:xfrm>
              <a:off x="4358" y="2333"/>
              <a:ext cx="42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>
                  <a:solidFill>
                    <a:srgbClr val="0000FF"/>
                  </a:solidFill>
                </a:rPr>
                <a:t>1.50 [ns]</a:t>
              </a:r>
            </a:p>
          </p:txBody>
        </p:sp>
        <p:sp>
          <p:nvSpPr>
            <p:cNvPr id="84" name="Oval 181"/>
            <p:cNvSpPr>
              <a:spLocks noChangeArrowheads="1"/>
            </p:cNvSpPr>
            <p:nvPr/>
          </p:nvSpPr>
          <p:spPr bwMode="auto">
            <a:xfrm>
              <a:off x="4752" y="2744"/>
              <a:ext cx="72" cy="7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Oval 182"/>
            <p:cNvSpPr>
              <a:spLocks noChangeArrowheads="1"/>
            </p:cNvSpPr>
            <p:nvPr/>
          </p:nvSpPr>
          <p:spPr bwMode="auto">
            <a:xfrm>
              <a:off x="4752" y="2912"/>
              <a:ext cx="72" cy="7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Text Box 184"/>
            <p:cNvSpPr txBox="1">
              <a:spLocks noChangeArrowheads="1"/>
            </p:cNvSpPr>
            <p:nvPr/>
          </p:nvSpPr>
          <p:spPr bwMode="auto">
            <a:xfrm>
              <a:off x="4334" y="2781"/>
              <a:ext cx="39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>
                  <a:solidFill>
                    <a:srgbClr val="0000FF"/>
                  </a:solidFill>
                </a:rPr>
                <a:t>3.00[ns]</a:t>
              </a:r>
            </a:p>
          </p:txBody>
        </p:sp>
        <p:sp>
          <p:nvSpPr>
            <p:cNvPr id="87" name="Text Box 186"/>
            <p:cNvSpPr txBox="1">
              <a:spLocks noChangeArrowheads="1"/>
            </p:cNvSpPr>
            <p:nvPr/>
          </p:nvSpPr>
          <p:spPr bwMode="auto">
            <a:xfrm>
              <a:off x="4390" y="3005"/>
              <a:ext cx="39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>
                  <a:solidFill>
                    <a:srgbClr val="0000FF"/>
                  </a:solidFill>
                </a:rPr>
                <a:t>3.50[ns]</a:t>
              </a:r>
            </a:p>
          </p:txBody>
        </p:sp>
        <p:sp>
          <p:nvSpPr>
            <p:cNvPr id="88" name="Oval 189"/>
            <p:cNvSpPr>
              <a:spLocks noChangeArrowheads="1"/>
            </p:cNvSpPr>
            <p:nvPr/>
          </p:nvSpPr>
          <p:spPr bwMode="auto">
            <a:xfrm>
              <a:off x="4752" y="3432"/>
              <a:ext cx="72" cy="7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Oval 191"/>
            <p:cNvSpPr>
              <a:spLocks noChangeArrowheads="1"/>
            </p:cNvSpPr>
            <p:nvPr/>
          </p:nvSpPr>
          <p:spPr bwMode="auto">
            <a:xfrm>
              <a:off x="4752" y="3592"/>
              <a:ext cx="72" cy="7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Text Box 192"/>
            <p:cNvSpPr txBox="1">
              <a:spLocks noChangeArrowheads="1"/>
            </p:cNvSpPr>
            <p:nvPr/>
          </p:nvSpPr>
          <p:spPr bwMode="auto">
            <a:xfrm>
              <a:off x="4334" y="3445"/>
              <a:ext cx="42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>
                  <a:solidFill>
                    <a:srgbClr val="0000FF"/>
                  </a:solidFill>
                </a:rPr>
                <a:t>5.00 [ns]</a:t>
              </a:r>
            </a:p>
          </p:txBody>
        </p:sp>
        <p:sp>
          <p:nvSpPr>
            <p:cNvPr id="91" name="Text Box 193"/>
            <p:cNvSpPr txBox="1">
              <a:spLocks noChangeArrowheads="1"/>
            </p:cNvSpPr>
            <p:nvPr/>
          </p:nvSpPr>
          <p:spPr bwMode="auto">
            <a:xfrm>
              <a:off x="4358" y="3709"/>
              <a:ext cx="42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>
                  <a:solidFill>
                    <a:srgbClr val="0000FF"/>
                  </a:solidFill>
                </a:rPr>
                <a:t>5.50 [ns]</a:t>
              </a:r>
            </a:p>
          </p:txBody>
        </p:sp>
      </p:grpSp>
      <p:sp>
        <p:nvSpPr>
          <p:cNvPr id="68" name="Text Box 158"/>
          <p:cNvSpPr txBox="1">
            <a:spLocks noChangeArrowheads="1"/>
          </p:cNvSpPr>
          <p:nvPr/>
        </p:nvSpPr>
        <p:spPr bwMode="auto">
          <a:xfrm>
            <a:off x="5740400" y="2115582"/>
            <a:ext cx="130516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i="1" dirty="0">
                <a:solidFill>
                  <a:srgbClr val="0000FF"/>
                </a:solidFill>
                <a:latin typeface="Times New Roman" pitchFamily="18" charset="0"/>
              </a:rPr>
              <a:t>W</a:t>
            </a:r>
            <a:r>
              <a:rPr lang="en-US" sz="1600" dirty="0">
                <a:solidFill>
                  <a:srgbClr val="0000FF"/>
                </a:solidFill>
                <a:latin typeface="Times New Roman" pitchFamily="18" charset="0"/>
              </a:rPr>
              <a:t> = 0.25 [ns]</a:t>
            </a:r>
          </a:p>
        </p:txBody>
      </p:sp>
      <p:graphicFrame>
        <p:nvGraphicFramePr>
          <p:cNvPr id="69" name="Object 129"/>
          <p:cNvGraphicFramePr>
            <a:graphicFrameLocks noChangeAspect="1"/>
          </p:cNvGraphicFramePr>
          <p:nvPr/>
        </p:nvGraphicFramePr>
        <p:xfrm>
          <a:off x="2876550" y="2137807"/>
          <a:ext cx="66040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7" imgW="469800" imgH="393480" progId="Equation.DSMT4">
                  <p:embed/>
                </p:oleObj>
              </mc:Choice>
              <mc:Fallback>
                <p:oleObj name="Equation" r:id="rId67" imgW="4698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6550" y="2137807"/>
                        <a:ext cx="660400" cy="554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129"/>
          <p:cNvGraphicFramePr>
            <a:graphicFrameLocks noChangeAspect="1"/>
          </p:cNvGraphicFramePr>
          <p:nvPr/>
        </p:nvGraphicFramePr>
        <p:xfrm>
          <a:off x="7181850" y="2299732"/>
          <a:ext cx="66040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7" imgW="469800" imgH="393480" progId="Equation.DSMT4">
                  <p:embed/>
                </p:oleObj>
              </mc:Choice>
              <mc:Fallback>
                <p:oleObj name="Equation" r:id="rId67" imgW="4698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1850" y="2299732"/>
                        <a:ext cx="660400" cy="554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Freeform 70"/>
          <p:cNvSpPr/>
          <p:nvPr/>
        </p:nvSpPr>
        <p:spPr>
          <a:xfrm>
            <a:off x="4000500" y="2093357"/>
            <a:ext cx="1409700" cy="153987"/>
          </a:xfrm>
          <a:custGeom>
            <a:avLst/>
            <a:gdLst>
              <a:gd name="connsiteX0" fmla="*/ 0 w 1409700"/>
              <a:gd name="connsiteY0" fmla="*/ 153987 h 153987"/>
              <a:gd name="connsiteX1" fmla="*/ 428625 w 1409700"/>
              <a:gd name="connsiteY1" fmla="*/ 20637 h 153987"/>
              <a:gd name="connsiteX2" fmla="*/ 1000125 w 1409700"/>
              <a:gd name="connsiteY2" fmla="*/ 30162 h 153987"/>
              <a:gd name="connsiteX3" fmla="*/ 1409700 w 1409700"/>
              <a:gd name="connsiteY3" fmla="*/ 144462 h 153987"/>
              <a:gd name="connsiteX4" fmla="*/ 1409700 w 1409700"/>
              <a:gd name="connsiteY4" fmla="*/ 144462 h 153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9700" h="153987">
                <a:moveTo>
                  <a:pt x="0" y="153987"/>
                </a:moveTo>
                <a:cubicBezTo>
                  <a:pt x="130969" y="97630"/>
                  <a:pt x="261938" y="41274"/>
                  <a:pt x="428625" y="20637"/>
                </a:cubicBezTo>
                <a:cubicBezTo>
                  <a:pt x="595312" y="0"/>
                  <a:pt x="836613" y="9525"/>
                  <a:pt x="1000125" y="30162"/>
                </a:cubicBezTo>
                <a:cubicBezTo>
                  <a:pt x="1163638" y="50800"/>
                  <a:pt x="1409700" y="144462"/>
                  <a:pt x="1409700" y="144462"/>
                </a:cubicBezTo>
                <a:lnTo>
                  <a:pt x="1409700" y="144462"/>
                </a:lnTo>
              </a:path>
            </a:pathLst>
          </a:custGeom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Arrow Connector 71"/>
          <p:cNvCxnSpPr/>
          <p:nvPr/>
        </p:nvCxnSpPr>
        <p:spPr>
          <a:xfrm>
            <a:off x="296883" y="2849026"/>
            <a:ext cx="0" cy="118753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71250" y="2837151"/>
            <a:ext cx="4393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9240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4" grpId="0" animBg="1"/>
      <p:bldP spid="55" grpId="0" animBg="1"/>
      <p:bldP spid="56" grpId="0"/>
      <p:bldP spid="57" grpId="0" animBg="1"/>
      <p:bldP spid="58" grpId="0"/>
      <p:bldP spid="59" grpId="0" animBg="1"/>
      <p:bldP spid="60" grpId="0" animBg="1"/>
      <p:bldP spid="61" grpId="0"/>
      <p:bldP spid="62" grpId="0"/>
      <p:bldP spid="63" grpId="0" animBg="1"/>
      <p:bldP spid="64" grpId="0" animBg="1"/>
      <p:bldP spid="65" grpId="0"/>
      <p:bldP spid="66" grpId="0"/>
      <p:bldP spid="68" grpId="0"/>
      <p:bldP spid="7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1" name="Text Box 2"/>
          <p:cNvSpPr txBox="1">
            <a:spLocks noChangeArrowheads="1"/>
          </p:cNvSpPr>
          <p:nvPr/>
        </p:nvSpPr>
        <p:spPr bwMode="auto">
          <a:xfrm>
            <a:off x="1547681" y="0"/>
            <a:ext cx="6150849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Pulse: Oscilloscope Trace</a:t>
            </a:r>
          </a:p>
        </p:txBody>
      </p:sp>
      <p:sp>
        <p:nvSpPr>
          <p:cNvPr id="19503" name="Text Box 182"/>
          <p:cNvSpPr txBox="1">
            <a:spLocks noChangeArrowheads="1"/>
          </p:cNvSpPr>
          <p:nvPr/>
        </p:nvSpPr>
        <p:spPr bwMode="auto">
          <a:xfrm>
            <a:off x="3692525" y="4546600"/>
            <a:ext cx="3134191" cy="369332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Oscilloscope trace of voltage</a:t>
            </a:r>
          </a:p>
        </p:txBody>
      </p:sp>
      <p:graphicFrame>
        <p:nvGraphicFramePr>
          <p:cNvPr id="19458" name="Object 184"/>
          <p:cNvGraphicFramePr>
            <a:graphicFrameLocks noChangeAspect="1"/>
          </p:cNvGraphicFramePr>
          <p:nvPr/>
        </p:nvGraphicFramePr>
        <p:xfrm>
          <a:off x="7065200" y="5508800"/>
          <a:ext cx="66675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3480" imgH="203040" progId="Equation.DSMT4">
                  <p:embed/>
                </p:oleObj>
              </mc:Choice>
              <mc:Fallback>
                <p:oleObj name="Equation" r:id="rId3" imgW="393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5200" y="5508800"/>
                        <a:ext cx="666750" cy="350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04" name="Line 185"/>
          <p:cNvSpPr>
            <a:spLocks noChangeShapeType="1"/>
          </p:cNvSpPr>
          <p:nvPr/>
        </p:nvSpPr>
        <p:spPr bwMode="auto">
          <a:xfrm>
            <a:off x="2246313" y="5662613"/>
            <a:ext cx="4598987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505" name="Line 188"/>
          <p:cNvSpPr>
            <a:spLocks noChangeShapeType="1"/>
          </p:cNvSpPr>
          <p:nvPr/>
        </p:nvSpPr>
        <p:spPr bwMode="auto">
          <a:xfrm>
            <a:off x="3692525" y="5478463"/>
            <a:ext cx="0" cy="17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506" name="Line 189"/>
          <p:cNvSpPr>
            <a:spLocks noChangeShapeType="1"/>
          </p:cNvSpPr>
          <p:nvPr/>
        </p:nvSpPr>
        <p:spPr bwMode="auto">
          <a:xfrm>
            <a:off x="5080000" y="5487988"/>
            <a:ext cx="0" cy="17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507" name="Line 190"/>
          <p:cNvSpPr>
            <a:spLocks noChangeShapeType="1"/>
          </p:cNvSpPr>
          <p:nvPr/>
        </p:nvSpPr>
        <p:spPr bwMode="auto">
          <a:xfrm flipV="1">
            <a:off x="2246313" y="4194175"/>
            <a:ext cx="0" cy="146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508" name="Line 191"/>
          <p:cNvSpPr>
            <a:spLocks noChangeShapeType="1"/>
          </p:cNvSpPr>
          <p:nvPr/>
        </p:nvSpPr>
        <p:spPr bwMode="auto">
          <a:xfrm>
            <a:off x="5668963" y="5487988"/>
            <a:ext cx="0" cy="17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9459" name="Object 192"/>
          <p:cNvGraphicFramePr>
            <a:graphicFrameLocks noChangeAspect="1"/>
          </p:cNvGraphicFramePr>
          <p:nvPr/>
        </p:nvGraphicFramePr>
        <p:xfrm>
          <a:off x="2892425" y="5716588"/>
          <a:ext cx="166688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80" imgH="203040" progId="Equation.DSMT4">
                  <p:embed/>
                </p:oleObj>
              </mc:Choice>
              <mc:Fallback>
                <p:oleObj name="Equation" r:id="rId5" imgW="152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2425" y="5716588"/>
                        <a:ext cx="166688" cy="227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193"/>
          <p:cNvGraphicFramePr>
            <a:graphicFrameLocks noChangeAspect="1"/>
          </p:cNvGraphicFramePr>
          <p:nvPr/>
        </p:nvGraphicFramePr>
        <p:xfrm>
          <a:off x="3649663" y="5694363"/>
          <a:ext cx="195262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7480" imgH="203040" progId="Equation.DSMT4">
                  <p:embed/>
                </p:oleObj>
              </mc:Choice>
              <mc:Fallback>
                <p:oleObj name="Equation" r:id="rId7" imgW="177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9663" y="5694363"/>
                        <a:ext cx="195262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194"/>
          <p:cNvGraphicFramePr>
            <a:graphicFrameLocks noChangeAspect="1"/>
          </p:cNvGraphicFramePr>
          <p:nvPr/>
        </p:nvGraphicFramePr>
        <p:xfrm>
          <a:off x="4398963" y="5708650"/>
          <a:ext cx="18097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4880" imgH="203040" progId="Equation.DSMT4">
                  <p:embed/>
                </p:oleObj>
              </mc:Choice>
              <mc:Fallback>
                <p:oleObj name="Equation" r:id="rId9" imgW="164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8963" y="5708650"/>
                        <a:ext cx="180975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195"/>
          <p:cNvGraphicFramePr>
            <a:graphicFrameLocks noChangeAspect="1"/>
          </p:cNvGraphicFramePr>
          <p:nvPr/>
        </p:nvGraphicFramePr>
        <p:xfrm>
          <a:off x="4995863" y="5716588"/>
          <a:ext cx="166687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2280" imgH="203040" progId="Equation.DSMT4">
                  <p:embed/>
                </p:oleObj>
              </mc:Choice>
              <mc:Fallback>
                <p:oleObj name="Equation" r:id="rId11" imgW="152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5863" y="5716588"/>
                        <a:ext cx="166687" cy="227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196"/>
          <p:cNvGraphicFramePr>
            <a:graphicFrameLocks noChangeAspect="1"/>
          </p:cNvGraphicFramePr>
          <p:nvPr/>
        </p:nvGraphicFramePr>
        <p:xfrm>
          <a:off x="5584825" y="5716588"/>
          <a:ext cx="195263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77480" imgH="203040" progId="Equation.DSMT4">
                  <p:embed/>
                </p:oleObj>
              </mc:Choice>
              <mc:Fallback>
                <p:oleObj name="Equation" r:id="rId13" imgW="177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4825" y="5716588"/>
                        <a:ext cx="195263" cy="227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509" name="Group 240"/>
          <p:cNvGrpSpPr>
            <a:grpSpLocks/>
          </p:cNvGrpSpPr>
          <p:nvPr/>
        </p:nvGrpSpPr>
        <p:grpSpPr bwMode="auto">
          <a:xfrm>
            <a:off x="2822575" y="4581525"/>
            <a:ext cx="161925" cy="1082675"/>
            <a:chOff x="1706" y="2622"/>
            <a:chExt cx="102" cy="682"/>
          </a:xfrm>
        </p:grpSpPr>
        <p:sp>
          <p:nvSpPr>
            <p:cNvPr id="19533" name="Line 186"/>
            <p:cNvSpPr>
              <a:spLocks noChangeShapeType="1"/>
            </p:cNvSpPr>
            <p:nvPr/>
          </p:nvSpPr>
          <p:spPr bwMode="auto">
            <a:xfrm>
              <a:off x="1803" y="3187"/>
              <a:ext cx="0" cy="11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34" name="Line 197"/>
            <p:cNvSpPr>
              <a:spLocks noChangeShapeType="1"/>
            </p:cNvSpPr>
            <p:nvPr/>
          </p:nvSpPr>
          <p:spPr bwMode="auto">
            <a:xfrm flipV="1">
              <a:off x="1708" y="2623"/>
              <a:ext cx="8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35" name="Line 198"/>
            <p:cNvSpPr>
              <a:spLocks noChangeShapeType="1"/>
            </p:cNvSpPr>
            <p:nvPr/>
          </p:nvSpPr>
          <p:spPr bwMode="auto">
            <a:xfrm>
              <a:off x="1800" y="2622"/>
              <a:ext cx="8" cy="68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36" name="Line 202"/>
            <p:cNvSpPr>
              <a:spLocks noChangeShapeType="1"/>
            </p:cNvSpPr>
            <p:nvPr/>
          </p:nvSpPr>
          <p:spPr bwMode="auto">
            <a:xfrm>
              <a:off x="1706" y="2623"/>
              <a:ext cx="0" cy="67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510" name="Line 205"/>
          <p:cNvSpPr>
            <a:spLocks noChangeShapeType="1"/>
          </p:cNvSpPr>
          <p:nvPr/>
        </p:nvSpPr>
        <p:spPr bwMode="auto">
          <a:xfrm flipH="1">
            <a:off x="4545013" y="5543550"/>
            <a:ext cx="0" cy="127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9464" name="Object 207"/>
          <p:cNvGraphicFramePr>
            <a:graphicFrameLocks noChangeAspect="1"/>
          </p:cNvGraphicFramePr>
          <p:nvPr/>
        </p:nvGraphicFramePr>
        <p:xfrm>
          <a:off x="2708275" y="4262438"/>
          <a:ext cx="376238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42720" imgH="203040" progId="Equation.DSMT4">
                  <p:embed/>
                </p:oleObj>
              </mc:Choice>
              <mc:Fallback>
                <p:oleObj name="Equation" r:id="rId15" imgW="342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8275" y="4262438"/>
                        <a:ext cx="376238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Object 208"/>
          <p:cNvGraphicFramePr>
            <a:graphicFrameLocks noChangeAspect="1"/>
          </p:cNvGraphicFramePr>
          <p:nvPr/>
        </p:nvGraphicFramePr>
        <p:xfrm>
          <a:off x="2890838" y="6308725"/>
          <a:ext cx="630237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71320" imgH="203040" progId="Equation.DSMT4">
                  <p:embed/>
                </p:oleObj>
              </mc:Choice>
              <mc:Fallback>
                <p:oleObj name="Equation" r:id="rId17" imgW="571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0838" y="6308725"/>
                        <a:ext cx="630237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6" name="Object 209"/>
          <p:cNvGraphicFramePr>
            <a:graphicFrameLocks noChangeAspect="1"/>
          </p:cNvGraphicFramePr>
          <p:nvPr/>
        </p:nvGraphicFramePr>
        <p:xfrm>
          <a:off x="4297363" y="5237163"/>
          <a:ext cx="700087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634680" imgH="203040" progId="Equation.DSMT4">
                  <p:embed/>
                </p:oleObj>
              </mc:Choice>
              <mc:Fallback>
                <p:oleObj name="Equation" r:id="rId19" imgW="634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7363" y="5237163"/>
                        <a:ext cx="700087" cy="227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7" name="Object 211"/>
          <p:cNvGraphicFramePr>
            <a:graphicFrameLocks noChangeAspect="1"/>
          </p:cNvGraphicFramePr>
          <p:nvPr/>
        </p:nvGraphicFramePr>
        <p:xfrm>
          <a:off x="3979863" y="6091238"/>
          <a:ext cx="715962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47640" imgH="203040" progId="Equation.DSMT4">
                  <p:embed/>
                </p:oleObj>
              </mc:Choice>
              <mc:Fallback>
                <p:oleObj name="Equation" r:id="rId21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9863" y="6091238"/>
                        <a:ext cx="715962" cy="227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212"/>
          <p:cNvGraphicFramePr>
            <a:graphicFrameLocks noChangeAspect="1"/>
          </p:cNvGraphicFramePr>
          <p:nvPr/>
        </p:nvGraphicFramePr>
        <p:xfrm>
          <a:off x="1220788" y="4332288"/>
          <a:ext cx="89693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583920" imgH="228600" progId="Equation.DSMT4">
                  <p:embed/>
                </p:oleObj>
              </mc:Choice>
              <mc:Fallback>
                <p:oleObj name="Equation" r:id="rId23" imgW="583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0788" y="4332288"/>
                        <a:ext cx="896937" cy="358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511" name="Group 224"/>
          <p:cNvGrpSpPr>
            <a:grpSpLocks/>
          </p:cNvGrpSpPr>
          <p:nvPr/>
        </p:nvGrpSpPr>
        <p:grpSpPr bwMode="auto">
          <a:xfrm flipV="1">
            <a:off x="3136900" y="5657850"/>
            <a:ext cx="157163" cy="568325"/>
            <a:chOff x="1904" y="2948"/>
            <a:chExt cx="99" cy="358"/>
          </a:xfrm>
        </p:grpSpPr>
        <p:sp>
          <p:nvSpPr>
            <p:cNvPr id="19530" name="Line 199"/>
            <p:cNvSpPr>
              <a:spLocks noChangeShapeType="1"/>
            </p:cNvSpPr>
            <p:nvPr/>
          </p:nvSpPr>
          <p:spPr bwMode="auto">
            <a:xfrm flipV="1">
              <a:off x="1904" y="2948"/>
              <a:ext cx="99" cy="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31" name="Line 213"/>
            <p:cNvSpPr>
              <a:spLocks noChangeShapeType="1"/>
            </p:cNvSpPr>
            <p:nvPr/>
          </p:nvSpPr>
          <p:spPr bwMode="auto">
            <a:xfrm flipV="1">
              <a:off x="1904" y="2951"/>
              <a:ext cx="0" cy="35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32" name="Line 214"/>
            <p:cNvSpPr>
              <a:spLocks noChangeShapeType="1"/>
            </p:cNvSpPr>
            <p:nvPr/>
          </p:nvSpPr>
          <p:spPr bwMode="auto">
            <a:xfrm flipV="1">
              <a:off x="2003" y="2949"/>
              <a:ext cx="0" cy="3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12" name="Group 225"/>
          <p:cNvGrpSpPr>
            <a:grpSpLocks/>
          </p:cNvGrpSpPr>
          <p:nvPr/>
        </p:nvGrpSpPr>
        <p:grpSpPr bwMode="auto">
          <a:xfrm flipV="1">
            <a:off x="4276725" y="5672138"/>
            <a:ext cx="130175" cy="298450"/>
            <a:chOff x="2622" y="3117"/>
            <a:chExt cx="82" cy="188"/>
          </a:xfrm>
        </p:grpSpPr>
        <p:sp>
          <p:nvSpPr>
            <p:cNvPr id="19526" name="Line 187"/>
            <p:cNvSpPr>
              <a:spLocks noChangeShapeType="1"/>
            </p:cNvSpPr>
            <p:nvPr/>
          </p:nvSpPr>
          <p:spPr bwMode="auto">
            <a:xfrm>
              <a:off x="2704" y="3193"/>
              <a:ext cx="0" cy="11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27" name="Line 200"/>
            <p:cNvSpPr>
              <a:spLocks noChangeShapeType="1"/>
            </p:cNvSpPr>
            <p:nvPr/>
          </p:nvSpPr>
          <p:spPr bwMode="auto">
            <a:xfrm>
              <a:off x="2622" y="3119"/>
              <a:ext cx="8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28" name="Line 201"/>
            <p:cNvSpPr>
              <a:spLocks noChangeShapeType="1"/>
            </p:cNvSpPr>
            <p:nvPr/>
          </p:nvSpPr>
          <p:spPr bwMode="auto">
            <a:xfrm flipV="1">
              <a:off x="2622" y="3120"/>
              <a:ext cx="0" cy="18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29" name="Line 215"/>
            <p:cNvSpPr>
              <a:spLocks noChangeShapeType="1"/>
            </p:cNvSpPr>
            <p:nvPr/>
          </p:nvSpPr>
          <p:spPr bwMode="auto">
            <a:xfrm>
              <a:off x="2704" y="3117"/>
              <a:ext cx="0" cy="1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13" name="Line 217"/>
          <p:cNvSpPr>
            <a:spLocks noChangeShapeType="1"/>
          </p:cNvSpPr>
          <p:nvPr/>
        </p:nvSpPr>
        <p:spPr bwMode="auto">
          <a:xfrm>
            <a:off x="4549775" y="5545138"/>
            <a:ext cx="147638" cy="15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514" name="Line 220"/>
          <p:cNvSpPr>
            <a:spLocks noChangeShapeType="1"/>
          </p:cNvSpPr>
          <p:nvPr/>
        </p:nvSpPr>
        <p:spPr bwMode="auto">
          <a:xfrm>
            <a:off x="4697413" y="5546725"/>
            <a:ext cx="0" cy="1333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9515" name="Group 226"/>
          <p:cNvGrpSpPr>
            <a:grpSpLocks/>
          </p:cNvGrpSpPr>
          <p:nvPr/>
        </p:nvGrpSpPr>
        <p:grpSpPr bwMode="auto">
          <a:xfrm>
            <a:off x="5540375" y="5607050"/>
            <a:ext cx="130175" cy="60325"/>
            <a:chOff x="2622" y="3117"/>
            <a:chExt cx="82" cy="188"/>
          </a:xfrm>
        </p:grpSpPr>
        <p:sp>
          <p:nvSpPr>
            <p:cNvPr id="19522" name="Line 227"/>
            <p:cNvSpPr>
              <a:spLocks noChangeShapeType="1"/>
            </p:cNvSpPr>
            <p:nvPr/>
          </p:nvSpPr>
          <p:spPr bwMode="auto">
            <a:xfrm>
              <a:off x="2704" y="3193"/>
              <a:ext cx="0" cy="11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23" name="Line 228"/>
            <p:cNvSpPr>
              <a:spLocks noChangeShapeType="1"/>
            </p:cNvSpPr>
            <p:nvPr/>
          </p:nvSpPr>
          <p:spPr bwMode="auto">
            <a:xfrm>
              <a:off x="2622" y="3119"/>
              <a:ext cx="8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24" name="Line 229"/>
            <p:cNvSpPr>
              <a:spLocks noChangeShapeType="1"/>
            </p:cNvSpPr>
            <p:nvPr/>
          </p:nvSpPr>
          <p:spPr bwMode="auto">
            <a:xfrm flipV="1">
              <a:off x="2622" y="3120"/>
              <a:ext cx="0" cy="18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25" name="Line 230"/>
            <p:cNvSpPr>
              <a:spLocks noChangeShapeType="1"/>
            </p:cNvSpPr>
            <p:nvPr/>
          </p:nvSpPr>
          <p:spPr bwMode="auto">
            <a:xfrm>
              <a:off x="2704" y="3117"/>
              <a:ext cx="0" cy="1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9469" name="Object 231"/>
          <p:cNvGraphicFramePr>
            <a:graphicFrameLocks noChangeAspect="1"/>
          </p:cNvGraphicFramePr>
          <p:nvPr/>
        </p:nvGraphicFramePr>
        <p:xfrm>
          <a:off x="5237163" y="5251450"/>
          <a:ext cx="784225" cy="22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711000" imgH="203040" progId="Equation.DSMT4">
                  <p:embed/>
                </p:oleObj>
              </mc:Choice>
              <mc:Fallback>
                <p:oleObj name="Equation" r:id="rId25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7163" y="5251450"/>
                        <a:ext cx="784225" cy="227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17" name="Line 237"/>
          <p:cNvSpPr>
            <a:spLocks noChangeShapeType="1"/>
          </p:cNvSpPr>
          <p:nvPr/>
        </p:nvSpPr>
        <p:spPr bwMode="auto">
          <a:xfrm>
            <a:off x="6254750" y="5497513"/>
            <a:ext cx="0" cy="17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1" name="Slide Number Placeholder 80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fld id="{1624D6AB-9590-4342-BC0E-0E5A626D3798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9540" name="Picture 84"/>
          <p:cNvPicPr>
            <a:picLocks noChangeAspect="1" noChangeArrowheads="1"/>
          </p:cNvPicPr>
          <p:nvPr/>
        </p:nvPicPr>
        <p:blipFill>
          <a:blip r:embed="rId27" cstate="print"/>
          <a:srcRect/>
          <a:stretch>
            <a:fillRect/>
          </a:stretch>
        </p:blipFill>
        <p:spPr bwMode="auto">
          <a:xfrm>
            <a:off x="316796" y="2076978"/>
            <a:ext cx="3209925" cy="1240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83" name="Object 10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3599840"/>
              </p:ext>
            </p:extLst>
          </p:nvPr>
        </p:nvGraphicFramePr>
        <p:xfrm>
          <a:off x="6240902" y="3625191"/>
          <a:ext cx="781917" cy="412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93480" imgH="203040" progId="Equation.DSMT4">
                  <p:embed/>
                </p:oleObj>
              </mc:Choice>
              <mc:Fallback>
                <p:oleObj name="Equation" r:id="rId28" imgW="393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902" y="3625191"/>
                        <a:ext cx="781917" cy="4124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Line 95"/>
          <p:cNvSpPr>
            <a:spLocks noChangeShapeType="1"/>
          </p:cNvSpPr>
          <p:nvPr/>
        </p:nvSpPr>
        <p:spPr bwMode="auto">
          <a:xfrm flipV="1">
            <a:off x="4178807" y="3108267"/>
            <a:ext cx="4260420" cy="37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5" name="Line 96"/>
          <p:cNvSpPr>
            <a:spLocks noChangeShapeType="1"/>
          </p:cNvSpPr>
          <p:nvPr/>
        </p:nvSpPr>
        <p:spPr bwMode="auto">
          <a:xfrm>
            <a:off x="5037236" y="2895526"/>
            <a:ext cx="0" cy="2090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6" name="Line 97"/>
          <p:cNvSpPr>
            <a:spLocks noChangeShapeType="1"/>
          </p:cNvSpPr>
          <p:nvPr/>
        </p:nvSpPr>
        <p:spPr bwMode="auto">
          <a:xfrm>
            <a:off x="6718637" y="2906723"/>
            <a:ext cx="0" cy="2090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7" name="Line 98"/>
          <p:cNvSpPr>
            <a:spLocks noChangeShapeType="1"/>
          </p:cNvSpPr>
          <p:nvPr/>
        </p:nvSpPr>
        <p:spPr bwMode="auto">
          <a:xfrm>
            <a:off x="5878869" y="2895526"/>
            <a:ext cx="0" cy="2090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8" name="Line 99"/>
          <p:cNvSpPr>
            <a:spLocks noChangeShapeType="1"/>
          </p:cNvSpPr>
          <p:nvPr/>
        </p:nvSpPr>
        <p:spPr bwMode="auto">
          <a:xfrm>
            <a:off x="7509884" y="2906723"/>
            <a:ext cx="0" cy="2090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9" name="Line 100"/>
          <p:cNvSpPr>
            <a:spLocks noChangeShapeType="1"/>
          </p:cNvSpPr>
          <p:nvPr/>
        </p:nvSpPr>
        <p:spPr bwMode="auto">
          <a:xfrm flipV="1">
            <a:off x="4178807" y="924872"/>
            <a:ext cx="0" cy="2179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0" name="Line 101"/>
          <p:cNvSpPr>
            <a:spLocks noChangeShapeType="1"/>
          </p:cNvSpPr>
          <p:nvPr/>
        </p:nvSpPr>
        <p:spPr bwMode="auto">
          <a:xfrm>
            <a:off x="8202226" y="2895526"/>
            <a:ext cx="0" cy="2090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1" name="Object 10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433138"/>
              </p:ext>
            </p:extLst>
          </p:nvPr>
        </p:nvGraphicFramePr>
        <p:xfrm>
          <a:off x="4938330" y="3175449"/>
          <a:ext cx="195946" cy="266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52280" imgH="203040" progId="Equation.DSMT4">
                  <p:embed/>
                </p:oleObj>
              </mc:Choice>
              <mc:Fallback>
                <p:oleObj name="Equation" r:id="rId30" imgW="152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8330" y="3175449"/>
                        <a:ext cx="195946" cy="2668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10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0342482"/>
              </p:ext>
            </p:extLst>
          </p:nvPr>
        </p:nvGraphicFramePr>
        <p:xfrm>
          <a:off x="5828483" y="3149323"/>
          <a:ext cx="229536" cy="268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77480" imgH="203040" progId="Equation.DSMT4">
                  <p:embed/>
                </p:oleObj>
              </mc:Choice>
              <mc:Fallback>
                <p:oleObj name="Equation" r:id="rId31" imgW="177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8483" y="3149323"/>
                        <a:ext cx="229536" cy="2687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ct 10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64152"/>
              </p:ext>
            </p:extLst>
          </p:nvPr>
        </p:nvGraphicFramePr>
        <p:xfrm>
          <a:off x="6619731" y="3166118"/>
          <a:ext cx="212741" cy="268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64880" imgH="203040" progId="Equation.DSMT4">
                  <p:embed/>
                </p:oleObj>
              </mc:Choice>
              <mc:Fallback>
                <p:oleObj name="Equation" r:id="rId32" imgW="164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731" y="3166118"/>
                        <a:ext cx="212741" cy="2687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1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2478440"/>
              </p:ext>
            </p:extLst>
          </p:nvPr>
        </p:nvGraphicFramePr>
        <p:xfrm>
          <a:off x="7410978" y="3175449"/>
          <a:ext cx="195946" cy="266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52280" imgH="203040" progId="Equation.DSMT4">
                  <p:embed/>
                </p:oleObj>
              </mc:Choice>
              <mc:Fallback>
                <p:oleObj name="Equation" r:id="rId33" imgW="152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0978" y="3175449"/>
                        <a:ext cx="195946" cy="2668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" name="Object 10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741344"/>
              </p:ext>
            </p:extLst>
          </p:nvPr>
        </p:nvGraphicFramePr>
        <p:xfrm>
          <a:off x="8103320" y="3175449"/>
          <a:ext cx="229536" cy="266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77480" imgH="203040" progId="Equation.DSMT4">
                  <p:embed/>
                </p:oleObj>
              </mc:Choice>
              <mc:Fallback>
                <p:oleObj name="Equation" r:id="rId34" imgW="177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3320" y="3175449"/>
                        <a:ext cx="229536" cy="2668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" name="Line 116"/>
          <p:cNvSpPr>
            <a:spLocks noChangeShapeType="1"/>
          </p:cNvSpPr>
          <p:nvPr/>
        </p:nvSpPr>
        <p:spPr bwMode="auto">
          <a:xfrm>
            <a:off x="6908984" y="2602541"/>
            <a:ext cx="0" cy="16608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7" name="Object 1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192548"/>
              </p:ext>
            </p:extLst>
          </p:nvPr>
        </p:nvGraphicFramePr>
        <p:xfrm>
          <a:off x="4691998" y="1495914"/>
          <a:ext cx="442278" cy="268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342720" imgH="203040" progId="Equation.DSMT4">
                  <p:embed/>
                </p:oleObj>
              </mc:Choice>
              <mc:Fallback>
                <p:oleObj name="Equation" r:id="rId35" imgW="342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1998" y="1495914"/>
                        <a:ext cx="442278" cy="2687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1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0945978"/>
              </p:ext>
            </p:extLst>
          </p:nvPr>
        </p:nvGraphicFramePr>
        <p:xfrm>
          <a:off x="5531765" y="2094948"/>
          <a:ext cx="625160" cy="268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482400" imgH="203040" progId="Equation.DSMT4">
                  <p:embed/>
                </p:oleObj>
              </mc:Choice>
              <mc:Fallback>
                <p:oleObj name="Equation" r:id="rId36" imgW="482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1765" y="2094948"/>
                        <a:ext cx="625160" cy="2687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1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234658"/>
              </p:ext>
            </p:extLst>
          </p:nvPr>
        </p:nvGraphicFramePr>
        <p:xfrm>
          <a:off x="7015355" y="2214381"/>
          <a:ext cx="822972" cy="266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634680" imgH="203040" progId="Equation.DSMT4">
                  <p:embed/>
                </p:oleObj>
              </mc:Choice>
              <mc:Fallback>
                <p:oleObj name="Equation" r:id="rId38" imgW="634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5355" y="2214381"/>
                        <a:ext cx="822972" cy="2668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Object 1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978920"/>
              </p:ext>
            </p:extLst>
          </p:nvPr>
        </p:nvGraphicFramePr>
        <p:xfrm>
          <a:off x="8004414" y="2178925"/>
          <a:ext cx="923744" cy="268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711000" imgH="203040" progId="Equation.DSMT4">
                  <p:embed/>
                </p:oleObj>
              </mc:Choice>
              <mc:Fallback>
                <p:oleObj name="Equation" r:id="rId40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4414" y="2178925"/>
                        <a:ext cx="923744" cy="2687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1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6150433"/>
              </p:ext>
            </p:extLst>
          </p:nvPr>
        </p:nvGraphicFramePr>
        <p:xfrm>
          <a:off x="6362202" y="2822746"/>
          <a:ext cx="725932" cy="266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558720" imgH="203040" progId="Equation.DSMT4">
                  <p:embed/>
                </p:oleObj>
              </mc:Choice>
              <mc:Fallback>
                <p:oleObj name="Equation" r:id="rId42" imgW="558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202" y="2822746"/>
                        <a:ext cx="725932" cy="26685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1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332356"/>
              </p:ext>
            </p:extLst>
          </p:nvPr>
        </p:nvGraphicFramePr>
        <p:xfrm>
          <a:off x="4775975" y="861423"/>
          <a:ext cx="3777087" cy="42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2095200" imgH="228600" progId="Equation.DSMT4">
                  <p:embed/>
                </p:oleObj>
              </mc:Choice>
              <mc:Fallback>
                <p:oleObj name="Equation" r:id="rId44" imgW="2095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5975" y="861423"/>
                        <a:ext cx="3777087" cy="4217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" name="Line 108"/>
          <p:cNvSpPr>
            <a:spLocks noChangeShapeType="1"/>
          </p:cNvSpPr>
          <p:nvPr/>
        </p:nvSpPr>
        <p:spPr bwMode="auto">
          <a:xfrm>
            <a:off x="4856219" y="1843018"/>
            <a:ext cx="395624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8" name="Line 109"/>
          <p:cNvSpPr>
            <a:spLocks noChangeShapeType="1"/>
          </p:cNvSpPr>
          <p:nvPr/>
        </p:nvSpPr>
        <p:spPr bwMode="auto">
          <a:xfrm>
            <a:off x="5251843" y="1843018"/>
            <a:ext cx="0" cy="60463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9" name="Line 110"/>
          <p:cNvSpPr>
            <a:spLocks noChangeShapeType="1"/>
          </p:cNvSpPr>
          <p:nvPr/>
        </p:nvSpPr>
        <p:spPr bwMode="auto">
          <a:xfrm>
            <a:off x="5251843" y="2449516"/>
            <a:ext cx="1254053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0" name="Line 111"/>
          <p:cNvSpPr>
            <a:spLocks noChangeShapeType="1"/>
          </p:cNvSpPr>
          <p:nvPr/>
        </p:nvSpPr>
        <p:spPr bwMode="auto">
          <a:xfrm>
            <a:off x="6505896" y="2768628"/>
            <a:ext cx="395624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" name="Line 112"/>
          <p:cNvSpPr>
            <a:spLocks noChangeShapeType="1"/>
          </p:cNvSpPr>
          <p:nvPr/>
        </p:nvSpPr>
        <p:spPr bwMode="auto">
          <a:xfrm flipV="1">
            <a:off x="6505896" y="2449516"/>
            <a:ext cx="0" cy="3191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" name="Line 113"/>
          <p:cNvSpPr>
            <a:spLocks noChangeShapeType="1"/>
          </p:cNvSpPr>
          <p:nvPr/>
        </p:nvSpPr>
        <p:spPr bwMode="auto">
          <a:xfrm>
            <a:off x="4856219" y="1843018"/>
            <a:ext cx="0" cy="126151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" name="Freeform 115"/>
          <p:cNvSpPr>
            <a:spLocks/>
          </p:cNvSpPr>
          <p:nvPr/>
        </p:nvSpPr>
        <p:spPr bwMode="auto">
          <a:xfrm>
            <a:off x="8017477" y="2522296"/>
            <a:ext cx="399356" cy="5599"/>
          </a:xfrm>
          <a:custGeom>
            <a:avLst/>
            <a:gdLst>
              <a:gd name="T0" fmla="*/ 0 w 194"/>
              <a:gd name="T1" fmla="*/ 0 h 2"/>
              <a:gd name="T2" fmla="*/ 194 w 194"/>
              <a:gd name="T3" fmla="*/ 2 h 2"/>
              <a:gd name="T4" fmla="*/ 0 60000 65536"/>
              <a:gd name="T5" fmla="*/ 0 60000 65536"/>
              <a:gd name="T6" fmla="*/ 0 w 194"/>
              <a:gd name="T7" fmla="*/ 0 h 2"/>
              <a:gd name="T8" fmla="*/ 194 w 194"/>
              <a:gd name="T9" fmla="*/ 2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94" h="2">
                <a:moveTo>
                  <a:pt x="0" y="0"/>
                </a:moveTo>
                <a:lnTo>
                  <a:pt x="194" y="2"/>
                </a:lnTo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4" name="Line 110"/>
          <p:cNvSpPr>
            <a:spLocks noChangeShapeType="1"/>
          </p:cNvSpPr>
          <p:nvPr/>
        </p:nvSpPr>
        <p:spPr bwMode="auto">
          <a:xfrm>
            <a:off x="6912428" y="2607996"/>
            <a:ext cx="1110791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5" name="Line 112"/>
          <p:cNvSpPr>
            <a:spLocks noChangeShapeType="1"/>
          </p:cNvSpPr>
          <p:nvPr/>
        </p:nvSpPr>
        <p:spPr bwMode="auto">
          <a:xfrm flipV="1">
            <a:off x="8021783" y="2531196"/>
            <a:ext cx="0" cy="7579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4" name="Object 10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0272102"/>
              </p:ext>
            </p:extLst>
          </p:nvPr>
        </p:nvGraphicFramePr>
        <p:xfrm>
          <a:off x="3656285" y="1392105"/>
          <a:ext cx="472135" cy="350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279360" imgH="203040" progId="Equation.DSMT4">
                  <p:embed/>
                </p:oleObj>
              </mc:Choice>
              <mc:Fallback>
                <p:oleObj name="Equation" r:id="rId46" imgW="279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6285" y="1392105"/>
                        <a:ext cx="472135" cy="3501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Line 108"/>
          <p:cNvSpPr>
            <a:spLocks noChangeShapeType="1"/>
          </p:cNvSpPr>
          <p:nvPr/>
        </p:nvSpPr>
        <p:spPr bwMode="auto">
          <a:xfrm>
            <a:off x="5036755" y="1841504"/>
            <a:ext cx="395624" cy="0"/>
          </a:xfrm>
          <a:prstGeom prst="line">
            <a:avLst/>
          </a:prstGeom>
          <a:noFill/>
          <a:ln w="1905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8" name="Line 109"/>
          <p:cNvSpPr>
            <a:spLocks noChangeShapeType="1"/>
          </p:cNvSpPr>
          <p:nvPr/>
        </p:nvSpPr>
        <p:spPr bwMode="auto">
          <a:xfrm>
            <a:off x="5432379" y="1841504"/>
            <a:ext cx="0" cy="604633"/>
          </a:xfrm>
          <a:prstGeom prst="line">
            <a:avLst/>
          </a:prstGeom>
          <a:noFill/>
          <a:ln w="1905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9" name="Line 110"/>
          <p:cNvSpPr>
            <a:spLocks noChangeShapeType="1"/>
          </p:cNvSpPr>
          <p:nvPr/>
        </p:nvSpPr>
        <p:spPr bwMode="auto">
          <a:xfrm>
            <a:off x="5432379" y="2448002"/>
            <a:ext cx="1254053" cy="0"/>
          </a:xfrm>
          <a:prstGeom prst="line">
            <a:avLst/>
          </a:prstGeom>
          <a:noFill/>
          <a:ln w="1905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1" name="Line 111"/>
          <p:cNvSpPr>
            <a:spLocks noChangeShapeType="1"/>
          </p:cNvSpPr>
          <p:nvPr/>
        </p:nvSpPr>
        <p:spPr bwMode="auto">
          <a:xfrm>
            <a:off x="6686432" y="2767114"/>
            <a:ext cx="395624" cy="0"/>
          </a:xfrm>
          <a:prstGeom prst="line">
            <a:avLst/>
          </a:prstGeom>
          <a:noFill/>
          <a:ln w="1905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" name="Line 112"/>
          <p:cNvSpPr>
            <a:spLocks noChangeShapeType="1"/>
          </p:cNvSpPr>
          <p:nvPr/>
        </p:nvSpPr>
        <p:spPr bwMode="auto">
          <a:xfrm flipV="1">
            <a:off x="6686432" y="2448002"/>
            <a:ext cx="0" cy="319112"/>
          </a:xfrm>
          <a:prstGeom prst="line">
            <a:avLst/>
          </a:prstGeom>
          <a:noFill/>
          <a:ln w="1905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" name="Line 113"/>
          <p:cNvSpPr>
            <a:spLocks noChangeShapeType="1"/>
          </p:cNvSpPr>
          <p:nvPr/>
        </p:nvSpPr>
        <p:spPr bwMode="auto">
          <a:xfrm>
            <a:off x="5036755" y="1841504"/>
            <a:ext cx="0" cy="1261517"/>
          </a:xfrm>
          <a:prstGeom prst="line">
            <a:avLst/>
          </a:prstGeom>
          <a:noFill/>
          <a:ln w="1905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" name="Freeform 115"/>
          <p:cNvSpPr>
            <a:spLocks/>
          </p:cNvSpPr>
          <p:nvPr/>
        </p:nvSpPr>
        <p:spPr bwMode="auto">
          <a:xfrm>
            <a:off x="8198013" y="2520782"/>
            <a:ext cx="199678" cy="5599"/>
          </a:xfrm>
          <a:custGeom>
            <a:avLst/>
            <a:gdLst>
              <a:gd name="T0" fmla="*/ 0 w 194"/>
              <a:gd name="T1" fmla="*/ 0 h 2"/>
              <a:gd name="T2" fmla="*/ 194 w 194"/>
              <a:gd name="T3" fmla="*/ 2 h 2"/>
              <a:gd name="T4" fmla="*/ 0 60000 65536"/>
              <a:gd name="T5" fmla="*/ 0 60000 65536"/>
              <a:gd name="T6" fmla="*/ 0 w 194"/>
              <a:gd name="T7" fmla="*/ 0 h 2"/>
              <a:gd name="T8" fmla="*/ 194 w 194"/>
              <a:gd name="T9" fmla="*/ 2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94" h="2">
                <a:moveTo>
                  <a:pt x="0" y="0"/>
                </a:moveTo>
                <a:lnTo>
                  <a:pt x="194" y="2"/>
                </a:lnTo>
              </a:path>
            </a:pathLst>
          </a:custGeom>
          <a:noFill/>
          <a:ln w="1905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5" name="Line 110"/>
          <p:cNvSpPr>
            <a:spLocks noChangeShapeType="1"/>
          </p:cNvSpPr>
          <p:nvPr/>
        </p:nvSpPr>
        <p:spPr bwMode="auto">
          <a:xfrm>
            <a:off x="7092964" y="2606482"/>
            <a:ext cx="1110791" cy="0"/>
          </a:xfrm>
          <a:prstGeom prst="line">
            <a:avLst/>
          </a:prstGeom>
          <a:noFill/>
          <a:ln w="1905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6" name="Line 112"/>
          <p:cNvSpPr>
            <a:spLocks noChangeShapeType="1"/>
          </p:cNvSpPr>
          <p:nvPr/>
        </p:nvSpPr>
        <p:spPr bwMode="auto">
          <a:xfrm flipV="1">
            <a:off x="8202319" y="2529682"/>
            <a:ext cx="0" cy="75795"/>
          </a:xfrm>
          <a:prstGeom prst="line">
            <a:avLst/>
          </a:prstGeom>
          <a:noFill/>
          <a:ln w="1905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6" name="Line 116"/>
          <p:cNvSpPr>
            <a:spLocks noChangeShapeType="1"/>
          </p:cNvSpPr>
          <p:nvPr/>
        </p:nvSpPr>
        <p:spPr bwMode="auto">
          <a:xfrm>
            <a:off x="7061384" y="2600566"/>
            <a:ext cx="0" cy="166087"/>
          </a:xfrm>
          <a:prstGeom prst="line">
            <a:avLst/>
          </a:prstGeom>
          <a:noFill/>
          <a:ln w="1905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2324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03" grpId="0" animBg="1"/>
      <p:bldP spid="19504" grpId="0" animBg="1"/>
      <p:bldP spid="19505" grpId="0" animBg="1"/>
      <p:bldP spid="19506" grpId="0" animBg="1"/>
      <p:bldP spid="19507" grpId="0" animBg="1"/>
      <p:bldP spid="19508" grpId="0" animBg="1"/>
      <p:bldP spid="19510" grpId="0" animBg="1"/>
      <p:bldP spid="19513" grpId="0" animBg="1"/>
      <p:bldP spid="19514" grpId="0" animBg="1"/>
      <p:bldP spid="195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9" name="Text Box 2"/>
          <p:cNvSpPr txBox="1">
            <a:spLocks noChangeArrowheads="1"/>
          </p:cNvSpPr>
          <p:nvPr/>
        </p:nvSpPr>
        <p:spPr bwMode="auto">
          <a:xfrm>
            <a:off x="1947553" y="0"/>
            <a:ext cx="4876800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>
                <a:solidFill>
                  <a:srgbClr val="FFFF00"/>
                </a:solidFill>
              </a:rPr>
              <a:t>Example: Pulse (cont.)</a:t>
            </a:r>
          </a:p>
        </p:txBody>
      </p:sp>
      <p:sp>
        <p:nvSpPr>
          <p:cNvPr id="20521" name="Text Box 155"/>
          <p:cNvSpPr txBox="1">
            <a:spLocks noChangeArrowheads="1"/>
          </p:cNvSpPr>
          <p:nvPr/>
        </p:nvSpPr>
        <p:spPr bwMode="auto">
          <a:xfrm>
            <a:off x="978969" y="6258602"/>
            <a:ext cx="130810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 dirty="0">
                <a:latin typeface="Times New Roman" pitchFamily="18" charset="0"/>
              </a:rPr>
              <a:t>t</a:t>
            </a:r>
            <a:r>
              <a:rPr lang="en-US" sz="2000" dirty="0">
                <a:latin typeface="Times New Roman" pitchFamily="18" charset="0"/>
              </a:rPr>
              <a:t> = 1.5 [ns]</a:t>
            </a:r>
          </a:p>
        </p:txBody>
      </p:sp>
      <p:grpSp>
        <p:nvGrpSpPr>
          <p:cNvPr id="20522" name="Group 162"/>
          <p:cNvGrpSpPr>
            <a:grpSpLocks/>
          </p:cNvGrpSpPr>
          <p:nvPr/>
        </p:nvGrpSpPr>
        <p:grpSpPr bwMode="auto">
          <a:xfrm>
            <a:off x="4941700" y="967694"/>
            <a:ext cx="4324350" cy="4305300"/>
            <a:chOff x="3068" y="1517"/>
            <a:chExt cx="2724" cy="2712"/>
          </a:xfrm>
        </p:grpSpPr>
        <p:sp>
          <p:nvSpPr>
            <p:cNvPr id="20578" name="Line 93"/>
            <p:cNvSpPr>
              <a:spLocks noChangeShapeType="1"/>
            </p:cNvSpPr>
            <p:nvPr/>
          </p:nvSpPr>
          <p:spPr bwMode="auto">
            <a:xfrm>
              <a:off x="5319" y="1847"/>
              <a:ext cx="0" cy="23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579" name="Group 101"/>
            <p:cNvGrpSpPr>
              <a:grpSpLocks/>
            </p:cNvGrpSpPr>
            <p:nvPr/>
          </p:nvGrpSpPr>
          <p:grpSpPr bwMode="auto">
            <a:xfrm>
              <a:off x="3183" y="2188"/>
              <a:ext cx="2136" cy="341"/>
              <a:chOff x="2349" y="2592"/>
              <a:chExt cx="1817" cy="288"/>
            </a:xfrm>
          </p:grpSpPr>
          <p:sp>
            <p:nvSpPr>
              <p:cNvPr id="20604" name="Line 102"/>
              <p:cNvSpPr>
                <a:spLocks noChangeShapeType="1"/>
              </p:cNvSpPr>
              <p:nvPr/>
            </p:nvSpPr>
            <p:spPr bwMode="auto">
              <a:xfrm flipH="1">
                <a:off x="2349" y="2784"/>
                <a:ext cx="621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05" name="Line 103"/>
              <p:cNvSpPr>
                <a:spLocks noChangeShapeType="1"/>
              </p:cNvSpPr>
              <p:nvPr/>
            </p:nvSpPr>
            <p:spPr bwMode="auto">
              <a:xfrm flipH="1">
                <a:off x="3542" y="2592"/>
                <a:ext cx="624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0580" name="Group 104"/>
            <p:cNvGrpSpPr>
              <a:grpSpLocks/>
            </p:cNvGrpSpPr>
            <p:nvPr/>
          </p:nvGrpSpPr>
          <p:grpSpPr bwMode="auto">
            <a:xfrm>
              <a:off x="3147" y="3552"/>
              <a:ext cx="2136" cy="341"/>
              <a:chOff x="2349" y="2592"/>
              <a:chExt cx="1817" cy="288"/>
            </a:xfrm>
          </p:grpSpPr>
          <p:sp>
            <p:nvSpPr>
              <p:cNvPr id="20602" name="Line 105"/>
              <p:cNvSpPr>
                <a:spLocks noChangeShapeType="1"/>
              </p:cNvSpPr>
              <p:nvPr/>
            </p:nvSpPr>
            <p:spPr bwMode="auto">
              <a:xfrm flipH="1">
                <a:off x="2349" y="2784"/>
                <a:ext cx="621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03" name="Line 106"/>
              <p:cNvSpPr>
                <a:spLocks noChangeShapeType="1"/>
              </p:cNvSpPr>
              <p:nvPr/>
            </p:nvSpPr>
            <p:spPr bwMode="auto">
              <a:xfrm flipH="1">
                <a:off x="3542" y="2592"/>
                <a:ext cx="624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0581" name="Group 107"/>
            <p:cNvGrpSpPr>
              <a:grpSpLocks/>
            </p:cNvGrpSpPr>
            <p:nvPr/>
          </p:nvGrpSpPr>
          <p:grpSpPr bwMode="auto">
            <a:xfrm>
              <a:off x="3183" y="2870"/>
              <a:ext cx="2136" cy="341"/>
              <a:chOff x="2349" y="2592"/>
              <a:chExt cx="1817" cy="288"/>
            </a:xfrm>
          </p:grpSpPr>
          <p:sp>
            <p:nvSpPr>
              <p:cNvPr id="20600" name="Line 108"/>
              <p:cNvSpPr>
                <a:spLocks noChangeShapeType="1"/>
              </p:cNvSpPr>
              <p:nvPr/>
            </p:nvSpPr>
            <p:spPr bwMode="auto">
              <a:xfrm flipH="1">
                <a:off x="2349" y="2784"/>
                <a:ext cx="621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01" name="Line 109"/>
              <p:cNvSpPr>
                <a:spLocks noChangeShapeType="1"/>
              </p:cNvSpPr>
              <p:nvPr/>
            </p:nvSpPr>
            <p:spPr bwMode="auto">
              <a:xfrm flipH="1">
                <a:off x="3542" y="2592"/>
                <a:ext cx="624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0582" name="Group 110"/>
            <p:cNvGrpSpPr>
              <a:grpSpLocks/>
            </p:cNvGrpSpPr>
            <p:nvPr/>
          </p:nvGrpSpPr>
          <p:grpSpPr bwMode="auto">
            <a:xfrm flipH="1">
              <a:off x="3200" y="3211"/>
              <a:ext cx="2136" cy="341"/>
              <a:chOff x="2349" y="2592"/>
              <a:chExt cx="1817" cy="288"/>
            </a:xfrm>
          </p:grpSpPr>
          <p:sp>
            <p:nvSpPr>
              <p:cNvPr id="20598" name="Line 111"/>
              <p:cNvSpPr>
                <a:spLocks noChangeShapeType="1"/>
              </p:cNvSpPr>
              <p:nvPr/>
            </p:nvSpPr>
            <p:spPr bwMode="auto">
              <a:xfrm flipH="1">
                <a:off x="2349" y="2784"/>
                <a:ext cx="621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99" name="Line 112"/>
              <p:cNvSpPr>
                <a:spLocks noChangeShapeType="1"/>
              </p:cNvSpPr>
              <p:nvPr/>
            </p:nvSpPr>
            <p:spPr bwMode="auto">
              <a:xfrm flipH="1">
                <a:off x="3542" y="2592"/>
                <a:ext cx="624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0583" name="Group 113"/>
            <p:cNvGrpSpPr>
              <a:grpSpLocks/>
            </p:cNvGrpSpPr>
            <p:nvPr/>
          </p:nvGrpSpPr>
          <p:grpSpPr bwMode="auto">
            <a:xfrm flipH="1">
              <a:off x="3214" y="2529"/>
              <a:ext cx="2136" cy="341"/>
              <a:chOff x="2349" y="2592"/>
              <a:chExt cx="1817" cy="288"/>
            </a:xfrm>
          </p:grpSpPr>
          <p:sp>
            <p:nvSpPr>
              <p:cNvPr id="20596" name="Line 114"/>
              <p:cNvSpPr>
                <a:spLocks noChangeShapeType="1"/>
              </p:cNvSpPr>
              <p:nvPr/>
            </p:nvSpPr>
            <p:spPr bwMode="auto">
              <a:xfrm flipH="1">
                <a:off x="2349" y="2784"/>
                <a:ext cx="621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97" name="Line 115"/>
              <p:cNvSpPr>
                <a:spLocks noChangeShapeType="1"/>
              </p:cNvSpPr>
              <p:nvPr/>
            </p:nvSpPr>
            <p:spPr bwMode="auto">
              <a:xfrm flipH="1">
                <a:off x="3542" y="2592"/>
                <a:ext cx="624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20501" name="Object 122"/>
            <p:cNvGraphicFramePr>
              <a:graphicFrameLocks noChangeAspect="1"/>
            </p:cNvGraphicFramePr>
            <p:nvPr/>
          </p:nvGraphicFramePr>
          <p:xfrm>
            <a:off x="5110" y="1517"/>
            <a:ext cx="423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571320" imgH="393480" progId="Equation.DSMT4">
                    <p:embed/>
                  </p:oleObj>
                </mc:Choice>
                <mc:Fallback>
                  <p:oleObj name="Equation" r:id="rId3" imgW="57132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0" y="1517"/>
                          <a:ext cx="423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2" name="Object 123"/>
            <p:cNvGraphicFramePr>
              <a:graphicFrameLocks noChangeAspect="1"/>
            </p:cNvGraphicFramePr>
            <p:nvPr/>
          </p:nvGraphicFramePr>
          <p:xfrm>
            <a:off x="3068" y="1523"/>
            <a:ext cx="34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469800" imgH="393480" progId="Equation.DSMT4">
                    <p:embed/>
                  </p:oleObj>
                </mc:Choice>
                <mc:Fallback>
                  <p:oleObj name="Equation" r:id="rId5" imgW="46980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8" y="1523"/>
                          <a:ext cx="348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3" name="Object 124"/>
            <p:cNvGraphicFramePr>
              <a:graphicFrameLocks noChangeAspect="1"/>
            </p:cNvGraphicFramePr>
            <p:nvPr/>
          </p:nvGraphicFramePr>
          <p:xfrm>
            <a:off x="4173" y="1937"/>
            <a:ext cx="253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42720" imgH="203040" progId="Equation.DSMT4">
                    <p:embed/>
                  </p:oleObj>
                </mc:Choice>
                <mc:Fallback>
                  <p:oleObj name="Equation" r:id="rId7" imgW="342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3" y="1937"/>
                          <a:ext cx="253" cy="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4" name="Object 125"/>
            <p:cNvGraphicFramePr>
              <a:graphicFrameLocks noChangeAspect="1"/>
            </p:cNvGraphicFramePr>
            <p:nvPr/>
          </p:nvGraphicFramePr>
          <p:xfrm>
            <a:off x="4055" y="2174"/>
            <a:ext cx="377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507960" imgH="393480" progId="Equation.DSMT4">
                    <p:embed/>
                  </p:oleObj>
                </mc:Choice>
                <mc:Fallback>
                  <p:oleObj name="Equation" r:id="rId9" imgW="50796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5" y="2174"/>
                          <a:ext cx="377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5" name="Object 126"/>
            <p:cNvGraphicFramePr>
              <a:graphicFrameLocks noChangeAspect="1"/>
            </p:cNvGraphicFramePr>
            <p:nvPr/>
          </p:nvGraphicFramePr>
          <p:xfrm>
            <a:off x="4122" y="2582"/>
            <a:ext cx="376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507960" imgH="393480" progId="Equation.DSMT4">
                    <p:embed/>
                  </p:oleObj>
                </mc:Choice>
                <mc:Fallback>
                  <p:oleObj name="Equation" r:id="rId11" imgW="50796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2" y="2582"/>
                          <a:ext cx="376" cy="2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6" name="Object 127"/>
            <p:cNvGraphicFramePr>
              <a:graphicFrameLocks noChangeAspect="1"/>
            </p:cNvGraphicFramePr>
            <p:nvPr/>
          </p:nvGraphicFramePr>
          <p:xfrm>
            <a:off x="4083" y="2879"/>
            <a:ext cx="365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495000" imgH="393480" progId="Equation.DSMT4">
                    <p:embed/>
                  </p:oleObj>
                </mc:Choice>
                <mc:Fallback>
                  <p:oleObj name="Equation" r:id="rId13" imgW="49500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3" y="2879"/>
                          <a:ext cx="365" cy="2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7" name="Object 128"/>
            <p:cNvGraphicFramePr>
              <a:graphicFrameLocks noChangeAspect="1"/>
            </p:cNvGraphicFramePr>
            <p:nvPr/>
          </p:nvGraphicFramePr>
          <p:xfrm>
            <a:off x="4059" y="3220"/>
            <a:ext cx="414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558720" imgH="393480" progId="Equation.DSMT4">
                    <p:embed/>
                  </p:oleObj>
                </mc:Choice>
                <mc:Fallback>
                  <p:oleObj name="Equation" r:id="rId15" imgW="55872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3220"/>
                          <a:ext cx="414" cy="2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8" name="Object 129"/>
            <p:cNvGraphicFramePr>
              <a:graphicFrameLocks noChangeAspect="1"/>
            </p:cNvGraphicFramePr>
            <p:nvPr/>
          </p:nvGraphicFramePr>
          <p:xfrm>
            <a:off x="4050" y="3539"/>
            <a:ext cx="423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571320" imgH="393480" progId="Equation.DSMT4">
                    <p:embed/>
                  </p:oleObj>
                </mc:Choice>
                <mc:Fallback>
                  <p:oleObj name="Equation" r:id="rId17" imgW="57132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0" y="3539"/>
                          <a:ext cx="423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9" name="Object 130"/>
            <p:cNvGraphicFramePr>
              <a:graphicFrameLocks noChangeAspect="1"/>
            </p:cNvGraphicFramePr>
            <p:nvPr/>
          </p:nvGraphicFramePr>
          <p:xfrm>
            <a:off x="4902" y="1894"/>
            <a:ext cx="93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26720" imgH="177480" progId="Equation.DSMT4">
                    <p:embed/>
                  </p:oleObj>
                </mc:Choice>
                <mc:Fallback>
                  <p:oleObj name="Equation" r:id="rId19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2" y="1894"/>
                          <a:ext cx="93" cy="1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0" name="Object 131"/>
            <p:cNvGraphicFramePr>
              <a:graphicFrameLocks noChangeAspect="1"/>
            </p:cNvGraphicFramePr>
            <p:nvPr/>
          </p:nvGraphicFramePr>
          <p:xfrm>
            <a:off x="3319" y="2116"/>
            <a:ext cx="252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342720" imgH="203040" progId="Equation.DSMT4">
                    <p:embed/>
                  </p:oleObj>
                </mc:Choice>
                <mc:Fallback>
                  <p:oleObj name="Equation" r:id="rId21" imgW="342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9" y="2116"/>
                          <a:ext cx="252" cy="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1" name="Object 132"/>
            <p:cNvGraphicFramePr>
              <a:graphicFrameLocks noChangeAspect="1"/>
            </p:cNvGraphicFramePr>
            <p:nvPr/>
          </p:nvGraphicFramePr>
          <p:xfrm>
            <a:off x="4810" y="2447"/>
            <a:ext cx="357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482400" imgH="203040" progId="Equation.DSMT4">
                    <p:embed/>
                  </p:oleObj>
                </mc:Choice>
                <mc:Fallback>
                  <p:oleObj name="Equation" r:id="rId23" imgW="4824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0" y="2447"/>
                          <a:ext cx="357" cy="1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2" name="Object 133"/>
            <p:cNvGraphicFramePr>
              <a:graphicFrameLocks noChangeAspect="1"/>
            </p:cNvGraphicFramePr>
            <p:nvPr/>
          </p:nvGraphicFramePr>
          <p:xfrm>
            <a:off x="3347" y="2792"/>
            <a:ext cx="414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558720" imgH="203040" progId="Equation.DSMT4">
                    <p:embed/>
                  </p:oleObj>
                </mc:Choice>
                <mc:Fallback>
                  <p:oleObj name="Equation" r:id="rId25" imgW="558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7" y="2792"/>
                          <a:ext cx="414" cy="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3" name="Object 134"/>
            <p:cNvGraphicFramePr>
              <a:graphicFrameLocks noChangeAspect="1"/>
            </p:cNvGraphicFramePr>
            <p:nvPr/>
          </p:nvGraphicFramePr>
          <p:xfrm>
            <a:off x="4698" y="3120"/>
            <a:ext cx="469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634680" imgH="203040" progId="Equation.DSMT4">
                    <p:embed/>
                  </p:oleObj>
                </mc:Choice>
                <mc:Fallback>
                  <p:oleObj name="Equation" r:id="rId27" imgW="6346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8" y="3120"/>
                          <a:ext cx="469" cy="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4" name="Object 135"/>
            <p:cNvGraphicFramePr>
              <a:graphicFrameLocks noChangeAspect="1"/>
            </p:cNvGraphicFramePr>
            <p:nvPr/>
          </p:nvGraphicFramePr>
          <p:xfrm>
            <a:off x="3347" y="3480"/>
            <a:ext cx="526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711000" imgH="203040" progId="Equation.DSMT4">
                    <p:embed/>
                  </p:oleObj>
                </mc:Choice>
                <mc:Fallback>
                  <p:oleObj name="Equation" r:id="rId29" imgW="7110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7" y="3480"/>
                          <a:ext cx="526" cy="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5" name="Object 136"/>
            <p:cNvGraphicFramePr>
              <a:graphicFrameLocks noChangeAspect="1"/>
            </p:cNvGraphicFramePr>
            <p:nvPr/>
          </p:nvGraphicFramePr>
          <p:xfrm>
            <a:off x="4589" y="3815"/>
            <a:ext cx="583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787320" imgH="203040" progId="Equation.DSMT4">
                    <p:embed/>
                  </p:oleObj>
                </mc:Choice>
                <mc:Fallback>
                  <p:oleObj name="Equation" r:id="rId31" imgW="7873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9" y="3815"/>
                          <a:ext cx="583" cy="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84" name="Line 137"/>
            <p:cNvSpPr>
              <a:spLocks noChangeShapeType="1"/>
            </p:cNvSpPr>
            <p:nvPr/>
          </p:nvSpPr>
          <p:spPr bwMode="auto">
            <a:xfrm>
              <a:off x="3183" y="3893"/>
              <a:ext cx="694" cy="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0516" name="Object 138"/>
            <p:cNvGraphicFramePr>
              <a:graphicFrameLocks noChangeAspect="1"/>
            </p:cNvGraphicFramePr>
            <p:nvPr/>
          </p:nvGraphicFramePr>
          <p:xfrm>
            <a:off x="4040" y="3893"/>
            <a:ext cx="424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571320" imgH="393480" progId="Equation.DSMT4">
                    <p:embed/>
                  </p:oleObj>
                </mc:Choice>
                <mc:Fallback>
                  <p:oleObj name="Equation" r:id="rId33" imgW="57132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0" y="3893"/>
                          <a:ext cx="424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7" name="Object 139"/>
            <p:cNvGraphicFramePr>
              <a:graphicFrameLocks noChangeAspect="1"/>
            </p:cNvGraphicFramePr>
            <p:nvPr/>
          </p:nvGraphicFramePr>
          <p:xfrm>
            <a:off x="3337" y="4079"/>
            <a:ext cx="639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863280" imgH="203040" progId="Equation.DSMT4">
                    <p:embed/>
                  </p:oleObj>
                </mc:Choice>
                <mc:Fallback>
                  <p:oleObj name="Equation" r:id="rId35" imgW="863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7" y="4079"/>
                          <a:ext cx="639" cy="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8" name="Object 140"/>
            <p:cNvGraphicFramePr>
              <a:graphicFrameLocks noChangeAspect="1"/>
            </p:cNvGraphicFramePr>
            <p:nvPr/>
          </p:nvGraphicFramePr>
          <p:xfrm>
            <a:off x="5397" y="1888"/>
            <a:ext cx="395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380880" imgH="203040" progId="Equation.DSMT4">
                    <p:embed/>
                  </p:oleObj>
                </mc:Choice>
                <mc:Fallback>
                  <p:oleObj name="Equation" r:id="rId37" imgW="3808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7" y="1888"/>
                          <a:ext cx="395" cy="2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85" name="Line 141"/>
            <p:cNvSpPr>
              <a:spLocks noChangeShapeType="1"/>
            </p:cNvSpPr>
            <p:nvPr/>
          </p:nvSpPr>
          <p:spPr bwMode="auto">
            <a:xfrm>
              <a:off x="3176" y="1841"/>
              <a:ext cx="2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586" name="Group 143"/>
            <p:cNvGrpSpPr>
              <a:grpSpLocks/>
            </p:cNvGrpSpPr>
            <p:nvPr/>
          </p:nvGrpSpPr>
          <p:grpSpPr bwMode="auto">
            <a:xfrm flipH="1">
              <a:off x="3183" y="1847"/>
              <a:ext cx="2136" cy="341"/>
              <a:chOff x="2349" y="2592"/>
              <a:chExt cx="1817" cy="288"/>
            </a:xfrm>
          </p:grpSpPr>
          <p:sp>
            <p:nvSpPr>
              <p:cNvPr id="20594" name="Line 144"/>
              <p:cNvSpPr>
                <a:spLocks noChangeShapeType="1"/>
              </p:cNvSpPr>
              <p:nvPr/>
            </p:nvSpPr>
            <p:spPr bwMode="auto">
              <a:xfrm flipH="1">
                <a:off x="2349" y="2784"/>
                <a:ext cx="621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95" name="Line 145"/>
              <p:cNvSpPr>
                <a:spLocks noChangeShapeType="1"/>
              </p:cNvSpPr>
              <p:nvPr/>
            </p:nvSpPr>
            <p:spPr bwMode="auto">
              <a:xfrm flipH="1">
                <a:off x="3542" y="2592"/>
                <a:ext cx="624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587" name="Line 148"/>
            <p:cNvSpPr>
              <a:spLocks noChangeShapeType="1"/>
            </p:cNvSpPr>
            <p:nvPr/>
          </p:nvSpPr>
          <p:spPr bwMode="auto">
            <a:xfrm>
              <a:off x="3640" y="1738"/>
              <a:ext cx="47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88" name="Line 149"/>
            <p:cNvSpPr>
              <a:spLocks noChangeShapeType="1"/>
            </p:cNvSpPr>
            <p:nvPr/>
          </p:nvSpPr>
          <p:spPr bwMode="auto">
            <a:xfrm>
              <a:off x="3872" y="1532"/>
              <a:ext cx="0" cy="20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89" name="Text Box 150"/>
            <p:cNvSpPr txBox="1">
              <a:spLocks noChangeArrowheads="1"/>
            </p:cNvSpPr>
            <p:nvPr/>
          </p:nvSpPr>
          <p:spPr bwMode="auto">
            <a:xfrm>
              <a:off x="4150" y="1641"/>
              <a:ext cx="24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i="1" dirty="0">
                  <a:solidFill>
                    <a:srgbClr val="0000FF"/>
                  </a:solidFill>
                  <a:latin typeface="Times New Roman" pitchFamily="18" charset="0"/>
                </a:rPr>
                <a:t>W</a:t>
              </a:r>
            </a:p>
          </p:txBody>
        </p:sp>
        <p:sp>
          <p:nvSpPr>
            <p:cNvPr id="20590" name="Line 151"/>
            <p:cNvSpPr>
              <a:spLocks noChangeShapeType="1"/>
            </p:cNvSpPr>
            <p:nvPr/>
          </p:nvSpPr>
          <p:spPr bwMode="auto">
            <a:xfrm flipV="1">
              <a:off x="3872" y="1844"/>
              <a:ext cx="0" cy="20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91" name="Line 153"/>
            <p:cNvSpPr>
              <a:spLocks noChangeShapeType="1"/>
            </p:cNvSpPr>
            <p:nvPr/>
          </p:nvSpPr>
          <p:spPr bwMode="auto">
            <a:xfrm rot="16200000" flipH="1">
              <a:off x="4292" y="1158"/>
              <a:ext cx="0" cy="222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92" name="Oval 156"/>
            <p:cNvSpPr>
              <a:spLocks noChangeArrowheads="1"/>
            </p:cNvSpPr>
            <p:nvPr/>
          </p:nvSpPr>
          <p:spPr bwMode="auto">
            <a:xfrm>
              <a:off x="4720" y="2232"/>
              <a:ext cx="72" cy="7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93" name="Text Box 158"/>
            <p:cNvSpPr txBox="1">
              <a:spLocks noChangeArrowheads="1"/>
            </p:cNvSpPr>
            <p:nvPr/>
          </p:nvSpPr>
          <p:spPr bwMode="auto">
            <a:xfrm>
              <a:off x="4478" y="2319"/>
              <a:ext cx="34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rgbClr val="0000FF"/>
                  </a:solidFill>
                  <a:latin typeface="Times New Roman" pitchFamily="18" charset="0"/>
                </a:rPr>
                <a:t>3</a:t>
              </a:r>
              <a:r>
                <a:rPr lang="en-US" sz="1200" i="1" dirty="0">
                  <a:solidFill>
                    <a:srgbClr val="0000FF"/>
                  </a:solidFill>
                  <a:latin typeface="Times New Roman" pitchFamily="18" charset="0"/>
                </a:rPr>
                <a:t>L </a:t>
              </a:r>
              <a:r>
                <a:rPr lang="en-US" sz="1200" dirty="0">
                  <a:solidFill>
                    <a:srgbClr val="0000FF"/>
                  </a:solidFill>
                  <a:latin typeface="Times New Roman" pitchFamily="18" charset="0"/>
                </a:rPr>
                <a:t>/ 4</a:t>
              </a:r>
            </a:p>
          </p:txBody>
        </p:sp>
      </p:grpSp>
      <p:grpSp>
        <p:nvGrpSpPr>
          <p:cNvPr id="20524" name="Group 4"/>
          <p:cNvGrpSpPr>
            <a:grpSpLocks/>
          </p:cNvGrpSpPr>
          <p:nvPr/>
        </p:nvGrpSpPr>
        <p:grpSpPr bwMode="auto">
          <a:xfrm>
            <a:off x="71250" y="826406"/>
            <a:ext cx="4679950" cy="4305300"/>
            <a:chOff x="0" y="1428"/>
            <a:chExt cx="2948" cy="2712"/>
          </a:xfrm>
        </p:grpSpPr>
        <p:sp>
          <p:nvSpPr>
            <p:cNvPr id="20543" name="Line 5"/>
            <p:cNvSpPr>
              <a:spLocks noChangeShapeType="1"/>
            </p:cNvSpPr>
            <p:nvPr/>
          </p:nvSpPr>
          <p:spPr bwMode="auto">
            <a:xfrm>
              <a:off x="2691" y="1758"/>
              <a:ext cx="0" cy="23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44" name="Line 6"/>
            <p:cNvSpPr>
              <a:spLocks noChangeShapeType="1"/>
            </p:cNvSpPr>
            <p:nvPr/>
          </p:nvSpPr>
          <p:spPr bwMode="auto">
            <a:xfrm>
              <a:off x="502" y="2781"/>
              <a:ext cx="1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45" name="Line 7"/>
            <p:cNvSpPr>
              <a:spLocks noChangeShapeType="1"/>
            </p:cNvSpPr>
            <p:nvPr/>
          </p:nvSpPr>
          <p:spPr bwMode="auto">
            <a:xfrm>
              <a:off x="502" y="3122"/>
              <a:ext cx="1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46" name="Line 8"/>
            <p:cNvSpPr>
              <a:spLocks noChangeShapeType="1"/>
            </p:cNvSpPr>
            <p:nvPr/>
          </p:nvSpPr>
          <p:spPr bwMode="auto">
            <a:xfrm>
              <a:off x="492" y="2440"/>
              <a:ext cx="1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47" name="Line 9"/>
            <p:cNvSpPr>
              <a:spLocks noChangeShapeType="1"/>
            </p:cNvSpPr>
            <p:nvPr/>
          </p:nvSpPr>
          <p:spPr bwMode="auto">
            <a:xfrm>
              <a:off x="493" y="3463"/>
              <a:ext cx="1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48" name="Line 10"/>
            <p:cNvSpPr>
              <a:spLocks noChangeShapeType="1"/>
            </p:cNvSpPr>
            <p:nvPr/>
          </p:nvSpPr>
          <p:spPr bwMode="auto">
            <a:xfrm>
              <a:off x="493" y="3804"/>
              <a:ext cx="1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49" name="Line 11"/>
            <p:cNvSpPr>
              <a:spLocks noChangeShapeType="1"/>
            </p:cNvSpPr>
            <p:nvPr/>
          </p:nvSpPr>
          <p:spPr bwMode="auto">
            <a:xfrm>
              <a:off x="502" y="2099"/>
              <a:ext cx="1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50" name="Line 12"/>
            <p:cNvSpPr>
              <a:spLocks noChangeShapeType="1"/>
            </p:cNvSpPr>
            <p:nvPr/>
          </p:nvSpPr>
          <p:spPr bwMode="auto">
            <a:xfrm>
              <a:off x="502" y="1758"/>
              <a:ext cx="1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551" name="Group 13"/>
            <p:cNvGrpSpPr>
              <a:grpSpLocks/>
            </p:cNvGrpSpPr>
            <p:nvPr/>
          </p:nvGrpSpPr>
          <p:grpSpPr bwMode="auto">
            <a:xfrm>
              <a:off x="555" y="2099"/>
              <a:ext cx="2136" cy="341"/>
              <a:chOff x="2349" y="2592"/>
              <a:chExt cx="1817" cy="288"/>
            </a:xfrm>
          </p:grpSpPr>
          <p:sp>
            <p:nvSpPr>
              <p:cNvPr id="20576" name="Line 14"/>
              <p:cNvSpPr>
                <a:spLocks noChangeShapeType="1"/>
              </p:cNvSpPr>
              <p:nvPr/>
            </p:nvSpPr>
            <p:spPr bwMode="auto">
              <a:xfrm flipH="1">
                <a:off x="2349" y="2784"/>
                <a:ext cx="621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77" name="Line 15"/>
              <p:cNvSpPr>
                <a:spLocks noChangeShapeType="1"/>
              </p:cNvSpPr>
              <p:nvPr/>
            </p:nvSpPr>
            <p:spPr bwMode="auto">
              <a:xfrm flipH="1">
                <a:off x="3542" y="2592"/>
                <a:ext cx="624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0552" name="Group 16"/>
            <p:cNvGrpSpPr>
              <a:grpSpLocks/>
            </p:cNvGrpSpPr>
            <p:nvPr/>
          </p:nvGrpSpPr>
          <p:grpSpPr bwMode="auto">
            <a:xfrm>
              <a:off x="519" y="3463"/>
              <a:ext cx="2136" cy="341"/>
              <a:chOff x="2349" y="2592"/>
              <a:chExt cx="1817" cy="288"/>
            </a:xfrm>
          </p:grpSpPr>
          <p:sp>
            <p:nvSpPr>
              <p:cNvPr id="20574" name="Line 17"/>
              <p:cNvSpPr>
                <a:spLocks noChangeShapeType="1"/>
              </p:cNvSpPr>
              <p:nvPr/>
            </p:nvSpPr>
            <p:spPr bwMode="auto">
              <a:xfrm flipH="1">
                <a:off x="2349" y="2784"/>
                <a:ext cx="621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75" name="Line 18"/>
              <p:cNvSpPr>
                <a:spLocks noChangeShapeType="1"/>
              </p:cNvSpPr>
              <p:nvPr/>
            </p:nvSpPr>
            <p:spPr bwMode="auto">
              <a:xfrm flipH="1">
                <a:off x="3542" y="2592"/>
                <a:ext cx="624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0553" name="Group 19"/>
            <p:cNvGrpSpPr>
              <a:grpSpLocks/>
            </p:cNvGrpSpPr>
            <p:nvPr/>
          </p:nvGrpSpPr>
          <p:grpSpPr bwMode="auto">
            <a:xfrm>
              <a:off x="555" y="2781"/>
              <a:ext cx="2136" cy="341"/>
              <a:chOff x="2349" y="2592"/>
              <a:chExt cx="1817" cy="288"/>
            </a:xfrm>
          </p:grpSpPr>
          <p:sp>
            <p:nvSpPr>
              <p:cNvPr id="20572" name="Line 20"/>
              <p:cNvSpPr>
                <a:spLocks noChangeShapeType="1"/>
              </p:cNvSpPr>
              <p:nvPr/>
            </p:nvSpPr>
            <p:spPr bwMode="auto">
              <a:xfrm flipH="1">
                <a:off x="2349" y="2784"/>
                <a:ext cx="621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73" name="Line 21"/>
              <p:cNvSpPr>
                <a:spLocks noChangeShapeType="1"/>
              </p:cNvSpPr>
              <p:nvPr/>
            </p:nvSpPr>
            <p:spPr bwMode="auto">
              <a:xfrm flipH="1">
                <a:off x="3542" y="2592"/>
                <a:ext cx="624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0554" name="Group 22"/>
            <p:cNvGrpSpPr>
              <a:grpSpLocks/>
            </p:cNvGrpSpPr>
            <p:nvPr/>
          </p:nvGrpSpPr>
          <p:grpSpPr bwMode="auto">
            <a:xfrm flipH="1">
              <a:off x="572" y="3122"/>
              <a:ext cx="2136" cy="341"/>
              <a:chOff x="2349" y="2592"/>
              <a:chExt cx="1817" cy="288"/>
            </a:xfrm>
          </p:grpSpPr>
          <p:sp>
            <p:nvSpPr>
              <p:cNvPr id="20570" name="Line 23"/>
              <p:cNvSpPr>
                <a:spLocks noChangeShapeType="1"/>
              </p:cNvSpPr>
              <p:nvPr/>
            </p:nvSpPr>
            <p:spPr bwMode="auto">
              <a:xfrm flipH="1">
                <a:off x="2349" y="2784"/>
                <a:ext cx="621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71" name="Line 24"/>
              <p:cNvSpPr>
                <a:spLocks noChangeShapeType="1"/>
              </p:cNvSpPr>
              <p:nvPr/>
            </p:nvSpPr>
            <p:spPr bwMode="auto">
              <a:xfrm flipH="1">
                <a:off x="3542" y="2592"/>
                <a:ext cx="624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0555" name="Group 25"/>
            <p:cNvGrpSpPr>
              <a:grpSpLocks/>
            </p:cNvGrpSpPr>
            <p:nvPr/>
          </p:nvGrpSpPr>
          <p:grpSpPr bwMode="auto">
            <a:xfrm flipH="1">
              <a:off x="586" y="2440"/>
              <a:ext cx="2136" cy="341"/>
              <a:chOff x="2349" y="2592"/>
              <a:chExt cx="1817" cy="288"/>
            </a:xfrm>
          </p:grpSpPr>
          <p:sp>
            <p:nvSpPr>
              <p:cNvPr id="20568" name="Line 26"/>
              <p:cNvSpPr>
                <a:spLocks noChangeShapeType="1"/>
              </p:cNvSpPr>
              <p:nvPr/>
            </p:nvSpPr>
            <p:spPr bwMode="auto">
              <a:xfrm flipH="1">
                <a:off x="2349" y="2784"/>
                <a:ext cx="621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69" name="Line 27"/>
              <p:cNvSpPr>
                <a:spLocks noChangeShapeType="1"/>
              </p:cNvSpPr>
              <p:nvPr/>
            </p:nvSpPr>
            <p:spPr bwMode="auto">
              <a:xfrm flipH="1">
                <a:off x="3542" y="2592"/>
                <a:ext cx="624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20482" name="Object 28"/>
            <p:cNvGraphicFramePr>
              <a:graphicFrameLocks noChangeAspect="1"/>
            </p:cNvGraphicFramePr>
            <p:nvPr/>
          </p:nvGraphicFramePr>
          <p:xfrm>
            <a:off x="316" y="1698"/>
            <a:ext cx="112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9" imgW="152280" imgH="203040" progId="Equation.DSMT4">
                    <p:embed/>
                  </p:oleObj>
                </mc:Choice>
                <mc:Fallback>
                  <p:oleObj name="Equation" r:id="rId39" imgW="152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" y="1698"/>
                          <a:ext cx="112" cy="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56" name="Text Box 29"/>
            <p:cNvSpPr txBox="1">
              <a:spLocks noChangeArrowheads="1"/>
            </p:cNvSpPr>
            <p:nvPr/>
          </p:nvSpPr>
          <p:spPr bwMode="auto">
            <a:xfrm>
              <a:off x="234" y="2024"/>
              <a:ext cx="27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0557" name="Text Box 30"/>
            <p:cNvSpPr txBox="1">
              <a:spLocks noChangeArrowheads="1"/>
            </p:cNvSpPr>
            <p:nvPr/>
          </p:nvSpPr>
          <p:spPr bwMode="auto">
            <a:xfrm>
              <a:off x="233" y="2365"/>
              <a:ext cx="27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0558" name="Text Box 31"/>
            <p:cNvSpPr txBox="1">
              <a:spLocks noChangeArrowheads="1"/>
            </p:cNvSpPr>
            <p:nvPr/>
          </p:nvSpPr>
          <p:spPr bwMode="auto">
            <a:xfrm>
              <a:off x="233" y="2683"/>
              <a:ext cx="277" cy="1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0559" name="Text Box 32"/>
            <p:cNvSpPr txBox="1">
              <a:spLocks noChangeArrowheads="1"/>
            </p:cNvSpPr>
            <p:nvPr/>
          </p:nvSpPr>
          <p:spPr bwMode="auto">
            <a:xfrm>
              <a:off x="225" y="3046"/>
              <a:ext cx="313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0560" name="Text Box 33"/>
            <p:cNvSpPr txBox="1">
              <a:spLocks noChangeArrowheads="1"/>
            </p:cNvSpPr>
            <p:nvPr/>
          </p:nvSpPr>
          <p:spPr bwMode="auto">
            <a:xfrm>
              <a:off x="233" y="3387"/>
              <a:ext cx="27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0561" name="Text Box 34"/>
            <p:cNvSpPr txBox="1">
              <a:spLocks noChangeArrowheads="1"/>
            </p:cNvSpPr>
            <p:nvPr/>
          </p:nvSpPr>
          <p:spPr bwMode="auto">
            <a:xfrm>
              <a:off x="233" y="3705"/>
              <a:ext cx="277" cy="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</a:p>
          </p:txBody>
        </p:sp>
        <p:graphicFrame>
          <p:nvGraphicFramePr>
            <p:cNvPr id="20483" name="Object 35"/>
            <p:cNvGraphicFramePr>
              <a:graphicFrameLocks noChangeAspect="1"/>
            </p:cNvGraphicFramePr>
            <p:nvPr/>
          </p:nvGraphicFramePr>
          <p:xfrm>
            <a:off x="2482" y="1428"/>
            <a:ext cx="423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1" imgW="571320" imgH="393480" progId="Equation.DSMT4">
                    <p:embed/>
                  </p:oleObj>
                </mc:Choice>
                <mc:Fallback>
                  <p:oleObj name="Equation" r:id="rId41" imgW="57132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2" y="1428"/>
                          <a:ext cx="423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4" name="Object 36"/>
            <p:cNvGraphicFramePr>
              <a:graphicFrameLocks noChangeAspect="1"/>
            </p:cNvGraphicFramePr>
            <p:nvPr/>
          </p:nvGraphicFramePr>
          <p:xfrm>
            <a:off x="400" y="1450"/>
            <a:ext cx="34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469800" imgH="393480" progId="Equation.DSMT4">
                    <p:embed/>
                  </p:oleObj>
                </mc:Choice>
                <mc:Fallback>
                  <p:oleObj name="Equation" r:id="rId42" imgW="46980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" y="1450"/>
                          <a:ext cx="348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5" name="Object 37"/>
            <p:cNvGraphicFramePr>
              <a:graphicFrameLocks noChangeAspect="1"/>
            </p:cNvGraphicFramePr>
            <p:nvPr/>
          </p:nvGraphicFramePr>
          <p:xfrm>
            <a:off x="1545" y="1848"/>
            <a:ext cx="253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3" imgW="342720" imgH="203040" progId="Equation.DSMT4">
                    <p:embed/>
                  </p:oleObj>
                </mc:Choice>
                <mc:Fallback>
                  <p:oleObj name="Equation" r:id="rId43" imgW="342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5" y="1848"/>
                          <a:ext cx="253" cy="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6" name="Object 38"/>
            <p:cNvGraphicFramePr>
              <a:graphicFrameLocks noChangeAspect="1"/>
            </p:cNvGraphicFramePr>
            <p:nvPr/>
          </p:nvGraphicFramePr>
          <p:xfrm>
            <a:off x="1427" y="2085"/>
            <a:ext cx="377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507960" imgH="393480" progId="Equation.DSMT4">
                    <p:embed/>
                  </p:oleObj>
                </mc:Choice>
                <mc:Fallback>
                  <p:oleObj name="Equation" r:id="rId44" imgW="50796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7" y="2085"/>
                          <a:ext cx="377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7" name="Object 39"/>
            <p:cNvGraphicFramePr>
              <a:graphicFrameLocks noChangeAspect="1"/>
            </p:cNvGraphicFramePr>
            <p:nvPr/>
          </p:nvGraphicFramePr>
          <p:xfrm>
            <a:off x="1494" y="2493"/>
            <a:ext cx="376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5" imgW="507960" imgH="393480" progId="Equation.DSMT4">
                    <p:embed/>
                  </p:oleObj>
                </mc:Choice>
                <mc:Fallback>
                  <p:oleObj name="Equation" r:id="rId45" imgW="50796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4" y="2493"/>
                          <a:ext cx="376" cy="2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8" name="Object 40"/>
            <p:cNvGraphicFramePr>
              <a:graphicFrameLocks noChangeAspect="1"/>
            </p:cNvGraphicFramePr>
            <p:nvPr/>
          </p:nvGraphicFramePr>
          <p:xfrm>
            <a:off x="1455" y="2790"/>
            <a:ext cx="365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6" imgW="495000" imgH="393480" progId="Equation.DSMT4">
                    <p:embed/>
                  </p:oleObj>
                </mc:Choice>
                <mc:Fallback>
                  <p:oleObj name="Equation" r:id="rId46" imgW="49500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5" y="2790"/>
                          <a:ext cx="365" cy="2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9" name="Object 41"/>
            <p:cNvGraphicFramePr>
              <a:graphicFrameLocks noChangeAspect="1"/>
            </p:cNvGraphicFramePr>
            <p:nvPr/>
          </p:nvGraphicFramePr>
          <p:xfrm>
            <a:off x="1431" y="3131"/>
            <a:ext cx="414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7" imgW="558720" imgH="393480" progId="Equation.DSMT4">
                    <p:embed/>
                  </p:oleObj>
                </mc:Choice>
                <mc:Fallback>
                  <p:oleObj name="Equation" r:id="rId47" imgW="55872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1" y="3131"/>
                          <a:ext cx="414" cy="2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0" name="Object 42"/>
            <p:cNvGraphicFramePr>
              <a:graphicFrameLocks noChangeAspect="1"/>
            </p:cNvGraphicFramePr>
            <p:nvPr/>
          </p:nvGraphicFramePr>
          <p:xfrm>
            <a:off x="1422" y="3450"/>
            <a:ext cx="423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8" imgW="571320" imgH="393480" progId="Equation.DSMT4">
                    <p:embed/>
                  </p:oleObj>
                </mc:Choice>
                <mc:Fallback>
                  <p:oleObj name="Equation" r:id="rId48" imgW="57132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2" y="3450"/>
                          <a:ext cx="423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1" name="Object 43"/>
            <p:cNvGraphicFramePr>
              <a:graphicFrameLocks noChangeAspect="1"/>
            </p:cNvGraphicFramePr>
            <p:nvPr/>
          </p:nvGraphicFramePr>
          <p:xfrm>
            <a:off x="2274" y="1805"/>
            <a:ext cx="93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9" imgW="126720" imgH="177480" progId="Equation.DSMT4">
                    <p:embed/>
                  </p:oleObj>
                </mc:Choice>
                <mc:Fallback>
                  <p:oleObj name="Equation" r:id="rId49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4" y="1805"/>
                          <a:ext cx="93" cy="1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2" name="Object 44"/>
            <p:cNvGraphicFramePr>
              <a:graphicFrameLocks noChangeAspect="1"/>
            </p:cNvGraphicFramePr>
            <p:nvPr/>
          </p:nvGraphicFramePr>
          <p:xfrm>
            <a:off x="691" y="2027"/>
            <a:ext cx="252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0" imgW="342720" imgH="203040" progId="Equation.DSMT4">
                    <p:embed/>
                  </p:oleObj>
                </mc:Choice>
                <mc:Fallback>
                  <p:oleObj name="Equation" r:id="rId50" imgW="342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1" y="2027"/>
                          <a:ext cx="252" cy="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3" name="Object 45"/>
            <p:cNvGraphicFramePr>
              <a:graphicFrameLocks noChangeAspect="1"/>
            </p:cNvGraphicFramePr>
            <p:nvPr/>
          </p:nvGraphicFramePr>
          <p:xfrm>
            <a:off x="2182" y="2358"/>
            <a:ext cx="357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1" imgW="482400" imgH="203040" progId="Equation.DSMT4">
                    <p:embed/>
                  </p:oleObj>
                </mc:Choice>
                <mc:Fallback>
                  <p:oleObj name="Equation" r:id="rId51" imgW="4824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2" y="2358"/>
                          <a:ext cx="357" cy="1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4" name="Object 46"/>
            <p:cNvGraphicFramePr>
              <a:graphicFrameLocks noChangeAspect="1"/>
            </p:cNvGraphicFramePr>
            <p:nvPr/>
          </p:nvGraphicFramePr>
          <p:xfrm>
            <a:off x="719" y="2703"/>
            <a:ext cx="414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2" imgW="558720" imgH="203040" progId="Equation.DSMT4">
                    <p:embed/>
                  </p:oleObj>
                </mc:Choice>
                <mc:Fallback>
                  <p:oleObj name="Equation" r:id="rId52" imgW="558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9" y="2703"/>
                          <a:ext cx="414" cy="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5" name="Object 47"/>
            <p:cNvGraphicFramePr>
              <a:graphicFrameLocks noChangeAspect="1"/>
            </p:cNvGraphicFramePr>
            <p:nvPr/>
          </p:nvGraphicFramePr>
          <p:xfrm>
            <a:off x="2070" y="3031"/>
            <a:ext cx="469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3" imgW="634680" imgH="203040" progId="Equation.DSMT4">
                    <p:embed/>
                  </p:oleObj>
                </mc:Choice>
                <mc:Fallback>
                  <p:oleObj name="Equation" r:id="rId53" imgW="6346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0" y="3031"/>
                          <a:ext cx="469" cy="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6" name="Object 48"/>
            <p:cNvGraphicFramePr>
              <a:graphicFrameLocks noChangeAspect="1"/>
            </p:cNvGraphicFramePr>
            <p:nvPr/>
          </p:nvGraphicFramePr>
          <p:xfrm>
            <a:off x="719" y="3391"/>
            <a:ext cx="526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4" imgW="711000" imgH="203040" progId="Equation.DSMT4">
                    <p:embed/>
                  </p:oleObj>
                </mc:Choice>
                <mc:Fallback>
                  <p:oleObj name="Equation" r:id="rId54" imgW="7110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9" y="3391"/>
                          <a:ext cx="526" cy="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7" name="Object 49"/>
            <p:cNvGraphicFramePr>
              <a:graphicFrameLocks noChangeAspect="1"/>
            </p:cNvGraphicFramePr>
            <p:nvPr/>
          </p:nvGraphicFramePr>
          <p:xfrm>
            <a:off x="1961" y="3726"/>
            <a:ext cx="583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5" imgW="787320" imgH="203040" progId="Equation.DSMT4">
                    <p:embed/>
                  </p:oleObj>
                </mc:Choice>
                <mc:Fallback>
                  <p:oleObj name="Equation" r:id="rId55" imgW="7873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1" y="3726"/>
                          <a:ext cx="583" cy="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62" name="Line 50"/>
            <p:cNvSpPr>
              <a:spLocks noChangeShapeType="1"/>
            </p:cNvSpPr>
            <p:nvPr/>
          </p:nvSpPr>
          <p:spPr bwMode="auto">
            <a:xfrm>
              <a:off x="555" y="3804"/>
              <a:ext cx="694" cy="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0498" name="Object 51"/>
            <p:cNvGraphicFramePr>
              <a:graphicFrameLocks noChangeAspect="1"/>
            </p:cNvGraphicFramePr>
            <p:nvPr/>
          </p:nvGraphicFramePr>
          <p:xfrm>
            <a:off x="1412" y="3804"/>
            <a:ext cx="424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571320" imgH="393480" progId="Equation.DSMT4">
                    <p:embed/>
                  </p:oleObj>
                </mc:Choice>
                <mc:Fallback>
                  <p:oleObj name="Equation" r:id="rId33" imgW="57132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2" y="3804"/>
                          <a:ext cx="424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9" name="Object 52"/>
            <p:cNvGraphicFramePr>
              <a:graphicFrameLocks noChangeAspect="1"/>
            </p:cNvGraphicFramePr>
            <p:nvPr/>
          </p:nvGraphicFramePr>
          <p:xfrm>
            <a:off x="709" y="3990"/>
            <a:ext cx="639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863280" imgH="203040" progId="Equation.DSMT4">
                    <p:embed/>
                  </p:oleObj>
                </mc:Choice>
                <mc:Fallback>
                  <p:oleObj name="Equation" r:id="rId35" imgW="863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9" y="3990"/>
                          <a:ext cx="639" cy="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0" name="Object 53"/>
            <p:cNvGraphicFramePr>
              <a:graphicFrameLocks noChangeAspect="1"/>
            </p:cNvGraphicFramePr>
            <p:nvPr/>
          </p:nvGraphicFramePr>
          <p:xfrm>
            <a:off x="0" y="2501"/>
            <a:ext cx="405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6" imgW="342720" imgH="431640" progId="Equation.DSMT4">
                    <p:embed/>
                  </p:oleObj>
                </mc:Choice>
                <mc:Fallback>
                  <p:oleObj name="Equation" r:id="rId56" imgW="34272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501"/>
                          <a:ext cx="405" cy="51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63" name="Line 54"/>
            <p:cNvSpPr>
              <a:spLocks noChangeShapeType="1"/>
            </p:cNvSpPr>
            <p:nvPr/>
          </p:nvSpPr>
          <p:spPr bwMode="auto">
            <a:xfrm>
              <a:off x="548" y="1752"/>
              <a:ext cx="2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64" name="Line 55"/>
            <p:cNvSpPr>
              <a:spLocks noChangeShapeType="1"/>
            </p:cNvSpPr>
            <p:nvPr/>
          </p:nvSpPr>
          <p:spPr bwMode="auto">
            <a:xfrm>
              <a:off x="555" y="1758"/>
              <a:ext cx="0" cy="233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565" name="Group 56"/>
            <p:cNvGrpSpPr>
              <a:grpSpLocks/>
            </p:cNvGrpSpPr>
            <p:nvPr/>
          </p:nvGrpSpPr>
          <p:grpSpPr bwMode="auto">
            <a:xfrm flipH="1">
              <a:off x="555" y="1758"/>
              <a:ext cx="2136" cy="341"/>
              <a:chOff x="2349" y="2592"/>
              <a:chExt cx="1817" cy="288"/>
            </a:xfrm>
          </p:grpSpPr>
          <p:sp>
            <p:nvSpPr>
              <p:cNvPr id="20566" name="Line 57"/>
              <p:cNvSpPr>
                <a:spLocks noChangeShapeType="1"/>
              </p:cNvSpPr>
              <p:nvPr/>
            </p:nvSpPr>
            <p:spPr bwMode="auto">
              <a:xfrm flipH="1">
                <a:off x="2349" y="2784"/>
                <a:ext cx="621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67" name="Line 58"/>
              <p:cNvSpPr>
                <a:spLocks noChangeShapeType="1"/>
              </p:cNvSpPr>
              <p:nvPr/>
            </p:nvSpPr>
            <p:spPr bwMode="auto">
              <a:xfrm flipH="1">
                <a:off x="3542" y="2592"/>
                <a:ext cx="624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0525" name="Line 92"/>
          <p:cNvSpPr>
            <a:spLocks noChangeShapeType="1"/>
          </p:cNvSpPr>
          <p:nvPr/>
        </p:nvSpPr>
        <p:spPr bwMode="auto">
          <a:xfrm rot="16200000" flipH="1">
            <a:off x="2693800" y="397781"/>
            <a:ext cx="0" cy="3532188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26" name="Line 94"/>
          <p:cNvSpPr>
            <a:spLocks noChangeShapeType="1"/>
          </p:cNvSpPr>
          <p:nvPr/>
        </p:nvSpPr>
        <p:spPr bwMode="auto">
          <a:xfrm>
            <a:off x="5040125" y="3115581"/>
            <a:ext cx="2174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27" name="Line 95"/>
          <p:cNvSpPr>
            <a:spLocks noChangeShapeType="1"/>
          </p:cNvSpPr>
          <p:nvPr/>
        </p:nvSpPr>
        <p:spPr bwMode="auto">
          <a:xfrm>
            <a:off x="5040125" y="3656919"/>
            <a:ext cx="2174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28" name="Line 96"/>
          <p:cNvSpPr>
            <a:spLocks noChangeShapeType="1"/>
          </p:cNvSpPr>
          <p:nvPr/>
        </p:nvSpPr>
        <p:spPr bwMode="auto">
          <a:xfrm>
            <a:off x="5024250" y="2574244"/>
            <a:ext cx="215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29" name="Line 97"/>
          <p:cNvSpPr>
            <a:spLocks noChangeShapeType="1"/>
          </p:cNvSpPr>
          <p:nvPr/>
        </p:nvSpPr>
        <p:spPr bwMode="auto">
          <a:xfrm>
            <a:off x="5025838" y="4198256"/>
            <a:ext cx="215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30" name="Line 98"/>
          <p:cNvSpPr>
            <a:spLocks noChangeShapeType="1"/>
          </p:cNvSpPr>
          <p:nvPr/>
        </p:nvSpPr>
        <p:spPr bwMode="auto">
          <a:xfrm>
            <a:off x="5025838" y="4739594"/>
            <a:ext cx="215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31" name="Line 99"/>
          <p:cNvSpPr>
            <a:spLocks noChangeShapeType="1"/>
          </p:cNvSpPr>
          <p:nvPr/>
        </p:nvSpPr>
        <p:spPr bwMode="auto">
          <a:xfrm>
            <a:off x="5040125" y="2032906"/>
            <a:ext cx="2174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32" name="Line 100"/>
          <p:cNvSpPr>
            <a:spLocks noChangeShapeType="1"/>
          </p:cNvSpPr>
          <p:nvPr/>
        </p:nvSpPr>
        <p:spPr bwMode="auto">
          <a:xfrm>
            <a:off x="5040125" y="1491569"/>
            <a:ext cx="2174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33" name="Text Box 116"/>
          <p:cNvSpPr txBox="1">
            <a:spLocks noChangeArrowheads="1"/>
          </p:cNvSpPr>
          <p:nvPr/>
        </p:nvSpPr>
        <p:spPr bwMode="auto">
          <a:xfrm>
            <a:off x="4500375" y="1913844"/>
            <a:ext cx="55403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200">
                <a:solidFill>
                  <a:srgbClr val="000000"/>
                </a:solidFill>
                <a:latin typeface="Times New Roman" pitchFamily="18" charset="0"/>
              </a:rPr>
              <a:t>1.25</a:t>
            </a:r>
          </a:p>
        </p:txBody>
      </p:sp>
      <p:sp>
        <p:nvSpPr>
          <p:cNvPr id="20534" name="Text Box 117"/>
          <p:cNvSpPr txBox="1">
            <a:spLocks noChangeArrowheads="1"/>
          </p:cNvSpPr>
          <p:nvPr/>
        </p:nvSpPr>
        <p:spPr bwMode="auto">
          <a:xfrm>
            <a:off x="4524188" y="2455181"/>
            <a:ext cx="5302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200">
                <a:solidFill>
                  <a:srgbClr val="000000"/>
                </a:solidFill>
                <a:latin typeface="Times New Roman" pitchFamily="18" charset="0"/>
              </a:rPr>
              <a:t>2.25</a:t>
            </a:r>
          </a:p>
        </p:txBody>
      </p:sp>
      <p:sp>
        <p:nvSpPr>
          <p:cNvPr id="20535" name="Text Box 118"/>
          <p:cNvSpPr txBox="1">
            <a:spLocks noChangeArrowheads="1"/>
          </p:cNvSpPr>
          <p:nvPr/>
        </p:nvSpPr>
        <p:spPr bwMode="auto">
          <a:xfrm>
            <a:off x="4498788" y="2960006"/>
            <a:ext cx="55403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200">
                <a:solidFill>
                  <a:srgbClr val="000000"/>
                </a:solidFill>
                <a:latin typeface="Times New Roman" pitchFamily="18" charset="0"/>
              </a:rPr>
              <a:t>3.25</a:t>
            </a:r>
          </a:p>
        </p:txBody>
      </p:sp>
      <p:sp>
        <p:nvSpPr>
          <p:cNvPr id="20536" name="Text Box 119"/>
          <p:cNvSpPr txBox="1">
            <a:spLocks noChangeArrowheads="1"/>
          </p:cNvSpPr>
          <p:nvPr/>
        </p:nvSpPr>
        <p:spPr bwMode="auto">
          <a:xfrm>
            <a:off x="4511488" y="3536269"/>
            <a:ext cx="5095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200">
                <a:solidFill>
                  <a:srgbClr val="000000"/>
                </a:solidFill>
                <a:latin typeface="Times New Roman" pitchFamily="18" charset="0"/>
              </a:rPr>
              <a:t>4.25</a:t>
            </a:r>
          </a:p>
        </p:txBody>
      </p:sp>
      <p:sp>
        <p:nvSpPr>
          <p:cNvPr id="20537" name="Text Box 120"/>
          <p:cNvSpPr txBox="1">
            <a:spLocks noChangeArrowheads="1"/>
          </p:cNvSpPr>
          <p:nvPr/>
        </p:nvSpPr>
        <p:spPr bwMode="auto">
          <a:xfrm>
            <a:off x="4536888" y="4077606"/>
            <a:ext cx="49053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200">
                <a:solidFill>
                  <a:srgbClr val="000000"/>
                </a:solidFill>
                <a:latin typeface="Times New Roman" pitchFamily="18" charset="0"/>
              </a:rPr>
              <a:t>5.25</a:t>
            </a:r>
          </a:p>
        </p:txBody>
      </p:sp>
      <p:sp>
        <p:nvSpPr>
          <p:cNvPr id="20538" name="Text Box 121"/>
          <p:cNvSpPr txBox="1">
            <a:spLocks noChangeArrowheads="1"/>
          </p:cNvSpPr>
          <p:nvPr/>
        </p:nvSpPr>
        <p:spPr bwMode="auto">
          <a:xfrm>
            <a:off x="4536888" y="4584019"/>
            <a:ext cx="49053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200">
                <a:solidFill>
                  <a:srgbClr val="000000"/>
                </a:solidFill>
                <a:latin typeface="Times New Roman" pitchFamily="18" charset="0"/>
              </a:rPr>
              <a:t>6.25</a:t>
            </a:r>
          </a:p>
        </p:txBody>
      </p:sp>
      <p:sp>
        <p:nvSpPr>
          <p:cNvPr id="20539" name="Line 142"/>
          <p:cNvSpPr>
            <a:spLocks noChangeShapeType="1"/>
          </p:cNvSpPr>
          <p:nvPr/>
        </p:nvSpPr>
        <p:spPr bwMode="auto">
          <a:xfrm>
            <a:off x="5124263" y="1491569"/>
            <a:ext cx="0" cy="36988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40" name="Text Box 152"/>
          <p:cNvSpPr txBox="1">
            <a:spLocks noChangeArrowheads="1"/>
          </p:cNvSpPr>
          <p:nvPr/>
        </p:nvSpPr>
        <p:spPr bwMode="auto">
          <a:xfrm>
            <a:off x="4500375" y="1355044"/>
            <a:ext cx="55403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200">
                <a:solidFill>
                  <a:srgbClr val="000000"/>
                </a:solidFill>
                <a:latin typeface="Times New Roman" pitchFamily="18" charset="0"/>
              </a:rPr>
              <a:t>0.25</a:t>
            </a:r>
          </a:p>
        </p:txBody>
      </p:sp>
      <p:sp>
        <p:nvSpPr>
          <p:cNvPr id="20541" name="Oval 157"/>
          <p:cNvSpPr>
            <a:spLocks noChangeArrowheads="1"/>
          </p:cNvSpPr>
          <p:nvPr/>
        </p:nvSpPr>
        <p:spPr bwMode="auto">
          <a:xfrm>
            <a:off x="2649350" y="2102756"/>
            <a:ext cx="1143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42" name="Text Box 159"/>
          <p:cNvSpPr txBox="1">
            <a:spLocks noChangeArrowheads="1"/>
          </p:cNvSpPr>
          <p:nvPr/>
        </p:nvSpPr>
        <p:spPr bwMode="auto">
          <a:xfrm>
            <a:off x="2481075" y="2240869"/>
            <a:ext cx="463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i="1">
                <a:solidFill>
                  <a:srgbClr val="0000FF"/>
                </a:solidFill>
                <a:latin typeface="Times New Roman" pitchFamily="18" charset="0"/>
              </a:rPr>
              <a:t>L </a:t>
            </a:r>
            <a:r>
              <a:rPr lang="en-US" sz="1200">
                <a:solidFill>
                  <a:srgbClr val="0000FF"/>
                </a:solidFill>
                <a:latin typeface="Times New Roman" pitchFamily="18" charset="0"/>
              </a:rPr>
              <a:t>/ 2</a:t>
            </a:r>
          </a:p>
        </p:txBody>
      </p:sp>
      <p:sp>
        <p:nvSpPr>
          <p:cNvPr id="126" name="Slide Number Placeholder 125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fld id="{1624D6AB-9590-4342-BC0E-0E5A626D379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27" name="Text Box 155"/>
          <p:cNvSpPr txBox="1">
            <a:spLocks noChangeArrowheads="1"/>
          </p:cNvSpPr>
          <p:nvPr/>
        </p:nvSpPr>
        <p:spPr bwMode="auto">
          <a:xfrm>
            <a:off x="2401208" y="702879"/>
            <a:ext cx="1352551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/>
              <a:t>subtract</a:t>
            </a:r>
          </a:p>
        </p:txBody>
      </p:sp>
      <p:sp>
        <p:nvSpPr>
          <p:cNvPr id="128" name="Freeform 127"/>
          <p:cNvSpPr/>
          <p:nvPr/>
        </p:nvSpPr>
        <p:spPr>
          <a:xfrm>
            <a:off x="4062225" y="687587"/>
            <a:ext cx="1409700" cy="153987"/>
          </a:xfrm>
          <a:custGeom>
            <a:avLst/>
            <a:gdLst>
              <a:gd name="connsiteX0" fmla="*/ 0 w 1409700"/>
              <a:gd name="connsiteY0" fmla="*/ 153987 h 153987"/>
              <a:gd name="connsiteX1" fmla="*/ 428625 w 1409700"/>
              <a:gd name="connsiteY1" fmla="*/ 20637 h 153987"/>
              <a:gd name="connsiteX2" fmla="*/ 1000125 w 1409700"/>
              <a:gd name="connsiteY2" fmla="*/ 30162 h 153987"/>
              <a:gd name="connsiteX3" fmla="*/ 1409700 w 1409700"/>
              <a:gd name="connsiteY3" fmla="*/ 144462 h 153987"/>
              <a:gd name="connsiteX4" fmla="*/ 1409700 w 1409700"/>
              <a:gd name="connsiteY4" fmla="*/ 144462 h 153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9700" h="153987">
                <a:moveTo>
                  <a:pt x="0" y="153987"/>
                </a:moveTo>
                <a:cubicBezTo>
                  <a:pt x="130969" y="97630"/>
                  <a:pt x="261938" y="41274"/>
                  <a:pt x="428625" y="20637"/>
                </a:cubicBezTo>
                <a:cubicBezTo>
                  <a:pt x="595312" y="0"/>
                  <a:pt x="836613" y="9525"/>
                  <a:pt x="1000125" y="30162"/>
                </a:cubicBezTo>
                <a:cubicBezTo>
                  <a:pt x="1163638" y="50800"/>
                  <a:pt x="1409700" y="144462"/>
                  <a:pt x="1409700" y="144462"/>
                </a:cubicBezTo>
                <a:lnTo>
                  <a:pt x="1409700" y="144462"/>
                </a:lnTo>
              </a:path>
            </a:pathLst>
          </a:custGeom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 Box 158"/>
          <p:cNvSpPr txBox="1">
            <a:spLocks noChangeArrowheads="1"/>
          </p:cNvSpPr>
          <p:nvPr/>
        </p:nvSpPr>
        <p:spPr bwMode="auto">
          <a:xfrm>
            <a:off x="6326000" y="681944"/>
            <a:ext cx="130516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i="1" dirty="0">
                <a:solidFill>
                  <a:srgbClr val="0000FF"/>
                </a:solidFill>
                <a:latin typeface="Times New Roman" pitchFamily="18" charset="0"/>
              </a:rPr>
              <a:t>W</a:t>
            </a:r>
            <a:r>
              <a:rPr lang="en-US" sz="1600" dirty="0">
                <a:solidFill>
                  <a:srgbClr val="0000FF"/>
                </a:solidFill>
                <a:latin typeface="Times New Roman" pitchFamily="18" charset="0"/>
              </a:rPr>
              <a:t> = 0.25 [ns]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09440" y="5859830"/>
            <a:ext cx="1268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Snapshot</a:t>
            </a:r>
          </a:p>
        </p:txBody>
      </p:sp>
      <p:cxnSp>
        <p:nvCxnSpPr>
          <p:cNvPr id="131" name="Straight Arrow Connector 130"/>
          <p:cNvCxnSpPr/>
          <p:nvPr/>
        </p:nvCxnSpPr>
        <p:spPr>
          <a:xfrm>
            <a:off x="368133" y="1376538"/>
            <a:ext cx="0" cy="118753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/>
          <p:nvPr/>
        </p:nvCxnSpPr>
        <p:spPr>
          <a:xfrm>
            <a:off x="142500" y="1364663"/>
            <a:ext cx="4393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oup 88"/>
          <p:cNvGrpSpPr>
            <a:grpSpLocks/>
          </p:cNvGrpSpPr>
          <p:nvPr/>
        </p:nvGrpSpPr>
        <p:grpSpPr bwMode="auto">
          <a:xfrm>
            <a:off x="1461168" y="5235668"/>
            <a:ext cx="4626288" cy="1545875"/>
            <a:chOff x="831850" y="4206875"/>
            <a:chExt cx="7126288" cy="2381250"/>
          </a:xfrm>
        </p:grpSpPr>
        <p:sp>
          <p:nvSpPr>
            <p:cNvPr id="134" name="Text Box 5"/>
            <p:cNvSpPr txBox="1">
              <a:spLocks noChangeArrowheads="1"/>
            </p:cNvSpPr>
            <p:nvPr/>
          </p:nvSpPr>
          <p:spPr bwMode="auto">
            <a:xfrm>
              <a:off x="3527714" y="4389393"/>
              <a:ext cx="3751287" cy="568915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dirty="0"/>
                <a:t>Snapshot of voltage</a:t>
              </a:r>
            </a:p>
          </p:txBody>
        </p:sp>
        <p:graphicFrame>
          <p:nvGraphicFramePr>
            <p:cNvPr id="135" name="Object 6"/>
            <p:cNvGraphicFramePr>
              <a:graphicFrameLocks noChangeAspect="1"/>
            </p:cNvGraphicFramePr>
            <p:nvPr/>
          </p:nvGraphicFramePr>
          <p:xfrm>
            <a:off x="7269163" y="5724525"/>
            <a:ext cx="688975" cy="350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8" imgW="406080" imgH="203040" progId="Equation.DSMT4">
                    <p:embed/>
                  </p:oleObj>
                </mc:Choice>
                <mc:Fallback>
                  <p:oleObj name="Equation" r:id="rId58" imgW="406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69163" y="5724525"/>
                          <a:ext cx="688975" cy="3508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6" name="Line 7"/>
            <p:cNvSpPr>
              <a:spLocks noChangeShapeType="1"/>
            </p:cNvSpPr>
            <p:nvPr/>
          </p:nvSpPr>
          <p:spPr bwMode="auto">
            <a:xfrm flipV="1">
              <a:off x="2462213" y="5668963"/>
              <a:ext cx="46116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" name="Line 11"/>
            <p:cNvSpPr>
              <a:spLocks noChangeShapeType="1"/>
            </p:cNvSpPr>
            <p:nvPr/>
          </p:nvSpPr>
          <p:spPr bwMode="auto">
            <a:xfrm flipV="1">
              <a:off x="2462213" y="4206875"/>
              <a:ext cx="0" cy="1462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38" name="Object 23"/>
            <p:cNvGraphicFramePr>
              <a:graphicFrameLocks noChangeAspect="1"/>
            </p:cNvGraphicFramePr>
            <p:nvPr/>
          </p:nvGraphicFramePr>
          <p:xfrm>
            <a:off x="4630738" y="6359525"/>
            <a:ext cx="63023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0" imgW="571320" imgH="203040" progId="Equation.DSMT4">
                    <p:embed/>
                  </p:oleObj>
                </mc:Choice>
                <mc:Fallback>
                  <p:oleObj name="Equation" r:id="rId60" imgW="5713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30738" y="6359525"/>
                          <a:ext cx="630237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9" name="Object 26"/>
            <p:cNvGraphicFramePr>
              <a:graphicFrameLocks noChangeAspect="1"/>
            </p:cNvGraphicFramePr>
            <p:nvPr/>
          </p:nvGraphicFramePr>
          <p:xfrm>
            <a:off x="831850" y="4592638"/>
            <a:ext cx="1343025" cy="319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2" imgW="876240" imgH="203040" progId="Equation.DSMT4">
                    <p:embed/>
                  </p:oleObj>
                </mc:Choice>
                <mc:Fallback>
                  <p:oleObj name="Equation" r:id="rId62" imgW="876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1850" y="4592638"/>
                          <a:ext cx="1343025" cy="3190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0" name="Group 27"/>
            <p:cNvGrpSpPr>
              <a:grpSpLocks/>
            </p:cNvGrpSpPr>
            <p:nvPr/>
          </p:nvGrpSpPr>
          <p:grpSpPr bwMode="auto">
            <a:xfrm flipH="1" flipV="1">
              <a:off x="4495800" y="5670550"/>
              <a:ext cx="969963" cy="568325"/>
              <a:chOff x="1904" y="2948"/>
              <a:chExt cx="99" cy="358"/>
            </a:xfrm>
          </p:grpSpPr>
          <p:sp>
            <p:nvSpPr>
              <p:cNvPr id="150" name="Line 28"/>
              <p:cNvSpPr>
                <a:spLocks noChangeShapeType="1"/>
              </p:cNvSpPr>
              <p:nvPr/>
            </p:nvSpPr>
            <p:spPr bwMode="auto">
              <a:xfrm flipV="1">
                <a:off x="1904" y="2948"/>
                <a:ext cx="99" cy="1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1" name="Line 29"/>
              <p:cNvSpPr>
                <a:spLocks noChangeShapeType="1"/>
              </p:cNvSpPr>
              <p:nvPr/>
            </p:nvSpPr>
            <p:spPr bwMode="auto">
              <a:xfrm flipV="1">
                <a:off x="1904" y="2951"/>
                <a:ext cx="0" cy="35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" name="Line 30"/>
              <p:cNvSpPr>
                <a:spLocks noChangeShapeType="1"/>
              </p:cNvSpPr>
              <p:nvPr/>
            </p:nvSpPr>
            <p:spPr bwMode="auto">
              <a:xfrm flipV="1">
                <a:off x="2003" y="2949"/>
                <a:ext cx="0" cy="357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1" name="Line 82"/>
            <p:cNvSpPr>
              <a:spLocks noChangeShapeType="1"/>
            </p:cNvSpPr>
            <p:nvPr/>
          </p:nvSpPr>
          <p:spPr bwMode="auto">
            <a:xfrm>
              <a:off x="6470650" y="5486463"/>
              <a:ext cx="0" cy="17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42" name="Object 83"/>
            <p:cNvGraphicFramePr>
              <a:graphicFrameLocks noChangeAspect="1"/>
            </p:cNvGraphicFramePr>
            <p:nvPr/>
          </p:nvGraphicFramePr>
          <p:xfrm>
            <a:off x="6365875" y="5106988"/>
            <a:ext cx="249238" cy="298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4" imgW="139680" imgH="164880" progId="Equation.DSMT4">
                    <p:embed/>
                  </p:oleObj>
                </mc:Choice>
                <mc:Fallback>
                  <p:oleObj name="Equation" r:id="rId64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65875" y="5106988"/>
                          <a:ext cx="249238" cy="2984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" name="Line 84"/>
            <p:cNvSpPr>
              <a:spLocks noChangeShapeType="1"/>
            </p:cNvSpPr>
            <p:nvPr/>
          </p:nvSpPr>
          <p:spPr bwMode="auto">
            <a:xfrm>
              <a:off x="4502150" y="5484813"/>
              <a:ext cx="0" cy="17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44" name="Object 85"/>
            <p:cNvGraphicFramePr>
              <a:graphicFrameLocks noChangeAspect="1"/>
            </p:cNvGraphicFramePr>
            <p:nvPr/>
          </p:nvGraphicFramePr>
          <p:xfrm>
            <a:off x="4265613" y="5083175"/>
            <a:ext cx="588962" cy="320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6" imgW="330120" imgH="177480" progId="Equation.DSMT4">
                    <p:embed/>
                  </p:oleObj>
                </mc:Choice>
                <mc:Fallback>
                  <p:oleObj name="Equation" r:id="rId66" imgW="3301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5613" y="5083175"/>
                          <a:ext cx="588962" cy="3206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5" name="Object 86"/>
            <p:cNvGraphicFramePr>
              <a:graphicFrameLocks noChangeAspect="1"/>
            </p:cNvGraphicFramePr>
            <p:nvPr/>
          </p:nvGraphicFramePr>
          <p:xfrm>
            <a:off x="5073650" y="5095875"/>
            <a:ext cx="727075" cy="320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8" imgW="406080" imgH="177480" progId="Equation.DSMT4">
                    <p:embed/>
                  </p:oleObj>
                </mc:Choice>
                <mc:Fallback>
                  <p:oleObj name="Equation" r:id="rId68" imgW="4060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3650" y="5095875"/>
                          <a:ext cx="727075" cy="3206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6" name="Line 87"/>
            <p:cNvSpPr>
              <a:spLocks noChangeShapeType="1"/>
            </p:cNvSpPr>
            <p:nvPr/>
          </p:nvSpPr>
          <p:spPr bwMode="auto">
            <a:xfrm>
              <a:off x="5466525" y="5497513"/>
              <a:ext cx="0" cy="17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" name="Line 88"/>
            <p:cNvSpPr>
              <a:spLocks noChangeShapeType="1"/>
            </p:cNvSpPr>
            <p:nvPr/>
          </p:nvSpPr>
          <p:spPr bwMode="auto">
            <a:xfrm>
              <a:off x="3448050" y="5497513"/>
              <a:ext cx="0" cy="17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48" name="Object 89"/>
            <p:cNvGraphicFramePr>
              <a:graphicFrameLocks noChangeAspect="1"/>
            </p:cNvGraphicFramePr>
            <p:nvPr/>
          </p:nvGraphicFramePr>
          <p:xfrm>
            <a:off x="3194050" y="5070475"/>
            <a:ext cx="725488" cy="320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0" imgW="406080" imgH="177480" progId="Equation.DSMT4">
                    <p:embed/>
                  </p:oleObj>
                </mc:Choice>
                <mc:Fallback>
                  <p:oleObj name="Equation" r:id="rId70" imgW="4060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4050" y="5070475"/>
                          <a:ext cx="725488" cy="3206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9" name="AutoShape 90"/>
            <p:cNvSpPr>
              <a:spLocks noChangeArrowheads="1"/>
            </p:cNvSpPr>
            <p:nvPr/>
          </p:nvSpPr>
          <p:spPr bwMode="auto">
            <a:xfrm flipH="1">
              <a:off x="3695700" y="5842000"/>
              <a:ext cx="508000" cy="228600"/>
            </a:xfrm>
            <a:custGeom>
              <a:avLst/>
              <a:gdLst>
                <a:gd name="T0" fmla="*/ 381000 w 21600"/>
                <a:gd name="T1" fmla="*/ 0 h 21600"/>
                <a:gd name="T2" fmla="*/ 0 w 21600"/>
                <a:gd name="T3" fmla="*/ 114300 h 21600"/>
                <a:gd name="T4" fmla="*/ 381000 w 21600"/>
                <a:gd name="T5" fmla="*/ 228600 h 21600"/>
                <a:gd name="T6" fmla="*/ 508000 w 21600"/>
                <a:gd name="T7" fmla="*/ 1143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18276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1" grpId="0" animBg="1"/>
      <p:bldP spid="20530" grpId="0" animBg="1"/>
      <p:bldP spid="130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3751</TotalTime>
  <Words>738</Words>
  <Application>Microsoft Office PowerPoint</Application>
  <PresentationFormat>On-screen Show (4:3)</PresentationFormat>
  <Paragraphs>209</Paragraphs>
  <Slides>18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Symbol</vt:lpstr>
      <vt:lpstr>Times New Roman</vt:lpstr>
      <vt:lpstr>Wingdings</vt:lpstr>
      <vt:lpstr>Default Design</vt:lpstr>
      <vt:lpstr>Equation</vt:lpstr>
      <vt:lpstr>PowerPoint Presentation</vt:lpstr>
      <vt:lpstr>PowerPoint Presentation</vt:lpstr>
      <vt:lpstr>PowerPoint Presentation</vt:lpstr>
      <vt:lpstr>Maxwell’s Equations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Aspen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Ray Manzanilla</dc:creator>
  <cp:lastModifiedBy>Chen, Jiefu</cp:lastModifiedBy>
  <cp:revision>383</cp:revision>
  <cp:lastPrinted>2016-01-19T19:40:31Z</cp:lastPrinted>
  <dcterms:created xsi:type="dcterms:W3CDTF">2006-03-04T19:44:29Z</dcterms:created>
  <dcterms:modified xsi:type="dcterms:W3CDTF">2026-04-29T22:37:26Z</dcterms:modified>
</cp:coreProperties>
</file>