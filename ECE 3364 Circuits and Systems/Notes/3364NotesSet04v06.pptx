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1" r:id="rId1"/>
  </p:sldMasterIdLst>
  <p:notesMasterIdLst>
    <p:notesMasterId r:id="rId47"/>
  </p:notesMasterIdLst>
  <p:sldIdLst>
    <p:sldId id="353" r:id="rId2"/>
    <p:sldId id="848" r:id="rId3"/>
    <p:sldId id="889" r:id="rId4"/>
    <p:sldId id="407" r:id="rId5"/>
    <p:sldId id="850" r:id="rId6"/>
    <p:sldId id="877" r:id="rId7"/>
    <p:sldId id="890" r:id="rId8"/>
    <p:sldId id="891" r:id="rId9"/>
    <p:sldId id="878" r:id="rId10"/>
    <p:sldId id="879" r:id="rId11"/>
    <p:sldId id="880" r:id="rId12"/>
    <p:sldId id="881" r:id="rId13"/>
    <p:sldId id="893" r:id="rId14"/>
    <p:sldId id="894" r:id="rId15"/>
    <p:sldId id="895" r:id="rId16"/>
    <p:sldId id="892" r:id="rId17"/>
    <p:sldId id="882" r:id="rId18"/>
    <p:sldId id="883" r:id="rId19"/>
    <p:sldId id="884" r:id="rId20"/>
    <p:sldId id="901" r:id="rId21"/>
    <p:sldId id="896" r:id="rId22"/>
    <p:sldId id="897" r:id="rId23"/>
    <p:sldId id="898" r:id="rId24"/>
    <p:sldId id="899" r:id="rId25"/>
    <p:sldId id="900" r:id="rId26"/>
    <p:sldId id="902" r:id="rId27"/>
    <p:sldId id="903" r:id="rId28"/>
    <p:sldId id="911" r:id="rId29"/>
    <p:sldId id="904" r:id="rId30"/>
    <p:sldId id="905" r:id="rId31"/>
    <p:sldId id="906" r:id="rId32"/>
    <p:sldId id="886" r:id="rId33"/>
    <p:sldId id="887" r:id="rId34"/>
    <p:sldId id="888" r:id="rId35"/>
    <p:sldId id="907" r:id="rId36"/>
    <p:sldId id="908" r:id="rId37"/>
    <p:sldId id="909" r:id="rId38"/>
    <p:sldId id="910" r:id="rId39"/>
    <p:sldId id="912" r:id="rId40"/>
    <p:sldId id="913" r:id="rId41"/>
    <p:sldId id="914" r:id="rId42"/>
    <p:sldId id="915" r:id="rId43"/>
    <p:sldId id="916" r:id="rId44"/>
    <p:sldId id="917" r:id="rId45"/>
    <p:sldId id="918" r:id="rId46"/>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FFA"/>
    <a:srgbClr val="FF0066"/>
    <a:srgbClr val="3366FF"/>
    <a:srgbClr val="FFFF00"/>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94694" autoAdjust="0"/>
  </p:normalViewPr>
  <p:slideViewPr>
    <p:cSldViewPr>
      <p:cViewPr varScale="1">
        <p:scale>
          <a:sx n="97" d="100"/>
          <a:sy n="97" d="100"/>
        </p:scale>
        <p:origin x="1596"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ttuck, David P" userId="15e4404a-eba0-4df0-87b7-d9f0b9b10528" providerId="ADAL" clId="{1689EB62-F557-4F06-B121-CEA5FBFD3031}"/>
    <pc:docChg chg="custSel addSld modSld sldOrd">
      <pc:chgData name="Shattuck, David P" userId="15e4404a-eba0-4df0-87b7-d9f0b9b10528" providerId="ADAL" clId="{1689EB62-F557-4F06-B121-CEA5FBFD3031}" dt="2025-10-30T20:59:43.144" v="1651" actId="14100"/>
      <pc:docMkLst>
        <pc:docMk/>
      </pc:docMkLst>
      <pc:sldChg chg="modSp mod">
        <pc:chgData name="Shattuck, David P" userId="15e4404a-eba0-4df0-87b7-d9f0b9b10528" providerId="ADAL" clId="{1689EB62-F557-4F06-B121-CEA5FBFD3031}" dt="2025-10-29T20:22:34.745" v="1" actId="20577"/>
        <pc:sldMkLst>
          <pc:docMk/>
          <pc:sldMk cId="0" sldId="353"/>
        </pc:sldMkLst>
        <pc:spChg chg="mod">
          <ac:chgData name="Shattuck, David P" userId="15e4404a-eba0-4df0-87b7-d9f0b9b10528" providerId="ADAL" clId="{1689EB62-F557-4F06-B121-CEA5FBFD3031}" dt="2025-10-29T20:22:34.745" v="1" actId="20577"/>
          <ac:spMkLst>
            <pc:docMk/>
            <pc:sldMk cId="0" sldId="353"/>
            <ac:spMk id="217092" creationId="{1DE9E421-FDBE-4525-94BE-96808A097FC4}"/>
          </ac:spMkLst>
        </pc:spChg>
      </pc:sldChg>
      <pc:sldChg chg="modSp mod">
        <pc:chgData name="Shattuck, David P" userId="15e4404a-eba0-4df0-87b7-d9f0b9b10528" providerId="ADAL" clId="{1689EB62-F557-4F06-B121-CEA5FBFD3031}" dt="2025-10-29T20:23:10.405" v="66" actId="20577"/>
        <pc:sldMkLst>
          <pc:docMk/>
          <pc:sldMk cId="0" sldId="848"/>
        </pc:sldMkLst>
        <pc:spChg chg="mod">
          <ac:chgData name="Shattuck, David P" userId="15e4404a-eba0-4df0-87b7-d9f0b9b10528" providerId="ADAL" clId="{1689EB62-F557-4F06-B121-CEA5FBFD3031}" dt="2025-10-29T20:23:10.405" v="66" actId="20577"/>
          <ac:spMkLst>
            <pc:docMk/>
            <pc:sldMk cId="0" sldId="848"/>
            <ac:spMk id="1212419" creationId="{EDA4D3D9-60D2-46BF-A92E-B606F1B21F45}"/>
          </ac:spMkLst>
        </pc:spChg>
      </pc:sldChg>
      <pc:sldChg chg="addSp delSp modSp add mod ord">
        <pc:chgData name="Shattuck, David P" userId="15e4404a-eba0-4df0-87b7-d9f0b9b10528" providerId="ADAL" clId="{1689EB62-F557-4F06-B121-CEA5FBFD3031}" dt="2025-10-29T20:35:48.847" v="402" actId="20577"/>
        <pc:sldMkLst>
          <pc:docMk/>
          <pc:sldMk cId="3159437364" sldId="907"/>
        </pc:sldMkLst>
        <pc:spChg chg="add mod">
          <ac:chgData name="Shattuck, David P" userId="15e4404a-eba0-4df0-87b7-d9f0b9b10528" providerId="ADAL" clId="{1689EB62-F557-4F06-B121-CEA5FBFD3031}" dt="2025-10-29T20:35:48.847" v="402" actId="20577"/>
          <ac:spMkLst>
            <pc:docMk/>
            <pc:sldMk cId="3159437364" sldId="907"/>
            <ac:spMk id="2" creationId="{CB0C88EB-DB1D-4DA7-8CC3-B83B8C9FC406}"/>
          </ac:spMkLst>
        </pc:spChg>
        <pc:spChg chg="add mod">
          <ac:chgData name="Shattuck, David P" userId="15e4404a-eba0-4df0-87b7-d9f0b9b10528" providerId="ADAL" clId="{1689EB62-F557-4F06-B121-CEA5FBFD3031}" dt="2025-10-29T20:35:02.216" v="356" actId="108"/>
          <ac:spMkLst>
            <pc:docMk/>
            <pc:sldMk cId="3159437364" sldId="907"/>
            <ac:spMk id="9" creationId="{7D6A944A-1C7D-476F-B7A2-2A6A3594ED63}"/>
          </ac:spMkLst>
        </pc:spChg>
        <pc:spChg chg="mod">
          <ac:chgData name="Shattuck, David P" userId="15e4404a-eba0-4df0-87b7-d9f0b9b10528" providerId="ADAL" clId="{1689EB62-F557-4F06-B121-CEA5FBFD3031}" dt="2025-10-29T20:29:16.904" v="76" actId="14100"/>
          <ac:spMkLst>
            <pc:docMk/>
            <pc:sldMk cId="3159437364" sldId="907"/>
            <ac:spMk id="1280003" creationId="{95A4F2FF-CC7D-45CC-8B30-6CCB73BEAF75}"/>
          </ac:spMkLst>
        </pc:spChg>
        <pc:spChg chg="del mod">
          <ac:chgData name="Shattuck, David P" userId="15e4404a-eba0-4df0-87b7-d9f0b9b10528" providerId="ADAL" clId="{1689EB62-F557-4F06-B121-CEA5FBFD3031}" dt="2025-10-29T20:32:07.997" v="153" actId="478"/>
          <ac:spMkLst>
            <pc:docMk/>
            <pc:sldMk cId="3159437364" sldId="907"/>
            <ac:spMk id="1280004" creationId="{07F8FD39-22EC-4124-98F9-71AD5C5E3712}"/>
          </ac:spMkLst>
        </pc:spChg>
      </pc:sldChg>
      <pc:sldChg chg="addSp delSp modSp add mod">
        <pc:chgData name="Shattuck, David P" userId="15e4404a-eba0-4df0-87b7-d9f0b9b10528" providerId="ADAL" clId="{1689EB62-F557-4F06-B121-CEA5FBFD3031}" dt="2025-10-29T21:33:22.547" v="411" actId="14100"/>
        <pc:sldMkLst>
          <pc:docMk/>
          <pc:sldMk cId="3665714592" sldId="908"/>
        </pc:sldMkLst>
        <pc:spChg chg="del mod">
          <ac:chgData name="Shattuck, David P" userId="15e4404a-eba0-4df0-87b7-d9f0b9b10528" providerId="ADAL" clId="{1689EB62-F557-4F06-B121-CEA5FBFD3031}" dt="2025-10-29T21:32:01.967" v="408" actId="478"/>
          <ac:spMkLst>
            <pc:docMk/>
            <pc:sldMk cId="3665714592" sldId="908"/>
            <ac:spMk id="2" creationId="{CB0C88EB-DB1D-4DA7-8CC3-B83B8C9FC406}"/>
          </ac:spMkLst>
        </pc:spChg>
        <pc:spChg chg="add del mod">
          <ac:chgData name="Shattuck, David P" userId="15e4404a-eba0-4df0-87b7-d9f0b9b10528" providerId="ADAL" clId="{1689EB62-F557-4F06-B121-CEA5FBFD3031}" dt="2025-10-29T21:32:07.420" v="409" actId="478"/>
          <ac:spMkLst>
            <pc:docMk/>
            <pc:sldMk cId="3665714592" sldId="908"/>
            <ac:spMk id="3" creationId="{B271FCDA-7725-476A-8AFA-936441EB80B9}"/>
          </ac:spMkLst>
        </pc:spChg>
        <pc:spChg chg="del">
          <ac:chgData name="Shattuck, David P" userId="15e4404a-eba0-4df0-87b7-d9f0b9b10528" providerId="ADAL" clId="{1689EB62-F557-4F06-B121-CEA5FBFD3031}" dt="2025-10-29T21:31:36.163" v="404" actId="478"/>
          <ac:spMkLst>
            <pc:docMk/>
            <pc:sldMk cId="3665714592" sldId="908"/>
            <ac:spMk id="9" creationId="{7D6A944A-1C7D-476F-B7A2-2A6A3594ED63}"/>
          </ac:spMkLst>
        </pc:spChg>
        <pc:spChg chg="add mod">
          <ac:chgData name="Shattuck, David P" userId="15e4404a-eba0-4df0-87b7-d9f0b9b10528" providerId="ADAL" clId="{1689EB62-F557-4F06-B121-CEA5FBFD3031}" dt="2025-10-29T21:32:23.311" v="410"/>
          <ac:spMkLst>
            <pc:docMk/>
            <pc:sldMk cId="3665714592" sldId="908"/>
            <ac:spMk id="10" creationId="{5F7A5944-27A9-401B-8082-07195FDC4ED6}"/>
          </ac:spMkLst>
        </pc:spChg>
        <pc:spChg chg="add mod">
          <ac:chgData name="Shattuck, David P" userId="15e4404a-eba0-4df0-87b7-d9f0b9b10528" providerId="ADAL" clId="{1689EB62-F557-4F06-B121-CEA5FBFD3031}" dt="2025-10-29T21:32:23.311" v="410"/>
          <ac:spMkLst>
            <pc:docMk/>
            <pc:sldMk cId="3665714592" sldId="908"/>
            <ac:spMk id="13" creationId="{E9046681-93EE-45E0-89F6-CBAA1731B8A0}"/>
          </ac:spMkLst>
        </pc:spChg>
        <pc:graphicFrameChg chg="add mod">
          <ac:chgData name="Shattuck, David P" userId="15e4404a-eba0-4df0-87b7-d9f0b9b10528" providerId="ADAL" clId="{1689EB62-F557-4F06-B121-CEA5FBFD3031}" dt="2025-10-29T21:32:23.311" v="410"/>
          <ac:graphicFrameMkLst>
            <pc:docMk/>
            <pc:sldMk cId="3665714592" sldId="908"/>
            <ac:graphicFrameMk id="11" creationId="{63D92C2C-92E1-4874-AC02-336FBB89F8D9}"/>
          </ac:graphicFrameMkLst>
        </pc:graphicFrameChg>
        <pc:graphicFrameChg chg="add mod">
          <ac:chgData name="Shattuck, David P" userId="15e4404a-eba0-4df0-87b7-d9f0b9b10528" providerId="ADAL" clId="{1689EB62-F557-4F06-B121-CEA5FBFD3031}" dt="2025-10-29T21:32:23.311" v="410"/>
          <ac:graphicFrameMkLst>
            <pc:docMk/>
            <pc:sldMk cId="3665714592" sldId="908"/>
            <ac:graphicFrameMk id="12" creationId="{E79FE6B9-1983-4761-BCD2-4CE751D64EC6}"/>
          </ac:graphicFrameMkLst>
        </pc:graphicFrameChg>
        <pc:graphicFrameChg chg="add mod">
          <ac:chgData name="Shattuck, David P" userId="15e4404a-eba0-4df0-87b7-d9f0b9b10528" providerId="ADAL" clId="{1689EB62-F557-4F06-B121-CEA5FBFD3031}" dt="2025-10-29T21:32:23.311" v="410"/>
          <ac:graphicFrameMkLst>
            <pc:docMk/>
            <pc:sldMk cId="3665714592" sldId="908"/>
            <ac:graphicFrameMk id="14" creationId="{F7665F39-7956-4A72-8926-5BF524CA1CA7}"/>
          </ac:graphicFrameMkLst>
        </pc:graphicFrameChg>
        <pc:graphicFrameChg chg="add mod">
          <ac:chgData name="Shattuck, David P" userId="15e4404a-eba0-4df0-87b7-d9f0b9b10528" providerId="ADAL" clId="{1689EB62-F557-4F06-B121-CEA5FBFD3031}" dt="2025-10-29T21:32:23.311" v="410"/>
          <ac:graphicFrameMkLst>
            <pc:docMk/>
            <pc:sldMk cId="3665714592" sldId="908"/>
            <ac:graphicFrameMk id="15" creationId="{B1E977E5-D04E-4F5E-ADDD-B7BB9CC9CBDF}"/>
          </ac:graphicFrameMkLst>
        </pc:graphicFrameChg>
        <pc:picChg chg="mod">
          <ac:chgData name="Shattuck, David P" userId="15e4404a-eba0-4df0-87b7-d9f0b9b10528" providerId="ADAL" clId="{1689EB62-F557-4F06-B121-CEA5FBFD3031}" dt="2025-10-29T21:33:22.547" v="411" actId="14100"/>
          <ac:picMkLst>
            <pc:docMk/>
            <pc:sldMk cId="3665714592" sldId="908"/>
            <ac:picMk id="8" creationId="{93EAA124-526E-41B8-9D88-49017AE8FAB1}"/>
          </ac:picMkLst>
        </pc:picChg>
      </pc:sldChg>
      <pc:sldChg chg="addSp delSp modSp add mod">
        <pc:chgData name="Shattuck, David P" userId="15e4404a-eba0-4df0-87b7-d9f0b9b10528" providerId="ADAL" clId="{1689EB62-F557-4F06-B121-CEA5FBFD3031}" dt="2025-10-29T21:34:34.912" v="422" actId="1076"/>
        <pc:sldMkLst>
          <pc:docMk/>
          <pc:sldMk cId="3488846524" sldId="909"/>
        </pc:sldMkLst>
        <pc:spChg chg="del">
          <ac:chgData name="Shattuck, David P" userId="15e4404a-eba0-4df0-87b7-d9f0b9b10528" providerId="ADAL" clId="{1689EB62-F557-4F06-B121-CEA5FBFD3031}" dt="2025-10-29T21:34:03.727" v="415" actId="478"/>
          <ac:spMkLst>
            <pc:docMk/>
            <pc:sldMk cId="3488846524" sldId="909"/>
            <ac:spMk id="10" creationId="{5F7A5944-27A9-401B-8082-07195FDC4ED6}"/>
          </ac:spMkLst>
        </pc:spChg>
        <pc:spChg chg="del">
          <ac:chgData name="Shattuck, David P" userId="15e4404a-eba0-4df0-87b7-d9f0b9b10528" providerId="ADAL" clId="{1689EB62-F557-4F06-B121-CEA5FBFD3031}" dt="2025-10-29T21:34:10.173" v="418" actId="478"/>
          <ac:spMkLst>
            <pc:docMk/>
            <pc:sldMk cId="3488846524" sldId="909"/>
            <ac:spMk id="13" creationId="{E9046681-93EE-45E0-89F6-CBAA1731B8A0}"/>
          </ac:spMkLst>
        </pc:spChg>
        <pc:spChg chg="add mod">
          <ac:chgData name="Shattuck, David P" userId="15e4404a-eba0-4df0-87b7-d9f0b9b10528" providerId="ADAL" clId="{1689EB62-F557-4F06-B121-CEA5FBFD3031}" dt="2025-10-29T21:34:12.264" v="419"/>
          <ac:spMkLst>
            <pc:docMk/>
            <pc:sldMk cId="3488846524" sldId="909"/>
            <ac:spMk id="16" creationId="{246C55C0-488D-42D6-9A8B-BBA1AC2D0A2F}"/>
          </ac:spMkLst>
        </pc:spChg>
        <pc:graphicFrameChg chg="del">
          <ac:chgData name="Shattuck, David P" userId="15e4404a-eba0-4df0-87b7-d9f0b9b10528" providerId="ADAL" clId="{1689EB62-F557-4F06-B121-CEA5FBFD3031}" dt="2025-10-29T21:34:05.144" v="416" actId="478"/>
          <ac:graphicFrameMkLst>
            <pc:docMk/>
            <pc:sldMk cId="3488846524" sldId="909"/>
            <ac:graphicFrameMk id="11" creationId="{63D92C2C-92E1-4874-AC02-336FBB89F8D9}"/>
          </ac:graphicFrameMkLst>
        </pc:graphicFrameChg>
        <pc:graphicFrameChg chg="del">
          <ac:chgData name="Shattuck, David P" userId="15e4404a-eba0-4df0-87b7-d9f0b9b10528" providerId="ADAL" clId="{1689EB62-F557-4F06-B121-CEA5FBFD3031}" dt="2025-10-29T21:34:06.200" v="417" actId="478"/>
          <ac:graphicFrameMkLst>
            <pc:docMk/>
            <pc:sldMk cId="3488846524" sldId="909"/>
            <ac:graphicFrameMk id="12" creationId="{E79FE6B9-1983-4761-BCD2-4CE751D64EC6}"/>
          </ac:graphicFrameMkLst>
        </pc:graphicFrameChg>
        <pc:graphicFrameChg chg="del">
          <ac:chgData name="Shattuck, David P" userId="15e4404a-eba0-4df0-87b7-d9f0b9b10528" providerId="ADAL" clId="{1689EB62-F557-4F06-B121-CEA5FBFD3031}" dt="2025-10-29T21:33:54.467" v="413" actId="478"/>
          <ac:graphicFrameMkLst>
            <pc:docMk/>
            <pc:sldMk cId="3488846524" sldId="909"/>
            <ac:graphicFrameMk id="14" creationId="{F7665F39-7956-4A72-8926-5BF524CA1CA7}"/>
          </ac:graphicFrameMkLst>
        </pc:graphicFrameChg>
        <pc:graphicFrameChg chg="del">
          <ac:chgData name="Shattuck, David P" userId="15e4404a-eba0-4df0-87b7-d9f0b9b10528" providerId="ADAL" clId="{1689EB62-F557-4F06-B121-CEA5FBFD3031}" dt="2025-10-29T21:33:56.241" v="414" actId="478"/>
          <ac:graphicFrameMkLst>
            <pc:docMk/>
            <pc:sldMk cId="3488846524" sldId="909"/>
            <ac:graphicFrameMk id="15" creationId="{B1E977E5-D04E-4F5E-ADDD-B7BB9CC9CBDF}"/>
          </ac:graphicFrameMkLst>
        </pc:graphicFrameChg>
        <pc:graphicFrameChg chg="add mod">
          <ac:chgData name="Shattuck, David P" userId="15e4404a-eba0-4df0-87b7-d9f0b9b10528" providerId="ADAL" clId="{1689EB62-F557-4F06-B121-CEA5FBFD3031}" dt="2025-10-29T21:34:26.573" v="420" actId="14100"/>
          <ac:graphicFrameMkLst>
            <pc:docMk/>
            <pc:sldMk cId="3488846524" sldId="909"/>
            <ac:graphicFrameMk id="17" creationId="{C01E2B0D-1651-4396-85C7-8F846D416B8B}"/>
          </ac:graphicFrameMkLst>
        </pc:graphicFrameChg>
        <pc:graphicFrameChg chg="add mod">
          <ac:chgData name="Shattuck, David P" userId="15e4404a-eba0-4df0-87b7-d9f0b9b10528" providerId="ADAL" clId="{1689EB62-F557-4F06-B121-CEA5FBFD3031}" dt="2025-10-29T21:34:34.912" v="422" actId="1076"/>
          <ac:graphicFrameMkLst>
            <pc:docMk/>
            <pc:sldMk cId="3488846524" sldId="909"/>
            <ac:graphicFrameMk id="18" creationId="{67B37B4C-40D0-4F82-84C6-03528DDBCCEE}"/>
          </ac:graphicFrameMkLst>
        </pc:graphicFrameChg>
      </pc:sldChg>
      <pc:sldChg chg="modSp add mod">
        <pc:chgData name="Shattuck, David P" userId="15e4404a-eba0-4df0-87b7-d9f0b9b10528" providerId="ADAL" clId="{1689EB62-F557-4F06-B121-CEA5FBFD3031}" dt="2025-10-29T21:49:20.976" v="586" actId="2711"/>
        <pc:sldMkLst>
          <pc:docMk/>
          <pc:sldMk cId="3720219863" sldId="910"/>
        </pc:sldMkLst>
        <pc:spChg chg="mod">
          <ac:chgData name="Shattuck, David P" userId="15e4404a-eba0-4df0-87b7-d9f0b9b10528" providerId="ADAL" clId="{1689EB62-F557-4F06-B121-CEA5FBFD3031}" dt="2025-10-29T21:49:20.976" v="586" actId="2711"/>
          <ac:spMkLst>
            <pc:docMk/>
            <pc:sldMk cId="3720219863" sldId="910"/>
            <ac:spMk id="16" creationId="{246C55C0-488D-42D6-9A8B-BBA1AC2D0A2F}"/>
          </ac:spMkLst>
        </pc:spChg>
        <pc:graphicFrameChg chg="mod">
          <ac:chgData name="Shattuck, David P" userId="15e4404a-eba0-4df0-87b7-d9f0b9b10528" providerId="ADAL" clId="{1689EB62-F557-4F06-B121-CEA5FBFD3031}" dt="2025-10-29T21:48:42.410" v="582" actId="1076"/>
          <ac:graphicFrameMkLst>
            <pc:docMk/>
            <pc:sldMk cId="3720219863" sldId="910"/>
            <ac:graphicFrameMk id="17" creationId="{C01E2B0D-1651-4396-85C7-8F846D416B8B}"/>
          </ac:graphicFrameMkLst>
        </pc:graphicFrameChg>
      </pc:sldChg>
      <pc:sldChg chg="add ord">
        <pc:chgData name="Shattuck, David P" userId="15e4404a-eba0-4df0-87b7-d9f0b9b10528" providerId="ADAL" clId="{1689EB62-F557-4F06-B121-CEA5FBFD3031}" dt="2025-10-30T17:22:24.078" v="589"/>
        <pc:sldMkLst>
          <pc:docMk/>
          <pc:sldMk cId="434180574" sldId="911"/>
        </pc:sldMkLst>
      </pc:sldChg>
      <pc:sldChg chg="addSp delSp modSp add mod ord">
        <pc:chgData name="Shattuck, David P" userId="15e4404a-eba0-4df0-87b7-d9f0b9b10528" providerId="ADAL" clId="{1689EB62-F557-4F06-B121-CEA5FBFD3031}" dt="2025-10-30T20:46:19.744" v="1381" actId="20577"/>
        <pc:sldMkLst>
          <pc:docMk/>
          <pc:sldMk cId="1333223429" sldId="912"/>
        </pc:sldMkLst>
        <pc:spChg chg="del">
          <ac:chgData name="Shattuck, David P" userId="15e4404a-eba0-4df0-87b7-d9f0b9b10528" providerId="ADAL" clId="{1689EB62-F557-4F06-B121-CEA5FBFD3031}" dt="2025-10-30T17:40:22.827" v="957" actId="478"/>
          <ac:spMkLst>
            <pc:docMk/>
            <pc:sldMk cId="1333223429" sldId="912"/>
            <ac:spMk id="9" creationId="{73E71E70-50AB-4441-8810-7F9B49A1C705}"/>
          </ac:spMkLst>
        </pc:spChg>
        <pc:spChg chg="add mod">
          <ac:chgData name="Shattuck, David P" userId="15e4404a-eba0-4df0-87b7-d9f0b9b10528" providerId="ADAL" clId="{1689EB62-F557-4F06-B121-CEA5FBFD3031}" dt="2025-10-30T17:44:34.289" v="1069" actId="20577"/>
          <ac:spMkLst>
            <pc:docMk/>
            <pc:sldMk cId="1333223429" sldId="912"/>
            <ac:spMk id="10" creationId="{7D81B732-59B9-4B7C-A5C5-9F4E10AA1DDF}"/>
          </ac:spMkLst>
        </pc:spChg>
        <pc:spChg chg="mod">
          <ac:chgData name="Shattuck, David P" userId="15e4404a-eba0-4df0-87b7-d9f0b9b10528" providerId="ADAL" clId="{1689EB62-F557-4F06-B121-CEA5FBFD3031}" dt="2025-10-30T20:46:19.744" v="1381" actId="20577"/>
          <ac:spMkLst>
            <pc:docMk/>
            <pc:sldMk cId="1333223429" sldId="912"/>
            <ac:spMk id="12" creationId="{5931B5DA-6EDD-43C6-8613-0728E45EA92A}"/>
          </ac:spMkLst>
        </pc:spChg>
        <pc:spChg chg="mod">
          <ac:chgData name="Shattuck, David P" userId="15e4404a-eba0-4df0-87b7-d9f0b9b10528" providerId="ADAL" clId="{1689EB62-F557-4F06-B121-CEA5FBFD3031}" dt="2025-10-30T17:34:44.258" v="596" actId="20577"/>
          <ac:spMkLst>
            <pc:docMk/>
            <pc:sldMk cId="1333223429" sldId="912"/>
            <ac:spMk id="1286146" creationId="{63EDEA5C-C3DB-4261-9901-5F08CD3F2AE5}"/>
          </ac:spMkLst>
        </pc:spChg>
        <pc:graphicFrameChg chg="del mod">
          <ac:chgData name="Shattuck, David P" userId="15e4404a-eba0-4df0-87b7-d9f0b9b10528" providerId="ADAL" clId="{1689EB62-F557-4F06-B121-CEA5FBFD3031}" dt="2025-10-30T17:40:39.868" v="959" actId="478"/>
          <ac:graphicFrameMkLst>
            <pc:docMk/>
            <pc:sldMk cId="1333223429" sldId="912"/>
            <ac:graphicFrameMk id="2" creationId="{9F6596AA-1637-4CE9-B260-FD98D573F8DA}"/>
          </ac:graphicFrameMkLst>
        </pc:graphicFrameChg>
        <pc:picChg chg="del">
          <ac:chgData name="Shattuck, David P" userId="15e4404a-eba0-4df0-87b7-d9f0b9b10528" providerId="ADAL" clId="{1689EB62-F557-4F06-B121-CEA5FBFD3031}" dt="2025-10-30T17:40:19.379" v="956" actId="478"/>
          <ac:picMkLst>
            <pc:docMk/>
            <pc:sldMk cId="1333223429" sldId="912"/>
            <ac:picMk id="7" creationId="{0105EF5B-EC80-4C7B-B89C-6B11571FCB2D}"/>
          </ac:picMkLst>
        </pc:picChg>
      </pc:sldChg>
      <pc:sldChg chg="addSp delSp modSp add mod">
        <pc:chgData name="Shattuck, David P" userId="15e4404a-eba0-4df0-87b7-d9f0b9b10528" providerId="ADAL" clId="{1689EB62-F557-4F06-B121-CEA5FBFD3031}" dt="2025-10-30T20:46:34.674" v="1382" actId="20577"/>
        <pc:sldMkLst>
          <pc:docMk/>
          <pc:sldMk cId="2869381262" sldId="913"/>
        </pc:sldMkLst>
        <pc:spChg chg="mod">
          <ac:chgData name="Shattuck, David P" userId="15e4404a-eba0-4df0-87b7-d9f0b9b10528" providerId="ADAL" clId="{1689EB62-F557-4F06-B121-CEA5FBFD3031}" dt="2025-10-30T17:46:27.457" v="1075" actId="1076"/>
          <ac:spMkLst>
            <pc:docMk/>
            <pc:sldMk cId="2869381262" sldId="913"/>
            <ac:spMk id="8" creationId="{088458FB-BCD8-4419-83A8-806E0F5814CE}"/>
          </ac:spMkLst>
        </pc:spChg>
        <pc:spChg chg="add mod">
          <ac:chgData name="Shattuck, David P" userId="15e4404a-eba0-4df0-87b7-d9f0b9b10528" providerId="ADAL" clId="{1689EB62-F557-4F06-B121-CEA5FBFD3031}" dt="2025-10-30T17:50:58.938" v="1222" actId="14100"/>
          <ac:spMkLst>
            <pc:docMk/>
            <pc:sldMk cId="2869381262" sldId="913"/>
            <ac:spMk id="9" creationId="{07E2A0DF-CF20-4CCC-84E6-4AB4A0977C18}"/>
          </ac:spMkLst>
        </pc:spChg>
        <pc:spChg chg="del">
          <ac:chgData name="Shattuck, David P" userId="15e4404a-eba0-4df0-87b7-d9f0b9b10528" providerId="ADAL" clId="{1689EB62-F557-4F06-B121-CEA5FBFD3031}" dt="2025-10-30T17:45:32.304" v="1071" actId="478"/>
          <ac:spMkLst>
            <pc:docMk/>
            <pc:sldMk cId="2869381262" sldId="913"/>
            <ac:spMk id="10" creationId="{7D81B732-59B9-4B7C-A5C5-9F4E10AA1DDF}"/>
          </ac:spMkLst>
        </pc:spChg>
        <pc:spChg chg="mod">
          <ac:chgData name="Shattuck, David P" userId="15e4404a-eba0-4df0-87b7-d9f0b9b10528" providerId="ADAL" clId="{1689EB62-F557-4F06-B121-CEA5FBFD3031}" dt="2025-10-30T20:46:34.674" v="1382" actId="20577"/>
          <ac:spMkLst>
            <pc:docMk/>
            <pc:sldMk cId="2869381262" sldId="913"/>
            <ac:spMk id="12" creationId="{5931B5DA-6EDD-43C6-8613-0728E45EA92A}"/>
          </ac:spMkLst>
        </pc:spChg>
        <pc:spChg chg="del">
          <ac:chgData name="Shattuck, David P" userId="15e4404a-eba0-4df0-87b7-d9f0b9b10528" providerId="ADAL" clId="{1689EB62-F557-4F06-B121-CEA5FBFD3031}" dt="2025-10-30T17:46:21.186" v="1074" actId="478"/>
          <ac:spMkLst>
            <pc:docMk/>
            <pc:sldMk cId="2869381262" sldId="913"/>
            <ac:spMk id="13" creationId="{FF0D2BD2-140C-42F7-9EEF-5C38B2897D60}"/>
          </ac:spMkLst>
        </pc:spChg>
        <pc:picChg chg="add mod">
          <ac:chgData name="Shattuck, David P" userId="15e4404a-eba0-4df0-87b7-d9f0b9b10528" providerId="ADAL" clId="{1689EB62-F557-4F06-B121-CEA5FBFD3031}" dt="2025-10-30T17:49:37.828" v="1221" actId="1076"/>
          <ac:picMkLst>
            <pc:docMk/>
            <pc:sldMk cId="2869381262" sldId="913"/>
            <ac:picMk id="7" creationId="{87C1E69F-CFEA-4027-8230-8BC4AA9684DD}"/>
          </ac:picMkLst>
        </pc:picChg>
      </pc:sldChg>
      <pc:sldChg chg="addSp delSp modSp add mod ord">
        <pc:chgData name="Shattuck, David P" userId="15e4404a-eba0-4df0-87b7-d9f0b9b10528" providerId="ADAL" clId="{1689EB62-F557-4F06-B121-CEA5FBFD3031}" dt="2025-10-30T20:58:43.274" v="1643" actId="1076"/>
        <pc:sldMkLst>
          <pc:docMk/>
          <pc:sldMk cId="1099617975" sldId="914"/>
        </pc:sldMkLst>
        <pc:spChg chg="mod">
          <ac:chgData name="Shattuck, David P" userId="15e4404a-eba0-4df0-87b7-d9f0b9b10528" providerId="ADAL" clId="{1689EB62-F557-4F06-B121-CEA5FBFD3031}" dt="2025-10-30T17:51:58.752" v="1281" actId="14100"/>
          <ac:spMkLst>
            <pc:docMk/>
            <pc:sldMk cId="1099617975" sldId="914"/>
            <ac:spMk id="10" creationId="{7D81B732-59B9-4B7C-A5C5-9F4E10AA1DDF}"/>
          </ac:spMkLst>
        </pc:spChg>
        <pc:spChg chg="mod">
          <ac:chgData name="Shattuck, David P" userId="15e4404a-eba0-4df0-87b7-d9f0b9b10528" providerId="ADAL" clId="{1689EB62-F557-4F06-B121-CEA5FBFD3031}" dt="2025-10-30T20:46:59.944" v="1383" actId="20577"/>
          <ac:spMkLst>
            <pc:docMk/>
            <pc:sldMk cId="1099617975" sldId="914"/>
            <ac:spMk id="12" creationId="{5931B5DA-6EDD-43C6-8613-0728E45EA92A}"/>
          </ac:spMkLst>
        </pc:spChg>
        <pc:spChg chg="del">
          <ac:chgData name="Shattuck, David P" userId="15e4404a-eba0-4df0-87b7-d9f0b9b10528" providerId="ADAL" clId="{1689EB62-F557-4F06-B121-CEA5FBFD3031}" dt="2025-10-30T17:58:07.757" v="1303" actId="478"/>
          <ac:spMkLst>
            <pc:docMk/>
            <pc:sldMk cId="1099617975" sldId="914"/>
            <ac:spMk id="13" creationId="{FF0D2BD2-140C-42F7-9EEF-5C38B2897D60}"/>
          </ac:spMkLst>
        </pc:spChg>
        <pc:graphicFrameChg chg="add mod">
          <ac:chgData name="Shattuck, David P" userId="15e4404a-eba0-4df0-87b7-d9f0b9b10528" providerId="ADAL" clId="{1689EB62-F557-4F06-B121-CEA5FBFD3031}" dt="2025-10-30T17:55:13.403" v="1289" actId="14100"/>
          <ac:graphicFrameMkLst>
            <pc:docMk/>
            <pc:sldMk cId="1099617975" sldId="914"/>
            <ac:graphicFrameMk id="2" creationId="{9D0E56A0-5378-40D3-AD4C-6E99DBDFEEA6}"/>
          </ac:graphicFrameMkLst>
        </pc:graphicFrameChg>
        <pc:picChg chg="add mod">
          <ac:chgData name="Shattuck, David P" userId="15e4404a-eba0-4df0-87b7-d9f0b9b10528" providerId="ADAL" clId="{1689EB62-F557-4F06-B121-CEA5FBFD3031}" dt="2025-10-30T20:58:43.274" v="1643" actId="1076"/>
          <ac:picMkLst>
            <pc:docMk/>
            <pc:sldMk cId="1099617975" sldId="914"/>
            <ac:picMk id="9" creationId="{85F80D1D-B9D9-46F5-AF4C-23872AFAFF94}"/>
          </ac:picMkLst>
        </pc:picChg>
      </pc:sldChg>
      <pc:sldChg chg="addSp delSp modSp add mod">
        <pc:chgData name="Shattuck, David P" userId="15e4404a-eba0-4df0-87b7-d9f0b9b10528" providerId="ADAL" clId="{1689EB62-F557-4F06-B121-CEA5FBFD3031}" dt="2025-10-30T20:58:55.493" v="1645" actId="1076"/>
        <pc:sldMkLst>
          <pc:docMk/>
          <pc:sldMk cId="4188039410" sldId="915"/>
        </pc:sldMkLst>
        <pc:spChg chg="mod">
          <ac:chgData name="Shattuck, David P" userId="15e4404a-eba0-4df0-87b7-d9f0b9b10528" providerId="ADAL" clId="{1689EB62-F557-4F06-B121-CEA5FBFD3031}" dt="2025-10-30T17:55:44.722" v="1300" actId="20577"/>
          <ac:spMkLst>
            <pc:docMk/>
            <pc:sldMk cId="4188039410" sldId="915"/>
            <ac:spMk id="10" creationId="{7D81B732-59B9-4B7C-A5C5-9F4E10AA1DDF}"/>
          </ac:spMkLst>
        </pc:spChg>
        <pc:spChg chg="mod">
          <ac:chgData name="Shattuck, David P" userId="15e4404a-eba0-4df0-87b7-d9f0b9b10528" providerId="ADAL" clId="{1689EB62-F557-4F06-B121-CEA5FBFD3031}" dt="2025-10-30T20:47:07.563" v="1384" actId="20577"/>
          <ac:spMkLst>
            <pc:docMk/>
            <pc:sldMk cId="4188039410" sldId="915"/>
            <ac:spMk id="12" creationId="{5931B5DA-6EDD-43C6-8613-0728E45EA92A}"/>
          </ac:spMkLst>
        </pc:spChg>
        <pc:spChg chg="del">
          <ac:chgData name="Shattuck, David P" userId="15e4404a-eba0-4df0-87b7-d9f0b9b10528" providerId="ADAL" clId="{1689EB62-F557-4F06-B121-CEA5FBFD3031}" dt="2025-10-30T17:58:13.673" v="1304" actId="478"/>
          <ac:spMkLst>
            <pc:docMk/>
            <pc:sldMk cId="4188039410" sldId="915"/>
            <ac:spMk id="13" creationId="{FF0D2BD2-140C-42F7-9EEF-5C38B2897D60}"/>
          </ac:spMkLst>
        </pc:spChg>
        <pc:graphicFrameChg chg="mod">
          <ac:chgData name="Shattuck, David P" userId="15e4404a-eba0-4df0-87b7-d9f0b9b10528" providerId="ADAL" clId="{1689EB62-F557-4F06-B121-CEA5FBFD3031}" dt="2025-10-30T17:57:46.197" v="1302"/>
          <ac:graphicFrameMkLst>
            <pc:docMk/>
            <pc:sldMk cId="4188039410" sldId="915"/>
            <ac:graphicFrameMk id="2" creationId="{9D0E56A0-5378-40D3-AD4C-6E99DBDFEEA6}"/>
          </ac:graphicFrameMkLst>
        </pc:graphicFrameChg>
        <pc:picChg chg="add mod">
          <ac:chgData name="Shattuck, David P" userId="15e4404a-eba0-4df0-87b7-d9f0b9b10528" providerId="ADAL" clId="{1689EB62-F557-4F06-B121-CEA5FBFD3031}" dt="2025-10-30T20:58:55.493" v="1645" actId="1076"/>
          <ac:picMkLst>
            <pc:docMk/>
            <pc:sldMk cId="4188039410" sldId="915"/>
            <ac:picMk id="9" creationId="{6D404356-7501-4FD4-B4C9-B4332C2E5C1D}"/>
          </ac:picMkLst>
        </pc:picChg>
      </pc:sldChg>
      <pc:sldChg chg="addSp modSp add mod">
        <pc:chgData name="Shattuck, David P" userId="15e4404a-eba0-4df0-87b7-d9f0b9b10528" providerId="ADAL" clId="{1689EB62-F557-4F06-B121-CEA5FBFD3031}" dt="2025-10-30T20:59:21.165" v="1648" actId="255"/>
        <pc:sldMkLst>
          <pc:docMk/>
          <pc:sldMk cId="2423994146" sldId="916"/>
        </pc:sldMkLst>
        <pc:spChg chg="mod">
          <ac:chgData name="Shattuck, David P" userId="15e4404a-eba0-4df0-87b7-d9f0b9b10528" providerId="ADAL" clId="{1689EB62-F557-4F06-B121-CEA5FBFD3031}" dt="2025-10-30T20:45:23.144" v="1375" actId="1076"/>
          <ac:spMkLst>
            <pc:docMk/>
            <pc:sldMk cId="2423994146" sldId="916"/>
            <ac:spMk id="8" creationId="{088458FB-BCD8-4419-83A8-806E0F5814CE}"/>
          </ac:spMkLst>
        </pc:spChg>
        <pc:spChg chg="mod">
          <ac:chgData name="Shattuck, David P" userId="15e4404a-eba0-4df0-87b7-d9f0b9b10528" providerId="ADAL" clId="{1689EB62-F557-4F06-B121-CEA5FBFD3031}" dt="2025-10-30T20:45:40.910" v="1378" actId="14100"/>
          <ac:spMkLst>
            <pc:docMk/>
            <pc:sldMk cId="2423994146" sldId="916"/>
            <ac:spMk id="10" creationId="{7D81B732-59B9-4B7C-A5C5-9F4E10AA1DDF}"/>
          </ac:spMkLst>
        </pc:spChg>
        <pc:spChg chg="mod">
          <ac:chgData name="Shattuck, David P" userId="15e4404a-eba0-4df0-87b7-d9f0b9b10528" providerId="ADAL" clId="{1689EB62-F557-4F06-B121-CEA5FBFD3031}" dt="2025-10-30T20:47:15.670" v="1385" actId="20577"/>
          <ac:spMkLst>
            <pc:docMk/>
            <pc:sldMk cId="2423994146" sldId="916"/>
            <ac:spMk id="12" creationId="{5931B5DA-6EDD-43C6-8613-0728E45EA92A}"/>
          </ac:spMkLst>
        </pc:spChg>
        <pc:spChg chg="mod">
          <ac:chgData name="Shattuck, David P" userId="15e4404a-eba0-4df0-87b7-d9f0b9b10528" providerId="ADAL" clId="{1689EB62-F557-4F06-B121-CEA5FBFD3031}" dt="2025-10-30T20:59:21.165" v="1648" actId="255"/>
          <ac:spMkLst>
            <pc:docMk/>
            <pc:sldMk cId="2423994146" sldId="916"/>
            <ac:spMk id="1286146" creationId="{63EDEA5C-C3DB-4261-9901-5F08CD3F2AE5}"/>
          </ac:spMkLst>
        </pc:spChg>
        <pc:graphicFrameChg chg="mod">
          <ac:chgData name="Shattuck, David P" userId="15e4404a-eba0-4df0-87b7-d9f0b9b10528" providerId="ADAL" clId="{1689EB62-F557-4F06-B121-CEA5FBFD3031}" dt="2025-10-30T20:45:49.017" v="1380" actId="1076"/>
          <ac:graphicFrameMkLst>
            <pc:docMk/>
            <pc:sldMk cId="2423994146" sldId="916"/>
            <ac:graphicFrameMk id="2" creationId="{9D0E56A0-5378-40D3-AD4C-6E99DBDFEEA6}"/>
          </ac:graphicFrameMkLst>
        </pc:graphicFrameChg>
        <pc:graphicFrameChg chg="add mod">
          <ac:chgData name="Shattuck, David P" userId="15e4404a-eba0-4df0-87b7-d9f0b9b10528" providerId="ADAL" clId="{1689EB62-F557-4F06-B121-CEA5FBFD3031}" dt="2025-10-30T20:45:45.623" v="1379" actId="1076"/>
          <ac:graphicFrameMkLst>
            <pc:docMk/>
            <pc:sldMk cId="2423994146" sldId="916"/>
            <ac:graphicFrameMk id="3" creationId="{999732E7-7968-462F-959B-61873F75F4D1}"/>
          </ac:graphicFrameMkLst>
        </pc:graphicFrameChg>
        <pc:picChg chg="add mod">
          <ac:chgData name="Shattuck, David P" userId="15e4404a-eba0-4df0-87b7-d9f0b9b10528" providerId="ADAL" clId="{1689EB62-F557-4F06-B121-CEA5FBFD3031}" dt="2025-10-30T20:59:13.977" v="1647" actId="1076"/>
          <ac:picMkLst>
            <pc:docMk/>
            <pc:sldMk cId="2423994146" sldId="916"/>
            <ac:picMk id="9" creationId="{D14B4609-7FDB-4BCC-A8C3-527A4F7774E5}"/>
          </ac:picMkLst>
        </pc:picChg>
      </pc:sldChg>
      <pc:sldChg chg="addSp delSp modSp add mod">
        <pc:chgData name="Shattuck, David P" userId="15e4404a-eba0-4df0-87b7-d9f0b9b10528" providerId="ADAL" clId="{1689EB62-F557-4F06-B121-CEA5FBFD3031}" dt="2025-10-30T20:59:43.144" v="1651" actId="14100"/>
        <pc:sldMkLst>
          <pc:docMk/>
          <pc:sldMk cId="2741459149" sldId="917"/>
        </pc:sldMkLst>
        <pc:spChg chg="mod">
          <ac:chgData name="Shattuck, David P" userId="15e4404a-eba0-4df0-87b7-d9f0b9b10528" providerId="ADAL" clId="{1689EB62-F557-4F06-B121-CEA5FBFD3031}" dt="2025-10-30T20:49:04.122" v="1439" actId="20577"/>
          <ac:spMkLst>
            <pc:docMk/>
            <pc:sldMk cId="2741459149" sldId="917"/>
            <ac:spMk id="10" creationId="{7D81B732-59B9-4B7C-A5C5-9F4E10AA1DDF}"/>
          </ac:spMkLst>
        </pc:spChg>
        <pc:graphicFrameChg chg="del">
          <ac:chgData name="Shattuck, David P" userId="15e4404a-eba0-4df0-87b7-d9f0b9b10528" providerId="ADAL" clId="{1689EB62-F557-4F06-B121-CEA5FBFD3031}" dt="2025-10-30T20:52:31.476" v="1443" actId="478"/>
          <ac:graphicFrameMkLst>
            <pc:docMk/>
            <pc:sldMk cId="2741459149" sldId="917"/>
            <ac:graphicFrameMk id="2" creationId="{9D0E56A0-5378-40D3-AD4C-6E99DBDFEEA6}"/>
          </ac:graphicFrameMkLst>
        </pc:graphicFrameChg>
        <pc:graphicFrameChg chg="mod">
          <ac:chgData name="Shattuck, David P" userId="15e4404a-eba0-4df0-87b7-d9f0b9b10528" providerId="ADAL" clId="{1689EB62-F557-4F06-B121-CEA5FBFD3031}" dt="2025-10-30T20:52:29.038" v="1442" actId="1076"/>
          <ac:graphicFrameMkLst>
            <pc:docMk/>
            <pc:sldMk cId="2741459149" sldId="917"/>
            <ac:graphicFrameMk id="3" creationId="{999732E7-7968-462F-959B-61873F75F4D1}"/>
          </ac:graphicFrameMkLst>
        </pc:graphicFrameChg>
        <pc:picChg chg="add mod">
          <ac:chgData name="Shattuck, David P" userId="15e4404a-eba0-4df0-87b7-d9f0b9b10528" providerId="ADAL" clId="{1689EB62-F557-4F06-B121-CEA5FBFD3031}" dt="2025-10-30T20:59:43.144" v="1651" actId="14100"/>
          <ac:picMkLst>
            <pc:docMk/>
            <pc:sldMk cId="2741459149" sldId="917"/>
            <ac:picMk id="9" creationId="{9DEA2CAB-30E5-490C-B0C7-71722203CC78}"/>
          </ac:picMkLst>
        </pc:picChg>
      </pc:sldChg>
      <pc:sldChg chg="addSp delSp modSp add mod">
        <pc:chgData name="Shattuck, David P" userId="15e4404a-eba0-4df0-87b7-d9f0b9b10528" providerId="ADAL" clId="{1689EB62-F557-4F06-B121-CEA5FBFD3031}" dt="2025-10-30T20:57:35.152" v="1641" actId="1076"/>
        <pc:sldMkLst>
          <pc:docMk/>
          <pc:sldMk cId="2977446108" sldId="918"/>
        </pc:sldMkLst>
        <pc:spChg chg="mod">
          <ac:chgData name="Shattuck, David P" userId="15e4404a-eba0-4df0-87b7-d9f0b9b10528" providerId="ADAL" clId="{1689EB62-F557-4F06-B121-CEA5FBFD3031}" dt="2025-10-30T20:57:27.446" v="1640" actId="14100"/>
          <ac:spMkLst>
            <pc:docMk/>
            <pc:sldMk cId="2977446108" sldId="918"/>
            <ac:spMk id="10" creationId="{7D81B732-59B9-4B7C-A5C5-9F4E10AA1DDF}"/>
          </ac:spMkLst>
        </pc:spChg>
        <pc:graphicFrameChg chg="del">
          <ac:chgData name="Shattuck, David P" userId="15e4404a-eba0-4df0-87b7-d9f0b9b10528" providerId="ADAL" clId="{1689EB62-F557-4F06-B121-CEA5FBFD3031}" dt="2025-10-30T20:54:18.330" v="1531" actId="478"/>
          <ac:graphicFrameMkLst>
            <pc:docMk/>
            <pc:sldMk cId="2977446108" sldId="918"/>
            <ac:graphicFrameMk id="3" creationId="{999732E7-7968-462F-959B-61873F75F4D1}"/>
          </ac:graphicFrameMkLst>
        </pc:graphicFrameChg>
        <pc:picChg chg="add mod">
          <ac:chgData name="Shattuck, David P" userId="15e4404a-eba0-4df0-87b7-d9f0b9b10528" providerId="ADAL" clId="{1689EB62-F557-4F06-B121-CEA5FBFD3031}" dt="2025-10-30T20:57:12.968" v="1638" actId="14100"/>
          <ac:picMkLst>
            <pc:docMk/>
            <pc:sldMk cId="2977446108" sldId="918"/>
            <ac:picMk id="7" creationId="{E22F94C0-11C5-42B0-8609-E60D4C9F2813}"/>
          </ac:picMkLst>
        </pc:picChg>
        <pc:picChg chg="add mod">
          <ac:chgData name="Shattuck, David P" userId="15e4404a-eba0-4df0-87b7-d9f0b9b10528" providerId="ADAL" clId="{1689EB62-F557-4F06-B121-CEA5FBFD3031}" dt="2025-10-30T20:57:35.152" v="1641" actId="1076"/>
          <ac:picMkLst>
            <pc:docMk/>
            <pc:sldMk cId="2977446108" sldId="918"/>
            <ac:picMk id="9" creationId="{8E9ACB47-4F48-401C-A69B-E8B0F0E768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7C6F6764-BA7A-4B1A-BC73-A2933C9E5C0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en-US"/>
          </a:p>
        </p:txBody>
      </p:sp>
      <p:sp>
        <p:nvSpPr>
          <p:cNvPr id="75779" name="Rectangle 3">
            <a:extLst>
              <a:ext uri="{FF2B5EF4-FFF2-40B4-BE49-F238E27FC236}">
                <a16:creationId xmlns:a16="http://schemas.microsoft.com/office/drawing/2014/main" id="{F2DBA5B4-4C5E-418D-9357-87C5349C0695}"/>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75780" name="Rectangle 4">
            <a:extLst>
              <a:ext uri="{FF2B5EF4-FFF2-40B4-BE49-F238E27FC236}">
                <a16:creationId xmlns:a16="http://schemas.microsoft.com/office/drawing/2014/main" id="{2AD2702F-B414-4A26-AFA9-5DE1BBC8CCD1}"/>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5781" name="Rectangle 5">
            <a:extLst>
              <a:ext uri="{FF2B5EF4-FFF2-40B4-BE49-F238E27FC236}">
                <a16:creationId xmlns:a16="http://schemas.microsoft.com/office/drawing/2014/main" id="{EAC9C6FF-30BE-417B-B97A-38C82CE4F29F}"/>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75782" name="Rectangle 6">
            <a:extLst>
              <a:ext uri="{FF2B5EF4-FFF2-40B4-BE49-F238E27FC236}">
                <a16:creationId xmlns:a16="http://schemas.microsoft.com/office/drawing/2014/main" id="{4B3F73E2-27C4-4D12-BCDC-12E63FCBB011}"/>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en-US"/>
          </a:p>
        </p:txBody>
      </p:sp>
      <p:sp>
        <p:nvSpPr>
          <p:cNvPr id="75783" name="Rectangle 7">
            <a:extLst>
              <a:ext uri="{FF2B5EF4-FFF2-40B4-BE49-F238E27FC236}">
                <a16:creationId xmlns:a16="http://schemas.microsoft.com/office/drawing/2014/main" id="{1BCE5B7C-9439-4C16-98A2-7B8B8FB02BFF}"/>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00E7EE6B-827B-4C37-90D5-C903F03E668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DBFB4B0-0C12-4E19-969E-DD58535F2014}"/>
              </a:ext>
            </a:extLst>
          </p:cNvPr>
          <p:cNvSpPr>
            <a:spLocks noGrp="1" noChangeArrowheads="1"/>
          </p:cNvSpPr>
          <p:nvPr>
            <p:ph type="sldNum" sz="quarter" idx="5"/>
          </p:nvPr>
        </p:nvSpPr>
        <p:spPr>
          <a:ln/>
        </p:spPr>
        <p:txBody>
          <a:bodyPr/>
          <a:lstStyle/>
          <a:p>
            <a:fld id="{5DBC011E-E4D7-4C24-9F3C-333F3122E384}" type="slidenum">
              <a:rPr lang="en-US" altLang="en-US"/>
              <a:pPr/>
              <a:t>2</a:t>
            </a:fld>
            <a:endParaRPr lang="en-US" altLang="en-US"/>
          </a:p>
        </p:txBody>
      </p:sp>
      <p:sp>
        <p:nvSpPr>
          <p:cNvPr id="1213442" name="Rectangle 2">
            <a:extLst>
              <a:ext uri="{FF2B5EF4-FFF2-40B4-BE49-F238E27FC236}">
                <a16:creationId xmlns:a16="http://schemas.microsoft.com/office/drawing/2014/main" id="{4E7D96F7-9A71-44B5-99A1-9E0B64C3309E}"/>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13443" name="Rectangle 3">
            <a:extLst>
              <a:ext uri="{FF2B5EF4-FFF2-40B4-BE49-F238E27FC236}">
                <a16:creationId xmlns:a16="http://schemas.microsoft.com/office/drawing/2014/main" id="{F0235050-FD9A-4C26-B845-A64F7736F4F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BBD21F-21AF-4E81-BE8E-C303E9D907D2}" type="slidenum">
              <a:rPr lang="en-US"/>
              <a:pPr/>
              <a:t>3</a:t>
            </a:fld>
            <a:endParaRPr lang="en-US"/>
          </a:p>
        </p:txBody>
      </p:sp>
      <p:sp>
        <p:nvSpPr>
          <p:cNvPr id="1112066" name="Rectangle 2"/>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112067"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dirty="0"/>
          </a:p>
        </p:txBody>
      </p:sp>
    </p:spTree>
    <p:extLst>
      <p:ext uri="{BB962C8B-B14F-4D97-AF65-F5344CB8AC3E}">
        <p14:creationId xmlns:p14="http://schemas.microsoft.com/office/powerpoint/2010/main" val="38384663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a:extLst>
              <a:ext uri="{FF2B5EF4-FFF2-40B4-BE49-F238E27FC236}">
                <a16:creationId xmlns:a16="http://schemas.microsoft.com/office/drawing/2014/main" id="{2FB60389-CADF-4FB9-8507-8D94E1531152}"/>
              </a:ext>
            </a:extLst>
          </p:cNvPr>
          <p:cNvSpPr>
            <a:spLocks noGrp="1" noChangeArrowheads="1"/>
          </p:cNvSpPr>
          <p:nvPr>
            <p:ph type="sldNum" sz="quarter" idx="5"/>
          </p:nvPr>
        </p:nvSpPr>
        <p:spPr>
          <a:ln/>
        </p:spPr>
        <p:txBody>
          <a:bodyPr/>
          <a:lstStyle/>
          <a:p>
            <a:fld id="{2CA6B103-57C7-4B6C-9F7A-6E3020A9807C}" type="slidenum">
              <a:rPr lang="en-US" altLang="en-US"/>
              <a:pPr/>
              <a:t>4</a:t>
            </a:fld>
            <a:endParaRPr lang="en-US" altLang="en-US"/>
          </a:p>
        </p:txBody>
      </p:sp>
      <p:sp>
        <p:nvSpPr>
          <p:cNvPr id="444418" name="Rectangle 2">
            <a:extLst>
              <a:ext uri="{FF2B5EF4-FFF2-40B4-BE49-F238E27FC236}">
                <a16:creationId xmlns:a16="http://schemas.microsoft.com/office/drawing/2014/main" id="{9006D585-EF1B-41D5-9A92-64FEE8A26D79}"/>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444419" name="Rectangle 3">
            <a:extLst>
              <a:ext uri="{FF2B5EF4-FFF2-40B4-BE49-F238E27FC236}">
                <a16:creationId xmlns:a16="http://schemas.microsoft.com/office/drawing/2014/main" id="{D1992A86-7441-49B4-AC4D-14C71379C445}"/>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1CA8441-A0DC-4379-996F-86F80DC20B59}"/>
              </a:ext>
            </a:extLst>
          </p:cNvPr>
          <p:cNvSpPr>
            <a:spLocks noGrp="1" noChangeArrowheads="1"/>
          </p:cNvSpPr>
          <p:nvPr>
            <p:ph type="sldNum" sz="quarter" idx="5"/>
          </p:nvPr>
        </p:nvSpPr>
        <p:spPr>
          <a:ln/>
        </p:spPr>
        <p:txBody>
          <a:bodyPr/>
          <a:lstStyle/>
          <a:p>
            <a:fld id="{FD5CD490-2663-45AC-9B73-108F545E6256}" type="slidenum">
              <a:rPr lang="en-US" altLang="en-US"/>
              <a:pPr/>
              <a:t>5</a:t>
            </a:fld>
            <a:endParaRPr lang="en-US" altLang="en-US"/>
          </a:p>
        </p:txBody>
      </p:sp>
      <p:sp>
        <p:nvSpPr>
          <p:cNvPr id="1217538" name="Rectangle 2">
            <a:extLst>
              <a:ext uri="{FF2B5EF4-FFF2-40B4-BE49-F238E27FC236}">
                <a16:creationId xmlns:a16="http://schemas.microsoft.com/office/drawing/2014/main" id="{2B1E2BA3-4E94-46BC-AB12-9B037574CEEB}"/>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17539" name="Rectangle 3">
            <a:extLst>
              <a:ext uri="{FF2B5EF4-FFF2-40B4-BE49-F238E27FC236}">
                <a16:creationId xmlns:a16="http://schemas.microsoft.com/office/drawing/2014/main" id="{D89F608D-AFF3-4667-A1DA-8A66451AE3C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6</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7</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5092165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5DBE64-44CC-46F9-B619-F706A0827238}"/>
              </a:ext>
            </a:extLst>
          </p:cNvPr>
          <p:cNvSpPr>
            <a:spLocks noGrp="1" noChangeArrowheads="1"/>
          </p:cNvSpPr>
          <p:nvPr>
            <p:ph type="sldNum" sz="quarter" idx="5"/>
          </p:nvPr>
        </p:nvSpPr>
        <p:spPr>
          <a:ln/>
        </p:spPr>
        <p:txBody>
          <a:bodyPr/>
          <a:lstStyle/>
          <a:p>
            <a:fld id="{F7034E6B-C52F-473C-A565-E82A73D2F7A6}" type="slidenum">
              <a:rPr lang="en-US" altLang="en-US"/>
              <a:pPr/>
              <a:t>8</a:t>
            </a:fld>
            <a:endParaRPr lang="en-US" altLang="en-US"/>
          </a:p>
        </p:txBody>
      </p:sp>
      <p:sp>
        <p:nvSpPr>
          <p:cNvPr id="1272834" name="Rectangle 2">
            <a:extLst>
              <a:ext uri="{FF2B5EF4-FFF2-40B4-BE49-F238E27FC236}">
                <a16:creationId xmlns:a16="http://schemas.microsoft.com/office/drawing/2014/main" id="{A1CD0B15-67A5-4B44-ADEB-2441318143B0}"/>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2835" name="Rectangle 3">
            <a:extLst>
              <a:ext uri="{FF2B5EF4-FFF2-40B4-BE49-F238E27FC236}">
                <a16:creationId xmlns:a16="http://schemas.microsoft.com/office/drawing/2014/main" id="{92D17CF0-C1F7-435D-A051-011D077AC896}"/>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745892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ABE6CD2-5B52-47C6-B20D-26B9F2CA5B46}"/>
              </a:ext>
            </a:extLst>
          </p:cNvPr>
          <p:cNvSpPr>
            <a:spLocks noGrp="1" noChangeArrowheads="1"/>
          </p:cNvSpPr>
          <p:nvPr>
            <p:ph type="sldNum" sz="quarter" idx="5"/>
          </p:nvPr>
        </p:nvSpPr>
        <p:spPr>
          <a:ln/>
        </p:spPr>
        <p:txBody>
          <a:bodyPr/>
          <a:lstStyle/>
          <a:p>
            <a:fld id="{18B7AAE6-3061-4F55-9FB4-D0BB6AECB168}" type="slidenum">
              <a:rPr lang="en-US" altLang="en-US"/>
              <a:pPr/>
              <a:t>9</a:t>
            </a:fld>
            <a:endParaRPr lang="en-US" altLang="en-US"/>
          </a:p>
        </p:txBody>
      </p:sp>
      <p:sp>
        <p:nvSpPr>
          <p:cNvPr id="1274882" name="Rectangle 2">
            <a:extLst>
              <a:ext uri="{FF2B5EF4-FFF2-40B4-BE49-F238E27FC236}">
                <a16:creationId xmlns:a16="http://schemas.microsoft.com/office/drawing/2014/main" id="{3E02F7C8-A69B-46AF-816E-72CFB7DA5436}"/>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4883" name="Rectangle 3">
            <a:extLst>
              <a:ext uri="{FF2B5EF4-FFF2-40B4-BE49-F238E27FC236}">
                <a16:creationId xmlns:a16="http://schemas.microsoft.com/office/drawing/2014/main" id="{A6C35F7D-03C1-4EDF-95E6-3816034F327E}"/>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FD0C785-9998-4D83-B5E8-95F7434216AC}"/>
              </a:ext>
            </a:extLst>
          </p:cNvPr>
          <p:cNvSpPr>
            <a:spLocks noGrp="1" noChangeArrowheads="1"/>
          </p:cNvSpPr>
          <p:nvPr>
            <p:ph type="sldNum" sz="quarter" idx="5"/>
          </p:nvPr>
        </p:nvSpPr>
        <p:spPr>
          <a:ln/>
        </p:spPr>
        <p:txBody>
          <a:bodyPr/>
          <a:lstStyle/>
          <a:p>
            <a:fld id="{6D01DC39-E766-435C-BB77-CB32E7764B74}" type="slidenum">
              <a:rPr lang="en-US" altLang="en-US"/>
              <a:pPr/>
              <a:t>10</a:t>
            </a:fld>
            <a:endParaRPr lang="en-US" altLang="en-US"/>
          </a:p>
        </p:txBody>
      </p:sp>
      <p:sp>
        <p:nvSpPr>
          <p:cNvPr id="1276930" name="Rectangle 2">
            <a:extLst>
              <a:ext uri="{FF2B5EF4-FFF2-40B4-BE49-F238E27FC236}">
                <a16:creationId xmlns:a16="http://schemas.microsoft.com/office/drawing/2014/main" id="{20369828-B7B1-403D-A1AB-1C562712E1BF}"/>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6931" name="Rectangle 3">
            <a:extLst>
              <a:ext uri="{FF2B5EF4-FFF2-40B4-BE49-F238E27FC236}">
                <a16:creationId xmlns:a16="http://schemas.microsoft.com/office/drawing/2014/main" id="{0AD854F2-CDE9-47E0-8BD7-324FF963D5CB}"/>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4946CC4-114A-4F1E-A04A-AAA1F1EFEFF0}"/>
              </a:ext>
            </a:extLst>
          </p:cNvPr>
          <p:cNvSpPr>
            <a:spLocks noGrp="1" noChangeArrowheads="1"/>
          </p:cNvSpPr>
          <p:nvPr>
            <p:ph type="sldNum" sz="quarter" idx="5"/>
          </p:nvPr>
        </p:nvSpPr>
        <p:spPr>
          <a:ln/>
        </p:spPr>
        <p:txBody>
          <a:bodyPr/>
          <a:lstStyle/>
          <a:p>
            <a:fld id="{16C79136-2AC7-4773-B873-74B5D116B5F8}" type="slidenum">
              <a:rPr lang="en-US" altLang="en-US"/>
              <a:pPr/>
              <a:t>11</a:t>
            </a:fld>
            <a:endParaRPr lang="en-US" altLang="en-US"/>
          </a:p>
        </p:txBody>
      </p:sp>
      <p:sp>
        <p:nvSpPr>
          <p:cNvPr id="1278978" name="Rectangle 2">
            <a:extLst>
              <a:ext uri="{FF2B5EF4-FFF2-40B4-BE49-F238E27FC236}">
                <a16:creationId xmlns:a16="http://schemas.microsoft.com/office/drawing/2014/main" id="{50AAF611-DC01-4543-9382-4C1CA011FE3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78979" name="Rectangle 3">
            <a:extLst>
              <a:ext uri="{FF2B5EF4-FFF2-40B4-BE49-F238E27FC236}">
                <a16:creationId xmlns:a16="http://schemas.microsoft.com/office/drawing/2014/main" id="{62EABC51-BE04-468E-AB57-4A402C5EE2FA}"/>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12</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13</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1540981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14</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9844681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15</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101759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16</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9868510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383D9E9-BD58-409E-9533-9434F853EC32}"/>
              </a:ext>
            </a:extLst>
          </p:cNvPr>
          <p:cNvSpPr>
            <a:spLocks noGrp="1" noChangeArrowheads="1"/>
          </p:cNvSpPr>
          <p:nvPr>
            <p:ph type="sldNum" sz="quarter" idx="5"/>
          </p:nvPr>
        </p:nvSpPr>
        <p:spPr>
          <a:ln/>
        </p:spPr>
        <p:txBody>
          <a:bodyPr/>
          <a:lstStyle/>
          <a:p>
            <a:fld id="{CE1F651C-423F-412D-9504-9EB8F9038E39}" type="slidenum">
              <a:rPr lang="en-US" altLang="en-US"/>
              <a:pPr/>
              <a:t>17</a:t>
            </a:fld>
            <a:endParaRPr lang="en-US" altLang="en-US"/>
          </a:p>
        </p:txBody>
      </p:sp>
      <p:sp>
        <p:nvSpPr>
          <p:cNvPr id="1283074" name="Rectangle 2">
            <a:extLst>
              <a:ext uri="{FF2B5EF4-FFF2-40B4-BE49-F238E27FC236}">
                <a16:creationId xmlns:a16="http://schemas.microsoft.com/office/drawing/2014/main" id="{0B8153E3-730F-4155-9E8F-0252BB1D3D5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3075" name="Rectangle 3">
            <a:extLst>
              <a:ext uri="{FF2B5EF4-FFF2-40B4-BE49-F238E27FC236}">
                <a16:creationId xmlns:a16="http://schemas.microsoft.com/office/drawing/2014/main" id="{E2C5D857-E78F-4BDD-BD69-F82C3194392D}"/>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611B98-9BB1-4A5A-BA05-CEC93D168C32}"/>
              </a:ext>
            </a:extLst>
          </p:cNvPr>
          <p:cNvSpPr>
            <a:spLocks noGrp="1" noChangeArrowheads="1"/>
          </p:cNvSpPr>
          <p:nvPr>
            <p:ph type="sldNum" sz="quarter" idx="5"/>
          </p:nvPr>
        </p:nvSpPr>
        <p:spPr>
          <a:ln/>
        </p:spPr>
        <p:txBody>
          <a:bodyPr/>
          <a:lstStyle/>
          <a:p>
            <a:fld id="{CEF8628C-2088-41AD-BD4A-11783F3C541E}" type="slidenum">
              <a:rPr lang="en-US" altLang="en-US"/>
              <a:pPr/>
              <a:t>18</a:t>
            </a:fld>
            <a:endParaRPr lang="en-US" altLang="en-US"/>
          </a:p>
        </p:txBody>
      </p:sp>
      <p:sp>
        <p:nvSpPr>
          <p:cNvPr id="1285122" name="Rectangle 2">
            <a:extLst>
              <a:ext uri="{FF2B5EF4-FFF2-40B4-BE49-F238E27FC236}">
                <a16:creationId xmlns:a16="http://schemas.microsoft.com/office/drawing/2014/main" id="{E02CD671-4301-4C7F-B236-431C64EFCD8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5123" name="Rectangle 3">
            <a:extLst>
              <a:ext uri="{FF2B5EF4-FFF2-40B4-BE49-F238E27FC236}">
                <a16:creationId xmlns:a16="http://schemas.microsoft.com/office/drawing/2014/main" id="{F0720A61-9C13-4EC4-9349-D30A9EDA3AF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19</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20</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363040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21</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588974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22</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4785055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23</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38079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24</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390080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25</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2055116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26</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17316527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27</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6659417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28</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5398114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29</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7256409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30</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152535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31</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4672524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662F722-0DC7-4E7F-93A3-09D68252BF3D}"/>
              </a:ext>
            </a:extLst>
          </p:cNvPr>
          <p:cNvSpPr>
            <a:spLocks noGrp="1" noChangeArrowheads="1"/>
          </p:cNvSpPr>
          <p:nvPr>
            <p:ph type="sldNum" sz="quarter" idx="5"/>
          </p:nvPr>
        </p:nvSpPr>
        <p:spPr>
          <a:ln/>
        </p:spPr>
        <p:txBody>
          <a:bodyPr/>
          <a:lstStyle/>
          <a:p>
            <a:fld id="{A2734AE5-A4E5-4895-8A9D-97A85BDF1CA8}" type="slidenum">
              <a:rPr lang="en-US" altLang="en-US"/>
              <a:pPr/>
              <a:t>32</a:t>
            </a:fld>
            <a:endParaRPr lang="en-US" altLang="en-US"/>
          </a:p>
        </p:txBody>
      </p:sp>
      <p:sp>
        <p:nvSpPr>
          <p:cNvPr id="1291266" name="Rectangle 2">
            <a:extLst>
              <a:ext uri="{FF2B5EF4-FFF2-40B4-BE49-F238E27FC236}">
                <a16:creationId xmlns:a16="http://schemas.microsoft.com/office/drawing/2014/main" id="{A66FA455-9C57-4E05-A4DF-A8D377A3AB6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91267" name="Rectangle 3">
            <a:extLst>
              <a:ext uri="{FF2B5EF4-FFF2-40B4-BE49-F238E27FC236}">
                <a16:creationId xmlns:a16="http://schemas.microsoft.com/office/drawing/2014/main" id="{A2A7E2EF-4B07-405C-AC42-3C7A61B26A4F}"/>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A9EDA3A-06BC-4A8C-B06A-C36EDAF2302A}"/>
              </a:ext>
            </a:extLst>
          </p:cNvPr>
          <p:cNvSpPr>
            <a:spLocks noGrp="1" noChangeArrowheads="1"/>
          </p:cNvSpPr>
          <p:nvPr>
            <p:ph type="sldNum" sz="quarter" idx="5"/>
          </p:nvPr>
        </p:nvSpPr>
        <p:spPr>
          <a:ln/>
        </p:spPr>
        <p:txBody>
          <a:bodyPr/>
          <a:lstStyle/>
          <a:p>
            <a:fld id="{D7A81EFC-2CEA-4CCF-93C8-5510169FE9DE}" type="slidenum">
              <a:rPr lang="en-US" altLang="en-US"/>
              <a:pPr/>
              <a:t>33</a:t>
            </a:fld>
            <a:endParaRPr lang="en-US" altLang="en-US"/>
          </a:p>
        </p:txBody>
      </p:sp>
      <p:sp>
        <p:nvSpPr>
          <p:cNvPr id="1293314" name="Rectangle 2">
            <a:extLst>
              <a:ext uri="{FF2B5EF4-FFF2-40B4-BE49-F238E27FC236}">
                <a16:creationId xmlns:a16="http://schemas.microsoft.com/office/drawing/2014/main" id="{5D59D929-6F7A-4D62-89E2-C90716BBB58C}"/>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93315" name="Rectangle 3">
            <a:extLst>
              <a:ext uri="{FF2B5EF4-FFF2-40B4-BE49-F238E27FC236}">
                <a16:creationId xmlns:a16="http://schemas.microsoft.com/office/drawing/2014/main" id="{A2F9B052-52CF-4F93-A1BE-4FD1ED5E9CC1}"/>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3DAF138-906F-4A5A-BBF9-F99B5023A33C}"/>
              </a:ext>
            </a:extLst>
          </p:cNvPr>
          <p:cNvSpPr>
            <a:spLocks noGrp="1" noChangeArrowheads="1"/>
          </p:cNvSpPr>
          <p:nvPr>
            <p:ph type="sldNum" sz="quarter" idx="5"/>
          </p:nvPr>
        </p:nvSpPr>
        <p:spPr>
          <a:ln/>
        </p:spPr>
        <p:txBody>
          <a:bodyPr/>
          <a:lstStyle/>
          <a:p>
            <a:fld id="{C3F85C88-86B7-425A-B2C7-6DF2EF7F400C}" type="slidenum">
              <a:rPr lang="en-US" altLang="en-US"/>
              <a:pPr/>
              <a:t>34</a:t>
            </a:fld>
            <a:endParaRPr lang="en-US" altLang="en-US"/>
          </a:p>
        </p:txBody>
      </p:sp>
      <p:sp>
        <p:nvSpPr>
          <p:cNvPr id="1295362" name="Rectangle 2">
            <a:extLst>
              <a:ext uri="{FF2B5EF4-FFF2-40B4-BE49-F238E27FC236}">
                <a16:creationId xmlns:a16="http://schemas.microsoft.com/office/drawing/2014/main" id="{4FD544B1-259B-4DEF-AA4C-22933DDD26E5}"/>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95363" name="Rectangle 3">
            <a:extLst>
              <a:ext uri="{FF2B5EF4-FFF2-40B4-BE49-F238E27FC236}">
                <a16:creationId xmlns:a16="http://schemas.microsoft.com/office/drawing/2014/main" id="{09E78909-7261-49FB-8ADB-1251BC928A33}"/>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35</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18936263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36</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09403033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37</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1922582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F4E15C8-AE0D-43D2-9246-C1BC8C5D3009}"/>
              </a:ext>
            </a:extLst>
          </p:cNvPr>
          <p:cNvSpPr>
            <a:spLocks noGrp="1" noChangeArrowheads="1"/>
          </p:cNvSpPr>
          <p:nvPr>
            <p:ph type="sldNum" sz="quarter" idx="5"/>
          </p:nvPr>
        </p:nvSpPr>
        <p:spPr>
          <a:ln/>
        </p:spPr>
        <p:txBody>
          <a:bodyPr/>
          <a:lstStyle/>
          <a:p>
            <a:fld id="{08ACDC96-5D0A-4699-80A3-9A5C27C5FE96}" type="slidenum">
              <a:rPr lang="en-US" altLang="en-US"/>
              <a:pPr/>
              <a:t>38</a:t>
            </a:fld>
            <a:endParaRPr lang="en-US" altLang="en-US"/>
          </a:p>
        </p:txBody>
      </p:sp>
      <p:sp>
        <p:nvSpPr>
          <p:cNvPr id="1281026" name="Rectangle 2">
            <a:extLst>
              <a:ext uri="{FF2B5EF4-FFF2-40B4-BE49-F238E27FC236}">
                <a16:creationId xmlns:a16="http://schemas.microsoft.com/office/drawing/2014/main" id="{9674A0CF-4C40-4A7B-9359-260B12CF1687}"/>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1027" name="Rectangle 3">
            <a:extLst>
              <a:ext uri="{FF2B5EF4-FFF2-40B4-BE49-F238E27FC236}">
                <a16:creationId xmlns:a16="http://schemas.microsoft.com/office/drawing/2014/main" id="{1A1F0F35-3EC7-464A-9903-989875C29590}"/>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6860627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39</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7776267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40</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6837380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41</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18798556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42</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9634778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43</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39880062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44</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40782886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717D67-4E39-4E2A-9578-7C8C7D6594AC}"/>
              </a:ext>
            </a:extLst>
          </p:cNvPr>
          <p:cNvSpPr>
            <a:spLocks noGrp="1" noChangeArrowheads="1"/>
          </p:cNvSpPr>
          <p:nvPr>
            <p:ph type="sldNum" sz="quarter" idx="5"/>
          </p:nvPr>
        </p:nvSpPr>
        <p:spPr>
          <a:ln/>
        </p:spPr>
        <p:txBody>
          <a:bodyPr/>
          <a:lstStyle/>
          <a:p>
            <a:fld id="{32756913-11C1-4BCA-BB1D-88A0D50606CF}" type="slidenum">
              <a:rPr lang="en-US" altLang="en-US"/>
              <a:pPr/>
              <a:t>45</a:t>
            </a:fld>
            <a:endParaRPr lang="en-US" altLang="en-US"/>
          </a:p>
        </p:txBody>
      </p:sp>
      <p:sp>
        <p:nvSpPr>
          <p:cNvPr id="1287170" name="Rectangle 2">
            <a:extLst>
              <a:ext uri="{FF2B5EF4-FFF2-40B4-BE49-F238E27FC236}">
                <a16:creationId xmlns:a16="http://schemas.microsoft.com/office/drawing/2014/main" id="{2A0491C1-1196-477B-993E-8BB209DACE42}"/>
              </a:ext>
            </a:extLst>
          </p:cNvPr>
          <p:cNvSpPr>
            <a:spLocks noGrp="1" noRot="1" noChangeAspect="1" noChangeArrowheads="1" noTextEdit="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p:spPr>
      </p:sp>
      <p:sp>
        <p:nvSpPr>
          <p:cNvPr id="1287171" name="Rectangle 3">
            <a:extLst>
              <a:ext uri="{FF2B5EF4-FFF2-40B4-BE49-F238E27FC236}">
                <a16:creationId xmlns:a16="http://schemas.microsoft.com/office/drawing/2014/main" id="{C8B3C7C2-87D5-4F16-AFBA-65C4F8D2E397}"/>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a:lstStyle/>
          <a:p>
            <a:endParaRPr lang="en-US" altLang="en-US"/>
          </a:p>
        </p:txBody>
      </p:sp>
    </p:spTree>
    <p:extLst>
      <p:ext uri="{BB962C8B-B14F-4D97-AF65-F5344CB8AC3E}">
        <p14:creationId xmlns:p14="http://schemas.microsoft.com/office/powerpoint/2010/main" val="26001496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1746" name="Group 2">
            <a:extLst>
              <a:ext uri="{FF2B5EF4-FFF2-40B4-BE49-F238E27FC236}">
                <a16:creationId xmlns:a16="http://schemas.microsoft.com/office/drawing/2014/main" id="{584EA5FF-22AD-4174-8E1D-5241D170FC4E}"/>
              </a:ext>
            </a:extLst>
          </p:cNvPr>
          <p:cNvGrpSpPr>
            <a:grpSpLocks/>
          </p:cNvGrpSpPr>
          <p:nvPr/>
        </p:nvGrpSpPr>
        <p:grpSpPr bwMode="auto">
          <a:xfrm>
            <a:off x="457200" y="2363788"/>
            <a:ext cx="8153400" cy="1600200"/>
            <a:chOff x="288" y="1489"/>
            <a:chExt cx="5136" cy="1008"/>
          </a:xfrm>
        </p:grpSpPr>
        <p:sp>
          <p:nvSpPr>
            <p:cNvPr id="31747" name="Arc 3">
              <a:extLst>
                <a:ext uri="{FF2B5EF4-FFF2-40B4-BE49-F238E27FC236}">
                  <a16:creationId xmlns:a16="http://schemas.microsoft.com/office/drawing/2014/main" id="{0867671D-AE46-48C8-91D1-238E746C2C2B}"/>
                </a:ext>
              </a:extLst>
            </p:cNvPr>
            <p:cNvSpPr>
              <a:spLocks/>
            </p:cNvSpPr>
            <p:nvPr/>
          </p:nvSpPr>
          <p:spPr bwMode="invGray">
            <a:xfrm>
              <a:off x="3595" y="1489"/>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path>
                <a:path w="21912" h="43200" stroke="0"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lnTo>
                    <a:pt x="312" y="21600"/>
                  </a:lnTo>
                  <a:close/>
                </a:path>
              </a:pathLst>
            </a:custGeom>
            <a:gradFill rotWithShape="0">
              <a:gsLst>
                <a:gs pos="0">
                  <a:schemeClr val="bg1"/>
                </a:gs>
                <a:gs pos="100000">
                  <a:srgbClr val="6633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8" name="Arc 4">
              <a:extLst>
                <a:ext uri="{FF2B5EF4-FFF2-40B4-BE49-F238E27FC236}">
                  <a16:creationId xmlns:a16="http://schemas.microsoft.com/office/drawing/2014/main" id="{AF6C3458-D397-48F8-96A6-4CDB26BFC3DB}"/>
                </a:ext>
              </a:extLst>
            </p:cNvPr>
            <p:cNvSpPr>
              <a:spLocks/>
            </p:cNvSpPr>
            <p:nvPr/>
          </p:nvSpPr>
          <p:spPr bwMode="invGray">
            <a:xfrm>
              <a:off x="3548" y="1593"/>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path>
                <a:path w="21924" h="43200" stroke="0"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lnTo>
                    <a:pt x="324" y="21600"/>
                  </a:lnTo>
                  <a:close/>
                </a:path>
              </a:pathLst>
            </a:custGeom>
            <a:gradFill rotWithShape="0">
              <a:gsLst>
                <a:gs pos="0">
                  <a:schemeClr val="bg1"/>
                </a:gs>
                <a:gs pos="100000">
                  <a:srgbClr val="8944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49" name="Arc 5">
              <a:extLst>
                <a:ext uri="{FF2B5EF4-FFF2-40B4-BE49-F238E27FC236}">
                  <a16:creationId xmlns:a16="http://schemas.microsoft.com/office/drawing/2014/main" id="{86E413BE-7F6B-436B-BB74-8D0DB8DE80C0}"/>
                </a:ext>
              </a:extLst>
            </p:cNvPr>
            <p:cNvSpPr>
              <a:spLocks/>
            </p:cNvSpPr>
            <p:nvPr/>
          </p:nvSpPr>
          <p:spPr bwMode="invGray">
            <a:xfrm>
              <a:off x="3521" y="1732"/>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path>
                <a:path w="21925" h="43200" stroke="0"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lnTo>
                    <a:pt x="325" y="21600"/>
                  </a:lnTo>
                  <a:close/>
                </a:path>
              </a:pathLst>
            </a:custGeom>
            <a:gradFill rotWithShape="0">
              <a:gsLst>
                <a:gs pos="0">
                  <a:schemeClr val="bg1"/>
                </a:gs>
                <a:gs pos="100000">
                  <a:srgbClr val="B75B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750" name="AutoShape 6">
              <a:extLst>
                <a:ext uri="{FF2B5EF4-FFF2-40B4-BE49-F238E27FC236}">
                  <a16:creationId xmlns:a16="http://schemas.microsoft.com/office/drawing/2014/main" id="{3107F548-4E2A-4D87-B78A-D250E459FBA1}"/>
                </a:ext>
              </a:extLst>
            </p:cNvPr>
            <p:cNvSpPr>
              <a:spLocks noChangeArrowheads="1"/>
            </p:cNvSpPr>
            <p:nvPr/>
          </p:nvSpPr>
          <p:spPr bwMode="invGray">
            <a:xfrm>
              <a:off x="288" y="1940"/>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1751" name="Rectangle 7">
            <a:extLst>
              <a:ext uri="{FF2B5EF4-FFF2-40B4-BE49-F238E27FC236}">
                <a16:creationId xmlns:a16="http://schemas.microsoft.com/office/drawing/2014/main" id="{800806AD-F814-4746-BD16-828BDDE50898}"/>
              </a:ext>
            </a:extLst>
          </p:cNvPr>
          <p:cNvSpPr>
            <a:spLocks noGrp="1" noChangeArrowheads="1"/>
          </p:cNvSpPr>
          <p:nvPr>
            <p:ph type="ctrTitle" sz="quarter"/>
          </p:nvPr>
        </p:nvSpPr>
        <p:spPr>
          <a:xfrm>
            <a:off x="685800" y="1447800"/>
            <a:ext cx="7772400" cy="1143000"/>
          </a:xfrm>
        </p:spPr>
        <p:txBody>
          <a:bodyPr/>
          <a:lstStyle>
            <a:lvl1pPr>
              <a:defRPr/>
            </a:lvl1pPr>
          </a:lstStyle>
          <a:p>
            <a:pPr lvl="0"/>
            <a:r>
              <a:rPr lang="en-US" altLang="en-US" noProof="0"/>
              <a:t>Click to edit Master title style</a:t>
            </a:r>
          </a:p>
        </p:txBody>
      </p:sp>
      <p:sp>
        <p:nvSpPr>
          <p:cNvPr id="31752" name="Rectangle 8">
            <a:extLst>
              <a:ext uri="{FF2B5EF4-FFF2-40B4-BE49-F238E27FC236}">
                <a16:creationId xmlns:a16="http://schemas.microsoft.com/office/drawing/2014/main" id="{6CABDF82-B315-4769-B715-C90D39CE188F}"/>
              </a:ext>
            </a:extLst>
          </p:cNvPr>
          <p:cNvSpPr>
            <a:spLocks noGrp="1" noChangeArrowheads="1"/>
          </p:cNvSpPr>
          <p:nvPr>
            <p:ph type="subTitle" sz="quarter" idx="1"/>
          </p:nvPr>
        </p:nvSpPr>
        <p:spPr>
          <a:xfrm>
            <a:off x="1371600" y="3733800"/>
            <a:ext cx="6400800" cy="1752600"/>
          </a:xfrm>
        </p:spPr>
        <p:txBody>
          <a:bodyPr/>
          <a:lstStyle>
            <a:lvl1pPr marL="0" indent="0" algn="ctr">
              <a:buFontTx/>
              <a:buNone/>
              <a:defRPr/>
            </a:lvl1pPr>
          </a:lstStyle>
          <a:p>
            <a:pPr lvl="0"/>
            <a:r>
              <a:rPr lang="en-US" altLang="en-US" noProof="0"/>
              <a:t>Click to edit Master subtitle style</a:t>
            </a:r>
          </a:p>
        </p:txBody>
      </p:sp>
      <p:sp>
        <p:nvSpPr>
          <p:cNvPr id="31753" name="Rectangle 9">
            <a:extLst>
              <a:ext uri="{FF2B5EF4-FFF2-40B4-BE49-F238E27FC236}">
                <a16:creationId xmlns:a16="http://schemas.microsoft.com/office/drawing/2014/main" id="{41185790-73B8-4A86-ABC4-E4F3E154B43E}"/>
              </a:ext>
            </a:extLst>
          </p:cNvPr>
          <p:cNvSpPr>
            <a:spLocks noGrp="1" noChangeArrowheads="1"/>
          </p:cNvSpPr>
          <p:nvPr>
            <p:ph type="dt" sz="quarter" idx="2"/>
          </p:nvPr>
        </p:nvSpPr>
        <p:spPr/>
        <p:txBody>
          <a:bodyPr/>
          <a:lstStyle>
            <a:lvl1pPr>
              <a:defRPr/>
            </a:lvl1pPr>
          </a:lstStyle>
          <a:p>
            <a:endParaRPr lang="en-US" altLang="en-US"/>
          </a:p>
        </p:txBody>
      </p:sp>
      <p:sp>
        <p:nvSpPr>
          <p:cNvPr id="31754" name="Rectangle 10">
            <a:extLst>
              <a:ext uri="{FF2B5EF4-FFF2-40B4-BE49-F238E27FC236}">
                <a16:creationId xmlns:a16="http://schemas.microsoft.com/office/drawing/2014/main" id="{0374E080-C16A-41F8-999E-F3755EFE687D}"/>
              </a:ext>
            </a:extLst>
          </p:cNvPr>
          <p:cNvSpPr>
            <a:spLocks noGrp="1" noChangeArrowheads="1"/>
          </p:cNvSpPr>
          <p:nvPr>
            <p:ph type="ftr" sz="quarter" idx="3"/>
          </p:nvPr>
        </p:nvSpPr>
        <p:spPr/>
        <p:txBody>
          <a:bodyPr/>
          <a:lstStyle>
            <a:lvl1pPr>
              <a:defRPr/>
            </a:lvl1pPr>
          </a:lstStyle>
          <a:p>
            <a:endParaRPr lang="en-US" altLang="en-US"/>
          </a:p>
        </p:txBody>
      </p:sp>
      <p:sp>
        <p:nvSpPr>
          <p:cNvPr id="31755" name="Rectangle 11">
            <a:extLst>
              <a:ext uri="{FF2B5EF4-FFF2-40B4-BE49-F238E27FC236}">
                <a16:creationId xmlns:a16="http://schemas.microsoft.com/office/drawing/2014/main" id="{89AA0ADF-4CBC-4DC7-9A32-D4332804B2DE}"/>
              </a:ext>
            </a:extLst>
          </p:cNvPr>
          <p:cNvSpPr>
            <a:spLocks noGrp="1" noChangeArrowheads="1"/>
          </p:cNvSpPr>
          <p:nvPr>
            <p:ph type="sldNum" sz="quarter" idx="4"/>
          </p:nvPr>
        </p:nvSpPr>
        <p:spPr/>
        <p:txBody>
          <a:bodyPr/>
          <a:lstStyle>
            <a:lvl1pPr>
              <a:defRPr/>
            </a:lvl1pPr>
          </a:lstStyle>
          <a:p>
            <a:fld id="{2EA72FC9-F4D3-4875-AB36-873DE57023F8}"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9C737-4E6D-40FE-9E06-3B3523D435B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FE81590-6674-49F3-A6EA-6F4D956285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D02FCF-64A6-4886-AF7F-76BD4A77DADB}"/>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B8D0831-0E73-4B96-8972-0AD01253A877}"/>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30D5B8FC-E017-425C-8C16-FFEA3E8DD410}"/>
              </a:ext>
            </a:extLst>
          </p:cNvPr>
          <p:cNvSpPr>
            <a:spLocks noGrp="1"/>
          </p:cNvSpPr>
          <p:nvPr>
            <p:ph type="sldNum" sz="quarter" idx="12"/>
          </p:nvPr>
        </p:nvSpPr>
        <p:spPr/>
        <p:txBody>
          <a:bodyPr/>
          <a:lstStyle>
            <a:lvl1pPr>
              <a:defRPr/>
            </a:lvl1pPr>
          </a:lstStyle>
          <a:p>
            <a:fld id="{65952DF9-8404-4B21-98BE-048D2B9FBF63}" type="slidenum">
              <a:rPr lang="en-US" altLang="en-US"/>
              <a:pPr/>
              <a:t>‹#›</a:t>
            </a:fld>
            <a:endParaRPr lang="en-US" altLang="en-US"/>
          </a:p>
        </p:txBody>
      </p:sp>
    </p:spTree>
    <p:extLst>
      <p:ext uri="{BB962C8B-B14F-4D97-AF65-F5344CB8AC3E}">
        <p14:creationId xmlns:p14="http://schemas.microsoft.com/office/powerpoint/2010/main" val="214137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28BE9-19FA-4036-8AF2-861E8A23A33E}"/>
              </a:ext>
            </a:extLst>
          </p:cNvPr>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4A6F00-5308-4F9B-9457-FE3586892C75}"/>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CCAC16C6-BD16-4394-A238-F684F2EE16C9}"/>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92143CD-328F-4A5E-B8AE-1FB79D85121B}"/>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B43C660-468C-4490-8B74-852A1D8F6BC8}"/>
              </a:ext>
            </a:extLst>
          </p:cNvPr>
          <p:cNvSpPr>
            <a:spLocks noGrp="1"/>
          </p:cNvSpPr>
          <p:nvPr>
            <p:ph type="sldNum" sz="quarter" idx="12"/>
          </p:nvPr>
        </p:nvSpPr>
        <p:spPr/>
        <p:txBody>
          <a:bodyPr/>
          <a:lstStyle>
            <a:lvl1pPr>
              <a:defRPr/>
            </a:lvl1pPr>
          </a:lstStyle>
          <a:p>
            <a:fld id="{7F4F3511-D7B3-46D5-9727-3AAF8099E818}" type="slidenum">
              <a:rPr lang="en-US" altLang="en-US"/>
              <a:pPr/>
              <a:t>‹#›</a:t>
            </a:fld>
            <a:endParaRPr lang="en-US" altLang="en-US"/>
          </a:p>
        </p:txBody>
      </p:sp>
    </p:spTree>
    <p:extLst>
      <p:ext uri="{BB962C8B-B14F-4D97-AF65-F5344CB8AC3E}">
        <p14:creationId xmlns:p14="http://schemas.microsoft.com/office/powerpoint/2010/main" val="1219582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E9B49-D96C-4626-90D1-AC6160C0FD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C663F7-0C43-4AC8-86E3-8022749CB93B}"/>
              </a:ext>
            </a:extLst>
          </p:cNvPr>
          <p:cNvSpPr>
            <a:spLocks noGrp="1"/>
          </p:cNvSpPr>
          <p:nvPr>
            <p:ph sz="half" idx="1"/>
          </p:nvPr>
        </p:nvSpPr>
        <p:spPr>
          <a:xfrm>
            <a:off x="685800" y="20574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1D60D8-E65F-4789-BAFA-4304ABC647A2}"/>
              </a:ext>
            </a:extLst>
          </p:cNvPr>
          <p:cNvSpPr>
            <a:spLocks noGrp="1"/>
          </p:cNvSpPr>
          <p:nvPr>
            <p:ph sz="half" idx="2"/>
          </p:nvPr>
        </p:nvSpPr>
        <p:spPr>
          <a:xfrm>
            <a:off x="4648200" y="20574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BB8981-C342-4551-A661-EFAB4DB918C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B053E22-EF65-45DB-BA44-8E814E5D01E2}"/>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9E5FBC1-4B35-4336-BC22-C9BC90A2551B}"/>
              </a:ext>
            </a:extLst>
          </p:cNvPr>
          <p:cNvSpPr>
            <a:spLocks noGrp="1"/>
          </p:cNvSpPr>
          <p:nvPr>
            <p:ph type="sldNum" sz="quarter" idx="12"/>
          </p:nvPr>
        </p:nvSpPr>
        <p:spPr/>
        <p:txBody>
          <a:bodyPr/>
          <a:lstStyle>
            <a:lvl1pPr>
              <a:defRPr/>
            </a:lvl1pPr>
          </a:lstStyle>
          <a:p>
            <a:fld id="{0E15A793-F24B-4E35-AB48-6848FCA2BEB4}" type="slidenum">
              <a:rPr lang="en-US" altLang="en-US"/>
              <a:pPr/>
              <a:t>‹#›</a:t>
            </a:fld>
            <a:endParaRPr lang="en-US" altLang="en-US"/>
          </a:p>
        </p:txBody>
      </p:sp>
    </p:spTree>
    <p:extLst>
      <p:ext uri="{BB962C8B-B14F-4D97-AF65-F5344CB8AC3E}">
        <p14:creationId xmlns:p14="http://schemas.microsoft.com/office/powerpoint/2010/main" val="2555598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0E673-C469-4FEE-9B51-ECEFE6D25827}"/>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7FAE6C3-0638-4CB6-8072-0CD695D52FE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C97E5CF-8FC8-4A13-9804-278D500617C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F87FA57-1179-45E0-AC82-0CA8FD8040A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88AEA5-6B16-44FF-B5B3-AA62DCD1364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0CDE92F-1C29-4938-BE82-B9952E67BF14}"/>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C1C2C72E-CEE1-45B5-9A97-D52934054E95}"/>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4113B80-7F19-4EC3-9664-EC0244C5B0B2}"/>
              </a:ext>
            </a:extLst>
          </p:cNvPr>
          <p:cNvSpPr>
            <a:spLocks noGrp="1"/>
          </p:cNvSpPr>
          <p:nvPr>
            <p:ph type="sldNum" sz="quarter" idx="12"/>
          </p:nvPr>
        </p:nvSpPr>
        <p:spPr/>
        <p:txBody>
          <a:bodyPr/>
          <a:lstStyle>
            <a:lvl1pPr>
              <a:defRPr/>
            </a:lvl1pPr>
          </a:lstStyle>
          <a:p>
            <a:fld id="{616F8C99-155A-49E7-B766-57BDCFDAC2BD}" type="slidenum">
              <a:rPr lang="en-US" altLang="en-US"/>
              <a:pPr/>
              <a:t>‹#›</a:t>
            </a:fld>
            <a:endParaRPr lang="en-US" altLang="en-US"/>
          </a:p>
        </p:txBody>
      </p:sp>
    </p:spTree>
    <p:extLst>
      <p:ext uri="{BB962C8B-B14F-4D97-AF65-F5344CB8AC3E}">
        <p14:creationId xmlns:p14="http://schemas.microsoft.com/office/powerpoint/2010/main" val="663059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E7C18-9DCA-4A1F-A1F6-002F9ABF762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7A62310-2996-466B-B0DF-777461A127D9}"/>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7D183FAF-8D55-4EF6-96E4-31D424FA4E9E}"/>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B8029F66-BD13-4B9B-9112-C4302D1A615D}"/>
              </a:ext>
            </a:extLst>
          </p:cNvPr>
          <p:cNvSpPr>
            <a:spLocks noGrp="1"/>
          </p:cNvSpPr>
          <p:nvPr>
            <p:ph type="sldNum" sz="quarter" idx="12"/>
          </p:nvPr>
        </p:nvSpPr>
        <p:spPr/>
        <p:txBody>
          <a:bodyPr/>
          <a:lstStyle>
            <a:lvl1pPr>
              <a:defRPr/>
            </a:lvl1pPr>
          </a:lstStyle>
          <a:p>
            <a:fld id="{5ABAF927-E1FF-4D9C-B82B-03758530C819}" type="slidenum">
              <a:rPr lang="en-US" altLang="en-US"/>
              <a:pPr/>
              <a:t>‹#›</a:t>
            </a:fld>
            <a:endParaRPr lang="en-US" altLang="en-US"/>
          </a:p>
        </p:txBody>
      </p:sp>
    </p:spTree>
    <p:extLst>
      <p:ext uri="{BB962C8B-B14F-4D97-AF65-F5344CB8AC3E}">
        <p14:creationId xmlns:p14="http://schemas.microsoft.com/office/powerpoint/2010/main" val="16361911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D44FAD-87FD-4D40-B45B-59DE23FA6A86}"/>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7237CC2C-F798-4C0D-84EF-DA3CF1AEB5AF}"/>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1963CC6E-1672-48A6-BD59-43EE339B6F89}"/>
              </a:ext>
            </a:extLst>
          </p:cNvPr>
          <p:cNvSpPr>
            <a:spLocks noGrp="1"/>
          </p:cNvSpPr>
          <p:nvPr>
            <p:ph type="sldNum" sz="quarter" idx="12"/>
          </p:nvPr>
        </p:nvSpPr>
        <p:spPr/>
        <p:txBody>
          <a:bodyPr/>
          <a:lstStyle>
            <a:lvl1pPr>
              <a:defRPr/>
            </a:lvl1pPr>
          </a:lstStyle>
          <a:p>
            <a:fld id="{D6CC4933-861D-448E-9D39-297B93687040}" type="slidenum">
              <a:rPr lang="en-US" altLang="en-US"/>
              <a:pPr/>
              <a:t>‹#›</a:t>
            </a:fld>
            <a:endParaRPr lang="en-US" altLang="en-US"/>
          </a:p>
        </p:txBody>
      </p:sp>
    </p:spTree>
    <p:extLst>
      <p:ext uri="{BB962C8B-B14F-4D97-AF65-F5344CB8AC3E}">
        <p14:creationId xmlns:p14="http://schemas.microsoft.com/office/powerpoint/2010/main" val="3783831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D0CC7-C5FF-4CD1-8BE6-AADBC5D21104}"/>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62D738-3FBF-46D8-BA3C-9C91424B8A09}"/>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335497-651B-48C7-BCC0-8F87F512AF38}"/>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F2B9F9-7031-4E8C-9CDC-7F676C5CD8D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BA2D75CB-4B35-4030-89E5-746876B35A8F}"/>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5B3D29CA-495A-45F5-B294-6F0C04A57A29}"/>
              </a:ext>
            </a:extLst>
          </p:cNvPr>
          <p:cNvSpPr>
            <a:spLocks noGrp="1"/>
          </p:cNvSpPr>
          <p:nvPr>
            <p:ph type="sldNum" sz="quarter" idx="12"/>
          </p:nvPr>
        </p:nvSpPr>
        <p:spPr/>
        <p:txBody>
          <a:bodyPr/>
          <a:lstStyle>
            <a:lvl1pPr>
              <a:defRPr/>
            </a:lvl1pPr>
          </a:lstStyle>
          <a:p>
            <a:fld id="{792F62D1-6073-484F-9A68-1A28500B134C}" type="slidenum">
              <a:rPr lang="en-US" altLang="en-US"/>
              <a:pPr/>
              <a:t>‹#›</a:t>
            </a:fld>
            <a:endParaRPr lang="en-US" altLang="en-US"/>
          </a:p>
        </p:txBody>
      </p:sp>
    </p:spTree>
    <p:extLst>
      <p:ext uri="{BB962C8B-B14F-4D97-AF65-F5344CB8AC3E}">
        <p14:creationId xmlns:p14="http://schemas.microsoft.com/office/powerpoint/2010/main" val="1717108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60A70-0893-48F9-8960-45357733793A}"/>
              </a:ext>
            </a:extLst>
          </p:cNvPr>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760628-77C6-477F-B781-9372E7561DE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897382-FABA-4E79-A6D0-4FD869DC140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CD2F72-4491-4A34-89AD-EF7ADF65FAA0}"/>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D462AE5A-7E66-4BEC-829F-B3F17F8FCA33}"/>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EB1A3B9B-35D8-4104-99B2-87FDDCF512C2}"/>
              </a:ext>
            </a:extLst>
          </p:cNvPr>
          <p:cNvSpPr>
            <a:spLocks noGrp="1"/>
          </p:cNvSpPr>
          <p:nvPr>
            <p:ph type="sldNum" sz="quarter" idx="12"/>
          </p:nvPr>
        </p:nvSpPr>
        <p:spPr/>
        <p:txBody>
          <a:bodyPr/>
          <a:lstStyle>
            <a:lvl1pPr>
              <a:defRPr/>
            </a:lvl1pPr>
          </a:lstStyle>
          <a:p>
            <a:fld id="{D6DAC311-C6E6-4DB3-9FCA-77A6DB10FC4F}" type="slidenum">
              <a:rPr lang="en-US" altLang="en-US"/>
              <a:pPr/>
              <a:t>‹#›</a:t>
            </a:fld>
            <a:endParaRPr lang="en-US" altLang="en-US"/>
          </a:p>
        </p:txBody>
      </p:sp>
    </p:spTree>
    <p:extLst>
      <p:ext uri="{BB962C8B-B14F-4D97-AF65-F5344CB8AC3E}">
        <p14:creationId xmlns:p14="http://schemas.microsoft.com/office/powerpoint/2010/main" val="46618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8AF8D-E8E8-4122-9D85-C2B9A781D2E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48CDD9-F03B-4295-9F16-C418F93BF5E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0CE658-C509-482B-AFBC-04235498F7DC}"/>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2031D335-F315-4DBE-A787-6EB62B395811}"/>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BBFA041C-915C-45FA-90B1-1DF9AB2C33EE}"/>
              </a:ext>
            </a:extLst>
          </p:cNvPr>
          <p:cNvSpPr>
            <a:spLocks noGrp="1"/>
          </p:cNvSpPr>
          <p:nvPr>
            <p:ph type="sldNum" sz="quarter" idx="12"/>
          </p:nvPr>
        </p:nvSpPr>
        <p:spPr/>
        <p:txBody>
          <a:bodyPr/>
          <a:lstStyle>
            <a:lvl1pPr>
              <a:defRPr/>
            </a:lvl1pPr>
          </a:lstStyle>
          <a:p>
            <a:fld id="{E24FD5C5-42D4-41B2-B783-6E28E9F8D78D}" type="slidenum">
              <a:rPr lang="en-US" altLang="en-US"/>
              <a:pPr/>
              <a:t>‹#›</a:t>
            </a:fld>
            <a:endParaRPr lang="en-US" altLang="en-US"/>
          </a:p>
        </p:txBody>
      </p:sp>
    </p:spTree>
    <p:extLst>
      <p:ext uri="{BB962C8B-B14F-4D97-AF65-F5344CB8AC3E}">
        <p14:creationId xmlns:p14="http://schemas.microsoft.com/office/powerpoint/2010/main" val="2836923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60EF5A-753C-438D-B654-B881FDEBDAEB}"/>
              </a:ext>
            </a:extLst>
          </p:cNvPr>
          <p:cNvSpPr>
            <a:spLocks noGrp="1"/>
          </p:cNvSpPr>
          <p:nvPr>
            <p:ph type="title" orient="vert"/>
          </p:nvPr>
        </p:nvSpPr>
        <p:spPr>
          <a:xfrm>
            <a:off x="6515100" y="381000"/>
            <a:ext cx="1943100" cy="5791200"/>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73B4C52-5694-46C7-9128-2848CA030BC0}"/>
              </a:ext>
            </a:extLst>
          </p:cNvPr>
          <p:cNvSpPr>
            <a:spLocks noGrp="1"/>
          </p:cNvSpPr>
          <p:nvPr>
            <p:ph type="body" orient="vert" idx="1"/>
          </p:nvPr>
        </p:nvSpPr>
        <p:spPr>
          <a:xfrm>
            <a:off x="685800" y="381000"/>
            <a:ext cx="56769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E8F621-D80A-4CBA-89EF-B90FF27D4FE0}"/>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46E8FEEA-29A0-40C0-A0AF-9CCB7BC01725}"/>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5DB33B6-16D7-4F81-B81A-2238C42997FA}"/>
              </a:ext>
            </a:extLst>
          </p:cNvPr>
          <p:cNvSpPr>
            <a:spLocks noGrp="1"/>
          </p:cNvSpPr>
          <p:nvPr>
            <p:ph type="sldNum" sz="quarter" idx="12"/>
          </p:nvPr>
        </p:nvSpPr>
        <p:spPr/>
        <p:txBody>
          <a:bodyPr/>
          <a:lstStyle>
            <a:lvl1pPr>
              <a:defRPr/>
            </a:lvl1pPr>
          </a:lstStyle>
          <a:p>
            <a:fld id="{4122404B-1D64-4DA4-90EB-D0FAA28DBCD7}" type="slidenum">
              <a:rPr lang="en-US" altLang="en-US"/>
              <a:pPr/>
              <a:t>‹#›</a:t>
            </a:fld>
            <a:endParaRPr lang="en-US" altLang="en-US"/>
          </a:p>
        </p:txBody>
      </p:sp>
    </p:spTree>
    <p:extLst>
      <p:ext uri="{BB962C8B-B14F-4D97-AF65-F5344CB8AC3E}">
        <p14:creationId xmlns:p14="http://schemas.microsoft.com/office/powerpoint/2010/main" val="7932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33" name="Rectangle 13">
            <a:extLst>
              <a:ext uri="{FF2B5EF4-FFF2-40B4-BE49-F238E27FC236}">
                <a16:creationId xmlns:a16="http://schemas.microsoft.com/office/drawing/2014/main" id="{CA7F74DF-AE64-415C-89A4-FD9E47C42546}"/>
              </a:ext>
            </a:extLst>
          </p:cNvPr>
          <p:cNvSpPr>
            <a:spLocks noChangeArrowheads="1"/>
          </p:cNvSpPr>
          <p:nvPr userDrawn="1"/>
        </p:nvSpPr>
        <p:spPr bwMode="auto">
          <a:xfrm>
            <a:off x="0" y="0"/>
            <a:ext cx="2286000" cy="685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0722" name="Group 2">
            <a:extLst>
              <a:ext uri="{FF2B5EF4-FFF2-40B4-BE49-F238E27FC236}">
                <a16:creationId xmlns:a16="http://schemas.microsoft.com/office/drawing/2014/main" id="{CFE60D9F-7F47-4F31-B669-B40E1552F1B4}"/>
              </a:ext>
            </a:extLst>
          </p:cNvPr>
          <p:cNvGrpSpPr>
            <a:grpSpLocks/>
          </p:cNvGrpSpPr>
          <p:nvPr/>
        </p:nvGrpSpPr>
        <p:grpSpPr bwMode="auto">
          <a:xfrm>
            <a:off x="457200" y="992188"/>
            <a:ext cx="8153400" cy="1600200"/>
            <a:chOff x="288" y="625"/>
            <a:chExt cx="5136" cy="1008"/>
          </a:xfrm>
        </p:grpSpPr>
        <p:sp>
          <p:nvSpPr>
            <p:cNvPr id="30723" name="Arc 3">
              <a:extLst>
                <a:ext uri="{FF2B5EF4-FFF2-40B4-BE49-F238E27FC236}">
                  <a16:creationId xmlns:a16="http://schemas.microsoft.com/office/drawing/2014/main" id="{34F9C447-13B1-4D1A-8FDF-AAF481DA1DB5}"/>
                </a:ext>
              </a:extLst>
            </p:cNvPr>
            <p:cNvSpPr>
              <a:spLocks/>
            </p:cNvSpPr>
            <p:nvPr/>
          </p:nvSpPr>
          <p:spPr bwMode="invGray">
            <a:xfrm>
              <a:off x="3595" y="625"/>
              <a:ext cx="1829" cy="1008"/>
            </a:xfrm>
            <a:custGeom>
              <a:avLst/>
              <a:gdLst>
                <a:gd name="G0" fmla="+- 312 0 0"/>
                <a:gd name="G1" fmla="+- 21600 0 0"/>
                <a:gd name="G2" fmla="+- 21600 0 0"/>
                <a:gd name="T0" fmla="*/ 300 w 21912"/>
                <a:gd name="T1" fmla="*/ 0 h 43200"/>
                <a:gd name="T2" fmla="*/ 0 w 21912"/>
                <a:gd name="T3" fmla="*/ 43198 h 43200"/>
                <a:gd name="T4" fmla="*/ 312 w 21912"/>
                <a:gd name="T5" fmla="*/ 21600 h 43200"/>
              </a:gdLst>
              <a:ahLst/>
              <a:cxnLst>
                <a:cxn ang="0">
                  <a:pos x="T0" y="T1"/>
                </a:cxn>
                <a:cxn ang="0">
                  <a:pos x="T2" y="T3"/>
                </a:cxn>
                <a:cxn ang="0">
                  <a:pos x="T4" y="T5"/>
                </a:cxn>
              </a:cxnLst>
              <a:rect l="0" t="0" r="r" b="b"/>
              <a:pathLst>
                <a:path w="21912" h="43200" fill="none"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path>
                <a:path w="21912" h="43200" stroke="0" extrusionOk="0">
                  <a:moveTo>
                    <a:pt x="300" y="0"/>
                  </a:moveTo>
                  <a:cubicBezTo>
                    <a:pt x="304" y="0"/>
                    <a:pt x="308" y="0"/>
                    <a:pt x="312" y="0"/>
                  </a:cubicBezTo>
                  <a:cubicBezTo>
                    <a:pt x="12241" y="0"/>
                    <a:pt x="21912" y="9670"/>
                    <a:pt x="21912" y="21600"/>
                  </a:cubicBezTo>
                  <a:cubicBezTo>
                    <a:pt x="21912" y="33529"/>
                    <a:pt x="12241" y="43200"/>
                    <a:pt x="312" y="43200"/>
                  </a:cubicBezTo>
                  <a:cubicBezTo>
                    <a:pt x="207" y="43199"/>
                    <a:pt x="103" y="43199"/>
                    <a:pt x="0" y="43197"/>
                  </a:cubicBezTo>
                  <a:lnTo>
                    <a:pt x="312" y="21600"/>
                  </a:lnTo>
                  <a:close/>
                </a:path>
              </a:pathLst>
            </a:custGeom>
            <a:gradFill rotWithShape="0">
              <a:gsLst>
                <a:gs pos="0">
                  <a:schemeClr val="bg1"/>
                </a:gs>
                <a:gs pos="100000">
                  <a:srgbClr val="6633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4" name="Arc 4">
              <a:extLst>
                <a:ext uri="{FF2B5EF4-FFF2-40B4-BE49-F238E27FC236}">
                  <a16:creationId xmlns:a16="http://schemas.microsoft.com/office/drawing/2014/main" id="{785E2B7B-EE19-4041-9BFD-D213BAC86384}"/>
                </a:ext>
              </a:extLst>
            </p:cNvPr>
            <p:cNvSpPr>
              <a:spLocks/>
            </p:cNvSpPr>
            <p:nvPr/>
          </p:nvSpPr>
          <p:spPr bwMode="invGray">
            <a:xfrm>
              <a:off x="3548" y="729"/>
              <a:ext cx="1831" cy="800"/>
            </a:xfrm>
            <a:custGeom>
              <a:avLst/>
              <a:gdLst>
                <a:gd name="G0" fmla="+- 324 0 0"/>
                <a:gd name="G1" fmla="+- 21600 0 0"/>
                <a:gd name="G2" fmla="+- 21600 0 0"/>
                <a:gd name="T0" fmla="*/ 312 w 21924"/>
                <a:gd name="T1" fmla="*/ 0 h 43200"/>
                <a:gd name="T2" fmla="*/ 0 w 21924"/>
                <a:gd name="T3" fmla="*/ 43198 h 43200"/>
                <a:gd name="T4" fmla="*/ 324 w 21924"/>
                <a:gd name="T5" fmla="*/ 21600 h 43200"/>
              </a:gdLst>
              <a:ahLst/>
              <a:cxnLst>
                <a:cxn ang="0">
                  <a:pos x="T0" y="T1"/>
                </a:cxn>
                <a:cxn ang="0">
                  <a:pos x="T2" y="T3"/>
                </a:cxn>
                <a:cxn ang="0">
                  <a:pos x="T4" y="T5"/>
                </a:cxn>
              </a:cxnLst>
              <a:rect l="0" t="0" r="r" b="b"/>
              <a:pathLst>
                <a:path w="21924" h="43200" fill="none"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path>
                <a:path w="21924" h="43200" stroke="0" extrusionOk="0">
                  <a:moveTo>
                    <a:pt x="312" y="0"/>
                  </a:moveTo>
                  <a:cubicBezTo>
                    <a:pt x="316" y="0"/>
                    <a:pt x="320" y="0"/>
                    <a:pt x="324" y="0"/>
                  </a:cubicBezTo>
                  <a:cubicBezTo>
                    <a:pt x="12253" y="0"/>
                    <a:pt x="21924" y="9670"/>
                    <a:pt x="21924" y="21600"/>
                  </a:cubicBezTo>
                  <a:cubicBezTo>
                    <a:pt x="21924" y="33529"/>
                    <a:pt x="12253" y="43200"/>
                    <a:pt x="324" y="43200"/>
                  </a:cubicBezTo>
                  <a:cubicBezTo>
                    <a:pt x="215" y="43199"/>
                    <a:pt x="107" y="43199"/>
                    <a:pt x="0" y="43197"/>
                  </a:cubicBezTo>
                  <a:lnTo>
                    <a:pt x="324" y="21600"/>
                  </a:lnTo>
                  <a:close/>
                </a:path>
              </a:pathLst>
            </a:custGeom>
            <a:gradFill rotWithShape="0">
              <a:gsLst>
                <a:gs pos="0">
                  <a:schemeClr val="bg1"/>
                </a:gs>
                <a:gs pos="100000">
                  <a:srgbClr val="8944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5" name="Arc 5">
              <a:extLst>
                <a:ext uri="{FF2B5EF4-FFF2-40B4-BE49-F238E27FC236}">
                  <a16:creationId xmlns:a16="http://schemas.microsoft.com/office/drawing/2014/main" id="{BC684E9E-8B6E-49C4-A10F-F6A48164334C}"/>
                </a:ext>
              </a:extLst>
            </p:cNvPr>
            <p:cNvSpPr>
              <a:spLocks/>
            </p:cNvSpPr>
            <p:nvPr/>
          </p:nvSpPr>
          <p:spPr bwMode="invGray">
            <a:xfrm>
              <a:off x="3521" y="868"/>
              <a:ext cx="1830" cy="522"/>
            </a:xfrm>
            <a:custGeom>
              <a:avLst/>
              <a:gdLst>
                <a:gd name="G0" fmla="+- 325 0 0"/>
                <a:gd name="G1" fmla="+- 21600 0 0"/>
                <a:gd name="G2" fmla="+- 21600 0 0"/>
                <a:gd name="T0" fmla="*/ 313 w 21925"/>
                <a:gd name="T1" fmla="*/ 0 h 43200"/>
                <a:gd name="T2" fmla="*/ 0 w 21925"/>
                <a:gd name="T3" fmla="*/ 43198 h 43200"/>
                <a:gd name="T4" fmla="*/ 325 w 21925"/>
                <a:gd name="T5" fmla="*/ 21600 h 43200"/>
              </a:gdLst>
              <a:ahLst/>
              <a:cxnLst>
                <a:cxn ang="0">
                  <a:pos x="T0" y="T1"/>
                </a:cxn>
                <a:cxn ang="0">
                  <a:pos x="T2" y="T3"/>
                </a:cxn>
                <a:cxn ang="0">
                  <a:pos x="T4" y="T5"/>
                </a:cxn>
              </a:cxnLst>
              <a:rect l="0" t="0" r="r" b="b"/>
              <a:pathLst>
                <a:path w="21925" h="43200" fill="none"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path>
                <a:path w="21925" h="43200" stroke="0" extrusionOk="0">
                  <a:moveTo>
                    <a:pt x="313" y="0"/>
                  </a:moveTo>
                  <a:cubicBezTo>
                    <a:pt x="317" y="0"/>
                    <a:pt x="321" y="0"/>
                    <a:pt x="325" y="0"/>
                  </a:cubicBezTo>
                  <a:cubicBezTo>
                    <a:pt x="12254" y="0"/>
                    <a:pt x="21925" y="9670"/>
                    <a:pt x="21925" y="21600"/>
                  </a:cubicBezTo>
                  <a:cubicBezTo>
                    <a:pt x="21925" y="33529"/>
                    <a:pt x="12254" y="43200"/>
                    <a:pt x="325" y="43200"/>
                  </a:cubicBezTo>
                  <a:cubicBezTo>
                    <a:pt x="216" y="43199"/>
                    <a:pt x="108" y="43199"/>
                    <a:pt x="0" y="43197"/>
                  </a:cubicBezTo>
                  <a:lnTo>
                    <a:pt x="325" y="21600"/>
                  </a:lnTo>
                  <a:close/>
                </a:path>
              </a:pathLst>
            </a:custGeom>
            <a:gradFill rotWithShape="0">
              <a:gsLst>
                <a:gs pos="0">
                  <a:schemeClr val="bg1"/>
                </a:gs>
                <a:gs pos="100000">
                  <a:srgbClr val="B75B00"/>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6" name="AutoShape 6">
              <a:extLst>
                <a:ext uri="{FF2B5EF4-FFF2-40B4-BE49-F238E27FC236}">
                  <a16:creationId xmlns:a16="http://schemas.microsoft.com/office/drawing/2014/main" id="{D6314484-6635-475E-8C49-F917A6BC3FBA}"/>
                </a:ext>
              </a:extLst>
            </p:cNvPr>
            <p:cNvSpPr>
              <a:spLocks noChangeArrowheads="1"/>
            </p:cNvSpPr>
            <p:nvPr/>
          </p:nvSpPr>
          <p:spPr bwMode="invGray">
            <a:xfrm>
              <a:off x="288" y="1076"/>
              <a:ext cx="4988" cy="104"/>
            </a:xfrm>
            <a:prstGeom prst="roundRect">
              <a:avLst>
                <a:gd name="adj" fmla="val 49995"/>
              </a:avLst>
            </a:prstGeom>
            <a:gradFill rotWithShape="0">
              <a:gsLst>
                <a:gs pos="0">
                  <a:srgbClr val="000000"/>
                </a:gs>
                <a:gs pos="20000">
                  <a:srgbClr val="000040"/>
                </a:gs>
                <a:gs pos="50000">
                  <a:srgbClr val="400040"/>
                </a:gs>
                <a:gs pos="75000">
                  <a:srgbClr val="8F0040"/>
                </a:gs>
                <a:gs pos="89999">
                  <a:srgbClr val="F27300"/>
                </a:gs>
                <a:gs pos="100000">
                  <a:srgbClr val="FFBF0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30727" name="Rectangle 7">
            <a:extLst>
              <a:ext uri="{FF2B5EF4-FFF2-40B4-BE49-F238E27FC236}">
                <a16:creationId xmlns:a16="http://schemas.microsoft.com/office/drawing/2014/main" id="{41D94D11-D175-468F-9380-C75DCC4F5E18}"/>
              </a:ext>
            </a:extLst>
          </p:cNvPr>
          <p:cNvSpPr>
            <a:spLocks noGrp="1" noChangeArrowheads="1"/>
          </p:cNvSpPr>
          <p:nvPr>
            <p:ph type="title"/>
          </p:nvPr>
        </p:nvSpPr>
        <p:spPr bwMode="auto">
          <a:xfrm>
            <a:off x="685800" y="3810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b" anchorCtr="0" compatLnSpc="1">
            <a:prstTxWarp prst="textNoShape">
              <a:avLst/>
            </a:prstTxWarp>
          </a:bodyPr>
          <a:lstStyle/>
          <a:p>
            <a:pPr lvl="0"/>
            <a:r>
              <a:rPr lang="en-US" altLang="en-US"/>
              <a:t>Click to edit Master title style</a:t>
            </a:r>
          </a:p>
        </p:txBody>
      </p:sp>
      <p:sp>
        <p:nvSpPr>
          <p:cNvPr id="30728" name="Rectangle 8">
            <a:extLst>
              <a:ext uri="{FF2B5EF4-FFF2-40B4-BE49-F238E27FC236}">
                <a16:creationId xmlns:a16="http://schemas.microsoft.com/office/drawing/2014/main" id="{DEBC7A49-3F04-4A50-B644-46AA9FBC1747}"/>
              </a:ext>
            </a:extLst>
          </p:cNvPr>
          <p:cNvSpPr>
            <a:spLocks noGrp="1" noChangeArrowheads="1"/>
          </p:cNvSpPr>
          <p:nvPr>
            <p:ph type="body" idx="1"/>
          </p:nvPr>
        </p:nvSpPr>
        <p:spPr bwMode="auto">
          <a:xfrm>
            <a:off x="685800" y="20574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29" name="Rectangle 9">
            <a:extLst>
              <a:ext uri="{FF2B5EF4-FFF2-40B4-BE49-F238E27FC236}">
                <a16:creationId xmlns:a16="http://schemas.microsoft.com/office/drawing/2014/main" id="{B50D1F5C-7DFD-4997-A052-AA5D869ADEBB}"/>
              </a:ext>
            </a:extLst>
          </p:cNvPr>
          <p:cNvSpPr>
            <a:spLocks noGrp="1" noChangeArrowheads="1"/>
          </p:cNvSpPr>
          <p:nvPr>
            <p:ph type="dt" sz="half" idx="2"/>
          </p:nvPr>
        </p:nvSpPr>
        <p:spPr bwMode="auto">
          <a:xfrm>
            <a:off x="6858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defRPr sz="1400">
                <a:latin typeface="+mn-lt"/>
              </a:defRPr>
            </a:lvl1pPr>
          </a:lstStyle>
          <a:p>
            <a:endParaRPr lang="en-US" altLang="en-US"/>
          </a:p>
        </p:txBody>
      </p:sp>
      <p:sp>
        <p:nvSpPr>
          <p:cNvPr id="30730" name="Rectangle 10">
            <a:extLst>
              <a:ext uri="{FF2B5EF4-FFF2-40B4-BE49-F238E27FC236}">
                <a16:creationId xmlns:a16="http://schemas.microsoft.com/office/drawing/2014/main" id="{CB4878BE-2586-44FB-AC87-C0A946615291}"/>
              </a:ext>
            </a:extLst>
          </p:cNvPr>
          <p:cNvSpPr>
            <a:spLocks noGrp="1" noChangeArrowheads="1"/>
          </p:cNvSpPr>
          <p:nvPr>
            <p:ph type="ftr" sz="quarter" idx="3"/>
          </p:nvPr>
        </p:nvSpPr>
        <p:spPr bwMode="auto">
          <a:xfrm>
            <a:off x="3124200" y="63246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ctr">
              <a:defRPr sz="1400">
                <a:latin typeface="+mn-lt"/>
              </a:defRPr>
            </a:lvl1pPr>
          </a:lstStyle>
          <a:p>
            <a:endParaRPr lang="en-US" altLang="en-US"/>
          </a:p>
        </p:txBody>
      </p:sp>
      <p:sp>
        <p:nvSpPr>
          <p:cNvPr id="30731" name="Rectangle 11">
            <a:extLst>
              <a:ext uri="{FF2B5EF4-FFF2-40B4-BE49-F238E27FC236}">
                <a16:creationId xmlns:a16="http://schemas.microsoft.com/office/drawing/2014/main" id="{78B3F41A-A2A3-4C14-82DB-89E4F546096D}"/>
              </a:ext>
            </a:extLst>
          </p:cNvPr>
          <p:cNvSpPr>
            <a:spLocks noGrp="1" noChangeArrowheads="1"/>
          </p:cNvSpPr>
          <p:nvPr>
            <p:ph type="sldNum" sz="quarter" idx="4"/>
          </p:nvPr>
        </p:nvSpPr>
        <p:spPr bwMode="auto">
          <a:xfrm>
            <a:off x="65532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r">
              <a:defRPr sz="1400">
                <a:latin typeface="+mn-lt"/>
              </a:defRPr>
            </a:lvl1pPr>
          </a:lstStyle>
          <a:p>
            <a:fld id="{42895AE0-734E-4E64-8028-034A4C11EDC3}" type="slidenum">
              <a:rPr lang="en-US" altLang="en-US"/>
              <a:pPr/>
              <a:t>‹#›</a:t>
            </a:fld>
            <a:endParaRPr lang="en-US" altLang="en-US"/>
          </a:p>
        </p:txBody>
      </p:sp>
      <p:graphicFrame>
        <p:nvGraphicFramePr>
          <p:cNvPr id="30732" name="Object 12">
            <a:extLst>
              <a:ext uri="{FF2B5EF4-FFF2-40B4-BE49-F238E27FC236}">
                <a16:creationId xmlns:a16="http://schemas.microsoft.com/office/drawing/2014/main" id="{A44B6F9F-B8C3-451C-B8B7-59CE7F68F0D8}"/>
              </a:ext>
            </a:extLst>
          </p:cNvPr>
          <p:cNvGraphicFramePr>
            <a:graphicFrameLocks noChangeAspect="1"/>
          </p:cNvGraphicFramePr>
          <p:nvPr userDrawn="1"/>
        </p:nvGraphicFramePr>
        <p:xfrm>
          <a:off x="0" y="0"/>
          <a:ext cx="2662238" cy="720725"/>
        </p:xfrm>
        <a:graphic>
          <a:graphicData uri="http://schemas.openxmlformats.org/presentationml/2006/ole">
            <mc:AlternateContent xmlns:mc="http://schemas.openxmlformats.org/markup-compatibility/2006">
              <mc:Choice xmlns:v="urn:schemas-microsoft-com:vml" Requires="v">
                <p:oleObj name="VISIO" r:id="rId13" imgW="2662920" imgH="721080" progId="Visio.Drawing.6">
                  <p:embed/>
                </p:oleObj>
              </mc:Choice>
              <mc:Fallback>
                <p:oleObj name="VISIO" r:id="rId13" imgW="2662920" imgH="721080" progId="Visio.Drawing.6">
                  <p:embed/>
                  <p:pic>
                    <p:nvPicPr>
                      <p:cNvPr id="30732" name="Object 12">
                        <a:extLst>
                          <a:ext uri="{FF2B5EF4-FFF2-40B4-BE49-F238E27FC236}">
                            <a16:creationId xmlns:a16="http://schemas.microsoft.com/office/drawing/2014/main" id="{A44B6F9F-B8C3-451C-B8B7-59CE7F68F0D8}"/>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2662238"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 bg1="dk2" tx1="lt1" bg2="dk1"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txStyles>
    <p:title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7.wm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oleObject" Target="../embeddings/oleObject4.bin"/><Relationship Id="rId5" Type="http://schemas.openxmlformats.org/officeDocument/2006/relationships/image" Target="../media/image6.w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image" Target="../media/image13.wmf"/><Relationship Id="rId3" Type="http://schemas.openxmlformats.org/officeDocument/2006/relationships/image" Target="../media/image8.jpg"/><Relationship Id="rId7" Type="http://schemas.openxmlformats.org/officeDocument/2006/relationships/image" Target="../media/image10.wmf"/><Relationship Id="rId12" Type="http://schemas.openxmlformats.org/officeDocument/2006/relationships/oleObject" Target="../embeddings/oleObject9.bin"/><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oleObject" Target="../embeddings/oleObject6.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8.bin"/><Relationship Id="rId4" Type="http://schemas.openxmlformats.org/officeDocument/2006/relationships/oleObject" Target="../embeddings/oleObject5.bin"/><Relationship Id="rId9" Type="http://schemas.openxmlformats.org/officeDocument/2006/relationships/image" Target="../media/image11.wmf"/></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5.bin"/></Relationships>
</file>

<file path=ppt/slides/_rels/slide9.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19.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oleObject" Target="../embeddings/oleObject11.bin"/><Relationship Id="rId5" Type="http://schemas.openxmlformats.org/officeDocument/2006/relationships/image" Target="../media/image18.jpg"/><Relationship Id="rId4" Type="http://schemas.openxmlformats.org/officeDocument/2006/relationships/image" Target="../media/image17.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wmf"/></Relationships>
</file>

<file path=ppt/slides/_rels/slide15.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1.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3.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4.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jpg"/><Relationship Id="rId4" Type="http://schemas.openxmlformats.org/officeDocument/2006/relationships/image" Target="../media/image25.emf"/></Relationships>
</file>

<file path=ppt/slides/_rels/slide20.xml.rels><?xml version="1.0" encoding="UTF-8" standalone="yes"?>
<Relationships xmlns="http://schemas.openxmlformats.org/package/2006/relationships"><Relationship Id="rId3" Type="http://schemas.openxmlformats.org/officeDocument/2006/relationships/image" Target="../media/image26.jpg"/><Relationship Id="rId7" Type="http://schemas.openxmlformats.org/officeDocument/2006/relationships/image" Target="../media/image28.w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oleObject" Target="../embeddings/oleObject16.bin"/><Relationship Id="rId5" Type="http://schemas.openxmlformats.org/officeDocument/2006/relationships/image" Target="../media/image27.wmf"/><Relationship Id="rId4" Type="http://schemas.openxmlformats.org/officeDocument/2006/relationships/oleObject" Target="../embeddings/oleObject15.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17.bin"/></Relationships>
</file>

<file path=ppt/slides/_rels/slide2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2.wmf"/><Relationship Id="rId4" Type="http://schemas.openxmlformats.org/officeDocument/2006/relationships/oleObject" Target="../embeddings/oleObject18.bin"/></Relationships>
</file>

<file path=ppt/slides/_rels/slide28.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0.wmf"/><Relationship Id="rId4"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2.bin"/><Relationship Id="rId3" Type="http://schemas.openxmlformats.org/officeDocument/2006/relationships/image" Target="../media/image31.jpg"/><Relationship Id="rId7" Type="http://schemas.openxmlformats.org/officeDocument/2006/relationships/image" Target="../media/image33.wmf"/><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oleObject" Target="../embeddings/oleObject21.bin"/><Relationship Id="rId11" Type="http://schemas.openxmlformats.org/officeDocument/2006/relationships/image" Target="../media/image35.wmf"/><Relationship Id="rId5" Type="http://schemas.openxmlformats.org/officeDocument/2006/relationships/image" Target="../media/image32.wmf"/><Relationship Id="rId10" Type="http://schemas.openxmlformats.org/officeDocument/2006/relationships/oleObject" Target="../embeddings/oleObject23.bin"/><Relationship Id="rId4" Type="http://schemas.openxmlformats.org/officeDocument/2006/relationships/oleObject" Target="../embeddings/oleObject20.bin"/><Relationship Id="rId9" Type="http://schemas.openxmlformats.org/officeDocument/2006/relationships/image" Target="../media/image34.wmf"/></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image" Target="../media/image31.jpg"/><Relationship Id="rId7" Type="http://schemas.openxmlformats.org/officeDocument/2006/relationships/image" Target="../media/image36.wmf"/><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oleObject" Target="../embeddings/oleObject24.bin"/><Relationship Id="rId11" Type="http://schemas.openxmlformats.org/officeDocument/2006/relationships/image" Target="../media/image38.wmf"/><Relationship Id="rId5" Type="http://schemas.openxmlformats.org/officeDocument/2006/relationships/image" Target="../media/image32.wmf"/><Relationship Id="rId10" Type="http://schemas.openxmlformats.org/officeDocument/2006/relationships/oleObject" Target="../embeddings/oleObject26.bin"/><Relationship Id="rId4" Type="http://schemas.openxmlformats.org/officeDocument/2006/relationships/oleObject" Target="../embeddings/oleObject20.bin"/><Relationship Id="rId9" Type="http://schemas.openxmlformats.org/officeDocument/2006/relationships/image" Target="../media/image37.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7.bin"/><Relationship Id="rId7"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9.wmf"/><Relationship Id="rId5" Type="http://schemas.openxmlformats.org/officeDocument/2006/relationships/oleObject" Target="../embeddings/oleObject28.bin"/><Relationship Id="rId4" Type="http://schemas.openxmlformats.org/officeDocument/2006/relationships/image" Target="../media/image38.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image" Target="../media/image40.png"/><Relationship Id="rId7" Type="http://schemas.openxmlformats.org/officeDocument/2006/relationships/image" Target="../media/image42.wm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oleObject" Target="../embeddings/oleObject30.bin"/><Relationship Id="rId11" Type="http://schemas.openxmlformats.org/officeDocument/2006/relationships/image" Target="../media/image44.wmf"/><Relationship Id="rId5" Type="http://schemas.openxmlformats.org/officeDocument/2006/relationships/image" Target="../media/image41.wmf"/><Relationship Id="rId10" Type="http://schemas.openxmlformats.org/officeDocument/2006/relationships/oleObject" Target="../embeddings/oleObject32.bin"/><Relationship Id="rId4" Type="http://schemas.openxmlformats.org/officeDocument/2006/relationships/oleObject" Target="../embeddings/oleObject29.bin"/><Relationship Id="rId9" Type="http://schemas.openxmlformats.org/officeDocument/2006/relationships/image" Target="../media/image43.wmf"/></Relationships>
</file>

<file path=ppt/slides/_rels/slide3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44.wmf"/><Relationship Id="rId4" Type="http://schemas.openxmlformats.org/officeDocument/2006/relationships/oleObject" Target="../embeddings/oleObject32.bin"/></Relationships>
</file>

<file path=ppt/slides/_rels/slide34.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33.bin"/><Relationship Id="rId7" Type="http://schemas.openxmlformats.org/officeDocument/2006/relationships/oleObject" Target="../embeddings/oleObject35.bin"/><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oleObject" Target="../embeddings/oleObject34.bin"/><Relationship Id="rId4" Type="http://schemas.openxmlformats.org/officeDocument/2006/relationships/image" Target="../media/image45.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18.jpg"/><Relationship Id="rId4" Type="http://schemas.openxmlformats.org/officeDocument/2006/relationships/image" Target="../media/image17.wmf"/></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39.bin"/><Relationship Id="rId13" Type="http://schemas.openxmlformats.org/officeDocument/2006/relationships/image" Target="../media/image51.wmf"/><Relationship Id="rId3" Type="http://schemas.openxmlformats.org/officeDocument/2006/relationships/oleObject" Target="../embeddings/oleObject37.bin"/><Relationship Id="rId7" Type="http://schemas.openxmlformats.org/officeDocument/2006/relationships/image" Target="../media/image48.wmf"/><Relationship Id="rId12" Type="http://schemas.openxmlformats.org/officeDocument/2006/relationships/oleObject" Target="../embeddings/oleObject41.bin"/><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oleObject" Target="../embeddings/oleObject38.bin"/><Relationship Id="rId11" Type="http://schemas.openxmlformats.org/officeDocument/2006/relationships/image" Target="../media/image50.wmf"/><Relationship Id="rId5" Type="http://schemas.openxmlformats.org/officeDocument/2006/relationships/image" Target="../media/image18.jpg"/><Relationship Id="rId10" Type="http://schemas.openxmlformats.org/officeDocument/2006/relationships/oleObject" Target="../embeddings/oleObject40.bin"/><Relationship Id="rId4" Type="http://schemas.openxmlformats.org/officeDocument/2006/relationships/image" Target="../media/image17.wmf"/><Relationship Id="rId9" Type="http://schemas.openxmlformats.org/officeDocument/2006/relationships/image" Target="../media/image49.wmf"/></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oleObject" Target="../embeddings/oleObject42.bin"/><Relationship Id="rId7" Type="http://schemas.openxmlformats.org/officeDocument/2006/relationships/image" Target="../media/image52.wmf"/><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oleObject" Target="../embeddings/oleObject43.bin"/><Relationship Id="rId5" Type="http://schemas.openxmlformats.org/officeDocument/2006/relationships/image" Target="../media/image18.jpg"/><Relationship Id="rId4" Type="http://schemas.openxmlformats.org/officeDocument/2006/relationships/image" Target="../media/image17.wmf"/><Relationship Id="rId9" Type="http://schemas.openxmlformats.org/officeDocument/2006/relationships/image" Target="../media/image53.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47.bin"/><Relationship Id="rId3" Type="http://schemas.openxmlformats.org/officeDocument/2006/relationships/oleObject" Target="../embeddings/oleObject45.bin"/><Relationship Id="rId7" Type="http://schemas.openxmlformats.org/officeDocument/2006/relationships/image" Target="../media/image52.wmf"/><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oleObject" Target="../embeddings/oleObject46.bin"/><Relationship Id="rId5" Type="http://schemas.openxmlformats.org/officeDocument/2006/relationships/image" Target="../media/image18.jpg"/><Relationship Id="rId4" Type="http://schemas.openxmlformats.org/officeDocument/2006/relationships/image" Target="../media/image17.wmf"/><Relationship Id="rId9" Type="http://schemas.openxmlformats.org/officeDocument/2006/relationships/image" Target="../media/image53.wmf"/></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55.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56.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0.bin"/><Relationship Id="rId7" Type="http://schemas.openxmlformats.org/officeDocument/2006/relationships/image" Target="../media/image54.jp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8.wmf"/><Relationship Id="rId5" Type="http://schemas.openxmlformats.org/officeDocument/2006/relationships/oleObject" Target="../embeddings/oleObject51.bin"/><Relationship Id="rId4" Type="http://schemas.openxmlformats.org/officeDocument/2006/relationships/image" Target="../media/image57.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59.wmf"/></Relationships>
</file>

<file path=ppt/slides/_rels/slide45.xml.rels><?xml version="1.0" encoding="UTF-8" standalone="yes"?>
<Relationships xmlns="http://schemas.openxmlformats.org/package/2006/relationships"><Relationship Id="rId3" Type="http://schemas.openxmlformats.org/officeDocument/2006/relationships/image" Target="../media/image60.jp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a:extLst>
              <a:ext uri="{FF2B5EF4-FFF2-40B4-BE49-F238E27FC236}">
                <a16:creationId xmlns:a16="http://schemas.microsoft.com/office/drawing/2014/main" id="{E8A1F433-B260-4CE9-9E8F-5547B87616A6}"/>
              </a:ext>
            </a:extLst>
          </p:cNvPr>
          <p:cNvSpPr>
            <a:spLocks noGrp="1" noChangeArrowheads="1"/>
          </p:cNvSpPr>
          <p:nvPr>
            <p:ph type="title"/>
          </p:nvPr>
        </p:nvSpPr>
        <p:spPr>
          <a:xfrm>
            <a:off x="990600" y="609600"/>
            <a:ext cx="7772400" cy="762000"/>
          </a:xfrm>
        </p:spPr>
        <p:txBody>
          <a:bodyPr/>
          <a:lstStyle/>
          <a:p>
            <a:pPr algn="ctr"/>
            <a:r>
              <a:rPr lang="en-US" sz="3600" dirty="0"/>
              <a:t>ECE 3364</a:t>
            </a:r>
            <a:br>
              <a:rPr lang="en-US" sz="3600" dirty="0"/>
            </a:br>
            <a:r>
              <a:rPr lang="en-US" sz="3600" dirty="0"/>
              <a:t> Circuits and Systems</a:t>
            </a:r>
            <a:endParaRPr lang="en-US" altLang="en-US" sz="3600" dirty="0"/>
          </a:p>
        </p:txBody>
      </p:sp>
      <p:sp>
        <p:nvSpPr>
          <p:cNvPr id="217091" name="Text Box 3">
            <a:extLst>
              <a:ext uri="{FF2B5EF4-FFF2-40B4-BE49-F238E27FC236}">
                <a16:creationId xmlns:a16="http://schemas.microsoft.com/office/drawing/2014/main" id="{41EBE66C-3D68-49DA-824B-896D23CBC403}"/>
              </a:ext>
            </a:extLst>
          </p:cNvPr>
          <p:cNvSpPr txBox="1">
            <a:spLocks noChangeArrowheads="1"/>
          </p:cNvSpPr>
          <p:nvPr/>
        </p:nvSpPr>
        <p:spPr bwMode="auto">
          <a:xfrm>
            <a:off x="2514600" y="4114800"/>
            <a:ext cx="4068763"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t>Dr. Dave Shattuck</a:t>
            </a:r>
          </a:p>
          <a:p>
            <a:pPr algn="ctr" eaLnBrk="0" hangingPunct="0"/>
            <a:r>
              <a:rPr lang="en-US" altLang="en-US"/>
              <a:t>Associate Professor, ECE Dept.</a:t>
            </a:r>
          </a:p>
        </p:txBody>
      </p:sp>
      <p:sp>
        <p:nvSpPr>
          <p:cNvPr id="217092" name="Text Box 4">
            <a:extLst>
              <a:ext uri="{FF2B5EF4-FFF2-40B4-BE49-F238E27FC236}">
                <a16:creationId xmlns:a16="http://schemas.microsoft.com/office/drawing/2014/main" id="{1DE9E421-FDBE-4525-94BE-96808A097FC4}"/>
              </a:ext>
            </a:extLst>
          </p:cNvPr>
          <p:cNvSpPr txBox="1">
            <a:spLocks noChangeArrowheads="1"/>
          </p:cNvSpPr>
          <p:nvPr/>
        </p:nvSpPr>
        <p:spPr bwMode="auto">
          <a:xfrm>
            <a:off x="2803892" y="2133600"/>
            <a:ext cx="3339376"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sz="3600" b="1" dirty="0">
                <a:latin typeface="Arial" panose="020B0604020202020204" pitchFamily="34" charset="0"/>
              </a:rPr>
              <a:t>Lecture Set #4</a:t>
            </a:r>
          </a:p>
          <a:p>
            <a:pPr algn="ctr" eaLnBrk="0" hangingPunct="0"/>
            <a:r>
              <a:rPr lang="en-US" altLang="en-US" sz="3600" b="1" dirty="0">
                <a:latin typeface="Arial" panose="020B0604020202020204" pitchFamily="34" charset="0"/>
              </a:rPr>
              <a:t>Transformers</a:t>
            </a:r>
          </a:p>
          <a:p>
            <a:pPr algn="ctr" eaLnBrk="0" hangingPunct="0"/>
            <a:r>
              <a:rPr lang="en-US" altLang="en-US" sz="1000" b="1" dirty="0">
                <a:latin typeface="Arial" panose="020B0604020202020204" pitchFamily="34" charset="0"/>
              </a:rPr>
              <a:t>Version 6</a:t>
            </a:r>
            <a:endParaRPr lang="en-US" altLang="en-US" sz="1000" dirty="0">
              <a:latin typeface="Arial" panose="020B0604020202020204" pitchFamily="34" charset="0"/>
            </a:endParaRPr>
          </a:p>
        </p:txBody>
      </p:sp>
      <p:sp>
        <p:nvSpPr>
          <p:cNvPr id="217093" name="Rectangle 5">
            <a:extLst>
              <a:ext uri="{FF2B5EF4-FFF2-40B4-BE49-F238E27FC236}">
                <a16:creationId xmlns:a16="http://schemas.microsoft.com/office/drawing/2014/main" id="{BA48CD88-23EC-43A6-B26A-213926FD9DFD}"/>
              </a:ext>
            </a:extLst>
          </p:cNvPr>
          <p:cNvSpPr>
            <a:spLocks noChangeArrowheads="1"/>
          </p:cNvSpPr>
          <p:nvPr/>
        </p:nvSpPr>
        <p:spPr bwMode="auto">
          <a:xfrm>
            <a:off x="6792913" y="5670550"/>
            <a:ext cx="2351087"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t>Shattuck@uh.edu</a:t>
            </a:r>
          </a:p>
          <a:p>
            <a:pPr algn="ctr" eaLnBrk="0" hangingPunct="0"/>
            <a:r>
              <a:rPr lang="en-US" altLang="en-US"/>
              <a:t>713 743-4422</a:t>
            </a:r>
          </a:p>
          <a:p>
            <a:pPr algn="ctr" eaLnBrk="0" hangingPunct="0"/>
            <a:r>
              <a:rPr lang="en-US" altLang="en-US"/>
              <a:t>W326-D3</a:t>
            </a:r>
          </a:p>
        </p:txBody>
      </p:sp>
      <p:grpSp>
        <p:nvGrpSpPr>
          <p:cNvPr id="217094" name="Group 6">
            <a:extLst>
              <a:ext uri="{FF2B5EF4-FFF2-40B4-BE49-F238E27FC236}">
                <a16:creationId xmlns:a16="http://schemas.microsoft.com/office/drawing/2014/main" id="{0C5191A2-560A-495C-9F7C-95BFC1F2EABF}"/>
              </a:ext>
            </a:extLst>
          </p:cNvPr>
          <p:cNvGrpSpPr>
            <a:grpSpLocks/>
          </p:cNvGrpSpPr>
          <p:nvPr/>
        </p:nvGrpSpPr>
        <p:grpSpPr bwMode="auto">
          <a:xfrm>
            <a:off x="0" y="5326063"/>
            <a:ext cx="9144000" cy="1524000"/>
            <a:chOff x="0" y="3360"/>
            <a:chExt cx="5760" cy="960"/>
          </a:xfrm>
        </p:grpSpPr>
        <p:sp>
          <p:nvSpPr>
            <p:cNvPr id="217095" name="Rectangle 7">
              <a:extLst>
                <a:ext uri="{FF2B5EF4-FFF2-40B4-BE49-F238E27FC236}">
                  <a16:creationId xmlns:a16="http://schemas.microsoft.com/office/drawing/2014/main" id="{DBAC44EE-73F3-4475-9A49-1FF302164ADE}"/>
                </a:ext>
              </a:extLst>
            </p:cNvPr>
            <p:cNvSpPr>
              <a:spLocks noChangeArrowheads="1"/>
            </p:cNvSpPr>
            <p:nvPr/>
          </p:nvSpPr>
          <p:spPr bwMode="auto">
            <a:xfrm>
              <a:off x="0" y="3360"/>
              <a:ext cx="5760" cy="960"/>
            </a:xfrm>
            <a:prstGeom prst="rect">
              <a:avLst/>
            </a:prstGeom>
            <a:solidFill>
              <a:srgbClr val="FFFF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17096" name="Picture 8">
              <a:extLst>
                <a:ext uri="{FF2B5EF4-FFF2-40B4-BE49-F238E27FC236}">
                  <a16:creationId xmlns:a16="http://schemas.microsoft.com/office/drawing/2014/main" id="{9FFB3FE1-FB57-4C1F-BDC8-5806FAEC413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0" y="3389"/>
              <a:ext cx="4224" cy="931"/>
            </a:xfrm>
            <a:prstGeom prst="rect">
              <a:avLst/>
            </a:prstGeom>
            <a:noFill/>
            <a:extLst>
              <a:ext uri="{909E8E84-426E-40DD-AFC4-6F175D3DCCD1}">
                <a14:hiddenFill xmlns:a14="http://schemas.microsoft.com/office/drawing/2010/main">
                  <a:solidFill>
                    <a:srgbClr val="FFFFFF"/>
                  </a:solidFill>
                </a14:hiddenFill>
              </a:ext>
            </a:extLst>
          </p:spPr>
        </p:pic>
        <p:sp>
          <p:nvSpPr>
            <p:cNvPr id="217097" name="Rectangle 9">
              <a:extLst>
                <a:ext uri="{FF2B5EF4-FFF2-40B4-BE49-F238E27FC236}">
                  <a16:creationId xmlns:a16="http://schemas.microsoft.com/office/drawing/2014/main" id="{DBCAFDE2-A0FE-401A-A5F5-C81A207E731B}"/>
                </a:ext>
              </a:extLst>
            </p:cNvPr>
            <p:cNvSpPr>
              <a:spLocks noChangeArrowheads="1"/>
            </p:cNvSpPr>
            <p:nvPr/>
          </p:nvSpPr>
          <p:spPr bwMode="auto">
            <a:xfrm>
              <a:off x="4279" y="3572"/>
              <a:ext cx="1481" cy="7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0" hangingPunct="0"/>
              <a:r>
                <a:rPr lang="en-US" altLang="en-US">
                  <a:solidFill>
                    <a:schemeClr val="accent2"/>
                  </a:solidFill>
                </a:rPr>
                <a:t>Shattuck@uh.edu</a:t>
              </a:r>
            </a:p>
            <a:p>
              <a:pPr algn="ctr" eaLnBrk="0" hangingPunct="0"/>
              <a:r>
                <a:rPr lang="en-US" altLang="en-US">
                  <a:solidFill>
                    <a:schemeClr val="accent2"/>
                  </a:solidFill>
                </a:rPr>
                <a:t>713 743-4422</a:t>
              </a:r>
            </a:p>
            <a:p>
              <a:pPr algn="ctr" eaLnBrk="0" hangingPunct="0"/>
              <a:r>
                <a:rPr lang="en-US" altLang="en-US">
                  <a:solidFill>
                    <a:schemeClr val="accent2"/>
                  </a:solidFill>
                </a:rPr>
                <a:t>W326-D3</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418" name="Rectangle 2">
            <a:extLst>
              <a:ext uri="{FF2B5EF4-FFF2-40B4-BE49-F238E27FC236}">
                <a16:creationId xmlns:a16="http://schemas.microsoft.com/office/drawing/2014/main" id="{F6475575-F147-4BC1-989D-08E4EBEFC7E6}"/>
              </a:ext>
            </a:extLst>
          </p:cNvPr>
          <p:cNvSpPr>
            <a:spLocks noGrp="1" noChangeArrowheads="1"/>
          </p:cNvSpPr>
          <p:nvPr>
            <p:ph type="title"/>
          </p:nvPr>
        </p:nvSpPr>
        <p:spPr>
          <a:xfrm>
            <a:off x="533400" y="0"/>
            <a:ext cx="8305800" cy="1600200"/>
          </a:xfrm>
        </p:spPr>
        <p:txBody>
          <a:bodyPr/>
          <a:lstStyle/>
          <a:p>
            <a:r>
              <a:rPr lang="en-US" altLang="en-US" dirty="0"/>
              <a:t>Overview of Lecture Set</a:t>
            </a:r>
            <a:br>
              <a:rPr lang="en-US" altLang="en-US" dirty="0"/>
            </a:br>
            <a:r>
              <a:rPr lang="en-US" altLang="en-US" dirty="0"/>
              <a:t> </a:t>
            </a:r>
            <a:r>
              <a:rPr lang="en-US" altLang="en-US" b="1" dirty="0"/>
              <a:t>Transformers</a:t>
            </a:r>
          </a:p>
        </p:txBody>
      </p:sp>
      <p:sp>
        <p:nvSpPr>
          <p:cNvPr id="1212419" name="Rectangle 3">
            <a:extLst>
              <a:ext uri="{FF2B5EF4-FFF2-40B4-BE49-F238E27FC236}">
                <a16:creationId xmlns:a16="http://schemas.microsoft.com/office/drawing/2014/main" id="{EDA4D3D9-60D2-46BF-A92E-B606F1B21F45}"/>
              </a:ext>
            </a:extLst>
          </p:cNvPr>
          <p:cNvSpPr>
            <a:spLocks noGrp="1" noChangeArrowheads="1"/>
          </p:cNvSpPr>
          <p:nvPr>
            <p:ph type="body" idx="1"/>
          </p:nvPr>
        </p:nvSpPr>
        <p:spPr>
          <a:xfrm>
            <a:off x="533400" y="2057400"/>
            <a:ext cx="7772400" cy="4343400"/>
          </a:xfrm>
        </p:spPr>
        <p:txBody>
          <a:bodyPr/>
          <a:lstStyle/>
          <a:p>
            <a:pPr>
              <a:lnSpc>
                <a:spcPct val="90000"/>
              </a:lnSpc>
              <a:buFontTx/>
              <a:buNone/>
            </a:pPr>
            <a:r>
              <a:rPr lang="en-US" altLang="en-US" sz="2800" dirty="0"/>
              <a:t>In this lecture set, we will cover the following topics:</a:t>
            </a:r>
          </a:p>
          <a:p>
            <a:pPr>
              <a:lnSpc>
                <a:spcPct val="90000"/>
              </a:lnSpc>
            </a:pPr>
            <a:r>
              <a:rPr lang="en-US" altLang="en-US" sz="2800" dirty="0">
                <a:cs typeface="Arial" panose="020B0604020202020204" pitchFamily="34" charset="0"/>
              </a:rPr>
              <a:t>Consider the situation with coupled coils, especially for what are called transformers.  </a:t>
            </a:r>
          </a:p>
          <a:p>
            <a:pPr>
              <a:lnSpc>
                <a:spcPct val="90000"/>
              </a:lnSpc>
            </a:pPr>
            <a:r>
              <a:rPr lang="en-US" altLang="en-US" sz="2800" dirty="0">
                <a:cs typeface="Arial" panose="020B0604020202020204" pitchFamily="34" charset="0"/>
              </a:rPr>
              <a:t>Introduce the ideal transformer, and the simplifications that result.  </a:t>
            </a:r>
          </a:p>
          <a:p>
            <a:pPr>
              <a:lnSpc>
                <a:spcPct val="90000"/>
              </a:lnSpc>
            </a:pPr>
            <a:r>
              <a:rPr lang="en-US" altLang="en-US" sz="2800" dirty="0">
                <a:cs typeface="Times New Roman" panose="02020603050405020304" pitchFamily="18" charset="0"/>
              </a:rPr>
              <a:t>Show how the dot convention works for ideal transformers.</a:t>
            </a:r>
            <a:r>
              <a:rPr lang="en-US" altLang="en-US" sz="2800" dirty="0"/>
              <a:t> </a:t>
            </a:r>
          </a:p>
          <a:p>
            <a:pPr>
              <a:lnSpc>
                <a:spcPct val="90000"/>
              </a:lnSpc>
            </a:pPr>
            <a:r>
              <a:rPr lang="en-US" altLang="en-US" sz="2800" dirty="0"/>
              <a:t>Consider the more general case, called a linear transformer.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1042" name="Rectangle 2"/>
          <p:cNvSpPr>
            <a:spLocks noGrp="1" noChangeArrowheads="1"/>
          </p:cNvSpPr>
          <p:nvPr>
            <p:ph type="title"/>
          </p:nvPr>
        </p:nvSpPr>
        <p:spPr/>
        <p:txBody>
          <a:bodyPr/>
          <a:lstStyle/>
          <a:p>
            <a:r>
              <a:rPr lang="en-US" dirty="0"/>
              <a:t>Copyright Notice</a:t>
            </a:r>
          </a:p>
        </p:txBody>
      </p:sp>
      <p:sp>
        <p:nvSpPr>
          <p:cNvPr id="4" name="Content Placeholder 2">
            <a:extLst>
              <a:ext uri="{FF2B5EF4-FFF2-40B4-BE49-F238E27FC236}">
                <a16:creationId xmlns:a16="http://schemas.microsoft.com/office/drawing/2014/main" id="{F1C3D434-61A6-4AED-9A60-C88F9F4B6217}"/>
              </a:ext>
            </a:extLst>
          </p:cNvPr>
          <p:cNvSpPr>
            <a:spLocks noGrp="1"/>
          </p:cNvSpPr>
          <p:nvPr>
            <p:ph idx="1"/>
          </p:nvPr>
        </p:nvSpPr>
        <p:spPr bwMode="auto">
          <a:xfrm>
            <a:off x="469397" y="2057400"/>
            <a:ext cx="8205205" cy="4155626"/>
          </a:xfrm>
          <a:solidFill>
            <a:schemeClr val="accent1"/>
          </a:solidFill>
          <a:ln w="9525">
            <a:solidFill>
              <a:schemeClr val="tx1"/>
            </a:solidFill>
            <a:miter lim="800000"/>
            <a:headEnd/>
            <a:tailEnd/>
          </a:ln>
          <a:effectLst/>
        </p:spPr>
        <p:txBody>
          <a:bodyPr>
            <a:spAutoFit/>
          </a:bodyPr>
          <a:lstStyle/>
          <a:p>
            <a:pPr marL="0" indent="0" eaLnBrk="0" hangingPunct="0">
              <a:spcBef>
                <a:spcPct val="0"/>
              </a:spcBef>
              <a:buNone/>
            </a:pPr>
            <a:r>
              <a:rPr lang="en-US" altLang="en-US" sz="2400" kern="1200" dirty="0">
                <a:solidFill>
                  <a:schemeClr val="bg1"/>
                </a:solidFill>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1156923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Rectangle 2">
            <a:extLst>
              <a:ext uri="{FF2B5EF4-FFF2-40B4-BE49-F238E27FC236}">
                <a16:creationId xmlns:a16="http://schemas.microsoft.com/office/drawing/2014/main" id="{E61139E7-E14D-4DC6-B873-A7FB37F2757B}"/>
              </a:ext>
            </a:extLst>
          </p:cNvPr>
          <p:cNvSpPr>
            <a:spLocks noGrp="1" noChangeArrowheads="1"/>
          </p:cNvSpPr>
          <p:nvPr>
            <p:ph type="title"/>
          </p:nvPr>
        </p:nvSpPr>
        <p:spPr>
          <a:xfrm>
            <a:off x="2971800" y="0"/>
            <a:ext cx="5943600" cy="1143000"/>
          </a:xfrm>
        </p:spPr>
        <p:txBody>
          <a:bodyPr/>
          <a:lstStyle/>
          <a:p>
            <a:r>
              <a:rPr lang="en-US" altLang="en-US" dirty="0"/>
              <a:t>Inductor Review</a:t>
            </a:r>
          </a:p>
        </p:txBody>
      </p:sp>
      <p:sp>
        <p:nvSpPr>
          <p:cNvPr id="443395" name="Rectangle 3">
            <a:extLst>
              <a:ext uri="{FF2B5EF4-FFF2-40B4-BE49-F238E27FC236}">
                <a16:creationId xmlns:a16="http://schemas.microsoft.com/office/drawing/2014/main" id="{C42DD910-3C61-4FA5-8AD8-7D884005AF02}"/>
              </a:ext>
            </a:extLst>
          </p:cNvPr>
          <p:cNvSpPr>
            <a:spLocks noGrp="1" noChangeArrowheads="1"/>
          </p:cNvSpPr>
          <p:nvPr>
            <p:ph type="body" idx="1"/>
          </p:nvPr>
        </p:nvSpPr>
        <p:spPr>
          <a:xfrm>
            <a:off x="152400" y="838200"/>
            <a:ext cx="5105400" cy="5867400"/>
          </a:xfrm>
        </p:spPr>
        <p:txBody>
          <a:bodyPr/>
          <a:lstStyle/>
          <a:p>
            <a:pPr>
              <a:lnSpc>
                <a:spcPct val="90000"/>
              </a:lnSpc>
            </a:pPr>
            <a:r>
              <a:rPr lang="en-US" altLang="en-US" sz="2400"/>
              <a:t>An inductor is a two terminal circuit element that has a voltage across its terminals which is proportional to the derivative of the current through its terminals.</a:t>
            </a:r>
          </a:p>
          <a:p>
            <a:pPr>
              <a:lnSpc>
                <a:spcPct val="90000"/>
              </a:lnSpc>
            </a:pPr>
            <a:r>
              <a:rPr lang="en-US" altLang="en-US" sz="2400"/>
              <a:t>The coefficient of this proportionality is the defining characteristic of an inductor. </a:t>
            </a:r>
          </a:p>
          <a:p>
            <a:pPr>
              <a:lnSpc>
                <a:spcPct val="90000"/>
              </a:lnSpc>
            </a:pPr>
            <a:r>
              <a:rPr lang="en-US" altLang="en-US" sz="2400"/>
              <a:t>An inductor is the device that we use to model the effect of magnetic fields on circuit variables.  The energy stored in magnetic fields has effects on voltage and current.  We use the inductor component to model these effects.</a:t>
            </a:r>
          </a:p>
        </p:txBody>
      </p:sp>
      <p:sp>
        <p:nvSpPr>
          <p:cNvPr id="443396" name="Rectangle 4">
            <a:extLst>
              <a:ext uri="{FF2B5EF4-FFF2-40B4-BE49-F238E27FC236}">
                <a16:creationId xmlns:a16="http://schemas.microsoft.com/office/drawing/2014/main" id="{1F817D5E-58EF-4C59-8F23-F13CB57A185A}"/>
              </a:ext>
            </a:extLst>
          </p:cNvPr>
          <p:cNvSpPr>
            <a:spLocks noChangeArrowheads="1"/>
          </p:cNvSpPr>
          <p:nvPr/>
        </p:nvSpPr>
        <p:spPr bwMode="auto">
          <a:xfrm>
            <a:off x="4338638"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443397" name="Object 5">
            <a:extLst>
              <a:ext uri="{FF2B5EF4-FFF2-40B4-BE49-F238E27FC236}">
                <a16:creationId xmlns:a16="http://schemas.microsoft.com/office/drawing/2014/main" id="{4FE65F5A-7305-4A42-9D73-E78B56C83DF0}"/>
              </a:ext>
            </a:extLst>
          </p:cNvPr>
          <p:cNvGraphicFramePr>
            <a:graphicFrameLocks noChangeAspect="1"/>
          </p:cNvGraphicFramePr>
          <p:nvPr/>
        </p:nvGraphicFramePr>
        <p:xfrm>
          <a:off x="0" y="0"/>
          <a:ext cx="914400" cy="198438"/>
        </p:xfrm>
        <a:graphic>
          <a:graphicData uri="http://schemas.openxmlformats.org/presentationml/2006/ole">
            <mc:AlternateContent xmlns:mc="http://schemas.openxmlformats.org/markup-compatibility/2006">
              <mc:Choice xmlns:v="urn:schemas-microsoft-com:vml" Requires="v">
                <p:oleObj name="Equation" r:id="rId3" imgW="914400" imgH="198720" progId="Equation.DSMT4">
                  <p:embed/>
                </p:oleObj>
              </mc:Choice>
              <mc:Fallback>
                <p:oleObj name="Equation" r:id="rId3" imgW="914400" imgH="198720" progId="Equation.DSMT4">
                  <p:embed/>
                  <p:pic>
                    <p:nvPicPr>
                      <p:cNvPr id="443397" name="Object 5">
                        <a:extLst>
                          <a:ext uri="{FF2B5EF4-FFF2-40B4-BE49-F238E27FC236}">
                            <a16:creationId xmlns:a16="http://schemas.microsoft.com/office/drawing/2014/main" id="{4FE65F5A-7305-4A42-9D73-E78B56C83DF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 cy="19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3398" name="Text Box 6">
            <a:extLst>
              <a:ext uri="{FF2B5EF4-FFF2-40B4-BE49-F238E27FC236}">
                <a16:creationId xmlns:a16="http://schemas.microsoft.com/office/drawing/2014/main" id="{EDB887E5-09D3-44DC-8CF1-67DC62CE2672}"/>
              </a:ext>
            </a:extLst>
          </p:cNvPr>
          <p:cNvSpPr txBox="1">
            <a:spLocks noChangeArrowheads="1"/>
          </p:cNvSpPr>
          <p:nvPr/>
        </p:nvSpPr>
        <p:spPr bwMode="auto">
          <a:xfrm>
            <a:off x="5334000" y="4114800"/>
            <a:ext cx="3657600" cy="1187450"/>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n-US" altLang="en-US">
                <a:solidFill>
                  <a:schemeClr val="bg1"/>
                </a:solidFill>
                <a:latin typeface="Arial" panose="020B0604020202020204" pitchFamily="34" charset="0"/>
              </a:rPr>
              <a:t>In many cases a coil of wire can be modeled as an inductor.</a:t>
            </a:r>
          </a:p>
        </p:txBody>
      </p:sp>
      <p:pic>
        <p:nvPicPr>
          <p:cNvPr id="443399" name="Picture 7">
            <a:extLst>
              <a:ext uri="{FF2B5EF4-FFF2-40B4-BE49-F238E27FC236}">
                <a16:creationId xmlns:a16="http://schemas.microsoft.com/office/drawing/2014/main" id="{5A7CD486-0154-432A-9323-B464F13127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1676400"/>
            <a:ext cx="3657600" cy="2438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6514" name="Rectangle 2">
            <a:extLst>
              <a:ext uri="{FF2B5EF4-FFF2-40B4-BE49-F238E27FC236}">
                <a16:creationId xmlns:a16="http://schemas.microsoft.com/office/drawing/2014/main" id="{F5B183D2-5856-46A6-84F1-3955CDEDDEBC}"/>
              </a:ext>
            </a:extLst>
          </p:cNvPr>
          <p:cNvSpPr>
            <a:spLocks noGrp="1" noChangeArrowheads="1"/>
          </p:cNvSpPr>
          <p:nvPr>
            <p:ph type="title"/>
          </p:nvPr>
        </p:nvSpPr>
        <p:spPr>
          <a:xfrm>
            <a:off x="1371600" y="0"/>
            <a:ext cx="7086600" cy="685800"/>
          </a:xfrm>
        </p:spPr>
        <p:txBody>
          <a:bodyPr/>
          <a:lstStyle/>
          <a:p>
            <a:r>
              <a:rPr lang="en-US" altLang="en-US" sz="4000" dirty="0"/>
              <a:t>Mutual Inductance</a:t>
            </a:r>
          </a:p>
        </p:txBody>
      </p:sp>
      <p:sp>
        <p:nvSpPr>
          <p:cNvPr id="1216515" name="Rectangle 3">
            <a:extLst>
              <a:ext uri="{FF2B5EF4-FFF2-40B4-BE49-F238E27FC236}">
                <a16:creationId xmlns:a16="http://schemas.microsoft.com/office/drawing/2014/main" id="{0D9BCECA-DDAD-4F4C-9589-B992D505763B}"/>
              </a:ext>
            </a:extLst>
          </p:cNvPr>
          <p:cNvSpPr>
            <a:spLocks noGrp="1" noChangeArrowheads="1"/>
          </p:cNvSpPr>
          <p:nvPr>
            <p:ph type="body" idx="1"/>
          </p:nvPr>
        </p:nvSpPr>
        <p:spPr>
          <a:xfrm>
            <a:off x="292437" y="1143000"/>
            <a:ext cx="5068888" cy="5334000"/>
          </a:xfrm>
        </p:spPr>
        <p:txBody>
          <a:bodyPr/>
          <a:lstStyle/>
          <a:p>
            <a:pPr marL="6350" indent="346075">
              <a:buFontTx/>
              <a:buNone/>
            </a:pPr>
            <a:r>
              <a:rPr lang="en-US" altLang="en-US" sz="2800" dirty="0">
                <a:cs typeface="Times New Roman" panose="02020603050405020304" pitchFamily="18" charset="0"/>
              </a:rPr>
              <a:t>Inductors model the interaction between magnetic fields and voltage and current.  However, the magnetic field from one coil can have an effect on another coil.  Thus, one inductor can affect another inductor.  This effect does not just occur; we can use it to produce desired results, most significantly, in transformers.</a:t>
            </a:r>
            <a:r>
              <a:rPr lang="en-US" altLang="en-US" sz="2800" dirty="0"/>
              <a:t> </a:t>
            </a:r>
          </a:p>
        </p:txBody>
      </p:sp>
      <p:sp>
        <p:nvSpPr>
          <p:cNvPr id="1216516" name="Text Box 4">
            <a:extLst>
              <a:ext uri="{FF2B5EF4-FFF2-40B4-BE49-F238E27FC236}">
                <a16:creationId xmlns:a16="http://schemas.microsoft.com/office/drawing/2014/main" id="{CE00EAE4-7BE1-4A37-9A98-9E00D98063D7}"/>
              </a:ext>
            </a:extLst>
          </p:cNvPr>
          <p:cNvSpPr txBox="1">
            <a:spLocks noChangeArrowheads="1"/>
          </p:cNvSpPr>
          <p:nvPr/>
        </p:nvSpPr>
        <p:spPr bwMode="auto">
          <a:xfrm>
            <a:off x="5562600" y="4883150"/>
            <a:ext cx="3581400" cy="19748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spAutoFit/>
          </a:bodyPr>
          <a:lstStyle>
            <a:lvl1pPr marL="0" indent="0" eaLnBrk="0" hangingPunct="0">
              <a:buClr>
                <a:schemeClr val="tx2"/>
              </a:buClr>
              <a:buNone/>
              <a:defRPr>
                <a:solidFill>
                  <a:schemeClr val="bg1"/>
                </a:solidFill>
                <a:latin typeface="+mn-lt"/>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dirty="0"/>
              <a:t>A transformer is two inductors, whose magnetic fields are joined by a magnetic core.</a:t>
            </a:r>
          </a:p>
        </p:txBody>
      </p:sp>
      <p:pic>
        <p:nvPicPr>
          <p:cNvPr id="1216518" name="Picture 6">
            <a:extLst>
              <a:ext uri="{FF2B5EF4-FFF2-40B4-BE49-F238E27FC236}">
                <a16:creationId xmlns:a16="http://schemas.microsoft.com/office/drawing/2014/main" id="{EFC50D53-AB8D-4D15-89AF-C252631F9D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990601"/>
            <a:ext cx="2782113" cy="3892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28600" y="533400"/>
            <a:ext cx="8610600" cy="685800"/>
          </a:xfrm>
        </p:spPr>
        <p:txBody>
          <a:bodyPr/>
          <a:lstStyle/>
          <a:p>
            <a:r>
              <a:rPr lang="en-US" altLang="en-US" sz="4000"/>
              <a:t>Mutual Inductance </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5791200" cy="5334000"/>
          </a:xfrm>
          <a:solidFill>
            <a:schemeClr val="accent1"/>
          </a:solidFill>
        </p:spPr>
        <p:txBody>
          <a:bodyPr/>
          <a:lstStyle/>
          <a:p>
            <a:pPr marL="6350" indent="346075">
              <a:lnSpc>
                <a:spcPct val="90000"/>
              </a:lnSpc>
              <a:buFontTx/>
              <a:buNone/>
            </a:pPr>
            <a:r>
              <a:rPr lang="en-US" altLang="en-US">
                <a:cs typeface="Times New Roman" panose="02020603050405020304" pitchFamily="18" charset="0"/>
              </a:rPr>
              <a:t>	We model this effect with what we call “mutual inductance”, and we call it </a:t>
            </a:r>
            <a:r>
              <a:rPr lang="en-US" altLang="en-US" i="1">
                <a:cs typeface="Times New Roman" panose="02020603050405020304" pitchFamily="18" charset="0"/>
              </a:rPr>
              <a:t>M</a:t>
            </a:r>
            <a:r>
              <a:rPr lang="en-US" altLang="en-US">
                <a:cs typeface="Times New Roman" panose="02020603050405020304" pitchFamily="18" charset="0"/>
              </a:rPr>
              <a:t>.  We also rename </a:t>
            </a:r>
            <a:r>
              <a:rPr lang="en-US" altLang="en-US" i="1">
                <a:cs typeface="Times New Roman" panose="02020603050405020304" pitchFamily="18" charset="0"/>
              </a:rPr>
              <a:t>L</a:t>
            </a:r>
            <a:r>
              <a:rPr lang="en-US" altLang="en-US">
                <a:cs typeface="Times New Roman" panose="02020603050405020304" pitchFamily="18" charset="0"/>
              </a:rPr>
              <a:t>, as the “self inductance”. </a:t>
            </a:r>
          </a:p>
          <a:p>
            <a:pPr marL="6350" indent="346075">
              <a:lnSpc>
                <a:spcPct val="90000"/>
              </a:lnSpc>
              <a:buFontTx/>
              <a:buNone/>
            </a:pPr>
            <a:r>
              <a:rPr lang="en-US" altLang="en-US">
                <a:cs typeface="Arial" panose="020B0604020202020204" pitchFamily="34" charset="0"/>
              </a:rPr>
              <a:t>The value of </a:t>
            </a:r>
            <a:r>
              <a:rPr lang="en-US" altLang="en-US" i="1">
                <a:cs typeface="Arial" panose="020B0604020202020204" pitchFamily="34" charset="0"/>
              </a:rPr>
              <a:t>M</a:t>
            </a:r>
            <a:r>
              <a:rPr lang="en-US" altLang="en-US">
                <a:cs typeface="Arial" panose="020B0604020202020204" pitchFamily="34" charset="0"/>
              </a:rPr>
              <a:t> is a function of the coupling of the flux, </a:t>
            </a:r>
            <a:endParaRPr lang="en-US" altLang="en-US">
              <a:latin typeface="New York" charset="0"/>
              <a:cs typeface="Times New Roman" panose="02020603050405020304" pitchFamily="18" charset="0"/>
            </a:endParaRPr>
          </a:p>
          <a:p>
            <a:pPr marL="6350" indent="346075">
              <a:lnSpc>
                <a:spcPct val="90000"/>
              </a:lnSpc>
              <a:buFontTx/>
              <a:buNone/>
            </a:pPr>
            <a:r>
              <a:rPr lang="en-US" altLang="en-US">
                <a:cs typeface="Arial" panose="020B0604020202020204" pitchFamily="34" charset="0"/>
              </a:rPr>
              <a:t> </a:t>
            </a:r>
            <a:endParaRPr lang="en-US" altLang="en-US">
              <a:latin typeface="New York" charset="0"/>
              <a:cs typeface="Times New Roman" panose="02020603050405020304" pitchFamily="18" charset="0"/>
            </a:endParaRPr>
          </a:p>
          <a:p>
            <a:pPr marL="6350" indent="346075">
              <a:lnSpc>
                <a:spcPct val="90000"/>
              </a:lnSpc>
              <a:buFontTx/>
              <a:buNone/>
            </a:pPr>
            <a:r>
              <a:rPr lang="en-US" altLang="en-US">
                <a:cs typeface="Arial" panose="020B0604020202020204" pitchFamily="34" charset="0"/>
              </a:rPr>
              <a:t>The quantity </a:t>
            </a:r>
            <a:r>
              <a:rPr lang="en-US" altLang="en-US" i="1">
                <a:cs typeface="Arial" panose="020B0604020202020204" pitchFamily="34" charset="0"/>
              </a:rPr>
              <a:t>k</a:t>
            </a:r>
            <a:r>
              <a:rPr lang="en-US" altLang="en-US">
                <a:cs typeface="Arial" panose="020B0604020202020204" pitchFamily="34" charset="0"/>
              </a:rPr>
              <a:t> is defined as the “coefficient of coupling”, and </a:t>
            </a:r>
          </a:p>
          <a:p>
            <a:pPr marL="6350" indent="346075">
              <a:lnSpc>
                <a:spcPct val="90000"/>
              </a:lnSpc>
              <a:buFontTx/>
              <a:buNone/>
            </a:pPr>
            <a:endParaRPr lang="en-US" altLang="en-US">
              <a:cs typeface="Arial" panose="020B0604020202020204" pitchFamily="34" charset="0"/>
            </a:endParaRPr>
          </a:p>
        </p:txBody>
      </p:sp>
      <p:pic>
        <p:nvPicPr>
          <p:cNvPr id="1271812" name="Picture 4">
            <a:extLst>
              <a:ext uri="{FF2B5EF4-FFF2-40B4-BE49-F238E27FC236}">
                <a16:creationId xmlns:a16="http://schemas.microsoft.com/office/drawing/2014/main" id="{B015AA1A-ADE6-43C5-A057-26995C6E0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5875" y="2971800"/>
            <a:ext cx="2778125" cy="3886200"/>
          </a:xfrm>
          <a:prstGeom prst="rect">
            <a:avLst/>
          </a:prstGeom>
          <a:noFill/>
          <a:extLst>
            <a:ext uri="{909E8E84-426E-40DD-AFC4-6F175D3DCCD1}">
              <a14:hiddenFill xmlns:a14="http://schemas.microsoft.com/office/drawing/2010/main">
                <a:solidFill>
                  <a:srgbClr val="FFFFFF"/>
                </a:solidFill>
              </a14:hiddenFill>
            </a:ext>
          </a:extLst>
        </p:spPr>
      </p:pic>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3538538" y="3109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1271813" name="Object 5">
            <a:extLst>
              <a:ext uri="{FF2B5EF4-FFF2-40B4-BE49-F238E27FC236}">
                <a16:creationId xmlns:a16="http://schemas.microsoft.com/office/drawing/2014/main" id="{914EAD4D-538E-4F65-8AEC-3EDEF8C51EB9}"/>
              </a:ext>
            </a:extLst>
          </p:cNvPr>
          <p:cNvGraphicFramePr>
            <a:graphicFrameLocks noChangeAspect="1"/>
          </p:cNvGraphicFramePr>
          <p:nvPr/>
        </p:nvGraphicFramePr>
        <p:xfrm>
          <a:off x="838200" y="4495800"/>
          <a:ext cx="2066925" cy="638175"/>
        </p:xfrm>
        <a:graphic>
          <a:graphicData uri="http://schemas.openxmlformats.org/presentationml/2006/ole">
            <mc:AlternateContent xmlns:mc="http://schemas.openxmlformats.org/markup-compatibility/2006">
              <mc:Choice xmlns:v="urn:schemas-microsoft-com:vml" Requires="v">
                <p:oleObj r:id="rId4" imgW="837836" imgH="253890" progId="Equation.DSMT4">
                  <p:embed/>
                </p:oleObj>
              </mc:Choice>
              <mc:Fallback>
                <p:oleObj r:id="rId4" imgW="837836" imgH="253890" progId="Equation.DSMT4">
                  <p:embed/>
                  <p:pic>
                    <p:nvPicPr>
                      <p:cNvPr id="1271813" name="Object 5">
                        <a:extLst>
                          <a:ext uri="{FF2B5EF4-FFF2-40B4-BE49-F238E27FC236}">
                            <a16:creationId xmlns:a16="http://schemas.microsoft.com/office/drawing/2014/main" id="{914EAD4D-538E-4F65-8AEC-3EDEF8C51E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4495800"/>
                        <a:ext cx="2066925"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71816" name="Rectangle 8">
            <a:extLst>
              <a:ext uri="{FF2B5EF4-FFF2-40B4-BE49-F238E27FC236}">
                <a16:creationId xmlns:a16="http://schemas.microsoft.com/office/drawing/2014/main" id="{C1DAE738-1C9A-47C2-80BF-884D8065D1FC}"/>
              </a:ext>
            </a:extLst>
          </p:cNvPr>
          <p:cNvSpPr>
            <a:spLocks noChangeArrowheads="1"/>
          </p:cNvSpPr>
          <p:nvPr/>
        </p:nvSpPr>
        <p:spPr bwMode="auto">
          <a:xfrm>
            <a:off x="3833813"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aphicFrame>
        <p:nvGraphicFramePr>
          <p:cNvPr id="1271815" name="Object 7">
            <a:extLst>
              <a:ext uri="{FF2B5EF4-FFF2-40B4-BE49-F238E27FC236}">
                <a16:creationId xmlns:a16="http://schemas.microsoft.com/office/drawing/2014/main" id="{7DC00D70-5E32-45F2-8957-5D090F48ABA8}"/>
              </a:ext>
            </a:extLst>
          </p:cNvPr>
          <p:cNvGraphicFramePr>
            <a:graphicFrameLocks noChangeAspect="1"/>
          </p:cNvGraphicFramePr>
          <p:nvPr/>
        </p:nvGraphicFramePr>
        <p:xfrm>
          <a:off x="1828800" y="5943600"/>
          <a:ext cx="1676400" cy="508000"/>
        </p:xfrm>
        <a:graphic>
          <a:graphicData uri="http://schemas.openxmlformats.org/presentationml/2006/ole">
            <mc:AlternateContent xmlns:mc="http://schemas.openxmlformats.org/markup-compatibility/2006">
              <mc:Choice xmlns:v="urn:schemas-microsoft-com:vml" Requires="v">
                <p:oleObj r:id="rId6" imgW="596641" imgH="177723" progId="Equation.DSMT4">
                  <p:embed/>
                </p:oleObj>
              </mc:Choice>
              <mc:Fallback>
                <p:oleObj r:id="rId6" imgW="596641" imgH="177723" progId="Equation.DSMT4">
                  <p:embed/>
                  <p:pic>
                    <p:nvPicPr>
                      <p:cNvPr id="1271815" name="Object 7">
                        <a:extLst>
                          <a:ext uri="{FF2B5EF4-FFF2-40B4-BE49-F238E27FC236}">
                            <a16:creationId xmlns:a16="http://schemas.microsoft.com/office/drawing/2014/main" id="{7DC00D70-5E32-45F2-8957-5D090F48ABA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8800" y="5943600"/>
                        <a:ext cx="16764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28600" y="11686"/>
            <a:ext cx="8610600" cy="685800"/>
          </a:xfrm>
        </p:spPr>
        <p:txBody>
          <a:bodyPr/>
          <a:lstStyle/>
          <a:p>
            <a:r>
              <a:rPr lang="en-US" altLang="en-US" sz="4000" dirty="0"/>
              <a:t>Mutual Inductance </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3538538" y="3109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1271816" name="Rectangle 8">
            <a:extLst>
              <a:ext uri="{FF2B5EF4-FFF2-40B4-BE49-F238E27FC236}">
                <a16:creationId xmlns:a16="http://schemas.microsoft.com/office/drawing/2014/main" id="{C1DAE738-1C9A-47C2-80BF-884D8065D1FC}"/>
              </a:ext>
            </a:extLst>
          </p:cNvPr>
          <p:cNvSpPr>
            <a:spLocks noChangeArrowheads="1"/>
          </p:cNvSpPr>
          <p:nvPr/>
        </p:nvSpPr>
        <p:spPr bwMode="auto">
          <a:xfrm>
            <a:off x="3833813"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9" name="Picture 8" descr="The circuit on the left shows an inductor L subscript 1 on the right wire, a resistor R1 on the top wire, and an independent voltage source, v sub g, on the left wire. Mesh current in this circuit is indicated by a clockwise pointing curved arrow, i1. Voltage drop across L subscript 1 is v subscript 1.&#10;The circuit on the right shows an inductor L2 on the left wire and a resistor R2 on the right wire. &#10;Mutual inductance of two coils is marked as M, with a double sided arrow pointing to both inductors.&#10;">
            <a:extLst>
              <a:ext uri="{FF2B5EF4-FFF2-40B4-BE49-F238E27FC236}">
                <a16:creationId xmlns:a16="http://schemas.microsoft.com/office/drawing/2014/main" id="{1B2C3BA9-CFC2-4D53-8D5A-8B5B8381A3BA}"/>
              </a:ext>
            </a:extLst>
          </p:cNvPr>
          <p:cNvPicPr>
            <a:picLocks noChangeAspect="1"/>
          </p:cNvPicPr>
          <p:nvPr/>
        </p:nvPicPr>
        <p:blipFill>
          <a:blip r:embed="rId3"/>
          <a:stretch>
            <a:fillRect/>
          </a:stretch>
        </p:blipFill>
        <p:spPr>
          <a:xfrm>
            <a:off x="736600" y="1073421"/>
            <a:ext cx="4105880" cy="1560234"/>
          </a:xfrm>
          <a:prstGeom prst="rect">
            <a:avLst/>
          </a:prstGeom>
        </p:spPr>
      </p:pic>
      <p:graphicFrame>
        <p:nvGraphicFrame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GraphicFramePr>
            <a:graphicFrameLocks noChangeAspect="1"/>
          </p:cNvGraphicFramePr>
          <p:nvPr>
            <p:extLst>
              <p:ext uri="{D42A27DB-BD31-4B8C-83A1-F6EECF244321}">
                <p14:modId xmlns:p14="http://schemas.microsoft.com/office/powerpoint/2010/main" val="2133311098"/>
              </p:ext>
            </p:extLst>
          </p:nvPr>
        </p:nvGraphicFramePr>
        <p:xfrm>
          <a:off x="5351441" y="1262175"/>
          <a:ext cx="2357481" cy="1368638"/>
        </p:xfrm>
        <a:graphic>
          <a:graphicData uri="http://schemas.openxmlformats.org/presentationml/2006/ole">
            <mc:AlternateContent xmlns:mc="http://schemas.openxmlformats.org/markup-compatibility/2006">
              <mc:Choice xmlns:v="urn:schemas-microsoft-com:vml" Requires="v">
                <p:oleObj name="Equation" r:id="rId4" imgW="1460160" imgH="812520" progId="Equation.DSMT4">
                  <p:embed/>
                </p:oleObj>
              </mc:Choice>
              <mc:Fallback>
                <p:oleObj name="Equation" r:id="rId4" imgW="1460160" imgH="812520" progId="Equation.DSMT4">
                  <p:embed/>
                  <p:pic>
                    <p:nvPic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PicPr>
                        <a:picLocks noChangeAspect="1" noChangeArrowheads="1"/>
                      </p:cNvPicPr>
                      <p:nvPr/>
                    </p:nvPicPr>
                    <p:blipFill>
                      <a:blip r:embed="rId5"/>
                      <a:srcRect/>
                      <a:stretch>
                        <a:fillRect/>
                      </a:stretch>
                    </p:blipFill>
                    <p:spPr bwMode="auto">
                      <a:xfrm>
                        <a:off x="5351441" y="1262175"/>
                        <a:ext cx="2357481" cy="136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Content Placeholder 29">
            <a:extLst>
              <a:ext uri="{FF2B5EF4-FFF2-40B4-BE49-F238E27FC236}">
                <a16:creationId xmlns:a16="http://schemas.microsoft.com/office/drawing/2014/main" id="{A7F630FA-5DF9-4D49-85C2-46553B2C5CC6}"/>
              </a:ext>
            </a:extLst>
          </p:cNvPr>
          <p:cNvSpPr txBox="1">
            <a:spLocks/>
          </p:cNvSpPr>
          <p:nvPr/>
        </p:nvSpPr>
        <p:spPr bwMode="auto">
          <a:xfrm>
            <a:off x="415180" y="3034378"/>
            <a:ext cx="1273920" cy="374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defPPr>
              <a:defRPr lang="en-US"/>
            </a:defPPr>
            <a:lvl1pPr algn="r" rtl="0" fontAlgn="base">
              <a:spcBef>
                <a:spcPct val="0"/>
              </a:spcBef>
              <a:spcAft>
                <a:spcPct val="0"/>
              </a:spcAft>
              <a:defRPr sz="1400" kern="1200">
                <a:solidFill>
                  <a:schemeClr val="tx1"/>
                </a:solidFill>
                <a:latin typeface="+mn-lt"/>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a:lstStyle>
          <a:p>
            <a:pPr marL="342900" indent="-342900">
              <a:spcBef>
                <a:spcPts val="600"/>
              </a:spcBef>
            </a:pPr>
            <a:r>
              <a:rPr lang="en-US" sz="2200"/>
              <a:t>We call</a:t>
            </a:r>
            <a:endParaRPr lang="en-US" sz="2200" dirty="0"/>
          </a:p>
        </p:txBody>
      </p:sp>
      <p:graphicFrame>
        <p:nvGraphicFramePr>
          <p:cNvPr id="12" name="Object 11" descr="L subscript 1 BaseLine.">
            <a:extLst>
              <a:ext uri="{FF2B5EF4-FFF2-40B4-BE49-F238E27FC236}">
                <a16:creationId xmlns:a16="http://schemas.microsoft.com/office/drawing/2014/main" id="{A126302F-FE71-474B-B211-F9989B2828CC}"/>
              </a:ext>
            </a:extLst>
          </p:cNvPr>
          <p:cNvGraphicFramePr>
            <a:graphicFrameLocks noChangeAspect="1"/>
          </p:cNvGraphicFramePr>
          <p:nvPr>
            <p:extLst>
              <p:ext uri="{D42A27DB-BD31-4B8C-83A1-F6EECF244321}">
                <p14:modId xmlns:p14="http://schemas.microsoft.com/office/powerpoint/2010/main" val="1191501728"/>
              </p:ext>
            </p:extLst>
          </p:nvPr>
        </p:nvGraphicFramePr>
        <p:xfrm>
          <a:off x="1841562" y="3016150"/>
          <a:ext cx="328489" cy="474862"/>
        </p:xfrm>
        <a:graphic>
          <a:graphicData uri="http://schemas.openxmlformats.org/presentationml/2006/ole">
            <mc:AlternateContent xmlns:mc="http://schemas.openxmlformats.org/markup-compatibility/2006">
              <mc:Choice xmlns:v="urn:schemas-microsoft-com:vml" Requires="v">
                <p:oleObj name="Equation" r:id="rId6" imgW="164880" imgH="228600" progId="Equation.DSMT4">
                  <p:embed/>
                </p:oleObj>
              </mc:Choice>
              <mc:Fallback>
                <p:oleObj name="Equation" r:id="rId6" imgW="164880" imgH="228600" progId="Equation.DSMT4">
                  <p:embed/>
                  <p:pic>
                    <p:nvPicPr>
                      <p:cNvPr id="12" name="Object 11" descr="L subscript 1 BaseLine.">
                        <a:extLst>
                          <a:ext uri="{FF2B5EF4-FFF2-40B4-BE49-F238E27FC236}">
                            <a16:creationId xmlns:a16="http://schemas.microsoft.com/office/drawing/2014/main" id="{A126302F-FE71-474B-B211-F9989B2828CC}"/>
                          </a:ext>
                        </a:extLst>
                      </p:cNvPr>
                      <p:cNvPicPr>
                        <a:picLocks noChangeAspect="1" noChangeArrowheads="1"/>
                      </p:cNvPicPr>
                      <p:nvPr/>
                    </p:nvPicPr>
                    <p:blipFill>
                      <a:blip r:embed="rId7"/>
                      <a:srcRect/>
                      <a:stretch>
                        <a:fillRect/>
                      </a:stretch>
                    </p:blipFill>
                    <p:spPr bwMode="auto">
                      <a:xfrm>
                        <a:off x="1841562" y="3016150"/>
                        <a:ext cx="328489" cy="4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Content Placeholder 30">
            <a:extLst>
              <a:ext uri="{FF2B5EF4-FFF2-40B4-BE49-F238E27FC236}">
                <a16:creationId xmlns:a16="http://schemas.microsoft.com/office/drawing/2014/main" id="{6174A528-3BB7-431F-B776-4F1721DFFBA0}"/>
              </a:ext>
            </a:extLst>
          </p:cNvPr>
          <p:cNvSpPr txBox="1">
            <a:spLocks/>
          </p:cNvSpPr>
          <p:nvPr/>
        </p:nvSpPr>
        <p:spPr>
          <a:xfrm>
            <a:off x="2370979" y="3028028"/>
            <a:ext cx="511921"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and</a:t>
            </a:r>
            <a:endParaRPr lang="en-US" sz="2200" dirty="0"/>
          </a:p>
        </p:txBody>
      </p:sp>
      <p:graphicFrame>
        <p:nvGraphicFramePr>
          <p:cNvPr id="14" name="Object 13" descr="L subscript 2 BaseLine.">
            <a:extLst>
              <a:ext uri="{FF2B5EF4-FFF2-40B4-BE49-F238E27FC236}">
                <a16:creationId xmlns:a16="http://schemas.microsoft.com/office/drawing/2014/main" id="{A68F6576-A595-4B76-89EC-84961223DB7B}"/>
              </a:ext>
            </a:extLst>
          </p:cNvPr>
          <p:cNvGraphicFramePr>
            <a:graphicFrameLocks noChangeAspect="1"/>
          </p:cNvGraphicFramePr>
          <p:nvPr>
            <p:extLst>
              <p:ext uri="{D42A27DB-BD31-4B8C-83A1-F6EECF244321}">
                <p14:modId xmlns:p14="http://schemas.microsoft.com/office/powerpoint/2010/main" val="776480487"/>
              </p:ext>
            </p:extLst>
          </p:nvPr>
        </p:nvGraphicFramePr>
        <p:xfrm>
          <a:off x="3071813" y="2976563"/>
          <a:ext cx="352425" cy="474662"/>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14" name="Object 13" descr="L subscript 2 BaseLine.">
                        <a:extLst>
                          <a:ext uri="{FF2B5EF4-FFF2-40B4-BE49-F238E27FC236}">
                            <a16:creationId xmlns:a16="http://schemas.microsoft.com/office/drawing/2014/main" id="{A68F6576-A595-4B76-89EC-84961223DB7B}"/>
                          </a:ext>
                        </a:extLst>
                      </p:cNvPr>
                      <p:cNvPicPr>
                        <a:picLocks noChangeAspect="1" noChangeArrowheads="1"/>
                      </p:cNvPicPr>
                      <p:nvPr/>
                    </p:nvPicPr>
                    <p:blipFill>
                      <a:blip r:embed="rId9"/>
                      <a:srcRect/>
                      <a:stretch>
                        <a:fillRect/>
                      </a:stretch>
                    </p:blipFill>
                    <p:spPr bwMode="auto">
                      <a:xfrm>
                        <a:off x="3071813" y="2976563"/>
                        <a:ext cx="3524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 name="Content Placeholder 32">
            <a:extLst>
              <a:ext uri="{FF2B5EF4-FFF2-40B4-BE49-F238E27FC236}">
                <a16:creationId xmlns:a16="http://schemas.microsoft.com/office/drawing/2014/main" id="{71B675A1-9080-4140-80EB-94C89E3CC58B}"/>
              </a:ext>
            </a:extLst>
          </p:cNvPr>
          <p:cNvSpPr txBox="1">
            <a:spLocks/>
          </p:cNvSpPr>
          <p:nvPr/>
        </p:nvSpPr>
        <p:spPr>
          <a:xfrm>
            <a:off x="3552080" y="3028028"/>
            <a:ext cx="5088683"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the </a:t>
            </a:r>
            <a:r>
              <a:rPr lang="en-US" sz="2200" b="1"/>
              <a:t>self-inductances</a:t>
            </a:r>
            <a:r>
              <a:rPr lang="en-US" sz="2200"/>
              <a:t> of the coils. </a:t>
            </a:r>
            <a:endParaRPr lang="en-US" sz="2200" dirty="0"/>
          </a:p>
        </p:txBody>
      </p:sp>
      <p:sp>
        <p:nvSpPr>
          <p:cNvPr id="16" name="Content Placeholder 33">
            <a:extLst>
              <a:ext uri="{FF2B5EF4-FFF2-40B4-BE49-F238E27FC236}">
                <a16:creationId xmlns:a16="http://schemas.microsoft.com/office/drawing/2014/main" id="{B7877BBE-C739-4BD6-BA7A-FB41A4ECB3F1}"/>
              </a:ext>
            </a:extLst>
          </p:cNvPr>
          <p:cNvSpPr txBox="1">
            <a:spLocks/>
          </p:cNvSpPr>
          <p:nvPr/>
        </p:nvSpPr>
        <p:spPr>
          <a:xfrm>
            <a:off x="419100" y="3498421"/>
            <a:ext cx="8207375" cy="344128"/>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2000">
                <a:sym typeface="Symbol"/>
              </a:rPr>
              <a:t>We call M the </a:t>
            </a:r>
            <a:r>
              <a:rPr lang="en-US" sz="2000" b="1">
                <a:sym typeface="Symbol"/>
              </a:rPr>
              <a:t>mutual inductance</a:t>
            </a:r>
            <a:r>
              <a:rPr lang="en-US" sz="2000">
                <a:sym typeface="Symbol"/>
              </a:rPr>
              <a:t> of the coils.</a:t>
            </a:r>
            <a:endParaRPr lang="en-US" sz="2200" dirty="0"/>
          </a:p>
        </p:txBody>
      </p:sp>
      <p:sp>
        <p:nvSpPr>
          <p:cNvPr id="17" name="Content Placeholder 34">
            <a:extLst>
              <a:ext uri="{FF2B5EF4-FFF2-40B4-BE49-F238E27FC236}">
                <a16:creationId xmlns:a16="http://schemas.microsoft.com/office/drawing/2014/main" id="{5A490169-5F34-4C2F-9D48-45624DA2DA72}"/>
              </a:ext>
            </a:extLst>
          </p:cNvPr>
          <p:cNvSpPr txBox="1">
            <a:spLocks/>
          </p:cNvSpPr>
          <p:nvPr/>
        </p:nvSpPr>
        <p:spPr>
          <a:xfrm>
            <a:off x="415179" y="3996774"/>
            <a:ext cx="269033"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pPr>
            <a:r>
              <a:rPr lang="en-US" sz="2200"/>
              <a:t> </a:t>
            </a:r>
            <a:r>
              <a:rPr lang="en-US" sz="100"/>
              <a:t> </a:t>
            </a:r>
            <a:endParaRPr lang="en-US" sz="2200" dirty="0"/>
          </a:p>
        </p:txBody>
      </p:sp>
      <p:graphicFrame>
        <p:nvGraphicFramePr>
          <p:cNvPr id="18" name="Object 17" descr="L subscript 1 BaseLine.">
            <a:extLst>
              <a:ext uri="{FF2B5EF4-FFF2-40B4-BE49-F238E27FC236}">
                <a16:creationId xmlns:a16="http://schemas.microsoft.com/office/drawing/2014/main" id="{1E2D0DA3-3616-4427-A210-3113ECBAB3D5}"/>
              </a:ext>
            </a:extLst>
          </p:cNvPr>
          <p:cNvGraphicFramePr>
            <a:graphicFrameLocks noChangeAspect="1"/>
          </p:cNvGraphicFramePr>
          <p:nvPr>
            <p:extLst>
              <p:ext uri="{D42A27DB-BD31-4B8C-83A1-F6EECF244321}">
                <p14:modId xmlns:p14="http://schemas.microsoft.com/office/powerpoint/2010/main" val="1110687042"/>
              </p:ext>
            </p:extLst>
          </p:nvPr>
        </p:nvGraphicFramePr>
        <p:xfrm>
          <a:off x="757251" y="3971374"/>
          <a:ext cx="328489" cy="474862"/>
        </p:xfrm>
        <a:graphic>
          <a:graphicData uri="http://schemas.openxmlformats.org/presentationml/2006/ole">
            <mc:AlternateContent xmlns:mc="http://schemas.openxmlformats.org/markup-compatibility/2006">
              <mc:Choice xmlns:v="urn:schemas-microsoft-com:vml" Requires="v">
                <p:oleObj name="Equation" r:id="rId6" imgW="164880" imgH="228600" progId="Equation.DSMT4">
                  <p:embed/>
                </p:oleObj>
              </mc:Choice>
              <mc:Fallback>
                <p:oleObj name="Equation" r:id="rId6" imgW="164880" imgH="228600" progId="Equation.DSMT4">
                  <p:embed/>
                  <p:pic>
                    <p:nvPicPr>
                      <p:cNvPr id="18" name="Object 17" descr="L subscript 1 BaseLine.">
                        <a:extLst>
                          <a:ext uri="{FF2B5EF4-FFF2-40B4-BE49-F238E27FC236}">
                            <a16:creationId xmlns:a16="http://schemas.microsoft.com/office/drawing/2014/main" id="{1E2D0DA3-3616-4427-A210-3113ECBAB3D5}"/>
                          </a:ext>
                        </a:extLst>
                      </p:cNvPr>
                      <p:cNvPicPr>
                        <a:picLocks noChangeAspect="1" noChangeArrowheads="1"/>
                      </p:cNvPicPr>
                      <p:nvPr/>
                    </p:nvPicPr>
                    <p:blipFill>
                      <a:blip r:embed="rId7"/>
                      <a:srcRect/>
                      <a:stretch>
                        <a:fillRect/>
                      </a:stretch>
                    </p:blipFill>
                    <p:spPr bwMode="auto">
                      <a:xfrm>
                        <a:off x="757251" y="3971374"/>
                        <a:ext cx="328489" cy="474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Content Placeholder 36">
            <a:extLst>
              <a:ext uri="{FF2B5EF4-FFF2-40B4-BE49-F238E27FC236}">
                <a16:creationId xmlns:a16="http://schemas.microsoft.com/office/drawing/2014/main" id="{04BA3585-7597-450E-ADE2-156943DB9A1F}"/>
              </a:ext>
            </a:extLst>
          </p:cNvPr>
          <p:cNvSpPr txBox="1">
            <a:spLocks/>
          </p:cNvSpPr>
          <p:nvPr/>
        </p:nvSpPr>
        <p:spPr>
          <a:xfrm>
            <a:off x="1203326" y="3972961"/>
            <a:ext cx="495299"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and</a:t>
            </a:r>
            <a:endParaRPr lang="en-US" sz="2200" dirty="0"/>
          </a:p>
        </p:txBody>
      </p:sp>
      <p:graphicFrame>
        <p:nvGraphicFramePr>
          <p:cNvPr id="20" name="Object 19" descr="L subscript 2 BaseLine.">
            <a:extLst>
              <a:ext uri="{FF2B5EF4-FFF2-40B4-BE49-F238E27FC236}">
                <a16:creationId xmlns:a16="http://schemas.microsoft.com/office/drawing/2014/main" id="{5920BDE9-22EC-4298-A14A-311FA902D70E}"/>
              </a:ext>
            </a:extLst>
          </p:cNvPr>
          <p:cNvGraphicFramePr>
            <a:graphicFrameLocks noChangeAspect="1"/>
          </p:cNvGraphicFramePr>
          <p:nvPr>
            <p:extLst>
              <p:ext uri="{D42A27DB-BD31-4B8C-83A1-F6EECF244321}">
                <p14:modId xmlns:p14="http://schemas.microsoft.com/office/powerpoint/2010/main" val="2645855039"/>
              </p:ext>
            </p:extLst>
          </p:nvPr>
        </p:nvGraphicFramePr>
        <p:xfrm>
          <a:off x="1814623" y="3974538"/>
          <a:ext cx="352425" cy="474662"/>
        </p:xfrm>
        <a:graphic>
          <a:graphicData uri="http://schemas.openxmlformats.org/presentationml/2006/ole">
            <mc:AlternateContent xmlns:mc="http://schemas.openxmlformats.org/markup-compatibility/2006">
              <mc:Choice xmlns:v="urn:schemas-microsoft-com:vml" Requires="v">
                <p:oleObj name="Equation" r:id="rId8" imgW="177480" imgH="228600" progId="Equation.DSMT4">
                  <p:embed/>
                </p:oleObj>
              </mc:Choice>
              <mc:Fallback>
                <p:oleObj name="Equation" r:id="rId8" imgW="177480" imgH="228600" progId="Equation.DSMT4">
                  <p:embed/>
                  <p:pic>
                    <p:nvPicPr>
                      <p:cNvPr id="20" name="Object 19" descr="L subscript 2 BaseLine.">
                        <a:extLst>
                          <a:ext uri="{FF2B5EF4-FFF2-40B4-BE49-F238E27FC236}">
                            <a16:creationId xmlns:a16="http://schemas.microsoft.com/office/drawing/2014/main" id="{5920BDE9-22EC-4298-A14A-311FA902D70E}"/>
                          </a:ext>
                        </a:extLst>
                      </p:cNvPr>
                      <p:cNvPicPr>
                        <a:picLocks noChangeAspect="1" noChangeArrowheads="1"/>
                      </p:cNvPicPr>
                      <p:nvPr/>
                    </p:nvPicPr>
                    <p:blipFill>
                      <a:blip r:embed="rId9"/>
                      <a:srcRect/>
                      <a:stretch>
                        <a:fillRect/>
                      </a:stretch>
                    </p:blipFill>
                    <p:spPr bwMode="auto">
                      <a:xfrm>
                        <a:off x="1814623" y="3974538"/>
                        <a:ext cx="352425"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 name="Content Placeholder 37">
            <a:extLst>
              <a:ext uri="{FF2B5EF4-FFF2-40B4-BE49-F238E27FC236}">
                <a16:creationId xmlns:a16="http://schemas.microsoft.com/office/drawing/2014/main" id="{9F3DDD10-A673-4F27-B72C-02280DE2DA0E}"/>
              </a:ext>
            </a:extLst>
          </p:cNvPr>
          <p:cNvSpPr txBox="1">
            <a:spLocks/>
          </p:cNvSpPr>
          <p:nvPr/>
        </p:nvSpPr>
        <p:spPr>
          <a:xfrm>
            <a:off x="2320925" y="3986878"/>
            <a:ext cx="6138863" cy="374906"/>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sz="2200"/>
              <a:t>and M are related by the following equation:</a:t>
            </a:r>
            <a:endParaRPr lang="en-US" sz="2200" dirty="0"/>
          </a:p>
        </p:txBody>
      </p:sp>
      <p:graphicFrame>
        <p:nvGraphicFramePr>
          <p:cNvPr id="22" name="Object 21" descr="M equals k Start Root L subscript 1 BaseLine L subscript 2 BaseLine End Root,">
            <a:extLst>
              <a:ext uri="{FF2B5EF4-FFF2-40B4-BE49-F238E27FC236}">
                <a16:creationId xmlns:a16="http://schemas.microsoft.com/office/drawing/2014/main" id="{20F2C026-BEBF-4107-9EC2-FF95F1CC40E9}"/>
              </a:ext>
            </a:extLst>
          </p:cNvPr>
          <p:cNvGraphicFramePr>
            <a:graphicFrameLocks noChangeAspect="1"/>
          </p:cNvGraphicFramePr>
          <p:nvPr>
            <p:extLst>
              <p:ext uri="{D42A27DB-BD31-4B8C-83A1-F6EECF244321}">
                <p14:modId xmlns:p14="http://schemas.microsoft.com/office/powerpoint/2010/main" val="2099138386"/>
              </p:ext>
            </p:extLst>
          </p:nvPr>
        </p:nvGraphicFramePr>
        <p:xfrm>
          <a:off x="2814637" y="4532400"/>
          <a:ext cx="1531938" cy="515938"/>
        </p:xfrm>
        <a:graphic>
          <a:graphicData uri="http://schemas.openxmlformats.org/presentationml/2006/ole">
            <mc:AlternateContent xmlns:mc="http://schemas.openxmlformats.org/markup-compatibility/2006">
              <mc:Choice xmlns:v="urn:schemas-microsoft-com:vml" Requires="v">
                <p:oleObj name="Equation" r:id="rId10" imgW="825480" imgH="266400" progId="Equation.DSMT4">
                  <p:embed/>
                </p:oleObj>
              </mc:Choice>
              <mc:Fallback>
                <p:oleObj name="Equation" r:id="rId10" imgW="825480" imgH="266400" progId="Equation.DSMT4">
                  <p:embed/>
                  <p:pic>
                    <p:nvPicPr>
                      <p:cNvPr id="22" name="Object 21" descr="M equals k Start Root L subscript 1 BaseLine L subscript 2 BaseLine End Root,">
                        <a:extLst>
                          <a:ext uri="{FF2B5EF4-FFF2-40B4-BE49-F238E27FC236}">
                            <a16:creationId xmlns:a16="http://schemas.microsoft.com/office/drawing/2014/main" id="{20F2C026-BEBF-4107-9EC2-FF95F1CC40E9}"/>
                          </a:ext>
                        </a:extLst>
                      </p:cNvPr>
                      <p:cNvPicPr>
                        <a:picLocks noChangeAspect="1" noChangeArrowheads="1"/>
                      </p:cNvPicPr>
                      <p:nvPr/>
                    </p:nvPicPr>
                    <p:blipFill>
                      <a:blip r:embed="rId11"/>
                      <a:srcRect/>
                      <a:stretch>
                        <a:fillRect/>
                      </a:stretch>
                    </p:blipFill>
                    <p:spPr bwMode="auto">
                      <a:xfrm>
                        <a:off x="2814637" y="4532400"/>
                        <a:ext cx="1531938" cy="51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 name="Object 22" descr="0 less than or equal to k less than or equal to 1.">
            <a:extLst>
              <a:ext uri="{FF2B5EF4-FFF2-40B4-BE49-F238E27FC236}">
                <a16:creationId xmlns:a16="http://schemas.microsoft.com/office/drawing/2014/main" id="{48E1EB3C-F74F-4AEB-A9CD-026DDCA68EAF}"/>
              </a:ext>
            </a:extLst>
          </p:cNvPr>
          <p:cNvGraphicFramePr>
            <a:graphicFrameLocks noChangeAspect="1"/>
          </p:cNvGraphicFramePr>
          <p:nvPr>
            <p:extLst>
              <p:ext uri="{D42A27DB-BD31-4B8C-83A1-F6EECF244321}">
                <p14:modId xmlns:p14="http://schemas.microsoft.com/office/powerpoint/2010/main" val="3004774471"/>
              </p:ext>
            </p:extLst>
          </p:nvPr>
        </p:nvGraphicFramePr>
        <p:xfrm>
          <a:off x="5262562" y="4582726"/>
          <a:ext cx="1084262" cy="344487"/>
        </p:xfrm>
        <a:graphic>
          <a:graphicData uri="http://schemas.openxmlformats.org/presentationml/2006/ole">
            <mc:AlternateContent xmlns:mc="http://schemas.openxmlformats.org/markup-compatibility/2006">
              <mc:Choice xmlns:v="urn:schemas-microsoft-com:vml" Requires="v">
                <p:oleObj name="Equation" r:id="rId12" imgW="583920" imgH="177480" progId="Equation.DSMT4">
                  <p:embed/>
                </p:oleObj>
              </mc:Choice>
              <mc:Fallback>
                <p:oleObj name="Equation" r:id="rId12" imgW="583920" imgH="177480" progId="Equation.DSMT4">
                  <p:embed/>
                  <p:pic>
                    <p:nvPicPr>
                      <p:cNvPr id="23" name="Object 22" descr="0 less than or equal to k less than or equal to 1.">
                        <a:extLst>
                          <a:ext uri="{FF2B5EF4-FFF2-40B4-BE49-F238E27FC236}">
                            <a16:creationId xmlns:a16="http://schemas.microsoft.com/office/drawing/2014/main" id="{48E1EB3C-F74F-4AEB-A9CD-026DDCA68EAF}"/>
                          </a:ext>
                        </a:extLst>
                      </p:cNvPr>
                      <p:cNvPicPr>
                        <a:picLocks noChangeAspect="1" noChangeArrowheads="1"/>
                      </p:cNvPicPr>
                      <p:nvPr/>
                    </p:nvPicPr>
                    <p:blipFill>
                      <a:blip r:embed="rId13"/>
                      <a:srcRect/>
                      <a:stretch>
                        <a:fillRect/>
                      </a:stretch>
                    </p:blipFill>
                    <p:spPr bwMode="auto">
                      <a:xfrm>
                        <a:off x="5262562" y="4582726"/>
                        <a:ext cx="1084262"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4" name="Content Placeholder 2">
            <a:extLst>
              <a:ext uri="{FF2B5EF4-FFF2-40B4-BE49-F238E27FC236}">
                <a16:creationId xmlns:a16="http://schemas.microsoft.com/office/drawing/2014/main" id="{4E3B31CF-4790-4CD3-BBEF-2EB3BA8F29D3}"/>
              </a:ext>
            </a:extLst>
          </p:cNvPr>
          <p:cNvSpPr txBox="1">
            <a:spLocks/>
          </p:cNvSpPr>
          <p:nvPr/>
        </p:nvSpPr>
        <p:spPr>
          <a:xfrm>
            <a:off x="433388" y="5157452"/>
            <a:ext cx="8207375" cy="713460"/>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sz="2200" i="1"/>
              <a:t>k</a:t>
            </a:r>
            <a:r>
              <a:rPr lang="en-US" sz="2200"/>
              <a:t> is called the </a:t>
            </a:r>
            <a:r>
              <a:rPr lang="en-US" sz="2200" b="1"/>
              <a:t>coupling coefficient,</a:t>
            </a:r>
            <a:r>
              <a:rPr lang="en-US" sz="2200"/>
              <a:t> and is a measure of how much of the magnetic field of one coil envelops the other coil.</a:t>
            </a:r>
            <a:endParaRPr lang="en-US" sz="2200" dirty="0"/>
          </a:p>
        </p:txBody>
      </p:sp>
    </p:spTree>
    <p:extLst>
      <p:ext uri="{BB962C8B-B14F-4D97-AF65-F5344CB8AC3E}">
        <p14:creationId xmlns:p14="http://schemas.microsoft.com/office/powerpoint/2010/main" val="2455409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1810" name="Rectangle 2">
            <a:extLst>
              <a:ext uri="{FF2B5EF4-FFF2-40B4-BE49-F238E27FC236}">
                <a16:creationId xmlns:a16="http://schemas.microsoft.com/office/drawing/2014/main" id="{743EEDFD-5AFF-409F-B85B-C4CF67F09770}"/>
              </a:ext>
            </a:extLst>
          </p:cNvPr>
          <p:cNvSpPr>
            <a:spLocks noGrp="1" noChangeArrowheads="1"/>
          </p:cNvSpPr>
          <p:nvPr>
            <p:ph type="title"/>
          </p:nvPr>
        </p:nvSpPr>
        <p:spPr>
          <a:xfrm>
            <a:off x="228600" y="11686"/>
            <a:ext cx="8610600" cy="685800"/>
          </a:xfrm>
        </p:spPr>
        <p:txBody>
          <a:bodyPr/>
          <a:lstStyle/>
          <a:p>
            <a:r>
              <a:rPr lang="en-US" altLang="en-US" sz="4000" dirty="0"/>
              <a:t>Mutual Inductance </a:t>
            </a:r>
          </a:p>
        </p:txBody>
      </p:sp>
      <p:sp>
        <p:nvSpPr>
          <p:cNvPr id="1271811" name="Rectangle 3">
            <a:extLst>
              <a:ext uri="{FF2B5EF4-FFF2-40B4-BE49-F238E27FC236}">
                <a16:creationId xmlns:a16="http://schemas.microsoft.com/office/drawing/2014/main" id="{F1EF5F3F-9E06-47D3-ADB5-A59DD1D290D6}"/>
              </a:ext>
            </a:extLst>
          </p:cNvPr>
          <p:cNvSpPr>
            <a:spLocks noGrp="1" noChangeArrowheads="1"/>
          </p:cNvSpPr>
          <p:nvPr>
            <p:ph type="body" idx="1"/>
          </p:nvPr>
        </p:nvSpPr>
        <p:spPr>
          <a:xfrm>
            <a:off x="304800" y="1219200"/>
            <a:ext cx="8534400" cy="5334000"/>
          </a:xfrm>
          <a:solidFill>
            <a:schemeClr val="accent1"/>
          </a:solidFill>
        </p:spPr>
        <p:txBody>
          <a:bodyPr/>
          <a:lstStyle/>
          <a:p>
            <a:pPr marL="6350" indent="346075">
              <a:lnSpc>
                <a:spcPct val="90000"/>
              </a:lnSpc>
              <a:buFontTx/>
              <a:buNone/>
            </a:pPr>
            <a:r>
              <a:rPr lang="en-US" altLang="en-US" dirty="0">
                <a:cs typeface="Times New Roman" panose="02020603050405020304" pitchFamily="18" charset="0"/>
              </a:rPr>
              <a:t>	</a:t>
            </a:r>
            <a:endParaRPr lang="en-US" altLang="en-US" dirty="0">
              <a:cs typeface="Arial" panose="020B0604020202020204" pitchFamily="34" charset="0"/>
            </a:endParaRPr>
          </a:p>
        </p:txBody>
      </p:sp>
      <p:sp>
        <p:nvSpPr>
          <p:cNvPr id="1271814" name="Rectangle 6">
            <a:extLst>
              <a:ext uri="{FF2B5EF4-FFF2-40B4-BE49-F238E27FC236}">
                <a16:creationId xmlns:a16="http://schemas.microsoft.com/office/drawing/2014/main" id="{7FFD49F6-23C5-4B59-9154-B735739B2E44}"/>
              </a:ext>
            </a:extLst>
          </p:cNvPr>
          <p:cNvSpPr>
            <a:spLocks noChangeArrowheads="1"/>
          </p:cNvSpPr>
          <p:nvPr/>
        </p:nvSpPr>
        <p:spPr bwMode="auto">
          <a:xfrm>
            <a:off x="22860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pic>
        <p:nvPicPr>
          <p:cNvPr id="9" name="Picture 8" descr="The circuit on the left shows an inductor L subscript 1 on the right wire, a resistor R1 on the top wire, and an independent voltage source, v sub g, on the left wire. Mesh current in this circuit is indicated by a clockwise pointing curved arrow, i1. Voltage drop across L subscript 1 is v subscript 1.&#10;The circuit on the right shows an inductor L2 on the left wire and a resistor R2 on the right wire. &#10;Mutual inductance of two coils is marked as M, with a double sided arrow pointing to both inductors.&#10;">
            <a:extLst>
              <a:ext uri="{FF2B5EF4-FFF2-40B4-BE49-F238E27FC236}">
                <a16:creationId xmlns:a16="http://schemas.microsoft.com/office/drawing/2014/main" id="{1B2C3BA9-CFC2-4D53-8D5A-8B5B8381A3BA}"/>
              </a:ext>
            </a:extLst>
          </p:cNvPr>
          <p:cNvPicPr>
            <a:picLocks noChangeAspect="1"/>
          </p:cNvPicPr>
          <p:nvPr/>
        </p:nvPicPr>
        <p:blipFill>
          <a:blip r:embed="rId3"/>
          <a:stretch>
            <a:fillRect/>
          </a:stretch>
        </p:blipFill>
        <p:spPr>
          <a:xfrm>
            <a:off x="736600" y="1073421"/>
            <a:ext cx="4105880" cy="1560234"/>
          </a:xfrm>
          <a:prstGeom prst="rect">
            <a:avLst/>
          </a:prstGeom>
        </p:spPr>
      </p:pic>
      <p:graphicFrame>
        <p:nvGraphicFrame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GraphicFramePr>
            <a:graphicFrameLocks noChangeAspect="1"/>
          </p:cNvGraphicFramePr>
          <p:nvPr/>
        </p:nvGraphicFramePr>
        <p:xfrm>
          <a:off x="5351441" y="1262175"/>
          <a:ext cx="2357481" cy="1368638"/>
        </p:xfrm>
        <a:graphic>
          <a:graphicData uri="http://schemas.openxmlformats.org/presentationml/2006/ole">
            <mc:AlternateContent xmlns:mc="http://schemas.openxmlformats.org/markup-compatibility/2006">
              <mc:Choice xmlns:v="urn:schemas-microsoft-com:vml" Requires="v">
                <p:oleObj name="Equation" r:id="rId4" imgW="1460160" imgH="812520" progId="Equation.DSMT4">
                  <p:embed/>
                </p:oleObj>
              </mc:Choice>
              <mc:Fallback>
                <p:oleObj name="Equation" r:id="rId4" imgW="1460160" imgH="812520" progId="Equation.DSMT4">
                  <p:embed/>
                  <p:pic>
                    <p:nvPicPr>
                      <p:cNvPr id="10" name="Object 3" descr="v subscript 1 BaseLine Open Parenthesis t Close Parenthesis equals L subscript 1 BaseLine Start Fraction d i subscript 1 BaseLine over d t End Fraction plus or minus M Start Fraction d i subscript 2 BaseLine over d t End Fraction.&#10;v subscript 2 BaseLine Open Parenthesis t Close Parenthesis equals plus or minus M Start Fraction d i subscript 1 BaseLine over d t End Fraction plus L subscript 2 BaseLine Start Fraction d i subscript 2 BaseLine over d t End Fraction.">
                        <a:extLst>
                          <a:ext uri="{FF2B5EF4-FFF2-40B4-BE49-F238E27FC236}">
                            <a16:creationId xmlns:a16="http://schemas.microsoft.com/office/drawing/2014/main" id="{6EF5FE06-3142-4CFE-8E55-44CD91468EE5}"/>
                          </a:ext>
                        </a:extLst>
                      </p:cNvPr>
                      <p:cNvPicPr>
                        <a:picLocks noChangeAspect="1" noChangeArrowheads="1"/>
                      </p:cNvPicPr>
                      <p:nvPr/>
                    </p:nvPicPr>
                    <p:blipFill>
                      <a:blip r:embed="rId5"/>
                      <a:srcRect/>
                      <a:stretch>
                        <a:fillRect/>
                      </a:stretch>
                    </p:blipFill>
                    <p:spPr bwMode="auto">
                      <a:xfrm>
                        <a:off x="5351441" y="1262175"/>
                        <a:ext cx="2357481" cy="136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Content Placeholder 2">
            <a:extLst>
              <a:ext uri="{FF2B5EF4-FFF2-40B4-BE49-F238E27FC236}">
                <a16:creationId xmlns:a16="http://schemas.microsoft.com/office/drawing/2014/main" id="{78F7E431-91D7-4012-A591-F909DB1BE429}"/>
              </a:ext>
            </a:extLst>
          </p:cNvPr>
          <p:cNvSpPr txBox="1">
            <a:spLocks/>
          </p:cNvSpPr>
          <p:nvPr/>
        </p:nvSpPr>
        <p:spPr>
          <a:xfrm>
            <a:off x="433388" y="3569748"/>
            <a:ext cx="8207375" cy="1806067"/>
          </a:xfrm>
          <a:prstGeom prst="rect">
            <a:avLst/>
          </a:prstGeom>
        </p:spPr>
        <p:txBody>
          <a:bodyPr wrap="square" lIns="0" tIns="18000" rIns="0" bIns="18000" anchor="ctr" anchorCtr="0">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lang="en-US" altLang="en-US" sz="2200" dirty="0"/>
              <a:t>The sign of the mutually-induced voltage for the two coils is determined by physical examination of the coils, and is notated on the circuit schematic using dots.</a:t>
            </a:r>
          </a:p>
          <a:p>
            <a:pPr>
              <a:spcBef>
                <a:spcPts val="600"/>
              </a:spcBef>
            </a:pPr>
            <a:r>
              <a:rPr lang="en-US" altLang="en-US" sz="2200" dirty="0"/>
              <a:t>To determine the sign of the mutually-induced voltages for the two coils, use the </a:t>
            </a:r>
            <a:r>
              <a:rPr lang="en-US" altLang="en-US" sz="2200" b="1" dirty="0"/>
              <a:t>dot convention</a:t>
            </a:r>
            <a:r>
              <a:rPr lang="en-US" altLang="en-US" sz="2200" dirty="0"/>
              <a:t>.</a:t>
            </a:r>
          </a:p>
        </p:txBody>
      </p:sp>
    </p:spTree>
    <p:extLst>
      <p:ext uri="{BB962C8B-B14F-4D97-AF65-F5344CB8AC3E}">
        <p14:creationId xmlns:p14="http://schemas.microsoft.com/office/powerpoint/2010/main" val="1131822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3862" name="Rectangle 6">
            <a:extLst>
              <a:ext uri="{FF2B5EF4-FFF2-40B4-BE49-F238E27FC236}">
                <a16:creationId xmlns:a16="http://schemas.microsoft.com/office/drawing/2014/main" id="{A512795C-1E2E-42D0-854C-6036EA03E7BC}"/>
              </a:ext>
            </a:extLst>
          </p:cNvPr>
          <p:cNvSpPr>
            <a:spLocks noChangeArrowheads="1"/>
          </p:cNvSpPr>
          <p:nvPr/>
        </p:nvSpPr>
        <p:spPr bwMode="auto">
          <a:xfrm>
            <a:off x="6400800" y="3048000"/>
            <a:ext cx="2514600" cy="2667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73858" name="Rectangle 2">
            <a:extLst>
              <a:ext uri="{FF2B5EF4-FFF2-40B4-BE49-F238E27FC236}">
                <a16:creationId xmlns:a16="http://schemas.microsoft.com/office/drawing/2014/main" id="{6C61C351-FCFD-40BD-998F-E93B04FBA3B1}"/>
              </a:ext>
            </a:extLst>
          </p:cNvPr>
          <p:cNvSpPr>
            <a:spLocks noGrp="1" noChangeArrowheads="1"/>
          </p:cNvSpPr>
          <p:nvPr>
            <p:ph type="title"/>
          </p:nvPr>
        </p:nvSpPr>
        <p:spPr>
          <a:xfrm>
            <a:off x="2286000" y="0"/>
            <a:ext cx="6858000" cy="1905000"/>
          </a:xfrm>
        </p:spPr>
        <p:txBody>
          <a:bodyPr/>
          <a:lstStyle/>
          <a:p>
            <a:r>
              <a:rPr lang="en-US" altLang="en-US" sz="4000">
                <a:cs typeface="Times New Roman" panose="02020603050405020304" pitchFamily="18" charset="0"/>
              </a:rPr>
              <a:t>Polarity of Mutually Induced Voltages (The Dot Convention)</a:t>
            </a:r>
            <a:r>
              <a:rPr lang="en-US" altLang="en-US" sz="4000"/>
              <a:t> </a:t>
            </a:r>
          </a:p>
        </p:txBody>
      </p:sp>
      <p:sp>
        <p:nvSpPr>
          <p:cNvPr id="1273859" name="Rectangle 3">
            <a:extLst>
              <a:ext uri="{FF2B5EF4-FFF2-40B4-BE49-F238E27FC236}">
                <a16:creationId xmlns:a16="http://schemas.microsoft.com/office/drawing/2014/main" id="{FD39EA26-0F60-44BE-BA38-FE3454CDFC9B}"/>
              </a:ext>
            </a:extLst>
          </p:cNvPr>
          <p:cNvSpPr>
            <a:spLocks noGrp="1" noChangeArrowheads="1"/>
          </p:cNvSpPr>
          <p:nvPr>
            <p:ph type="body" idx="1"/>
          </p:nvPr>
        </p:nvSpPr>
        <p:spPr>
          <a:xfrm>
            <a:off x="304800" y="1752600"/>
            <a:ext cx="5997575" cy="4876800"/>
          </a:xfrm>
        </p:spPr>
        <p:txBody>
          <a:bodyPr/>
          <a:lstStyle/>
          <a:p>
            <a:pPr marL="6350" indent="346075">
              <a:lnSpc>
                <a:spcPct val="90000"/>
              </a:lnSpc>
              <a:buFontTx/>
              <a:buNone/>
            </a:pPr>
            <a:r>
              <a:rPr lang="en-US" altLang="en-US" sz="2800" dirty="0">
                <a:cs typeface="Arial" panose="020B0604020202020204" pitchFamily="34" charset="0"/>
              </a:rPr>
              <a:t>Even here, we need to be able to get the signs of voltages and currents right.  It is too cumbersome to show the directions of the windings in our schematics.  Thus, they have introduced the </a:t>
            </a:r>
            <a:r>
              <a:rPr lang="en-US" altLang="en-US" sz="2800" b="1" dirty="0">
                <a:cs typeface="Arial" panose="020B0604020202020204" pitchFamily="34" charset="0"/>
              </a:rPr>
              <a:t>dot convention</a:t>
            </a:r>
            <a:r>
              <a:rPr lang="en-US" altLang="en-US" sz="2800" dirty="0">
                <a:cs typeface="Arial" panose="020B0604020202020204" pitchFamily="34" charset="0"/>
              </a:rPr>
              <a:t>, to make it easier to keep track of the polarity of mutually induced voltages.</a:t>
            </a:r>
            <a:endParaRPr lang="en-US" altLang="en-US" sz="2800" dirty="0">
              <a:latin typeface="New York" charset="0"/>
              <a:cs typeface="Times New Roman" panose="02020603050405020304" pitchFamily="18" charset="0"/>
            </a:endParaRPr>
          </a:p>
          <a:p>
            <a:pPr marL="6350" indent="346075">
              <a:lnSpc>
                <a:spcPct val="90000"/>
              </a:lnSpc>
              <a:buFontTx/>
              <a:buNone/>
            </a:pPr>
            <a:r>
              <a:rPr lang="en-US" altLang="en-US" sz="2800" dirty="0">
                <a:cs typeface="Arial" panose="020B0604020202020204" pitchFamily="34" charset="0"/>
              </a:rPr>
              <a:t> We will not cover in this course how the winding directions are used to determine the dot markings.</a:t>
            </a:r>
          </a:p>
        </p:txBody>
      </p:sp>
      <p:pic>
        <p:nvPicPr>
          <p:cNvPr id="1273861" name="Picture 5">
            <a:extLst>
              <a:ext uri="{FF2B5EF4-FFF2-40B4-BE49-F238E27FC236}">
                <a16:creationId xmlns:a16="http://schemas.microsoft.com/office/drawing/2014/main" id="{C4F1F51F-6B08-4089-A26D-0B0FEC1510F6}"/>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3124200"/>
            <a:ext cx="2339975" cy="2514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5906" name="Rectangle 2">
            <a:extLst>
              <a:ext uri="{FF2B5EF4-FFF2-40B4-BE49-F238E27FC236}">
                <a16:creationId xmlns:a16="http://schemas.microsoft.com/office/drawing/2014/main" id="{CB10C64F-D7EA-42A0-9269-495DF03E4005}"/>
              </a:ext>
            </a:extLst>
          </p:cNvPr>
          <p:cNvSpPr>
            <a:spLocks noChangeArrowheads="1"/>
          </p:cNvSpPr>
          <p:nvPr/>
        </p:nvSpPr>
        <p:spPr bwMode="auto">
          <a:xfrm>
            <a:off x="6629400" y="3581400"/>
            <a:ext cx="2514600" cy="22098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75907" name="Rectangle 3">
            <a:extLst>
              <a:ext uri="{FF2B5EF4-FFF2-40B4-BE49-F238E27FC236}">
                <a16:creationId xmlns:a16="http://schemas.microsoft.com/office/drawing/2014/main" id="{D019CE7E-913A-45AA-8D88-BF29CC43158E}"/>
              </a:ext>
            </a:extLst>
          </p:cNvPr>
          <p:cNvSpPr>
            <a:spLocks noGrp="1" noChangeArrowheads="1"/>
          </p:cNvSpPr>
          <p:nvPr>
            <p:ph type="title"/>
          </p:nvPr>
        </p:nvSpPr>
        <p:spPr>
          <a:xfrm>
            <a:off x="2286000" y="0"/>
            <a:ext cx="6858000" cy="685800"/>
          </a:xfrm>
        </p:spPr>
        <p:txBody>
          <a:bodyPr/>
          <a:lstStyle/>
          <a:p>
            <a:r>
              <a:rPr lang="en-US" altLang="en-US" sz="4000">
                <a:cs typeface="Times New Roman" panose="02020603050405020304" pitchFamily="18" charset="0"/>
              </a:rPr>
              <a:t>The Dot Convention</a:t>
            </a:r>
            <a:r>
              <a:rPr lang="en-US" altLang="en-US" sz="4000"/>
              <a:t> </a:t>
            </a:r>
          </a:p>
        </p:txBody>
      </p:sp>
      <p:sp>
        <p:nvSpPr>
          <p:cNvPr id="1275908" name="Rectangle 4">
            <a:extLst>
              <a:ext uri="{FF2B5EF4-FFF2-40B4-BE49-F238E27FC236}">
                <a16:creationId xmlns:a16="http://schemas.microsoft.com/office/drawing/2014/main" id="{26703782-4410-4674-8CA6-4E99E6435D1F}"/>
              </a:ext>
            </a:extLst>
          </p:cNvPr>
          <p:cNvSpPr>
            <a:spLocks noGrp="1" noChangeArrowheads="1"/>
          </p:cNvSpPr>
          <p:nvPr>
            <p:ph type="body" idx="1"/>
          </p:nvPr>
        </p:nvSpPr>
        <p:spPr>
          <a:xfrm>
            <a:off x="304800" y="2057400"/>
            <a:ext cx="6172200" cy="4572000"/>
          </a:xfrm>
        </p:spPr>
        <p:txBody>
          <a:bodyPr/>
          <a:lstStyle/>
          <a:p>
            <a:pPr marL="6350" indent="346075">
              <a:lnSpc>
                <a:spcPct val="90000"/>
              </a:lnSpc>
              <a:buFontTx/>
              <a:buNone/>
            </a:pPr>
            <a:r>
              <a:rPr lang="en-US" altLang="en-US" sz="2800" dirty="0">
                <a:cs typeface="Arial" panose="020B0604020202020204" pitchFamily="34" charset="0"/>
              </a:rPr>
              <a:t>The rule for using the dot markings:</a:t>
            </a:r>
            <a:endParaRPr lang="en-US" altLang="en-US" sz="2800" dirty="0">
              <a:latin typeface="New York" charset="0"/>
              <a:cs typeface="Times New Roman" panose="02020603050405020304" pitchFamily="18" charset="0"/>
            </a:endParaRPr>
          </a:p>
          <a:p>
            <a:pPr marL="6350" indent="346075">
              <a:lnSpc>
                <a:spcPct val="90000"/>
              </a:lnSpc>
              <a:buFontTx/>
              <a:buNone/>
            </a:pPr>
            <a:r>
              <a:rPr lang="en-US" altLang="en-US" sz="2800" dirty="0">
                <a:cs typeface="Arial" panose="020B0604020202020204" pitchFamily="34" charset="0"/>
              </a:rPr>
              <a:t>When the reference direction for a current enters the dotted terminal of a coil, the reference polarity of the voltage induced in the other coil is positive at the dotted terminal.  </a:t>
            </a:r>
          </a:p>
          <a:p>
            <a:pPr marL="6350" indent="346075">
              <a:lnSpc>
                <a:spcPct val="90000"/>
              </a:lnSpc>
              <a:buFontTx/>
              <a:buNone/>
            </a:pPr>
            <a:r>
              <a:rPr lang="en-US" altLang="en-US" sz="2800" dirty="0">
                <a:cs typeface="Arial" panose="020B0604020202020204" pitchFamily="34" charset="0"/>
              </a:rPr>
              <a:t>We will redefine the dot convention for transformers later in this lecture set.</a:t>
            </a:r>
            <a:r>
              <a:rPr lang="en-US" altLang="en-US" sz="2800" dirty="0">
                <a:latin typeface="New York" charset="0"/>
                <a:cs typeface="Times New Roman" panose="02020603050405020304" pitchFamily="18" charset="0"/>
              </a:rPr>
              <a:t> </a:t>
            </a:r>
          </a:p>
        </p:txBody>
      </p:sp>
      <p:pic>
        <p:nvPicPr>
          <p:cNvPr id="1275910" name="Picture 6">
            <a:extLst>
              <a:ext uri="{FF2B5EF4-FFF2-40B4-BE49-F238E27FC236}">
                <a16:creationId xmlns:a16="http://schemas.microsoft.com/office/drawing/2014/main" id="{E107986D-9C36-4244-A317-7B44B43FF1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5600" y="3733800"/>
            <a:ext cx="2286000" cy="1889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7954" name="Rectangle 2">
            <a:extLst>
              <a:ext uri="{FF2B5EF4-FFF2-40B4-BE49-F238E27FC236}">
                <a16:creationId xmlns:a16="http://schemas.microsoft.com/office/drawing/2014/main" id="{1DE849BA-C63D-4930-9DD1-329AFB46EC50}"/>
              </a:ext>
            </a:extLst>
          </p:cNvPr>
          <p:cNvSpPr>
            <a:spLocks noChangeArrowheads="1"/>
          </p:cNvSpPr>
          <p:nvPr/>
        </p:nvSpPr>
        <p:spPr bwMode="auto">
          <a:xfrm>
            <a:off x="6248400" y="2819400"/>
            <a:ext cx="2514600" cy="2667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77955" name="Rectangle 3">
            <a:extLst>
              <a:ext uri="{FF2B5EF4-FFF2-40B4-BE49-F238E27FC236}">
                <a16:creationId xmlns:a16="http://schemas.microsoft.com/office/drawing/2014/main" id="{8F91936C-532C-48EB-8F56-017D1E93FD45}"/>
              </a:ext>
            </a:extLst>
          </p:cNvPr>
          <p:cNvSpPr>
            <a:spLocks noGrp="1" noChangeArrowheads="1"/>
          </p:cNvSpPr>
          <p:nvPr>
            <p:ph type="title"/>
          </p:nvPr>
        </p:nvSpPr>
        <p:spPr>
          <a:xfrm>
            <a:off x="2286000" y="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77956" name="Rectangle 4">
            <a:extLst>
              <a:ext uri="{FF2B5EF4-FFF2-40B4-BE49-F238E27FC236}">
                <a16:creationId xmlns:a16="http://schemas.microsoft.com/office/drawing/2014/main" id="{02D07DEF-445F-448B-9FCC-C2B7DC5DFFBC}"/>
              </a:ext>
            </a:extLst>
          </p:cNvPr>
          <p:cNvSpPr>
            <a:spLocks noGrp="1" noChangeArrowheads="1"/>
          </p:cNvSpPr>
          <p:nvPr>
            <p:ph type="body" idx="1"/>
          </p:nvPr>
        </p:nvSpPr>
        <p:spPr>
          <a:xfrm>
            <a:off x="304800" y="1981200"/>
            <a:ext cx="5867400" cy="3048000"/>
          </a:xfrm>
        </p:spPr>
        <p:txBody>
          <a:bodyPr/>
          <a:lstStyle/>
          <a:p>
            <a:pPr marL="6350" indent="346075">
              <a:buFontTx/>
              <a:buNone/>
            </a:pPr>
            <a:r>
              <a:rPr lang="en-US" altLang="en-US" dirty="0">
                <a:cs typeface="Arial" panose="020B0604020202020204" pitchFamily="34" charset="0"/>
              </a:rPr>
              <a:t>An ideal transformer is a set of coupled coils where:</a:t>
            </a:r>
            <a:endParaRPr lang="en-US" altLang="en-US" dirty="0">
              <a:latin typeface="New York" charset="0"/>
              <a:cs typeface="Times New Roman" panose="02020603050405020304" pitchFamily="18" charset="0"/>
            </a:endParaRPr>
          </a:p>
          <a:p>
            <a:pPr marL="6350" indent="346075">
              <a:buFontTx/>
              <a:buNone/>
            </a:pPr>
            <a:r>
              <a:rPr lang="en-US" altLang="en-US" dirty="0">
                <a:cs typeface="Arial" panose="020B0604020202020204" pitchFamily="34" charset="0"/>
              </a:rPr>
              <a:t>1.</a:t>
            </a:r>
            <a:r>
              <a:rPr lang="en-US" altLang="en-US" dirty="0">
                <a:latin typeface="Times New Roman" panose="02020603050405020304" pitchFamily="18" charset="0"/>
                <a:cs typeface="Times New Roman" panose="02020603050405020304" pitchFamily="18" charset="0"/>
              </a:rPr>
              <a:t>  </a:t>
            </a:r>
            <a:r>
              <a:rPr lang="en-US" altLang="en-US" i="1" dirty="0">
                <a:cs typeface="Arial" panose="020B0604020202020204" pitchFamily="34" charset="0"/>
              </a:rPr>
              <a:t>k</a:t>
            </a:r>
            <a:r>
              <a:rPr lang="en-US" altLang="en-US" dirty="0">
                <a:cs typeface="Arial" panose="020B0604020202020204" pitchFamily="34" charset="0"/>
              </a:rPr>
              <a:t> = 1</a:t>
            </a:r>
            <a:endParaRPr lang="en-US" altLang="en-US" dirty="0">
              <a:latin typeface="New York" charset="0"/>
              <a:cs typeface="Times New Roman" panose="02020603050405020304" pitchFamily="18" charset="0"/>
            </a:endParaRPr>
          </a:p>
          <a:p>
            <a:pPr marL="6350" indent="346075">
              <a:buFontTx/>
              <a:buNone/>
            </a:pPr>
            <a:r>
              <a:rPr lang="en-US" altLang="en-US" dirty="0">
                <a:cs typeface="Arial" panose="020B0604020202020204" pitchFamily="34" charset="0"/>
              </a:rPr>
              <a:t>2.</a:t>
            </a:r>
            <a:r>
              <a:rPr lang="en-US" altLang="en-US" dirty="0">
                <a:latin typeface="Times New Roman" panose="02020603050405020304" pitchFamily="18" charset="0"/>
                <a:cs typeface="Times New Roman" panose="02020603050405020304" pitchFamily="18" charset="0"/>
              </a:rPr>
              <a:t>  </a:t>
            </a:r>
            <a:r>
              <a:rPr lang="en-US" altLang="en-US" i="1" dirty="0">
                <a:cs typeface="Arial" panose="020B0604020202020204" pitchFamily="34" charset="0"/>
              </a:rPr>
              <a:t>L</a:t>
            </a:r>
            <a:r>
              <a:rPr lang="en-US" altLang="en-US" i="1" baseline="-25000" dirty="0">
                <a:cs typeface="Arial" panose="020B0604020202020204" pitchFamily="34" charset="0"/>
              </a:rPr>
              <a:t>1</a:t>
            </a:r>
            <a:r>
              <a:rPr lang="en-US" altLang="en-US" dirty="0">
                <a:cs typeface="Arial" panose="020B0604020202020204" pitchFamily="34" charset="0"/>
              </a:rPr>
              <a:t> = </a:t>
            </a:r>
            <a:r>
              <a:rPr lang="en-US" altLang="en-US" i="1" dirty="0">
                <a:cs typeface="Arial" panose="020B0604020202020204" pitchFamily="34" charset="0"/>
              </a:rPr>
              <a:t>L</a:t>
            </a:r>
            <a:r>
              <a:rPr lang="en-US" altLang="en-US" i="1" baseline="-25000" dirty="0">
                <a:cs typeface="Arial" panose="020B0604020202020204" pitchFamily="34" charset="0"/>
              </a:rPr>
              <a:t>2</a:t>
            </a:r>
            <a:r>
              <a:rPr lang="en-US" altLang="en-US" dirty="0">
                <a:cs typeface="Arial" panose="020B0604020202020204" pitchFamily="34" charset="0"/>
              </a:rPr>
              <a:t> = </a:t>
            </a:r>
            <a:r>
              <a:rPr lang="en-US" altLang="en-US" b="1" dirty="0">
                <a:latin typeface="Symbol" panose="05050102010706020507" pitchFamily="18" charset="2"/>
                <a:cs typeface="Arial" panose="020B0604020202020204" pitchFamily="34" charset="0"/>
              </a:rPr>
              <a:t>¥</a:t>
            </a:r>
            <a:endParaRPr lang="en-US" altLang="en-US" dirty="0">
              <a:latin typeface="New York" charset="0"/>
              <a:cs typeface="Times New Roman" panose="02020603050405020304" pitchFamily="18" charset="0"/>
            </a:endParaRPr>
          </a:p>
          <a:p>
            <a:pPr marL="6350" indent="346075">
              <a:buFontTx/>
              <a:buNone/>
            </a:pPr>
            <a:r>
              <a:rPr lang="en-US" altLang="en-US" dirty="0">
                <a:cs typeface="Arial" panose="020B0604020202020204" pitchFamily="34" charset="0"/>
              </a:rPr>
              <a:t>3.</a:t>
            </a:r>
            <a:r>
              <a:rPr lang="en-US" altLang="en-US" dirty="0">
                <a:latin typeface="Times New Roman" panose="02020603050405020304" pitchFamily="18" charset="0"/>
                <a:cs typeface="Times New Roman" panose="02020603050405020304" pitchFamily="18" charset="0"/>
              </a:rPr>
              <a:t>  </a:t>
            </a:r>
            <a:r>
              <a:rPr lang="en-US" altLang="en-US" dirty="0">
                <a:cs typeface="Arial" panose="020B0604020202020204" pitchFamily="34" charset="0"/>
              </a:rPr>
              <a:t>Coil losses are negligible</a:t>
            </a:r>
          </a:p>
        </p:txBody>
      </p:sp>
      <p:pic>
        <p:nvPicPr>
          <p:cNvPr id="1277958" name="Picture 6">
            <a:extLst>
              <a:ext uri="{FF2B5EF4-FFF2-40B4-BE49-F238E27FC236}">
                <a16:creationId xmlns:a16="http://schemas.microsoft.com/office/drawing/2014/main" id="{F64AEFA5-BBF2-45AC-90CA-5234D2A9F5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3124200"/>
            <a:ext cx="2286000" cy="2286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80004" name="Rectangle 4">
            <a:extLst>
              <a:ext uri="{FF2B5EF4-FFF2-40B4-BE49-F238E27FC236}">
                <a16:creationId xmlns:a16="http://schemas.microsoft.com/office/drawing/2014/main" id="{07F8FD39-22EC-4124-98F9-71AD5C5E3712}"/>
              </a:ext>
            </a:extLst>
          </p:cNvPr>
          <p:cNvSpPr>
            <a:spLocks noGrp="1" noChangeArrowheads="1"/>
          </p:cNvSpPr>
          <p:nvPr>
            <p:ph type="body" idx="1"/>
          </p:nvPr>
        </p:nvSpPr>
        <p:spPr>
          <a:xfrm>
            <a:off x="323850" y="713911"/>
            <a:ext cx="8439150" cy="3048000"/>
          </a:xfrm>
          <a:solidFill>
            <a:srgbClr val="FF0000"/>
          </a:solidFill>
        </p:spPr>
        <p:txBody>
          <a:bodyPr/>
          <a:lstStyle/>
          <a:p>
            <a:pPr marL="6350" indent="346075">
              <a:buFontTx/>
              <a:buNone/>
            </a:pPr>
            <a:r>
              <a:rPr lang="en-US" altLang="en-US" sz="2400" dirty="0">
                <a:cs typeface="Arial" panose="020B0604020202020204" pitchFamily="34" charset="0"/>
              </a:rPr>
              <a:t>An ideal transformer is a set of coupled coils where:</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1.</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k</a:t>
            </a:r>
            <a:r>
              <a:rPr lang="en-US" altLang="en-US" sz="2400" dirty="0">
                <a:cs typeface="Arial" panose="020B0604020202020204" pitchFamily="34" charset="0"/>
              </a:rPr>
              <a:t> = 1.  This means that the two coils are coupled so well that almost all of the magnetic fields generated by one coil are flowing through the second coil.  </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2.</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L</a:t>
            </a:r>
            <a:r>
              <a:rPr lang="en-US" altLang="en-US" sz="2400" i="1" baseline="-25000" dirty="0">
                <a:cs typeface="Arial" panose="020B0604020202020204" pitchFamily="34" charset="0"/>
              </a:rPr>
              <a:t>1</a:t>
            </a:r>
            <a:r>
              <a:rPr lang="en-US" altLang="en-US" sz="2400" dirty="0">
                <a:cs typeface="Arial" panose="020B0604020202020204" pitchFamily="34" charset="0"/>
              </a:rPr>
              <a:t> = </a:t>
            </a:r>
            <a:r>
              <a:rPr lang="en-US" altLang="en-US" sz="2400" i="1" dirty="0">
                <a:cs typeface="Arial" panose="020B0604020202020204" pitchFamily="34" charset="0"/>
              </a:rPr>
              <a:t>L</a:t>
            </a:r>
            <a:r>
              <a:rPr lang="en-US" altLang="en-US" sz="2400" i="1" baseline="-25000" dirty="0">
                <a:cs typeface="Arial" panose="020B0604020202020204" pitchFamily="34" charset="0"/>
              </a:rPr>
              <a:t>2</a:t>
            </a:r>
            <a:r>
              <a:rPr lang="en-US" altLang="en-US" sz="2400" dirty="0">
                <a:cs typeface="Arial" panose="020B0604020202020204" pitchFamily="34" charset="0"/>
              </a:rPr>
              <a:t> = </a:t>
            </a:r>
            <a:r>
              <a:rPr lang="en-US" altLang="en-US" sz="2400" b="1" dirty="0">
                <a:latin typeface="Symbol" panose="05050102010706020507" pitchFamily="18" charset="2"/>
                <a:cs typeface="Arial" panose="020B0604020202020204" pitchFamily="34" charset="0"/>
              </a:rPr>
              <a:t>¥</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3.</a:t>
            </a:r>
            <a:r>
              <a:rPr lang="en-US" altLang="en-US" sz="2400" dirty="0">
                <a:latin typeface="Times New Roman" panose="02020603050405020304" pitchFamily="18" charset="0"/>
                <a:cs typeface="Times New Roman" panose="02020603050405020304" pitchFamily="18" charset="0"/>
              </a:rPr>
              <a:t>  </a:t>
            </a:r>
            <a:r>
              <a:rPr lang="en-US" altLang="en-US" sz="2400" dirty="0">
                <a:cs typeface="Arial" panose="020B0604020202020204" pitchFamily="34" charset="0"/>
              </a:rPr>
              <a:t>Coil losses are negligible</a:t>
            </a:r>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nvGraphicFramePr>
        <p:xfrm>
          <a:off x="6191250" y="5334000"/>
          <a:ext cx="2952750" cy="1209675"/>
        </p:xfrm>
        <a:graphic>
          <a:graphicData uri="http://schemas.openxmlformats.org/presentationml/2006/ole">
            <mc:AlternateContent xmlns:mc="http://schemas.openxmlformats.org/markup-compatibility/2006">
              <mc:Choice xmlns:v="urn:schemas-microsoft-com:vml" Requires="v">
                <p:oleObj r:id="rId3" imgW="1193800" imgH="482600" progId="Equation.DSMT4">
                  <p:embed/>
                </p:oleObj>
              </mc:Choice>
              <mc:Fallback>
                <p:oleObj r:id="rId3" imgW="1193800" imgH="4826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5334000"/>
                        <a:ext cx="295275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381000" y="3581400"/>
            <a:ext cx="83820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Placeholder 5" descr="The figure illustrates a domain circuit model for a transformer which is used to connect a load to a source.&#10;Long description is available in notes, Press F6.">
            <a:extLst>
              <a:ext uri="{FF2B5EF4-FFF2-40B4-BE49-F238E27FC236}">
                <a16:creationId xmlns:a16="http://schemas.microsoft.com/office/drawing/2014/main" id="{93EAA124-526E-41B8-9D88-49017AE8FAB1}"/>
              </a:ext>
            </a:extLst>
          </p:cNvPr>
          <p:cNvPicPr>
            <a:picLocks noChangeAspect="1"/>
          </p:cNvPicPr>
          <p:nvPr/>
        </p:nvPicPr>
        <p:blipFill>
          <a:blip r:embed="rId5"/>
          <a:stretch/>
        </p:blipFill>
        <p:spPr>
          <a:xfrm>
            <a:off x="1259724" y="3699702"/>
            <a:ext cx="6858000" cy="289763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2514600" y="4191000"/>
            <a:ext cx="6248400" cy="2438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80004" name="Rectangle 4">
            <a:extLst>
              <a:ext uri="{FF2B5EF4-FFF2-40B4-BE49-F238E27FC236}">
                <a16:creationId xmlns:a16="http://schemas.microsoft.com/office/drawing/2014/main" id="{07F8FD39-22EC-4124-98F9-71AD5C5E3712}"/>
              </a:ext>
            </a:extLst>
          </p:cNvPr>
          <p:cNvSpPr>
            <a:spLocks noGrp="1" noChangeArrowheads="1"/>
          </p:cNvSpPr>
          <p:nvPr>
            <p:ph type="body" idx="1"/>
          </p:nvPr>
        </p:nvSpPr>
        <p:spPr>
          <a:xfrm>
            <a:off x="352425" y="864721"/>
            <a:ext cx="8439150" cy="3391364"/>
          </a:xfrm>
          <a:solidFill>
            <a:srgbClr val="FF0000"/>
          </a:solidFill>
        </p:spPr>
        <p:txBody>
          <a:bodyPr/>
          <a:lstStyle/>
          <a:p>
            <a:pPr marL="6350" indent="346075">
              <a:buFontTx/>
              <a:buNone/>
            </a:pPr>
            <a:r>
              <a:rPr lang="en-US" altLang="en-US" sz="2400" dirty="0">
                <a:cs typeface="Arial" panose="020B0604020202020204" pitchFamily="34" charset="0"/>
              </a:rPr>
              <a:t>An ideal transformer is a set of coupled coils where:</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1.</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k</a:t>
            </a:r>
            <a:r>
              <a:rPr lang="en-US" altLang="en-US" sz="2400" dirty="0">
                <a:cs typeface="Arial" panose="020B0604020202020204" pitchFamily="34" charset="0"/>
              </a:rPr>
              <a:t> = 1</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2.</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L</a:t>
            </a:r>
            <a:r>
              <a:rPr lang="en-US" altLang="en-US" sz="2400" i="1" baseline="-25000" dirty="0">
                <a:cs typeface="Arial" panose="020B0604020202020204" pitchFamily="34" charset="0"/>
              </a:rPr>
              <a:t>1</a:t>
            </a:r>
            <a:r>
              <a:rPr lang="en-US" altLang="en-US" sz="2400" dirty="0">
                <a:cs typeface="Arial" panose="020B0604020202020204" pitchFamily="34" charset="0"/>
              </a:rPr>
              <a:t> = </a:t>
            </a:r>
            <a:r>
              <a:rPr lang="en-US" altLang="en-US" sz="2400" i="1" dirty="0">
                <a:cs typeface="Arial" panose="020B0604020202020204" pitchFamily="34" charset="0"/>
              </a:rPr>
              <a:t>L</a:t>
            </a:r>
            <a:r>
              <a:rPr lang="en-US" altLang="en-US" sz="2400" i="1" baseline="-25000" dirty="0">
                <a:cs typeface="Arial" panose="020B0604020202020204" pitchFamily="34" charset="0"/>
              </a:rPr>
              <a:t>2</a:t>
            </a:r>
            <a:r>
              <a:rPr lang="en-US" altLang="en-US" sz="2400" dirty="0">
                <a:cs typeface="Arial" panose="020B0604020202020204" pitchFamily="34" charset="0"/>
              </a:rPr>
              <a:t> = </a:t>
            </a:r>
            <a:r>
              <a:rPr lang="en-US" altLang="en-US" sz="2400" b="1" dirty="0">
                <a:latin typeface="Symbol" panose="05050102010706020507" pitchFamily="18" charset="2"/>
                <a:cs typeface="Arial" panose="020B0604020202020204" pitchFamily="34" charset="0"/>
              </a:rPr>
              <a:t>¥.  </a:t>
            </a:r>
            <a:r>
              <a:rPr lang="en-US" altLang="en-US" sz="2400" dirty="0">
                <a:cs typeface="Arial" panose="020B0604020202020204" pitchFamily="34" charset="0"/>
              </a:rPr>
              <a:t>Note that this means that the mutual inductance will also be effectively infinite, since </a:t>
            </a:r>
          </a:p>
          <a:p>
            <a:pPr marL="6350" indent="346075">
              <a:buFontTx/>
              <a:buNone/>
            </a:pPr>
            <a:endParaRPr lang="en-US" altLang="en-US" sz="2400" dirty="0">
              <a:latin typeface="New York" charset="0"/>
              <a:cs typeface="Arial" panose="020B0604020202020204" pitchFamily="34" charset="0"/>
            </a:endParaRPr>
          </a:p>
          <a:p>
            <a:pPr marL="6350" indent="346075">
              <a:buFontTx/>
              <a:buNone/>
            </a:pPr>
            <a:r>
              <a:rPr lang="en-US" altLang="en-US" sz="2400" dirty="0">
                <a:cs typeface="Arial" panose="020B0604020202020204" pitchFamily="34" charset="0"/>
              </a:rPr>
              <a:t>where these approximations are plausible because the coils are wound on materials with high permeance.  </a:t>
            </a:r>
            <a:endParaRPr lang="en-US" altLang="en-US" sz="2400" dirty="0">
              <a:cs typeface="Times New Roman" panose="02020603050405020304" pitchFamily="18" charset="0"/>
            </a:endParaRPr>
          </a:p>
          <a:p>
            <a:pPr marL="6350" indent="346075">
              <a:buFontTx/>
              <a:buNone/>
            </a:pPr>
            <a:r>
              <a:rPr lang="en-US" altLang="en-US" sz="2400" dirty="0">
                <a:cs typeface="Arial" panose="020B0604020202020204" pitchFamily="34" charset="0"/>
              </a:rPr>
              <a:t>3.</a:t>
            </a:r>
            <a:r>
              <a:rPr lang="en-US" altLang="en-US" sz="2400" dirty="0">
                <a:latin typeface="Times New Roman" panose="02020603050405020304" pitchFamily="18" charset="0"/>
                <a:cs typeface="Times New Roman" panose="02020603050405020304" pitchFamily="18" charset="0"/>
              </a:rPr>
              <a:t>  </a:t>
            </a:r>
            <a:r>
              <a:rPr lang="en-US" altLang="en-US" sz="2400" dirty="0">
                <a:cs typeface="Arial" panose="020B0604020202020204" pitchFamily="34" charset="0"/>
              </a:rPr>
              <a:t>Coil losses are negligible</a:t>
            </a:r>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nvGraphicFramePr>
        <p:xfrm>
          <a:off x="6191250" y="5334000"/>
          <a:ext cx="2952750" cy="1209675"/>
        </p:xfrm>
        <a:graphic>
          <a:graphicData uri="http://schemas.openxmlformats.org/presentationml/2006/ole">
            <mc:AlternateContent xmlns:mc="http://schemas.openxmlformats.org/markup-compatibility/2006">
              <mc:Choice xmlns:v="urn:schemas-microsoft-com:vml" Requires="v">
                <p:oleObj r:id="rId3" imgW="1193800" imgH="482600" progId="Equation.DSMT4">
                  <p:embed/>
                </p:oleObj>
              </mc:Choice>
              <mc:Fallback>
                <p:oleObj r:id="rId3" imgW="1193800" imgH="4826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5334000"/>
                        <a:ext cx="295275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Placeholder 5" descr="The figure illustrates a domain circuit model for a transformer which is used to connect a load to a source.&#10;Long description is available in notes, Press F6.">
            <a:extLst>
              <a:ext uri="{FF2B5EF4-FFF2-40B4-BE49-F238E27FC236}">
                <a16:creationId xmlns:a16="http://schemas.microsoft.com/office/drawing/2014/main" id="{93EAA124-526E-41B8-9D88-49017AE8FAB1}"/>
              </a:ext>
            </a:extLst>
          </p:cNvPr>
          <p:cNvPicPr>
            <a:picLocks noChangeAspect="1"/>
          </p:cNvPicPr>
          <p:nvPr/>
        </p:nvPicPr>
        <p:blipFill>
          <a:blip r:embed="rId5"/>
          <a:stretch/>
        </p:blipFill>
        <p:spPr>
          <a:xfrm>
            <a:off x="2735918" y="4323422"/>
            <a:ext cx="5381805" cy="2273914"/>
          </a:xfrm>
          <a:prstGeom prst="rect">
            <a:avLst/>
          </a:prstGeom>
        </p:spPr>
      </p:pic>
      <p:graphicFrame>
        <p:nvGraphicFramePr>
          <p:cNvPr id="2" name="Object 1">
            <a:extLst>
              <a:ext uri="{FF2B5EF4-FFF2-40B4-BE49-F238E27FC236}">
                <a16:creationId xmlns:a16="http://schemas.microsoft.com/office/drawing/2014/main" id="{46165201-B1C6-4B99-B731-9CC888970914}"/>
              </a:ext>
            </a:extLst>
          </p:cNvPr>
          <p:cNvGraphicFramePr>
            <a:graphicFrameLocks noChangeAspect="1"/>
          </p:cNvGraphicFramePr>
          <p:nvPr>
            <p:extLst>
              <p:ext uri="{D42A27DB-BD31-4B8C-83A1-F6EECF244321}">
                <p14:modId xmlns:p14="http://schemas.microsoft.com/office/powerpoint/2010/main" val="3836141735"/>
              </p:ext>
            </p:extLst>
          </p:nvPr>
        </p:nvGraphicFramePr>
        <p:xfrm>
          <a:off x="3505200" y="2560403"/>
          <a:ext cx="1531937" cy="515937"/>
        </p:xfrm>
        <a:graphic>
          <a:graphicData uri="http://schemas.openxmlformats.org/presentationml/2006/ole">
            <mc:AlternateContent xmlns:mc="http://schemas.openxmlformats.org/markup-compatibility/2006">
              <mc:Choice xmlns:v="urn:schemas-microsoft-com:vml" Requires="v">
                <p:oleObj name="Equation" r:id="rId6" imgW="1531810" imgH="516620" progId="Equation.DSMT4">
                  <p:embed/>
                </p:oleObj>
              </mc:Choice>
              <mc:Fallback>
                <p:oleObj name="Equation" r:id="rId6" imgW="1531810" imgH="516620" progId="Equation.DSMT4">
                  <p:embed/>
                  <p:pic>
                    <p:nvPicPr>
                      <p:cNvPr id="2" name="Object 1">
                        <a:extLst>
                          <a:ext uri="{FF2B5EF4-FFF2-40B4-BE49-F238E27FC236}">
                            <a16:creationId xmlns:a16="http://schemas.microsoft.com/office/drawing/2014/main" id="{46165201-B1C6-4B99-B731-9CC888970914}"/>
                          </a:ext>
                        </a:extLst>
                      </p:cNvPr>
                      <p:cNvPicPr/>
                      <p:nvPr/>
                    </p:nvPicPr>
                    <p:blipFill>
                      <a:blip r:embed="rId7"/>
                      <a:stretch>
                        <a:fillRect/>
                      </a:stretch>
                    </p:blipFill>
                    <p:spPr>
                      <a:xfrm>
                        <a:off x="3505200" y="2560403"/>
                        <a:ext cx="1531937" cy="515937"/>
                      </a:xfrm>
                      <a:prstGeom prst="rect">
                        <a:avLst/>
                      </a:prstGeom>
                    </p:spPr>
                  </p:pic>
                </p:oleObj>
              </mc:Fallback>
            </mc:AlternateContent>
          </a:graphicData>
        </a:graphic>
      </p:graphicFrame>
    </p:spTree>
    <p:extLst>
      <p:ext uri="{BB962C8B-B14F-4D97-AF65-F5344CB8AC3E}">
        <p14:creationId xmlns:p14="http://schemas.microsoft.com/office/powerpoint/2010/main" val="5681374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80004" name="Rectangle 4">
            <a:extLst>
              <a:ext uri="{FF2B5EF4-FFF2-40B4-BE49-F238E27FC236}">
                <a16:creationId xmlns:a16="http://schemas.microsoft.com/office/drawing/2014/main" id="{07F8FD39-22EC-4124-98F9-71AD5C5E3712}"/>
              </a:ext>
            </a:extLst>
          </p:cNvPr>
          <p:cNvSpPr>
            <a:spLocks noGrp="1" noChangeArrowheads="1"/>
          </p:cNvSpPr>
          <p:nvPr>
            <p:ph type="body" idx="1"/>
          </p:nvPr>
        </p:nvSpPr>
        <p:spPr>
          <a:xfrm>
            <a:off x="323850" y="866311"/>
            <a:ext cx="8439150" cy="2562689"/>
          </a:xfrm>
          <a:solidFill>
            <a:srgbClr val="FF0000"/>
          </a:solidFill>
        </p:spPr>
        <p:txBody>
          <a:bodyPr/>
          <a:lstStyle/>
          <a:p>
            <a:pPr marL="6350" indent="346075">
              <a:buFontTx/>
              <a:buNone/>
            </a:pPr>
            <a:r>
              <a:rPr lang="en-US" altLang="en-US" sz="2400" dirty="0">
                <a:cs typeface="Arial" panose="020B0604020202020204" pitchFamily="34" charset="0"/>
              </a:rPr>
              <a:t>An ideal transformer is a set of coupled coils where:</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1.</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k</a:t>
            </a:r>
            <a:r>
              <a:rPr lang="en-US" altLang="en-US" sz="2400" dirty="0">
                <a:cs typeface="Arial" panose="020B0604020202020204" pitchFamily="34" charset="0"/>
              </a:rPr>
              <a:t> = 1</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2.</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L</a:t>
            </a:r>
            <a:r>
              <a:rPr lang="en-US" altLang="en-US" sz="2400" i="1" baseline="-25000" dirty="0">
                <a:cs typeface="Arial" panose="020B0604020202020204" pitchFamily="34" charset="0"/>
              </a:rPr>
              <a:t>1</a:t>
            </a:r>
            <a:r>
              <a:rPr lang="en-US" altLang="en-US" sz="2400" dirty="0">
                <a:cs typeface="Arial" panose="020B0604020202020204" pitchFamily="34" charset="0"/>
              </a:rPr>
              <a:t> = </a:t>
            </a:r>
            <a:r>
              <a:rPr lang="en-US" altLang="en-US" sz="2400" i="1" dirty="0">
                <a:cs typeface="Arial" panose="020B0604020202020204" pitchFamily="34" charset="0"/>
              </a:rPr>
              <a:t>L</a:t>
            </a:r>
            <a:r>
              <a:rPr lang="en-US" altLang="en-US" sz="2400" i="1" baseline="-25000" dirty="0">
                <a:cs typeface="Arial" panose="020B0604020202020204" pitchFamily="34" charset="0"/>
              </a:rPr>
              <a:t>2</a:t>
            </a:r>
            <a:r>
              <a:rPr lang="en-US" altLang="en-US" sz="2400" dirty="0">
                <a:cs typeface="Arial" panose="020B0604020202020204" pitchFamily="34" charset="0"/>
              </a:rPr>
              <a:t> = </a:t>
            </a:r>
            <a:r>
              <a:rPr lang="en-US" altLang="en-US" sz="2400" b="1" dirty="0">
                <a:latin typeface="Symbol" panose="05050102010706020507" pitchFamily="18" charset="2"/>
                <a:cs typeface="Arial" panose="020B0604020202020204" pitchFamily="34" charset="0"/>
              </a:rPr>
              <a:t>¥</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3.</a:t>
            </a:r>
            <a:r>
              <a:rPr lang="en-US" altLang="en-US" sz="2400" dirty="0">
                <a:latin typeface="Times New Roman" panose="02020603050405020304" pitchFamily="18" charset="0"/>
                <a:cs typeface="Times New Roman" panose="02020603050405020304" pitchFamily="18" charset="0"/>
              </a:rPr>
              <a:t>  </a:t>
            </a:r>
            <a:r>
              <a:rPr lang="en-US" altLang="en-US" sz="2400" dirty="0">
                <a:cs typeface="Arial" panose="020B0604020202020204" pitchFamily="34" charset="0"/>
              </a:rPr>
              <a:t>Coil losses are negligible, that is, the </a:t>
            </a:r>
            <a:r>
              <a:rPr lang="en-US" altLang="en-US" sz="2400" i="1" dirty="0">
                <a:latin typeface="Times New Roman" panose="02020603050405020304" pitchFamily="18" charset="0"/>
                <a:cs typeface="Times New Roman" panose="02020603050405020304" pitchFamily="18" charset="0"/>
              </a:rPr>
              <a:t>R</a:t>
            </a:r>
            <a:r>
              <a:rPr lang="en-US" altLang="en-US" sz="2400" i="1" baseline="-25000" dirty="0">
                <a:latin typeface="Times New Roman" panose="02020603050405020304" pitchFamily="18" charset="0"/>
                <a:cs typeface="Times New Roman" panose="02020603050405020304" pitchFamily="18" charset="0"/>
              </a:rPr>
              <a:t>1</a:t>
            </a:r>
            <a:r>
              <a:rPr lang="en-US" altLang="en-US" sz="2400" dirty="0">
                <a:cs typeface="Arial" panose="020B0604020202020204" pitchFamily="34" charset="0"/>
              </a:rPr>
              <a:t> and </a:t>
            </a:r>
            <a:r>
              <a:rPr lang="en-US" altLang="en-US" sz="2400" i="1" dirty="0">
                <a:latin typeface="Times New Roman" panose="02020603050405020304" pitchFamily="18" charset="0"/>
                <a:cs typeface="Times New Roman" panose="02020603050405020304" pitchFamily="18" charset="0"/>
              </a:rPr>
              <a:t>R</a:t>
            </a:r>
            <a:r>
              <a:rPr lang="en-US" altLang="en-US" sz="2400" i="1" baseline="-25000" dirty="0">
                <a:latin typeface="Times New Roman" panose="02020603050405020304" pitchFamily="18" charset="0"/>
                <a:cs typeface="Times New Roman" panose="02020603050405020304" pitchFamily="18" charset="0"/>
              </a:rPr>
              <a:t>2</a:t>
            </a:r>
            <a:r>
              <a:rPr lang="en-US" altLang="en-US" sz="2400" dirty="0">
                <a:cs typeface="Arial" panose="020B0604020202020204" pitchFamily="34" charset="0"/>
              </a:rPr>
              <a:t> are small enough to be neglected.  We can say that </a:t>
            </a:r>
            <a:r>
              <a:rPr lang="en-US" altLang="en-US" sz="2400" i="1" dirty="0">
                <a:latin typeface="Times New Roman" panose="02020603050405020304" pitchFamily="18" charset="0"/>
                <a:cs typeface="Times New Roman" panose="02020603050405020304" pitchFamily="18" charset="0"/>
              </a:rPr>
              <a:t>R</a:t>
            </a:r>
            <a:r>
              <a:rPr lang="en-US" altLang="en-US" sz="2400" i="1" baseline="-25000" dirty="0">
                <a:latin typeface="Times New Roman" panose="02020603050405020304" pitchFamily="18" charset="0"/>
                <a:cs typeface="Times New Roman" panose="02020603050405020304" pitchFamily="18" charset="0"/>
              </a:rPr>
              <a:t>1</a:t>
            </a:r>
            <a:r>
              <a:rPr lang="en-US" altLang="en-US" sz="2400" dirty="0">
                <a:cs typeface="Arial" panose="020B0604020202020204" pitchFamily="34" charset="0"/>
              </a:rPr>
              <a:t> = </a:t>
            </a:r>
            <a:r>
              <a:rPr lang="en-US" altLang="en-US" sz="2400" i="1" dirty="0">
                <a:latin typeface="Times New Roman" panose="02020603050405020304" pitchFamily="18" charset="0"/>
                <a:cs typeface="Times New Roman" panose="02020603050405020304" pitchFamily="18" charset="0"/>
              </a:rPr>
              <a:t>R</a:t>
            </a:r>
            <a:r>
              <a:rPr lang="en-US" altLang="en-US" sz="2400" i="1" baseline="-25000" dirty="0">
                <a:latin typeface="Times New Roman" panose="02020603050405020304" pitchFamily="18" charset="0"/>
                <a:cs typeface="Times New Roman" panose="02020603050405020304" pitchFamily="18" charset="0"/>
              </a:rPr>
              <a:t>2</a:t>
            </a:r>
            <a:r>
              <a:rPr lang="en-US" altLang="en-US" sz="2400" dirty="0">
                <a:cs typeface="Arial" panose="020B0604020202020204" pitchFamily="34" charset="0"/>
              </a:rPr>
              <a:t> = 0.</a:t>
            </a:r>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nvGraphicFramePr>
        <p:xfrm>
          <a:off x="6191250" y="5334000"/>
          <a:ext cx="2952750" cy="1209675"/>
        </p:xfrm>
        <a:graphic>
          <a:graphicData uri="http://schemas.openxmlformats.org/presentationml/2006/ole">
            <mc:AlternateContent xmlns:mc="http://schemas.openxmlformats.org/markup-compatibility/2006">
              <mc:Choice xmlns:v="urn:schemas-microsoft-com:vml" Requires="v">
                <p:oleObj r:id="rId3" imgW="1193800" imgH="482600" progId="Equation.DSMT4">
                  <p:embed/>
                </p:oleObj>
              </mc:Choice>
              <mc:Fallback>
                <p:oleObj r:id="rId3" imgW="1193800" imgH="4826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5334000"/>
                        <a:ext cx="295275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381000" y="3581400"/>
            <a:ext cx="83820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Placeholder 5" descr="The figure illustrates a domain circuit model for a transformer which is used to connect a load to a source.&#10;Long description is available in notes, Press F6.">
            <a:extLst>
              <a:ext uri="{FF2B5EF4-FFF2-40B4-BE49-F238E27FC236}">
                <a16:creationId xmlns:a16="http://schemas.microsoft.com/office/drawing/2014/main" id="{93EAA124-526E-41B8-9D88-49017AE8FAB1}"/>
              </a:ext>
            </a:extLst>
          </p:cNvPr>
          <p:cNvPicPr>
            <a:picLocks noChangeAspect="1"/>
          </p:cNvPicPr>
          <p:nvPr/>
        </p:nvPicPr>
        <p:blipFill>
          <a:blip r:embed="rId5"/>
          <a:stretch/>
        </p:blipFill>
        <p:spPr>
          <a:xfrm>
            <a:off x="1259724" y="3699702"/>
            <a:ext cx="6858000" cy="2897634"/>
          </a:xfrm>
          <a:prstGeom prst="rect">
            <a:avLst/>
          </a:prstGeom>
        </p:spPr>
      </p:pic>
    </p:spTree>
    <p:extLst>
      <p:ext uri="{BB962C8B-B14F-4D97-AF65-F5344CB8AC3E}">
        <p14:creationId xmlns:p14="http://schemas.microsoft.com/office/powerpoint/2010/main" val="2999708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80004" name="Rectangle 4">
            <a:extLst>
              <a:ext uri="{FF2B5EF4-FFF2-40B4-BE49-F238E27FC236}">
                <a16:creationId xmlns:a16="http://schemas.microsoft.com/office/drawing/2014/main" id="{07F8FD39-22EC-4124-98F9-71AD5C5E3712}"/>
              </a:ext>
            </a:extLst>
          </p:cNvPr>
          <p:cNvSpPr>
            <a:spLocks noGrp="1" noChangeArrowheads="1"/>
          </p:cNvSpPr>
          <p:nvPr>
            <p:ph type="body" idx="1"/>
          </p:nvPr>
        </p:nvSpPr>
        <p:spPr>
          <a:xfrm>
            <a:off x="323850" y="866311"/>
            <a:ext cx="8439150" cy="2562689"/>
          </a:xfrm>
          <a:solidFill>
            <a:srgbClr val="FF0000"/>
          </a:solidFill>
        </p:spPr>
        <p:txBody>
          <a:bodyPr/>
          <a:lstStyle/>
          <a:p>
            <a:pPr marL="6350" indent="346075">
              <a:buFontTx/>
              <a:buNone/>
            </a:pPr>
            <a:r>
              <a:rPr lang="en-US" altLang="en-US" sz="2400" dirty="0">
                <a:cs typeface="Arial" panose="020B0604020202020204" pitchFamily="34" charset="0"/>
              </a:rPr>
              <a:t>An ideal transformer is a set of coupled coils where:</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1.</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k</a:t>
            </a:r>
            <a:r>
              <a:rPr lang="en-US" altLang="en-US" sz="2400" dirty="0">
                <a:cs typeface="Arial" panose="020B0604020202020204" pitchFamily="34" charset="0"/>
              </a:rPr>
              <a:t> = 1</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2.</a:t>
            </a:r>
            <a:r>
              <a:rPr lang="en-US" altLang="en-US" sz="2400" dirty="0">
                <a:latin typeface="Times New Roman" panose="02020603050405020304" pitchFamily="18" charset="0"/>
                <a:cs typeface="Times New Roman" panose="02020603050405020304" pitchFamily="18" charset="0"/>
              </a:rPr>
              <a:t>  </a:t>
            </a:r>
            <a:r>
              <a:rPr lang="en-US" altLang="en-US" sz="2400" i="1" dirty="0">
                <a:cs typeface="Arial" panose="020B0604020202020204" pitchFamily="34" charset="0"/>
              </a:rPr>
              <a:t>L</a:t>
            </a:r>
            <a:r>
              <a:rPr lang="en-US" altLang="en-US" sz="2400" i="1" baseline="-25000" dirty="0">
                <a:cs typeface="Arial" panose="020B0604020202020204" pitchFamily="34" charset="0"/>
              </a:rPr>
              <a:t>1</a:t>
            </a:r>
            <a:r>
              <a:rPr lang="en-US" altLang="en-US" sz="2400" dirty="0">
                <a:cs typeface="Arial" panose="020B0604020202020204" pitchFamily="34" charset="0"/>
              </a:rPr>
              <a:t> = </a:t>
            </a:r>
            <a:r>
              <a:rPr lang="en-US" altLang="en-US" sz="2400" i="1" dirty="0">
                <a:cs typeface="Arial" panose="020B0604020202020204" pitchFamily="34" charset="0"/>
              </a:rPr>
              <a:t>L</a:t>
            </a:r>
            <a:r>
              <a:rPr lang="en-US" altLang="en-US" sz="2400" i="1" baseline="-25000" dirty="0">
                <a:cs typeface="Arial" panose="020B0604020202020204" pitchFamily="34" charset="0"/>
              </a:rPr>
              <a:t>2</a:t>
            </a:r>
            <a:r>
              <a:rPr lang="en-US" altLang="en-US" sz="2400" dirty="0">
                <a:cs typeface="Arial" panose="020B0604020202020204" pitchFamily="34" charset="0"/>
              </a:rPr>
              <a:t> = </a:t>
            </a:r>
            <a:r>
              <a:rPr lang="en-US" altLang="en-US" sz="2400" b="1" dirty="0">
                <a:latin typeface="Symbol" panose="05050102010706020507" pitchFamily="18" charset="2"/>
                <a:cs typeface="Arial" panose="020B0604020202020204" pitchFamily="34" charset="0"/>
              </a:rPr>
              <a:t>¥</a:t>
            </a:r>
            <a:endParaRPr lang="en-US" altLang="en-US" sz="2400" dirty="0">
              <a:latin typeface="New York" charset="0"/>
              <a:cs typeface="Times New Roman" panose="02020603050405020304" pitchFamily="18" charset="0"/>
            </a:endParaRPr>
          </a:p>
          <a:p>
            <a:pPr marL="6350" indent="346075">
              <a:buFontTx/>
              <a:buNone/>
            </a:pPr>
            <a:r>
              <a:rPr lang="en-US" altLang="en-US" sz="2400" dirty="0">
                <a:cs typeface="Arial" panose="020B0604020202020204" pitchFamily="34" charset="0"/>
              </a:rPr>
              <a:t>3.</a:t>
            </a:r>
            <a:r>
              <a:rPr lang="en-US" altLang="en-US" sz="2400" dirty="0">
                <a:latin typeface="Times New Roman" panose="02020603050405020304" pitchFamily="18" charset="0"/>
                <a:cs typeface="Times New Roman" panose="02020603050405020304" pitchFamily="18" charset="0"/>
              </a:rPr>
              <a:t>  </a:t>
            </a:r>
            <a:r>
              <a:rPr lang="en-US" altLang="en-US" sz="2400" dirty="0">
                <a:cs typeface="Arial" panose="020B0604020202020204" pitchFamily="34" charset="0"/>
              </a:rPr>
              <a:t>Coil losses are negligible</a:t>
            </a:r>
          </a:p>
          <a:p>
            <a:pPr marL="6350" indent="346075">
              <a:buFontTx/>
              <a:buNone/>
            </a:pPr>
            <a:r>
              <a:rPr lang="en-US" altLang="en-US" sz="2400" dirty="0">
                <a:cs typeface="Arial" panose="020B0604020202020204" pitchFamily="34" charset="0"/>
              </a:rPr>
              <a:t>The symbol below is what we will use to represent an ideal transformer.  </a:t>
            </a:r>
          </a:p>
        </p:txBody>
      </p:sp>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2286000" y="3581400"/>
            <a:ext cx="44958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Placeholder 5" descr="The figure illustrates a graphic symbol for an ideal transformer.">
            <a:extLst>
              <a:ext uri="{FF2B5EF4-FFF2-40B4-BE49-F238E27FC236}">
                <a16:creationId xmlns:a16="http://schemas.microsoft.com/office/drawing/2014/main" id="{6D6A9554-4E04-45D2-9EE7-C3DADAFAF4F7}"/>
              </a:ext>
            </a:extLst>
          </p:cNvPr>
          <p:cNvPicPr>
            <a:picLocks noChangeAspect="1"/>
          </p:cNvPicPr>
          <p:nvPr/>
        </p:nvPicPr>
        <p:blipFill>
          <a:blip r:embed="rId3"/>
          <a:stretch/>
        </p:blipFill>
        <p:spPr>
          <a:xfrm>
            <a:off x="2480329" y="3648723"/>
            <a:ext cx="4126191" cy="2913354"/>
          </a:xfrm>
          <a:prstGeom prst="rect">
            <a:avLst/>
          </a:prstGeom>
        </p:spPr>
      </p:pic>
    </p:spTree>
    <p:extLst>
      <p:ext uri="{BB962C8B-B14F-4D97-AF65-F5344CB8AC3E}">
        <p14:creationId xmlns:p14="http://schemas.microsoft.com/office/powerpoint/2010/main" val="792270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0" name="Rectangle 10">
            <a:extLst>
              <a:ext uri="{FF2B5EF4-FFF2-40B4-BE49-F238E27FC236}">
                <a16:creationId xmlns:a16="http://schemas.microsoft.com/office/drawing/2014/main" id="{57C1219B-E13E-497B-8320-FFFFD1AA8892}"/>
              </a:ext>
            </a:extLst>
          </p:cNvPr>
          <p:cNvSpPr>
            <a:spLocks noChangeArrowheads="1"/>
          </p:cNvSpPr>
          <p:nvPr/>
        </p:nvSpPr>
        <p:spPr bwMode="auto">
          <a:xfrm>
            <a:off x="6019800" y="5257800"/>
            <a:ext cx="3124200" cy="1295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80004" name="Rectangle 4">
            <a:extLst>
              <a:ext uri="{FF2B5EF4-FFF2-40B4-BE49-F238E27FC236}">
                <a16:creationId xmlns:a16="http://schemas.microsoft.com/office/drawing/2014/main" id="{07F8FD39-22EC-4124-98F9-71AD5C5E3712}"/>
              </a:ext>
            </a:extLst>
          </p:cNvPr>
          <p:cNvSpPr>
            <a:spLocks noGrp="1" noChangeArrowheads="1"/>
          </p:cNvSpPr>
          <p:nvPr>
            <p:ph type="body" idx="1"/>
          </p:nvPr>
        </p:nvSpPr>
        <p:spPr>
          <a:xfrm>
            <a:off x="304800" y="1752600"/>
            <a:ext cx="5867400" cy="3048000"/>
          </a:xfrm>
        </p:spPr>
        <p:txBody>
          <a:bodyPr/>
          <a:lstStyle/>
          <a:p>
            <a:pPr marL="6350" indent="346075">
              <a:buFontTx/>
              <a:buNone/>
            </a:pPr>
            <a:r>
              <a:rPr lang="en-US" altLang="en-US" dirty="0">
                <a:cs typeface="Arial" panose="020B0604020202020204" pitchFamily="34" charset="0"/>
              </a:rPr>
              <a:t>An ideal transformer is a set of coupled coils where:</a:t>
            </a:r>
            <a:endParaRPr lang="en-US" altLang="en-US" dirty="0">
              <a:latin typeface="New York" charset="0"/>
              <a:cs typeface="Times New Roman" panose="02020603050405020304" pitchFamily="18" charset="0"/>
            </a:endParaRPr>
          </a:p>
          <a:p>
            <a:pPr marL="6350" indent="346075">
              <a:buFontTx/>
              <a:buNone/>
            </a:pPr>
            <a:r>
              <a:rPr lang="en-US" altLang="en-US" dirty="0">
                <a:cs typeface="Arial" panose="020B0604020202020204" pitchFamily="34" charset="0"/>
              </a:rPr>
              <a:t>1.</a:t>
            </a:r>
            <a:r>
              <a:rPr lang="en-US" altLang="en-US" dirty="0">
                <a:latin typeface="Times New Roman" panose="02020603050405020304" pitchFamily="18" charset="0"/>
                <a:cs typeface="Times New Roman" panose="02020603050405020304" pitchFamily="18" charset="0"/>
              </a:rPr>
              <a:t>  </a:t>
            </a:r>
            <a:r>
              <a:rPr lang="en-US" altLang="en-US" i="1" dirty="0">
                <a:cs typeface="Arial" panose="020B0604020202020204" pitchFamily="34" charset="0"/>
              </a:rPr>
              <a:t>k</a:t>
            </a:r>
            <a:r>
              <a:rPr lang="en-US" altLang="en-US" dirty="0">
                <a:cs typeface="Arial" panose="020B0604020202020204" pitchFamily="34" charset="0"/>
              </a:rPr>
              <a:t> = 1</a:t>
            </a:r>
            <a:endParaRPr lang="en-US" altLang="en-US" dirty="0">
              <a:latin typeface="New York" charset="0"/>
              <a:cs typeface="Times New Roman" panose="02020603050405020304" pitchFamily="18" charset="0"/>
            </a:endParaRPr>
          </a:p>
          <a:p>
            <a:pPr marL="6350" indent="346075">
              <a:buFontTx/>
              <a:buNone/>
            </a:pPr>
            <a:r>
              <a:rPr lang="en-US" altLang="en-US" dirty="0">
                <a:cs typeface="Arial" panose="020B0604020202020204" pitchFamily="34" charset="0"/>
              </a:rPr>
              <a:t>2.</a:t>
            </a:r>
            <a:r>
              <a:rPr lang="en-US" altLang="en-US" dirty="0">
                <a:latin typeface="Times New Roman" panose="02020603050405020304" pitchFamily="18" charset="0"/>
                <a:cs typeface="Times New Roman" panose="02020603050405020304" pitchFamily="18" charset="0"/>
              </a:rPr>
              <a:t>  </a:t>
            </a:r>
            <a:r>
              <a:rPr lang="en-US" altLang="en-US" i="1" dirty="0">
                <a:cs typeface="Arial" panose="020B0604020202020204" pitchFamily="34" charset="0"/>
              </a:rPr>
              <a:t>L</a:t>
            </a:r>
            <a:r>
              <a:rPr lang="en-US" altLang="en-US" i="1" baseline="-25000" dirty="0">
                <a:cs typeface="Arial" panose="020B0604020202020204" pitchFamily="34" charset="0"/>
              </a:rPr>
              <a:t>1</a:t>
            </a:r>
            <a:r>
              <a:rPr lang="en-US" altLang="en-US" dirty="0">
                <a:cs typeface="Arial" panose="020B0604020202020204" pitchFamily="34" charset="0"/>
              </a:rPr>
              <a:t> = </a:t>
            </a:r>
            <a:r>
              <a:rPr lang="en-US" altLang="en-US" i="1" dirty="0">
                <a:cs typeface="Arial" panose="020B0604020202020204" pitchFamily="34" charset="0"/>
              </a:rPr>
              <a:t>L</a:t>
            </a:r>
            <a:r>
              <a:rPr lang="en-US" altLang="en-US" i="1" baseline="-25000" dirty="0">
                <a:cs typeface="Arial" panose="020B0604020202020204" pitchFamily="34" charset="0"/>
              </a:rPr>
              <a:t>2</a:t>
            </a:r>
            <a:r>
              <a:rPr lang="en-US" altLang="en-US" dirty="0">
                <a:cs typeface="Arial" panose="020B0604020202020204" pitchFamily="34" charset="0"/>
              </a:rPr>
              <a:t> = </a:t>
            </a:r>
            <a:r>
              <a:rPr lang="en-US" altLang="en-US" b="1" dirty="0">
                <a:latin typeface="Symbol" panose="05050102010706020507" pitchFamily="18" charset="2"/>
                <a:cs typeface="Arial" panose="020B0604020202020204" pitchFamily="34" charset="0"/>
              </a:rPr>
              <a:t>¥</a:t>
            </a:r>
            <a:endParaRPr lang="en-US" altLang="en-US" dirty="0">
              <a:latin typeface="New York" charset="0"/>
              <a:cs typeface="Times New Roman" panose="02020603050405020304" pitchFamily="18" charset="0"/>
            </a:endParaRPr>
          </a:p>
          <a:p>
            <a:pPr marL="6350" indent="346075">
              <a:buFontTx/>
              <a:buNone/>
            </a:pPr>
            <a:r>
              <a:rPr lang="en-US" altLang="en-US" dirty="0">
                <a:cs typeface="Arial" panose="020B0604020202020204" pitchFamily="34" charset="0"/>
              </a:rPr>
              <a:t>3.</a:t>
            </a:r>
            <a:r>
              <a:rPr lang="en-US" altLang="en-US" dirty="0">
                <a:latin typeface="Times New Roman" panose="02020603050405020304" pitchFamily="18" charset="0"/>
                <a:cs typeface="Times New Roman" panose="02020603050405020304" pitchFamily="18" charset="0"/>
              </a:rPr>
              <a:t>  </a:t>
            </a:r>
            <a:r>
              <a:rPr lang="en-US" altLang="en-US" dirty="0">
                <a:cs typeface="Arial" panose="020B0604020202020204" pitchFamily="34" charset="0"/>
              </a:rPr>
              <a:t>Coil losses are negligible</a:t>
            </a:r>
          </a:p>
        </p:txBody>
      </p:sp>
      <p:sp>
        <p:nvSpPr>
          <p:cNvPr id="1280005" name="Text Box 5">
            <a:extLst>
              <a:ext uri="{FF2B5EF4-FFF2-40B4-BE49-F238E27FC236}">
                <a16:creationId xmlns:a16="http://schemas.microsoft.com/office/drawing/2014/main" id="{AB43B70E-F35E-4F4E-A97A-00E995EBCF63}"/>
              </a:ext>
            </a:extLst>
          </p:cNvPr>
          <p:cNvSpPr txBox="1">
            <a:spLocks noChangeArrowheads="1"/>
          </p:cNvSpPr>
          <p:nvPr/>
        </p:nvSpPr>
        <p:spPr bwMode="auto">
          <a:xfrm>
            <a:off x="304800" y="4724400"/>
            <a:ext cx="57150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Arial" panose="020B0604020202020204" pitchFamily="34" charset="0"/>
                <a:cs typeface="Arial" panose="020B0604020202020204" pitchFamily="34" charset="0"/>
              </a:rPr>
              <a:t>With these assumptions, it is possible to derive the following relationships, where </a:t>
            </a:r>
            <a:r>
              <a:rPr lang="en-US" altLang="en-US" i="1" dirty="0">
                <a:latin typeface="Arial" panose="020B0604020202020204" pitchFamily="34" charset="0"/>
                <a:cs typeface="Arial" panose="020B0604020202020204" pitchFamily="34" charset="0"/>
              </a:rPr>
              <a:t>N</a:t>
            </a:r>
            <a:r>
              <a:rPr lang="en-US" altLang="en-US" i="1" baseline="-25000" dirty="0">
                <a:latin typeface="Arial" panose="020B0604020202020204" pitchFamily="34" charset="0"/>
                <a:cs typeface="Arial" panose="020B0604020202020204" pitchFamily="34" charset="0"/>
              </a:rPr>
              <a:t>1</a:t>
            </a:r>
            <a:r>
              <a:rPr lang="en-US" altLang="en-US" dirty="0">
                <a:latin typeface="Arial" panose="020B0604020202020204" pitchFamily="34" charset="0"/>
                <a:cs typeface="Arial" panose="020B0604020202020204" pitchFamily="34" charset="0"/>
              </a:rPr>
              <a:t> and </a:t>
            </a:r>
            <a:r>
              <a:rPr lang="en-US" altLang="en-US" i="1" dirty="0">
                <a:latin typeface="Arial" panose="020B0604020202020204" pitchFamily="34" charset="0"/>
                <a:cs typeface="Arial" panose="020B0604020202020204" pitchFamily="34" charset="0"/>
              </a:rPr>
              <a:t>N</a:t>
            </a:r>
            <a:r>
              <a:rPr lang="en-US" altLang="en-US" i="1" baseline="-25000" dirty="0">
                <a:latin typeface="Arial" panose="020B0604020202020204" pitchFamily="34" charset="0"/>
                <a:cs typeface="Arial" panose="020B0604020202020204" pitchFamily="34" charset="0"/>
              </a:rPr>
              <a:t>2</a:t>
            </a:r>
            <a:r>
              <a:rPr lang="en-US" altLang="en-US" dirty="0">
                <a:latin typeface="Arial" panose="020B0604020202020204" pitchFamily="34" charset="0"/>
                <a:cs typeface="Arial" panose="020B0604020202020204" pitchFamily="34" charset="0"/>
              </a:rPr>
              <a:t> are the number of turns in the primary and secondary coils of the transformer, respectively.</a:t>
            </a:r>
            <a:endParaRPr lang="en-US" altLang="en-US" dirty="0"/>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extLst>
              <p:ext uri="{D42A27DB-BD31-4B8C-83A1-F6EECF244321}">
                <p14:modId xmlns:p14="http://schemas.microsoft.com/office/powerpoint/2010/main" val="791104091"/>
              </p:ext>
            </p:extLst>
          </p:nvPr>
        </p:nvGraphicFramePr>
        <p:xfrm>
          <a:off x="6473825" y="5334000"/>
          <a:ext cx="2387600" cy="1209675"/>
        </p:xfrm>
        <a:graphic>
          <a:graphicData uri="http://schemas.openxmlformats.org/presentationml/2006/ole">
            <mc:AlternateContent xmlns:mc="http://schemas.openxmlformats.org/markup-compatibility/2006">
              <mc:Choice xmlns:v="urn:schemas-microsoft-com:vml" Requires="v">
                <p:oleObj name="Equation" r:id="rId3" imgW="965160" imgH="482400" progId="Equation.DSMT4">
                  <p:embed/>
                </p:oleObj>
              </mc:Choice>
              <mc:Fallback>
                <p:oleObj name="Equation" r:id="rId3" imgW="965160" imgH="4824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srcRect/>
                      <a:stretch>
                        <a:fillRect/>
                      </a:stretch>
                    </p:blipFill>
                    <p:spPr bwMode="auto">
                      <a:xfrm>
                        <a:off x="6473825" y="5334000"/>
                        <a:ext cx="238760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a:extLst>
              <a:ext uri="{FF2B5EF4-FFF2-40B4-BE49-F238E27FC236}">
                <a16:creationId xmlns:a16="http://schemas.microsoft.com/office/drawing/2014/main" id="{B53EC688-0C34-4537-8BCB-5101E4248A55}"/>
              </a:ext>
            </a:extLst>
          </p:cNvPr>
          <p:cNvSpPr>
            <a:spLocks noChangeArrowheads="1"/>
          </p:cNvSpPr>
          <p:nvPr/>
        </p:nvSpPr>
        <p:spPr bwMode="auto">
          <a:xfrm>
            <a:off x="5867400" y="1737623"/>
            <a:ext cx="3276600" cy="2106407"/>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CE121CA7-4F7E-4253-84B6-8F218242FC33}"/>
              </a:ext>
            </a:extLst>
          </p:cNvPr>
          <p:cNvPicPr>
            <a:picLocks noChangeAspect="1"/>
          </p:cNvPicPr>
          <p:nvPr/>
        </p:nvPicPr>
        <p:blipFill rotWithShape="1">
          <a:blip r:embed="rId5"/>
          <a:srcRect r="78288" b="48701"/>
          <a:stretch/>
        </p:blipFill>
        <p:spPr>
          <a:xfrm>
            <a:off x="5918542" y="1877465"/>
            <a:ext cx="3124201" cy="1780136"/>
          </a:xfrm>
          <a:prstGeom prst="rect">
            <a:avLst/>
          </a:prstGeom>
        </p:spPr>
      </p:pic>
    </p:spTree>
    <p:extLst>
      <p:ext uri="{BB962C8B-B14F-4D97-AF65-F5344CB8AC3E}">
        <p14:creationId xmlns:p14="http://schemas.microsoft.com/office/powerpoint/2010/main" val="3149874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2051" name="Rectangle 3">
            <a:extLst>
              <a:ext uri="{FF2B5EF4-FFF2-40B4-BE49-F238E27FC236}">
                <a16:creationId xmlns:a16="http://schemas.microsoft.com/office/drawing/2014/main" id="{B1C63F45-A7EB-44C6-BE56-C4BBC8C79B6F}"/>
              </a:ext>
            </a:extLst>
          </p:cNvPr>
          <p:cNvSpPr>
            <a:spLocks noGrp="1" noChangeArrowheads="1"/>
          </p:cNvSpPr>
          <p:nvPr>
            <p:ph type="title"/>
          </p:nvPr>
        </p:nvSpPr>
        <p:spPr>
          <a:xfrm>
            <a:off x="2286000" y="15240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82053" name="Text Box 5">
            <a:extLst>
              <a:ext uri="{FF2B5EF4-FFF2-40B4-BE49-F238E27FC236}">
                <a16:creationId xmlns:a16="http://schemas.microsoft.com/office/drawing/2014/main" id="{0B159086-A749-41BC-9CA7-4F667D11CF6A}"/>
              </a:ext>
            </a:extLst>
          </p:cNvPr>
          <p:cNvSpPr txBox="1">
            <a:spLocks noChangeArrowheads="1"/>
          </p:cNvSpPr>
          <p:nvPr/>
        </p:nvSpPr>
        <p:spPr bwMode="auto">
          <a:xfrm>
            <a:off x="228600" y="1106488"/>
            <a:ext cx="571500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Arial" panose="020B0604020202020204" pitchFamily="34" charset="0"/>
                <a:cs typeface="Arial" panose="020B0604020202020204" pitchFamily="34" charset="0"/>
              </a:rPr>
              <a:t>With these assumptions, it is possible to derive the following relationships, where </a:t>
            </a:r>
            <a:r>
              <a:rPr lang="en-US" altLang="en-US" i="1" dirty="0">
                <a:latin typeface="Arial" panose="020B0604020202020204" pitchFamily="34" charset="0"/>
                <a:cs typeface="Arial" panose="020B0604020202020204" pitchFamily="34" charset="0"/>
              </a:rPr>
              <a:t>N</a:t>
            </a:r>
            <a:r>
              <a:rPr lang="en-US" altLang="en-US" i="1" baseline="-25000" dirty="0">
                <a:latin typeface="Arial" panose="020B0604020202020204" pitchFamily="34" charset="0"/>
                <a:cs typeface="Arial" panose="020B0604020202020204" pitchFamily="34" charset="0"/>
              </a:rPr>
              <a:t>1</a:t>
            </a:r>
            <a:r>
              <a:rPr lang="en-US" altLang="en-US" dirty="0">
                <a:latin typeface="Arial" panose="020B0604020202020204" pitchFamily="34" charset="0"/>
                <a:cs typeface="Arial" panose="020B0604020202020204" pitchFamily="34" charset="0"/>
              </a:rPr>
              <a:t> and </a:t>
            </a:r>
            <a:r>
              <a:rPr lang="en-US" altLang="en-US" i="1" dirty="0">
                <a:latin typeface="Arial" panose="020B0604020202020204" pitchFamily="34" charset="0"/>
                <a:cs typeface="Arial" panose="020B0604020202020204" pitchFamily="34" charset="0"/>
              </a:rPr>
              <a:t>N</a:t>
            </a:r>
            <a:r>
              <a:rPr lang="en-US" altLang="en-US" i="1" baseline="-25000" dirty="0">
                <a:latin typeface="Arial" panose="020B0604020202020204" pitchFamily="34" charset="0"/>
                <a:cs typeface="Arial" panose="020B0604020202020204" pitchFamily="34" charset="0"/>
              </a:rPr>
              <a:t>2</a:t>
            </a:r>
            <a:r>
              <a:rPr lang="en-US" altLang="en-US" dirty="0">
                <a:latin typeface="Arial" panose="020B0604020202020204" pitchFamily="34" charset="0"/>
                <a:cs typeface="Arial" panose="020B0604020202020204" pitchFamily="34" charset="0"/>
              </a:rPr>
              <a:t> are the number of turns in the primary and secondary coils of the transformer, respectively.</a:t>
            </a:r>
          </a:p>
          <a:p>
            <a:pPr>
              <a:spcBef>
                <a:spcPct val="50000"/>
              </a:spcBef>
            </a:pPr>
            <a:r>
              <a:rPr lang="en-US" altLang="en-US" dirty="0">
                <a:latin typeface="Arial" panose="020B0604020202020204" pitchFamily="34" charset="0"/>
                <a:cs typeface="Arial" panose="020B0604020202020204" pitchFamily="34" charset="0"/>
              </a:rPr>
              <a:t>Note that if the voltage increases going from one side of a transformer to the other, the current decreases, and by the same factor.  </a:t>
            </a:r>
            <a:r>
              <a:rPr lang="en-US" altLang="en-US" b="1" dirty="0">
                <a:latin typeface="Arial" panose="020B0604020202020204" pitchFamily="34" charset="0"/>
                <a:cs typeface="Arial" panose="020B0604020202020204" pitchFamily="34" charset="0"/>
              </a:rPr>
              <a:t>There is no power gain.  </a:t>
            </a:r>
            <a:r>
              <a:rPr lang="en-US" altLang="en-US" dirty="0">
                <a:latin typeface="Arial" panose="020B0604020202020204" pitchFamily="34" charset="0"/>
                <a:cs typeface="Arial" panose="020B0604020202020204" pitchFamily="34" charset="0"/>
              </a:rPr>
              <a:t>The factor is the ratio of the number of turns.  We name this as the turns ratio.</a:t>
            </a:r>
            <a:endParaRPr lang="en-US" altLang="en-US" dirty="0"/>
          </a:p>
        </p:txBody>
      </p:sp>
      <p:grpSp>
        <p:nvGrpSpPr>
          <p:cNvPr id="1282056" name="Group 8">
            <a:extLst>
              <a:ext uri="{FF2B5EF4-FFF2-40B4-BE49-F238E27FC236}">
                <a16:creationId xmlns:a16="http://schemas.microsoft.com/office/drawing/2014/main" id="{D1484409-2AC7-4DDC-8552-AEAB778C131B}"/>
              </a:ext>
            </a:extLst>
          </p:cNvPr>
          <p:cNvGrpSpPr>
            <a:grpSpLocks/>
          </p:cNvGrpSpPr>
          <p:nvPr/>
        </p:nvGrpSpPr>
        <p:grpSpPr bwMode="auto">
          <a:xfrm>
            <a:off x="5690419" y="5257800"/>
            <a:ext cx="3124200" cy="1295400"/>
            <a:chOff x="3792" y="3312"/>
            <a:chExt cx="1968" cy="816"/>
          </a:xfrm>
        </p:grpSpPr>
        <p:sp>
          <p:nvSpPr>
            <p:cNvPr id="1282050" name="Rectangle 2">
              <a:extLst>
                <a:ext uri="{FF2B5EF4-FFF2-40B4-BE49-F238E27FC236}">
                  <a16:creationId xmlns:a16="http://schemas.microsoft.com/office/drawing/2014/main" id="{0D3F504B-B73B-4461-A15C-BDE74912A2D9}"/>
                </a:ext>
              </a:extLst>
            </p:cNvPr>
            <p:cNvSpPr>
              <a:spLocks noChangeArrowheads="1"/>
            </p:cNvSpPr>
            <p:nvPr/>
          </p:nvSpPr>
          <p:spPr bwMode="auto">
            <a:xfrm>
              <a:off x="3792" y="3312"/>
              <a:ext cx="1968" cy="816"/>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282054" name="Object 6">
              <a:extLst>
                <a:ext uri="{FF2B5EF4-FFF2-40B4-BE49-F238E27FC236}">
                  <a16:creationId xmlns:a16="http://schemas.microsoft.com/office/drawing/2014/main" id="{72912270-EBC7-4158-BD4A-C0A71155DB69}"/>
                </a:ext>
              </a:extLst>
            </p:cNvPr>
            <p:cNvGraphicFramePr>
              <a:graphicFrameLocks noChangeAspect="1"/>
            </p:cNvGraphicFramePr>
            <p:nvPr>
              <p:extLst>
                <p:ext uri="{D42A27DB-BD31-4B8C-83A1-F6EECF244321}">
                  <p14:modId xmlns:p14="http://schemas.microsoft.com/office/powerpoint/2010/main" val="1096068892"/>
                </p:ext>
              </p:extLst>
            </p:nvPr>
          </p:nvGraphicFramePr>
          <p:xfrm>
            <a:off x="4078" y="3360"/>
            <a:ext cx="1504" cy="762"/>
          </p:xfrm>
          <a:graphic>
            <a:graphicData uri="http://schemas.openxmlformats.org/presentationml/2006/ole">
              <mc:AlternateContent xmlns:mc="http://schemas.openxmlformats.org/markup-compatibility/2006">
                <mc:Choice xmlns:v="urn:schemas-microsoft-com:vml" Requires="v">
                  <p:oleObj name="Equation" r:id="rId3" imgW="965160" imgH="482400" progId="Equation.DSMT4">
                    <p:embed/>
                  </p:oleObj>
                </mc:Choice>
                <mc:Fallback>
                  <p:oleObj name="Equation" r:id="rId3" imgW="965160" imgH="482400" progId="Equation.DSMT4">
                    <p:embed/>
                    <p:pic>
                      <p:nvPicPr>
                        <p:cNvPr id="1282054" name="Object 6">
                          <a:extLst>
                            <a:ext uri="{FF2B5EF4-FFF2-40B4-BE49-F238E27FC236}">
                              <a16:creationId xmlns:a16="http://schemas.microsoft.com/office/drawing/2014/main" id="{72912270-EBC7-4158-BD4A-C0A71155DB69}"/>
                            </a:ext>
                          </a:extLst>
                        </p:cNvPr>
                        <p:cNvPicPr>
                          <a:picLocks noChangeAspect="1" noChangeArrowheads="1"/>
                        </p:cNvPicPr>
                        <p:nvPr/>
                      </p:nvPicPr>
                      <p:blipFill>
                        <a:blip r:embed="rId4"/>
                        <a:srcRect/>
                        <a:stretch>
                          <a:fillRect/>
                        </a:stretch>
                      </p:blipFill>
                      <p:spPr bwMode="auto">
                        <a:xfrm>
                          <a:off x="4078" y="3360"/>
                          <a:ext cx="1504" cy="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 name="Rectangle 2">
            <a:extLst>
              <a:ext uri="{FF2B5EF4-FFF2-40B4-BE49-F238E27FC236}">
                <a16:creationId xmlns:a16="http://schemas.microsoft.com/office/drawing/2014/main" id="{5393D8F2-4E04-4C21-A2CD-367A1645FE9A}"/>
              </a:ext>
            </a:extLst>
          </p:cNvPr>
          <p:cNvSpPr>
            <a:spLocks noChangeArrowheads="1"/>
          </p:cNvSpPr>
          <p:nvPr/>
        </p:nvSpPr>
        <p:spPr bwMode="auto">
          <a:xfrm>
            <a:off x="5867400" y="1676401"/>
            <a:ext cx="3276599" cy="2285999"/>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0A563EB2-EB50-446C-A092-655BDB1D411D}"/>
              </a:ext>
            </a:extLst>
          </p:cNvPr>
          <p:cNvPicPr>
            <a:picLocks noChangeAspect="1"/>
          </p:cNvPicPr>
          <p:nvPr/>
        </p:nvPicPr>
        <p:blipFill rotWithShape="1">
          <a:blip r:embed="rId5"/>
          <a:srcRect r="78288" b="48701"/>
          <a:stretch/>
        </p:blipFill>
        <p:spPr>
          <a:xfrm>
            <a:off x="5918542" y="1877465"/>
            <a:ext cx="3124201" cy="178013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4098" name="Rectangle 2">
            <a:extLst>
              <a:ext uri="{FF2B5EF4-FFF2-40B4-BE49-F238E27FC236}">
                <a16:creationId xmlns:a16="http://schemas.microsoft.com/office/drawing/2014/main" id="{A26349B1-4D73-4F41-A6C7-09F790D9DE45}"/>
              </a:ext>
            </a:extLst>
          </p:cNvPr>
          <p:cNvSpPr>
            <a:spLocks noGrp="1" noChangeArrowheads="1"/>
          </p:cNvSpPr>
          <p:nvPr>
            <p:ph type="title"/>
          </p:nvPr>
        </p:nvSpPr>
        <p:spPr>
          <a:xfrm>
            <a:off x="2286000" y="152400"/>
            <a:ext cx="6858000" cy="685800"/>
          </a:xfrm>
        </p:spPr>
        <p:txBody>
          <a:bodyPr/>
          <a:lstStyle/>
          <a:p>
            <a:r>
              <a:rPr lang="en-US" altLang="en-US" sz="4000">
                <a:cs typeface="Times New Roman" panose="02020603050405020304" pitchFamily="18" charset="0"/>
              </a:rPr>
              <a:t>Ideal Transformers</a:t>
            </a:r>
            <a:r>
              <a:rPr lang="en-US" altLang="en-US" sz="4000"/>
              <a:t> </a:t>
            </a:r>
          </a:p>
        </p:txBody>
      </p:sp>
      <p:sp>
        <p:nvSpPr>
          <p:cNvPr id="1284099" name="Text Box 3">
            <a:extLst>
              <a:ext uri="{FF2B5EF4-FFF2-40B4-BE49-F238E27FC236}">
                <a16:creationId xmlns:a16="http://schemas.microsoft.com/office/drawing/2014/main" id="{6130BF1B-A27F-4BCF-BA00-2E4CE3116D6F}"/>
              </a:ext>
            </a:extLst>
          </p:cNvPr>
          <p:cNvSpPr txBox="1">
            <a:spLocks noChangeArrowheads="1"/>
          </p:cNvSpPr>
          <p:nvPr/>
        </p:nvSpPr>
        <p:spPr bwMode="auto">
          <a:xfrm>
            <a:off x="119491" y="1057007"/>
            <a:ext cx="5715000" cy="36009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dirty="0">
                <a:latin typeface="Arial" panose="020B0604020202020204" pitchFamily="34" charset="0"/>
                <a:cs typeface="Arial" panose="020B0604020202020204" pitchFamily="34" charset="0"/>
              </a:rPr>
              <a:t>With these assumptions, it is possible to derive the following relationships, where </a:t>
            </a:r>
            <a:r>
              <a:rPr lang="en-US" altLang="en-US" i="1" dirty="0">
                <a:latin typeface="Arial" panose="020B0604020202020204" pitchFamily="34" charset="0"/>
                <a:cs typeface="Arial" panose="020B0604020202020204" pitchFamily="34" charset="0"/>
              </a:rPr>
              <a:t>N</a:t>
            </a:r>
            <a:r>
              <a:rPr lang="en-US" altLang="en-US" i="1" baseline="-25000" dirty="0">
                <a:latin typeface="Arial" panose="020B0604020202020204" pitchFamily="34" charset="0"/>
                <a:cs typeface="Arial" panose="020B0604020202020204" pitchFamily="34" charset="0"/>
              </a:rPr>
              <a:t>1</a:t>
            </a:r>
            <a:r>
              <a:rPr lang="en-US" altLang="en-US" dirty="0">
                <a:latin typeface="Arial" panose="020B0604020202020204" pitchFamily="34" charset="0"/>
                <a:cs typeface="Arial" panose="020B0604020202020204" pitchFamily="34" charset="0"/>
              </a:rPr>
              <a:t> and </a:t>
            </a:r>
            <a:r>
              <a:rPr lang="en-US" altLang="en-US" i="1" dirty="0">
                <a:latin typeface="Arial" panose="020B0604020202020204" pitchFamily="34" charset="0"/>
                <a:cs typeface="Arial" panose="020B0604020202020204" pitchFamily="34" charset="0"/>
              </a:rPr>
              <a:t>N</a:t>
            </a:r>
            <a:r>
              <a:rPr lang="en-US" altLang="en-US" i="1" baseline="-25000" dirty="0">
                <a:latin typeface="Arial" panose="020B0604020202020204" pitchFamily="34" charset="0"/>
                <a:cs typeface="Arial" panose="020B0604020202020204" pitchFamily="34" charset="0"/>
              </a:rPr>
              <a:t>2</a:t>
            </a:r>
            <a:r>
              <a:rPr lang="en-US" altLang="en-US" dirty="0">
                <a:latin typeface="Arial" panose="020B0604020202020204" pitchFamily="34" charset="0"/>
                <a:cs typeface="Arial" panose="020B0604020202020204" pitchFamily="34" charset="0"/>
              </a:rPr>
              <a:t> are the number of turns in the primary and secondary coils of the transformer, respectively.</a:t>
            </a:r>
          </a:p>
          <a:p>
            <a:pPr>
              <a:spcBef>
                <a:spcPct val="50000"/>
              </a:spcBef>
            </a:pPr>
            <a:r>
              <a:rPr lang="en-US" altLang="en-US" dirty="0">
                <a:latin typeface="Arial" panose="020B0604020202020204" pitchFamily="34" charset="0"/>
                <a:cs typeface="Arial" panose="020B0604020202020204" pitchFamily="34" charset="0"/>
              </a:rPr>
              <a:t>These equations work just as well for phasors as they do in the time domain, and so we get the alternative form given here.  We will focus on these equations.</a:t>
            </a:r>
            <a:endParaRPr lang="en-US" altLang="en-US" dirty="0"/>
          </a:p>
        </p:txBody>
      </p:sp>
      <p:sp>
        <p:nvSpPr>
          <p:cNvPr id="1284104" name="Rectangle 8">
            <a:extLst>
              <a:ext uri="{FF2B5EF4-FFF2-40B4-BE49-F238E27FC236}">
                <a16:creationId xmlns:a16="http://schemas.microsoft.com/office/drawing/2014/main" id="{18D01FBD-5408-473D-822A-574537FDB686}"/>
              </a:ext>
            </a:extLst>
          </p:cNvPr>
          <p:cNvSpPr>
            <a:spLocks noChangeArrowheads="1"/>
          </p:cNvSpPr>
          <p:nvPr/>
        </p:nvSpPr>
        <p:spPr bwMode="auto">
          <a:xfrm>
            <a:off x="3276600" y="4876800"/>
            <a:ext cx="3124200" cy="1295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284105" name="Object 9">
            <a:extLst>
              <a:ext uri="{FF2B5EF4-FFF2-40B4-BE49-F238E27FC236}">
                <a16:creationId xmlns:a16="http://schemas.microsoft.com/office/drawing/2014/main" id="{DBA2743F-7108-4FE0-BD40-EDC0B22A661D}"/>
              </a:ext>
            </a:extLst>
          </p:cNvPr>
          <p:cNvGraphicFramePr>
            <a:graphicFrameLocks noChangeAspect="1"/>
          </p:cNvGraphicFramePr>
          <p:nvPr>
            <p:extLst>
              <p:ext uri="{D42A27DB-BD31-4B8C-83A1-F6EECF244321}">
                <p14:modId xmlns:p14="http://schemas.microsoft.com/office/powerpoint/2010/main" val="1919091520"/>
              </p:ext>
            </p:extLst>
          </p:nvPr>
        </p:nvGraphicFramePr>
        <p:xfrm>
          <a:off x="3668713" y="4953000"/>
          <a:ext cx="2511425" cy="1209675"/>
        </p:xfrm>
        <a:graphic>
          <a:graphicData uri="http://schemas.openxmlformats.org/presentationml/2006/ole">
            <mc:AlternateContent xmlns:mc="http://schemas.openxmlformats.org/markup-compatibility/2006">
              <mc:Choice xmlns:v="urn:schemas-microsoft-com:vml" Requires="v">
                <p:oleObj name="Equation" r:id="rId3" imgW="1015920" imgH="482400" progId="Equation.DSMT4">
                  <p:embed/>
                </p:oleObj>
              </mc:Choice>
              <mc:Fallback>
                <p:oleObj name="Equation" r:id="rId3" imgW="1015920" imgH="482400" progId="Equation.DSMT4">
                  <p:embed/>
                  <p:pic>
                    <p:nvPicPr>
                      <p:cNvPr id="1284105" name="Object 9">
                        <a:extLst>
                          <a:ext uri="{FF2B5EF4-FFF2-40B4-BE49-F238E27FC236}">
                            <a16:creationId xmlns:a16="http://schemas.microsoft.com/office/drawing/2014/main" id="{DBA2743F-7108-4FE0-BD40-EDC0B22A661D}"/>
                          </a:ext>
                        </a:extLst>
                      </p:cNvPr>
                      <p:cNvPicPr>
                        <a:picLocks noChangeAspect="1" noChangeArrowheads="1"/>
                      </p:cNvPicPr>
                      <p:nvPr/>
                    </p:nvPicPr>
                    <p:blipFill>
                      <a:blip r:embed="rId4"/>
                      <a:srcRect/>
                      <a:stretch>
                        <a:fillRect/>
                      </a:stretch>
                    </p:blipFill>
                    <p:spPr bwMode="auto">
                      <a:xfrm>
                        <a:off x="3668713" y="4953000"/>
                        <a:ext cx="2511425"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2">
            <a:extLst>
              <a:ext uri="{FF2B5EF4-FFF2-40B4-BE49-F238E27FC236}">
                <a16:creationId xmlns:a16="http://schemas.microsoft.com/office/drawing/2014/main" id="{D4F01291-8410-451C-95BF-C186815170F7}"/>
              </a:ext>
            </a:extLst>
          </p:cNvPr>
          <p:cNvSpPr>
            <a:spLocks noChangeArrowheads="1"/>
          </p:cNvSpPr>
          <p:nvPr/>
        </p:nvSpPr>
        <p:spPr bwMode="auto">
          <a:xfrm>
            <a:off x="5791200" y="1714329"/>
            <a:ext cx="3352800" cy="2106407"/>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5D2C5861-A1DA-45DA-830B-4248A0E8E7CD}"/>
              </a:ext>
            </a:extLst>
          </p:cNvPr>
          <p:cNvPicPr>
            <a:picLocks noChangeAspect="1"/>
          </p:cNvPicPr>
          <p:nvPr/>
        </p:nvPicPr>
        <p:blipFill rotWithShape="1">
          <a:blip r:embed="rId5"/>
          <a:srcRect r="78288" b="48701"/>
          <a:stretch/>
        </p:blipFill>
        <p:spPr>
          <a:xfrm>
            <a:off x="5918542" y="1877465"/>
            <a:ext cx="3124201" cy="178013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Ideal Transformers</a:t>
            </a:r>
            <a:r>
              <a:rPr lang="en-US" altLang="en-US" sz="3200" dirty="0"/>
              <a:t> </a:t>
            </a:r>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390832" y="1295401"/>
            <a:ext cx="6771968" cy="2895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marL="0" indent="0">
              <a:buNone/>
            </a:pPr>
            <a:r>
              <a:rPr lang="en-US" altLang="en-US" sz="3200" noProof="0" dirty="0"/>
              <a:t>In an ideal transformer, the primary and secondary voltages are proportional, and the primary and secondary currents are proportional. In both cases, the proportionality is based on the coil turns ratio.</a:t>
            </a:r>
          </a:p>
        </p:txBody>
      </p:sp>
      <p:sp>
        <p:nvSpPr>
          <p:cNvPr id="8" name="Rectangle 8">
            <a:extLst>
              <a:ext uri="{FF2B5EF4-FFF2-40B4-BE49-F238E27FC236}">
                <a16:creationId xmlns:a16="http://schemas.microsoft.com/office/drawing/2014/main" id="{17C8DFAB-42A8-47F6-9DA0-A5C6636C8751}"/>
              </a:ext>
            </a:extLst>
          </p:cNvPr>
          <p:cNvSpPr>
            <a:spLocks noChangeArrowheads="1"/>
          </p:cNvSpPr>
          <p:nvPr/>
        </p:nvSpPr>
        <p:spPr bwMode="auto">
          <a:xfrm>
            <a:off x="1679575" y="4800600"/>
            <a:ext cx="3124200" cy="1295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2" name="Object 1">
            <a:extLst>
              <a:ext uri="{FF2B5EF4-FFF2-40B4-BE49-F238E27FC236}">
                <a16:creationId xmlns:a16="http://schemas.microsoft.com/office/drawing/2014/main" id="{23BD94BC-5138-46F5-8BE6-6963825C8F81}"/>
              </a:ext>
            </a:extLst>
          </p:cNvPr>
          <p:cNvGraphicFramePr>
            <a:graphicFrameLocks noChangeAspect="1"/>
          </p:cNvGraphicFramePr>
          <p:nvPr>
            <p:extLst>
              <p:ext uri="{D42A27DB-BD31-4B8C-83A1-F6EECF244321}">
                <p14:modId xmlns:p14="http://schemas.microsoft.com/office/powerpoint/2010/main" val="365258317"/>
              </p:ext>
            </p:extLst>
          </p:nvPr>
        </p:nvGraphicFramePr>
        <p:xfrm>
          <a:off x="2060575" y="4800600"/>
          <a:ext cx="2511425" cy="1209675"/>
        </p:xfrm>
        <a:graphic>
          <a:graphicData uri="http://schemas.openxmlformats.org/presentationml/2006/ole">
            <mc:AlternateContent xmlns:mc="http://schemas.openxmlformats.org/markup-compatibility/2006">
              <mc:Choice xmlns:v="urn:schemas-microsoft-com:vml" Requires="v">
                <p:oleObj name="Equation" r:id="rId3" imgW="2511637" imgH="1210253" progId="Equation.DSMT4">
                  <p:embed/>
                </p:oleObj>
              </mc:Choice>
              <mc:Fallback>
                <p:oleObj name="Equation" r:id="rId3" imgW="2511637" imgH="1210253" progId="Equation.DSMT4">
                  <p:embed/>
                  <p:pic>
                    <p:nvPicPr>
                      <p:cNvPr id="2" name="Object 1">
                        <a:extLst>
                          <a:ext uri="{FF2B5EF4-FFF2-40B4-BE49-F238E27FC236}">
                            <a16:creationId xmlns:a16="http://schemas.microsoft.com/office/drawing/2014/main" id="{23BD94BC-5138-46F5-8BE6-6963825C8F81}"/>
                          </a:ext>
                        </a:extLst>
                      </p:cNvPr>
                      <p:cNvPicPr/>
                      <p:nvPr/>
                    </p:nvPicPr>
                    <p:blipFill>
                      <a:blip r:embed="rId4"/>
                      <a:stretch>
                        <a:fillRect/>
                      </a:stretch>
                    </p:blipFill>
                    <p:spPr>
                      <a:xfrm>
                        <a:off x="2060575" y="4800600"/>
                        <a:ext cx="2511425" cy="1209675"/>
                      </a:xfrm>
                      <a:prstGeom prst="rect">
                        <a:avLst/>
                      </a:prstGeom>
                    </p:spPr>
                  </p:pic>
                </p:oleObj>
              </mc:Fallback>
            </mc:AlternateContent>
          </a:graphicData>
        </a:graphic>
      </p:graphicFrame>
      <p:sp>
        <p:nvSpPr>
          <p:cNvPr id="10" name="Rectangle 2">
            <a:extLst>
              <a:ext uri="{FF2B5EF4-FFF2-40B4-BE49-F238E27FC236}">
                <a16:creationId xmlns:a16="http://schemas.microsoft.com/office/drawing/2014/main" id="{10017440-5576-4C80-AB89-6C0269FE2B9B}"/>
              </a:ext>
            </a:extLst>
          </p:cNvPr>
          <p:cNvSpPr>
            <a:spLocks noChangeArrowheads="1"/>
          </p:cNvSpPr>
          <p:nvPr/>
        </p:nvSpPr>
        <p:spPr bwMode="auto">
          <a:xfrm>
            <a:off x="5715000" y="4419602"/>
            <a:ext cx="3352800" cy="2106407"/>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1"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24C0DE9D-6AA9-4BDB-B8E6-7BA27688E212}"/>
              </a:ext>
            </a:extLst>
          </p:cNvPr>
          <p:cNvPicPr>
            <a:picLocks noChangeAspect="1"/>
          </p:cNvPicPr>
          <p:nvPr/>
        </p:nvPicPr>
        <p:blipFill rotWithShape="1">
          <a:blip r:embed="rId5"/>
          <a:srcRect r="78288" b="48701"/>
          <a:stretch/>
        </p:blipFill>
        <p:spPr>
          <a:xfrm>
            <a:off x="5842342" y="4582738"/>
            <a:ext cx="3124201" cy="178013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
            <a:extLst>
              <a:ext uri="{FF2B5EF4-FFF2-40B4-BE49-F238E27FC236}">
                <a16:creationId xmlns:a16="http://schemas.microsoft.com/office/drawing/2014/main" id="{63156D25-AD20-4C15-B20A-41AFC6F272DC}"/>
              </a:ext>
            </a:extLst>
          </p:cNvPr>
          <p:cNvSpPr>
            <a:spLocks noChangeArrowheads="1"/>
          </p:cNvSpPr>
          <p:nvPr/>
        </p:nvSpPr>
        <p:spPr bwMode="auto">
          <a:xfrm>
            <a:off x="457200" y="4343400"/>
            <a:ext cx="8295968" cy="2286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a:cs typeface="Times New Roman" panose="02020603050405020304" pitchFamily="18" charset="0"/>
              </a:rPr>
              <a:t>Dot Conventions for Ideal Transformers</a:t>
            </a:r>
            <a:r>
              <a:rPr lang="en-US" altLang="en-US" sz="3200"/>
              <a:t> </a:t>
            </a:r>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390832" y="1295401"/>
            <a:ext cx="6771968" cy="2895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pPr marL="0" indent="0">
              <a:buNone/>
            </a:pPr>
            <a:r>
              <a:rPr lang="en-US" altLang="en-US" sz="2800" noProof="0" dirty="0"/>
              <a:t>In an ideal transformer, the primary and secondary voltages are proportional, and the primary and secondary currents are proportional. Sometimes, however, we also want the correct polarity for the voltages and currents.  We adapt the dot conventions to get the right signs.  </a:t>
            </a:r>
          </a:p>
        </p:txBody>
      </p:sp>
      <p:pic>
        <p:nvPicPr>
          <p:cNvPr id="14" name="Picture 2" descr="The circuit shows an ideal transformer with turns ratio of N sub 1 is to N sub 2. Dot terminals are shown at the top right of the left inductor and the top left of the right inductor. The left circuit shows an independent voltage source, V sub s, on the left wire, and an impedance Z sub s on the left arm of the top wire, with a rightward current I1. Two nodes are shown on the top and bottom wires, with voltage V sub 1 marked between them.&#10;The right circuit shows load impedance Z sub L on the right wire. The top wire carries a rightward current I sub 2. Two nodes are shown on the top and bottom wires, with voltage V sub 2 marked between them.&#10;">
            <a:extLst>
              <a:ext uri="{FF2B5EF4-FFF2-40B4-BE49-F238E27FC236}">
                <a16:creationId xmlns:a16="http://schemas.microsoft.com/office/drawing/2014/main" id="{A0F36C53-9957-42C0-B01C-FA66B2694F77}"/>
              </a:ext>
            </a:extLst>
          </p:cNvPr>
          <p:cNvPicPr>
            <a:picLocks noChangeAspect="1" noChangeArrowheads="1"/>
          </p:cNvPicPr>
          <p:nvPr/>
        </p:nvPicPr>
        <p:blipFill>
          <a:blip r:embed="rId3"/>
          <a:stretch>
            <a:fillRect/>
          </a:stretch>
        </p:blipFill>
        <p:spPr bwMode="auto">
          <a:xfrm>
            <a:off x="914400" y="4807162"/>
            <a:ext cx="4144557" cy="151087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5" name="Object 14" descr="I subscript 1 baseline N subscript 1 baseline equals I subscript 2 baseline N subscript 2.&#10;">
            <a:extLst>
              <a:ext uri="{FF2B5EF4-FFF2-40B4-BE49-F238E27FC236}">
                <a16:creationId xmlns:a16="http://schemas.microsoft.com/office/drawing/2014/main" id="{EE8B9834-C520-43DB-8E3E-5CDE3A46E3F9}"/>
              </a:ext>
            </a:extLst>
          </p:cNvPr>
          <p:cNvGraphicFramePr>
            <a:graphicFrameLocks noChangeAspect="1"/>
          </p:cNvGraphicFramePr>
          <p:nvPr/>
        </p:nvGraphicFramePr>
        <p:xfrm>
          <a:off x="6847629" y="5019686"/>
          <a:ext cx="1065198" cy="390018"/>
        </p:xfrm>
        <a:graphic>
          <a:graphicData uri="http://schemas.openxmlformats.org/presentationml/2006/ole">
            <mc:AlternateContent xmlns:mc="http://schemas.openxmlformats.org/markup-compatibility/2006">
              <mc:Choice xmlns:v="urn:schemas-microsoft-com:vml" Requires="v">
                <p:oleObj name="Equation" r:id="rId4" imgW="685800" imgH="228600" progId="Equation.DSMT4">
                  <p:embed/>
                </p:oleObj>
              </mc:Choice>
              <mc:Fallback>
                <p:oleObj name="Equation" r:id="rId4" imgW="685800" imgH="228600" progId="Equation.DSMT4">
                  <p:embed/>
                  <p:pic>
                    <p:nvPicPr>
                      <p:cNvPr id="15" name="Object 14" descr="I subscript 1 baseline N subscript 1 baseline equals I subscript 2 baseline N subscript 2.&#10;">
                        <a:extLst>
                          <a:ext uri="{FF2B5EF4-FFF2-40B4-BE49-F238E27FC236}">
                            <a16:creationId xmlns:a16="http://schemas.microsoft.com/office/drawing/2014/main" id="{EE8B9834-C520-43DB-8E3E-5CDE3A46E3F9}"/>
                          </a:ext>
                        </a:extLst>
                      </p:cNvPr>
                      <p:cNvPicPr>
                        <a:picLocks noChangeAspect="1" noChangeArrowheads="1"/>
                      </p:cNvPicPr>
                      <p:nvPr/>
                    </p:nvPicPr>
                    <p:blipFill>
                      <a:blip r:embed="rId5"/>
                      <a:srcRect/>
                      <a:stretch>
                        <a:fillRect/>
                      </a:stretch>
                    </p:blipFill>
                    <p:spPr bwMode="auto">
                      <a:xfrm>
                        <a:off x="6847629" y="5019686"/>
                        <a:ext cx="1065198" cy="390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5" descr="StartFraction V subscript 1 over N subscript 1 EndFraction equals StartFraction V subscript 2 over N subscript 2 EndFraction.&#10;">
            <a:extLst>
              <a:ext uri="{FF2B5EF4-FFF2-40B4-BE49-F238E27FC236}">
                <a16:creationId xmlns:a16="http://schemas.microsoft.com/office/drawing/2014/main" id="{93AF4BB8-AEEB-47AE-A6F1-AD7EAC20B85D}"/>
              </a:ext>
            </a:extLst>
          </p:cNvPr>
          <p:cNvGraphicFramePr>
            <a:graphicFrameLocks noChangeAspect="1"/>
          </p:cNvGraphicFramePr>
          <p:nvPr/>
        </p:nvGraphicFramePr>
        <p:xfrm>
          <a:off x="6980415" y="5525868"/>
          <a:ext cx="845632" cy="707278"/>
        </p:xfrm>
        <a:graphic>
          <a:graphicData uri="http://schemas.openxmlformats.org/presentationml/2006/ole">
            <mc:AlternateContent xmlns:mc="http://schemas.openxmlformats.org/markup-compatibility/2006">
              <mc:Choice xmlns:v="urn:schemas-microsoft-com:vml" Requires="v">
                <p:oleObj name="Equation" r:id="rId6" imgW="583920" imgH="444240" progId="Equation.DSMT4">
                  <p:embed/>
                </p:oleObj>
              </mc:Choice>
              <mc:Fallback>
                <p:oleObj name="Equation" r:id="rId6" imgW="583920" imgH="444240" progId="Equation.DSMT4">
                  <p:embed/>
                  <p:pic>
                    <p:nvPicPr>
                      <p:cNvPr id="16" name="Object 15" descr="StartFraction V subscript 1 over N subscript 1 EndFraction equals StartFraction V subscript 2 over N subscript 2 EndFraction.&#10;">
                        <a:extLst>
                          <a:ext uri="{FF2B5EF4-FFF2-40B4-BE49-F238E27FC236}">
                            <a16:creationId xmlns:a16="http://schemas.microsoft.com/office/drawing/2014/main" id="{93AF4BB8-AEEB-47AE-A6F1-AD7EAC20B85D}"/>
                          </a:ext>
                        </a:extLst>
                      </p:cNvPr>
                      <p:cNvPicPr>
                        <a:picLocks noChangeAspect="1" noChangeArrowheads="1"/>
                      </p:cNvPicPr>
                      <p:nvPr/>
                    </p:nvPicPr>
                    <p:blipFill>
                      <a:blip r:embed="rId7"/>
                      <a:srcRect/>
                      <a:stretch>
                        <a:fillRect/>
                      </a:stretch>
                    </p:blipFill>
                    <p:spPr bwMode="auto">
                      <a:xfrm>
                        <a:off x="6980415" y="5525868"/>
                        <a:ext cx="845632" cy="707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173555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a:cs typeface="Times New Roman" panose="02020603050405020304" pitchFamily="18" charset="0"/>
              </a:rPr>
              <a:t>Dot Conventions for Ideal Transformers</a:t>
            </a:r>
            <a:r>
              <a:rPr lang="en-US" altLang="en-US" sz="3200"/>
              <a:t> </a:t>
            </a:r>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363793" y="4267200"/>
            <a:ext cx="8232775" cy="2006122"/>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000" dirty="0"/>
              <a:t>The dot convention for ideal transformers:</a:t>
            </a:r>
          </a:p>
          <a:p>
            <a:pPr marL="829818" lvl="1" indent="-342900">
              <a:defRPr/>
            </a:pPr>
            <a:r>
              <a:rPr lang="en-US" sz="2000" dirty="0"/>
              <a:t>If the voltages are both positive at the dots or both negative at the dots, use a + sign in the voltage equation; otherwise, use </a:t>
            </a:r>
            <a:br>
              <a:rPr lang="en-US" sz="2000" dirty="0"/>
            </a:br>
            <a:r>
              <a:rPr lang="en-US" sz="2000" dirty="0"/>
              <a:t>a </a:t>
            </a:r>
            <a:r>
              <a:rPr lang="en-US" sz="2000" dirty="0">
                <a:sym typeface="Symbol"/>
              </a:rPr>
              <a:t> sign.</a:t>
            </a:r>
          </a:p>
          <a:p>
            <a:pPr marL="829818" lvl="1" indent="-342900">
              <a:defRPr/>
            </a:pPr>
            <a:r>
              <a:rPr lang="en-US" sz="2000" dirty="0">
                <a:sym typeface="Symbol"/>
              </a:rPr>
              <a:t>If the currents both enter the dots or both leave the dots, use </a:t>
            </a:r>
            <a:br>
              <a:rPr lang="en-US" sz="2000" dirty="0">
                <a:sym typeface="Symbol"/>
              </a:rPr>
            </a:br>
            <a:r>
              <a:rPr lang="en-US" sz="2000" dirty="0">
                <a:sym typeface="Symbol"/>
              </a:rPr>
              <a:t>a  sign; otherwise, use a + sign.</a:t>
            </a:r>
            <a:endParaRPr lang="en-US" sz="2000" dirty="0"/>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390832" y="1295401"/>
            <a:ext cx="7381568" cy="28956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dirty="0"/>
              <a:t>We have used absolute values in our equations in earlier slides, since we did not know how to get the polarities of the voltages and currents.  Now, however, we can adapt our dot conventions for ideal transformers.  </a:t>
            </a:r>
          </a:p>
        </p:txBody>
      </p:sp>
    </p:spTree>
    <p:extLst>
      <p:ext uri="{BB962C8B-B14F-4D97-AF65-F5344CB8AC3E}">
        <p14:creationId xmlns:p14="http://schemas.microsoft.com/office/powerpoint/2010/main" val="11428073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a:cs typeface="Times New Roman" panose="02020603050405020304" pitchFamily="18" charset="0"/>
              </a:rPr>
              <a:t>Dot Conventions for Ideal Transformers</a:t>
            </a:r>
            <a:r>
              <a:rPr lang="en-US" altLang="en-US" sz="3200"/>
              <a:t> </a:t>
            </a:r>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90501" y="2590800"/>
            <a:ext cx="5715000" cy="387740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dot convention for ideal transformers:</a:t>
            </a:r>
          </a:p>
          <a:p>
            <a:pPr marL="829818" lvl="1" indent="-342900">
              <a:defRPr/>
            </a:pPr>
            <a:r>
              <a:rPr lang="en-US" sz="2400" dirty="0"/>
              <a:t>If the voltages are both positive at the dots or both negative at the dots, use a + sign in the voltage equation; otherwise, use </a:t>
            </a:r>
            <a:br>
              <a:rPr lang="en-US" sz="2400" dirty="0"/>
            </a:br>
            <a:r>
              <a:rPr lang="en-US" sz="2400" dirty="0"/>
              <a:t>a </a:t>
            </a:r>
            <a:r>
              <a:rPr lang="en-US" sz="2400" dirty="0">
                <a:sym typeface="Symbol"/>
              </a:rPr>
              <a:t> sign.</a:t>
            </a:r>
          </a:p>
          <a:p>
            <a:pPr marL="829818" lvl="1" indent="-342900">
              <a:defRPr/>
            </a:pPr>
            <a:r>
              <a:rPr lang="en-US" sz="2400" dirty="0">
                <a:sym typeface="Symbol"/>
              </a:rPr>
              <a:t>If the currents both enter the dots or both leave the dots, use </a:t>
            </a:r>
            <a:br>
              <a:rPr lang="en-US" sz="2400" dirty="0">
                <a:sym typeface="Symbol"/>
              </a:rPr>
            </a:br>
            <a:r>
              <a:rPr lang="en-US" sz="2400" dirty="0">
                <a:sym typeface="Symbol"/>
              </a:rPr>
              <a:t>a  sign; otherwise, use a + sign.</a:t>
            </a:r>
            <a:endParaRPr lang="en-US" sz="2400" dirty="0"/>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5943601" y="1083420"/>
            <a:ext cx="3001295" cy="27265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There are some possibilities for the voltages and currents for an ideal transformer.  Here is the first one.  </a:t>
            </a:r>
          </a:p>
        </p:txBody>
      </p:sp>
      <p:pic>
        <p:nvPicPr>
          <p:cNvPr id="5"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2DCA0616-4FEA-4C8E-AD7A-15232F10B299}"/>
              </a:ext>
            </a:extLst>
          </p:cNvPr>
          <p:cNvPicPr>
            <a:picLocks noChangeAspect="1"/>
          </p:cNvPicPr>
          <p:nvPr/>
        </p:nvPicPr>
        <p:blipFill rotWithShape="1">
          <a:blip r:embed="rId3"/>
          <a:srcRect r="78288"/>
          <a:stretch/>
        </p:blipFill>
        <p:spPr>
          <a:xfrm>
            <a:off x="6096000" y="3886200"/>
            <a:ext cx="2626041" cy="2916817"/>
          </a:xfrm>
          <a:prstGeom prst="rect">
            <a:avLst/>
          </a:prstGeom>
        </p:spPr>
      </p:pic>
      <p:sp>
        <p:nvSpPr>
          <p:cNvPr id="2" name="Rectangle 2">
            <a:extLst>
              <a:ext uri="{FF2B5EF4-FFF2-40B4-BE49-F238E27FC236}">
                <a16:creationId xmlns:a16="http://schemas.microsoft.com/office/drawing/2014/main" id="{B2BC6642-53FB-9A64-0613-F2459EFAA071}"/>
              </a:ext>
            </a:extLst>
          </p:cNvPr>
          <p:cNvSpPr>
            <a:spLocks noChangeArrowheads="1"/>
          </p:cNvSpPr>
          <p:nvPr/>
        </p:nvSpPr>
        <p:spPr bwMode="auto">
          <a:xfrm>
            <a:off x="6096000" y="5334000"/>
            <a:ext cx="2626041" cy="1523999"/>
          </a:xfrm>
          <a:prstGeom prst="rect">
            <a:avLst/>
          </a:prstGeom>
          <a:solidFill>
            <a:srgbClr val="F2FFFA"/>
          </a:solidFill>
          <a:ln w="12700">
            <a:solidFill>
              <a:schemeClr val="tx1"/>
            </a:solidFill>
            <a:miter lim="800000"/>
            <a:headEnd type="none" w="sm" len="sm"/>
            <a:tailEnd type="none" w="sm" len="sm"/>
          </a:ln>
          <a:effectLst/>
        </p:spPr>
        <p:txBody>
          <a:bodyPr wrap="none" anchor="ctr"/>
          <a:lstStyle/>
          <a:p>
            <a:endParaRPr lang="en-US"/>
          </a:p>
        </p:txBody>
      </p:sp>
    </p:spTree>
    <p:extLst>
      <p:ext uri="{BB962C8B-B14F-4D97-AF65-F5344CB8AC3E}">
        <p14:creationId xmlns:p14="http://schemas.microsoft.com/office/powerpoint/2010/main" val="1935343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0"/>
                                        <p:tgtEl>
                                          <p:spTgt spid="2"/>
                                        </p:tgtEl>
                                      </p:cBhvr>
                                    </p:animEffect>
                                    <p:set>
                                      <p:cBhvr>
                                        <p:cTn id="7" dur="1" fill="hold">
                                          <p:stCondLst>
                                            <p:cond delay="2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228600"/>
            <a:ext cx="6858000" cy="1066800"/>
          </a:xfrm>
        </p:spPr>
        <p:txBody>
          <a:bodyPr/>
          <a:lstStyle/>
          <a:p>
            <a:r>
              <a:rPr lang="en-US" altLang="en-US" sz="3200">
                <a:cs typeface="Times New Roman" panose="02020603050405020304" pitchFamily="18" charset="0"/>
              </a:rPr>
              <a:t>Dot Conventions for Ideal Transformers</a:t>
            </a:r>
            <a:r>
              <a:rPr lang="en-US" altLang="en-US" sz="3200"/>
              <a:t> </a:t>
            </a:r>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90501" y="2590800"/>
            <a:ext cx="5715000" cy="387740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dot convention for ideal transformers:</a:t>
            </a:r>
          </a:p>
          <a:p>
            <a:pPr marL="829818" lvl="1" indent="-342900">
              <a:defRPr/>
            </a:pPr>
            <a:r>
              <a:rPr lang="en-US" sz="2400" dirty="0"/>
              <a:t>If the voltages are both positive at the dots or both negative at the dots, use a + sign in the voltage equation; otherwise, use </a:t>
            </a:r>
            <a:br>
              <a:rPr lang="en-US" sz="2400" dirty="0"/>
            </a:br>
            <a:r>
              <a:rPr lang="en-US" sz="2400" dirty="0"/>
              <a:t>a </a:t>
            </a:r>
            <a:r>
              <a:rPr lang="en-US" sz="2400" dirty="0">
                <a:sym typeface="Symbol"/>
              </a:rPr>
              <a:t> sign.</a:t>
            </a:r>
          </a:p>
          <a:p>
            <a:pPr marL="829818" lvl="1" indent="-342900">
              <a:defRPr/>
            </a:pPr>
            <a:r>
              <a:rPr lang="en-US" sz="2400" dirty="0">
                <a:sym typeface="Symbol"/>
              </a:rPr>
              <a:t>If the currents both enter the dots or both leave the dots, use </a:t>
            </a:r>
            <a:br>
              <a:rPr lang="en-US" sz="2400" dirty="0">
                <a:sym typeface="Symbol"/>
              </a:rPr>
            </a:br>
            <a:r>
              <a:rPr lang="en-US" sz="2400" dirty="0">
                <a:sym typeface="Symbol"/>
              </a:rPr>
              <a:t>a  sign; otherwise, use a + sign.</a:t>
            </a:r>
            <a:endParaRPr lang="en-US" sz="2400" dirty="0"/>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5943601" y="1083420"/>
            <a:ext cx="3001295" cy="27265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There are some possibilities for the voltages and currents for an ideal transformer. </a:t>
            </a:r>
          </a:p>
          <a:p>
            <a:r>
              <a:rPr lang="en-US" altLang="en-US" sz="2400" dirty="0"/>
              <a:t> Here is the second one.  </a:t>
            </a:r>
          </a:p>
        </p:txBody>
      </p:sp>
      <p:pic>
        <p:nvPicPr>
          <p:cNvPr id="6"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4DDAB542-7D1E-4EC3-B61F-1D43D072B521}"/>
              </a:ext>
            </a:extLst>
          </p:cNvPr>
          <p:cNvPicPr>
            <a:picLocks noChangeAspect="1"/>
          </p:cNvPicPr>
          <p:nvPr/>
        </p:nvPicPr>
        <p:blipFill rotWithShape="1">
          <a:blip r:embed="rId3"/>
          <a:srcRect l="23908" r="50099"/>
          <a:stretch/>
        </p:blipFill>
        <p:spPr>
          <a:xfrm>
            <a:off x="5963231" y="3886200"/>
            <a:ext cx="3061756" cy="2840617"/>
          </a:xfrm>
          <a:prstGeom prst="rect">
            <a:avLst/>
          </a:prstGeom>
        </p:spPr>
      </p:pic>
      <p:sp>
        <p:nvSpPr>
          <p:cNvPr id="2" name="Rectangle 2">
            <a:extLst>
              <a:ext uri="{FF2B5EF4-FFF2-40B4-BE49-F238E27FC236}">
                <a16:creationId xmlns:a16="http://schemas.microsoft.com/office/drawing/2014/main" id="{BCDE8C19-2D13-38CE-0E98-B9627BDFFE7A}"/>
              </a:ext>
            </a:extLst>
          </p:cNvPr>
          <p:cNvSpPr>
            <a:spLocks noChangeArrowheads="1"/>
          </p:cNvSpPr>
          <p:nvPr/>
        </p:nvSpPr>
        <p:spPr bwMode="auto">
          <a:xfrm>
            <a:off x="6019800" y="5334000"/>
            <a:ext cx="3005187" cy="1392817"/>
          </a:xfrm>
          <a:prstGeom prst="rect">
            <a:avLst/>
          </a:prstGeom>
          <a:solidFill>
            <a:srgbClr val="F2FFFA"/>
          </a:solidFill>
          <a:ln w="12700">
            <a:solidFill>
              <a:schemeClr val="tx1"/>
            </a:solidFill>
            <a:miter lim="800000"/>
            <a:headEnd type="none" w="sm" len="sm"/>
            <a:tailEnd type="none" w="sm" len="sm"/>
          </a:ln>
          <a:effectLst/>
        </p:spPr>
        <p:txBody>
          <a:bodyPr wrap="none" anchor="ctr"/>
          <a:lstStyle/>
          <a:p>
            <a:endParaRPr lang="en-US"/>
          </a:p>
        </p:txBody>
      </p:sp>
    </p:spTree>
    <p:extLst>
      <p:ext uri="{BB962C8B-B14F-4D97-AF65-F5344CB8AC3E}">
        <p14:creationId xmlns:p14="http://schemas.microsoft.com/office/powerpoint/2010/main" val="179016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0"/>
                                        <p:tgtEl>
                                          <p:spTgt spid="2"/>
                                        </p:tgtEl>
                                      </p:cBhvr>
                                    </p:animEffect>
                                    <p:set>
                                      <p:cBhvr>
                                        <p:cTn id="7" dur="1" fill="hold">
                                          <p:stCondLst>
                                            <p:cond delay="2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a:cs typeface="Times New Roman" panose="02020603050405020304" pitchFamily="18" charset="0"/>
              </a:rPr>
              <a:t>Dot Conventions for Ideal Transformers</a:t>
            </a:r>
            <a:r>
              <a:rPr lang="en-US" altLang="en-US" sz="3200"/>
              <a:t> </a:t>
            </a:r>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90501" y="2590800"/>
            <a:ext cx="5715000" cy="387740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dot convention for ideal transformers:</a:t>
            </a:r>
          </a:p>
          <a:p>
            <a:pPr marL="829818" lvl="1" indent="-342900">
              <a:defRPr/>
            </a:pPr>
            <a:r>
              <a:rPr lang="en-US" sz="2400" dirty="0"/>
              <a:t>If the voltages are both positive at the dots or both negative at the dots, use a + sign in the voltage equation; otherwise, use </a:t>
            </a:r>
            <a:br>
              <a:rPr lang="en-US" sz="2400" dirty="0"/>
            </a:br>
            <a:r>
              <a:rPr lang="en-US" sz="2400" dirty="0"/>
              <a:t>a </a:t>
            </a:r>
            <a:r>
              <a:rPr lang="en-US" sz="2400" dirty="0">
                <a:sym typeface="Symbol"/>
              </a:rPr>
              <a:t> sign.</a:t>
            </a:r>
          </a:p>
          <a:p>
            <a:pPr marL="829818" lvl="1" indent="-342900">
              <a:defRPr/>
            </a:pPr>
            <a:r>
              <a:rPr lang="en-US" sz="2400" dirty="0">
                <a:sym typeface="Symbol"/>
              </a:rPr>
              <a:t>If the currents both enter the dots or both leave the dots, use </a:t>
            </a:r>
            <a:br>
              <a:rPr lang="en-US" sz="2400" dirty="0">
                <a:sym typeface="Symbol"/>
              </a:rPr>
            </a:br>
            <a:r>
              <a:rPr lang="en-US" sz="2400" dirty="0">
                <a:sym typeface="Symbol"/>
              </a:rPr>
              <a:t>a  sign; otherwise, use a + sign.</a:t>
            </a:r>
            <a:endParaRPr lang="en-US" sz="2400" dirty="0"/>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5943601" y="1083420"/>
            <a:ext cx="3001295" cy="27265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There are some possibilities for the voltages and currents for an ideal transformer. </a:t>
            </a:r>
          </a:p>
          <a:p>
            <a:r>
              <a:rPr lang="en-US" altLang="en-US" sz="2400" dirty="0"/>
              <a:t>Here is the third one.  </a:t>
            </a:r>
          </a:p>
        </p:txBody>
      </p:sp>
      <p:pic>
        <p:nvPicPr>
          <p:cNvPr id="6"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78CC0426-B090-4F20-81FD-255EF71BBAB3}"/>
              </a:ext>
            </a:extLst>
          </p:cNvPr>
          <p:cNvPicPr>
            <a:picLocks noChangeAspect="1"/>
          </p:cNvPicPr>
          <p:nvPr/>
        </p:nvPicPr>
        <p:blipFill rotWithShape="1">
          <a:blip r:embed="rId3"/>
          <a:srcRect l="51366" r="23923"/>
          <a:stretch/>
        </p:blipFill>
        <p:spPr>
          <a:xfrm>
            <a:off x="5930082" y="3826619"/>
            <a:ext cx="2988905" cy="2916817"/>
          </a:xfrm>
          <a:prstGeom prst="rect">
            <a:avLst/>
          </a:prstGeom>
        </p:spPr>
      </p:pic>
      <p:sp>
        <p:nvSpPr>
          <p:cNvPr id="2" name="Rectangle 2">
            <a:extLst>
              <a:ext uri="{FF2B5EF4-FFF2-40B4-BE49-F238E27FC236}">
                <a16:creationId xmlns:a16="http://schemas.microsoft.com/office/drawing/2014/main" id="{5B4002D5-F4BD-BD12-2479-2398D9521C39}"/>
              </a:ext>
            </a:extLst>
          </p:cNvPr>
          <p:cNvSpPr>
            <a:spLocks noChangeArrowheads="1"/>
          </p:cNvSpPr>
          <p:nvPr/>
        </p:nvSpPr>
        <p:spPr bwMode="auto">
          <a:xfrm>
            <a:off x="6096000" y="5334001"/>
            <a:ext cx="2626041" cy="1409436"/>
          </a:xfrm>
          <a:prstGeom prst="rect">
            <a:avLst/>
          </a:prstGeom>
          <a:solidFill>
            <a:srgbClr val="F2FFFA"/>
          </a:solidFill>
          <a:ln w="12700">
            <a:solidFill>
              <a:schemeClr val="tx1"/>
            </a:solidFill>
            <a:miter lim="800000"/>
            <a:headEnd type="none" w="sm" len="sm"/>
            <a:tailEnd type="none" w="sm" len="sm"/>
          </a:ln>
          <a:effectLst/>
        </p:spPr>
        <p:txBody>
          <a:bodyPr wrap="none" anchor="ctr"/>
          <a:lstStyle/>
          <a:p>
            <a:endParaRPr lang="en-US"/>
          </a:p>
        </p:txBody>
      </p:sp>
    </p:spTree>
    <p:extLst>
      <p:ext uri="{BB962C8B-B14F-4D97-AF65-F5344CB8AC3E}">
        <p14:creationId xmlns:p14="http://schemas.microsoft.com/office/powerpoint/2010/main" val="3451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0"/>
                                        <p:tgtEl>
                                          <p:spTgt spid="2"/>
                                        </p:tgtEl>
                                      </p:cBhvr>
                                    </p:animEffect>
                                    <p:set>
                                      <p:cBhvr>
                                        <p:cTn id="7" dur="1" fill="hold">
                                          <p:stCondLst>
                                            <p:cond delay="2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a:cs typeface="Times New Roman" panose="02020603050405020304" pitchFamily="18" charset="0"/>
              </a:rPr>
              <a:t>Dot Conventions for Ideal Transformers</a:t>
            </a:r>
            <a:r>
              <a:rPr lang="en-US" altLang="en-US" sz="3200"/>
              <a:t> </a:t>
            </a:r>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90501" y="2590800"/>
            <a:ext cx="5715000" cy="387740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dot convention for ideal transformers:</a:t>
            </a:r>
          </a:p>
          <a:p>
            <a:pPr marL="829818" lvl="1" indent="-342900">
              <a:defRPr/>
            </a:pPr>
            <a:r>
              <a:rPr lang="en-US" sz="2400" dirty="0"/>
              <a:t>If the voltages are both positive at the dots or both negative at the dots, use a + sign in the voltage equation; otherwise, use </a:t>
            </a:r>
            <a:br>
              <a:rPr lang="en-US" sz="2400" dirty="0"/>
            </a:br>
            <a:r>
              <a:rPr lang="en-US" sz="2400" dirty="0"/>
              <a:t>a </a:t>
            </a:r>
            <a:r>
              <a:rPr lang="en-US" sz="2400" dirty="0">
                <a:sym typeface="Symbol"/>
              </a:rPr>
              <a:t> sign.</a:t>
            </a:r>
          </a:p>
          <a:p>
            <a:pPr marL="829818" lvl="1" indent="-342900">
              <a:defRPr/>
            </a:pPr>
            <a:r>
              <a:rPr lang="en-US" sz="2400" dirty="0">
                <a:sym typeface="Symbol"/>
              </a:rPr>
              <a:t>If the currents both enter the dots or both leave the dots, use </a:t>
            </a:r>
            <a:br>
              <a:rPr lang="en-US" sz="2400" dirty="0">
                <a:sym typeface="Symbol"/>
              </a:rPr>
            </a:br>
            <a:r>
              <a:rPr lang="en-US" sz="2400" dirty="0">
                <a:sym typeface="Symbol"/>
              </a:rPr>
              <a:t>a  sign; otherwise, use a + sign.</a:t>
            </a:r>
            <a:endParaRPr lang="en-US" sz="2400" dirty="0"/>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5943601" y="1083420"/>
            <a:ext cx="3001295" cy="27265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There are some possibilities for the voltages and currents for an ideal transformer. </a:t>
            </a:r>
          </a:p>
          <a:p>
            <a:r>
              <a:rPr lang="en-US" altLang="en-US" sz="2400" dirty="0"/>
              <a:t>Here is the fourth one.  </a:t>
            </a:r>
          </a:p>
        </p:txBody>
      </p:sp>
      <p:pic>
        <p:nvPicPr>
          <p:cNvPr id="6" name="Picture Placeholder 5" descr="The figure illustrates a circuit with proper algebraic sign for relating terminal voltage and current of an ideal transformer.&#10;Long description is available in notes, Press F6.">
            <a:extLst>
              <a:ext uri="{FF2B5EF4-FFF2-40B4-BE49-F238E27FC236}">
                <a16:creationId xmlns:a16="http://schemas.microsoft.com/office/drawing/2014/main" id="{E0626DDB-CD17-4ED7-BBF3-A7490D1F065D}"/>
              </a:ext>
            </a:extLst>
          </p:cNvPr>
          <p:cNvPicPr>
            <a:picLocks noChangeAspect="1"/>
          </p:cNvPicPr>
          <p:nvPr/>
        </p:nvPicPr>
        <p:blipFill rotWithShape="1">
          <a:blip r:embed="rId3"/>
          <a:srcRect l="79006"/>
          <a:stretch/>
        </p:blipFill>
        <p:spPr>
          <a:xfrm>
            <a:off x="5943601" y="3809999"/>
            <a:ext cx="2561234" cy="2942131"/>
          </a:xfrm>
          <a:prstGeom prst="rect">
            <a:avLst/>
          </a:prstGeom>
        </p:spPr>
      </p:pic>
      <p:sp>
        <p:nvSpPr>
          <p:cNvPr id="2" name="Rectangle 2">
            <a:extLst>
              <a:ext uri="{FF2B5EF4-FFF2-40B4-BE49-F238E27FC236}">
                <a16:creationId xmlns:a16="http://schemas.microsoft.com/office/drawing/2014/main" id="{8FC3B9E5-70C9-7B7C-804E-A8FC88469EB8}"/>
              </a:ext>
            </a:extLst>
          </p:cNvPr>
          <p:cNvSpPr>
            <a:spLocks noChangeArrowheads="1"/>
          </p:cNvSpPr>
          <p:nvPr/>
        </p:nvSpPr>
        <p:spPr bwMode="auto">
          <a:xfrm>
            <a:off x="5943602" y="5334001"/>
            <a:ext cx="2561233" cy="1371600"/>
          </a:xfrm>
          <a:prstGeom prst="rect">
            <a:avLst/>
          </a:prstGeom>
          <a:solidFill>
            <a:srgbClr val="F2FFFA"/>
          </a:solidFill>
          <a:ln w="12700">
            <a:solidFill>
              <a:schemeClr val="tx1"/>
            </a:solidFill>
            <a:miter lim="800000"/>
            <a:headEnd type="none" w="sm" len="sm"/>
            <a:tailEnd type="none" w="sm" len="sm"/>
          </a:ln>
          <a:effectLst/>
        </p:spPr>
        <p:txBody>
          <a:bodyPr wrap="none" anchor="ctr"/>
          <a:lstStyle/>
          <a:p>
            <a:endParaRPr lang="en-US"/>
          </a:p>
        </p:txBody>
      </p:sp>
    </p:spTree>
    <p:extLst>
      <p:ext uri="{BB962C8B-B14F-4D97-AF65-F5344CB8AC3E}">
        <p14:creationId xmlns:p14="http://schemas.microsoft.com/office/powerpoint/2010/main" val="235487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3000"/>
                                        <p:tgtEl>
                                          <p:spTgt spid="2"/>
                                        </p:tgtEl>
                                      </p:cBhvr>
                                    </p:animEffect>
                                    <p:set>
                                      <p:cBhvr>
                                        <p:cTn id="7" dur="1" fill="hold">
                                          <p:stCondLst>
                                            <p:cond delay="2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36871" y="2155535"/>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9.16</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304799" y="2243618"/>
            <a:ext cx="8382000" cy="1218214"/>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A load impedance is connected to the secondary winding of the ideal transformer in Figure 9.48 as shown.</a:t>
            </a:r>
          </a:p>
          <a:p>
            <a:pPr marL="829818" lvl="1" indent="-342900">
              <a:defRPr/>
            </a:pPr>
            <a:r>
              <a:rPr lang="en-US" sz="2400" dirty="0"/>
              <a:t>Find the steady state expression for </a:t>
            </a:r>
            <a:r>
              <a:rPr lang="en-US" sz="2400" i="1" dirty="0">
                <a:latin typeface="Times New Roman" panose="02020603050405020304" pitchFamily="18" charset="0"/>
                <a:cs typeface="Times New Roman" panose="02020603050405020304" pitchFamily="18" charset="0"/>
              </a:rPr>
              <a:t>i</a:t>
            </a:r>
            <a:r>
              <a:rPr lang="en-US" sz="2400" i="1" baseline="-25000" dirty="0">
                <a:latin typeface="Times New Roman" panose="02020603050405020304" pitchFamily="18" charset="0"/>
                <a:cs typeface="Times New Roman" panose="02020603050405020304" pitchFamily="18" charset="0"/>
              </a:rPr>
              <a:t>1</a:t>
            </a:r>
            <a:r>
              <a:rPr lang="en-US" sz="2400" dirty="0"/>
              <a:t>.  </a:t>
            </a:r>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2286001" y="1083421"/>
            <a:ext cx="6658896" cy="7453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Let’s work an example problem.  This one is taken from the Nilsson and Reidel text.  </a:t>
            </a:r>
          </a:p>
          <a:p>
            <a:endParaRPr lang="en-US" altLang="en-US" sz="2400" dirty="0"/>
          </a:p>
        </p:txBody>
      </p:sp>
      <p:pic>
        <p:nvPicPr>
          <p:cNvPr id="7" name="Picture Placeholder 5" descr="The figure illustrates a circuit with an ideal transformer, powered by a voltage source.&#10;Long description is available in notes, Press F6.">
            <a:extLst>
              <a:ext uri="{FF2B5EF4-FFF2-40B4-BE49-F238E27FC236}">
                <a16:creationId xmlns:a16="http://schemas.microsoft.com/office/drawing/2014/main" id="{0105EF5B-EC80-4C7B-B89C-6B11571FCB2D}"/>
              </a:ext>
            </a:extLst>
          </p:cNvPr>
          <p:cNvPicPr>
            <a:picLocks noChangeAspect="1"/>
          </p:cNvPicPr>
          <p:nvPr/>
        </p:nvPicPr>
        <p:blipFill>
          <a:blip r:embed="rId3"/>
          <a:stretch/>
        </p:blipFill>
        <p:spPr>
          <a:xfrm>
            <a:off x="2642101" y="4677450"/>
            <a:ext cx="6257793" cy="2180549"/>
          </a:xfrm>
          <a:prstGeom prst="rect">
            <a:avLst/>
          </a:prstGeom>
        </p:spPr>
      </p:pic>
      <p:graphicFrame>
        <p:nvGraphicFramePr>
          <p:cNvPr id="2" name="Object 1">
            <a:extLst>
              <a:ext uri="{FF2B5EF4-FFF2-40B4-BE49-F238E27FC236}">
                <a16:creationId xmlns:a16="http://schemas.microsoft.com/office/drawing/2014/main" id="{9F6596AA-1637-4CE9-B260-FD98D573F8DA}"/>
              </a:ext>
            </a:extLst>
          </p:cNvPr>
          <p:cNvGraphicFramePr>
            <a:graphicFrameLocks noChangeAspect="1"/>
          </p:cNvGraphicFramePr>
          <p:nvPr>
            <p:extLst>
              <p:ext uri="{D42A27DB-BD31-4B8C-83A1-F6EECF244321}">
                <p14:modId xmlns:p14="http://schemas.microsoft.com/office/powerpoint/2010/main" val="3948051806"/>
              </p:ext>
            </p:extLst>
          </p:nvPr>
        </p:nvGraphicFramePr>
        <p:xfrm>
          <a:off x="312173" y="3632088"/>
          <a:ext cx="4059519" cy="875106"/>
        </p:xfrm>
        <a:graphic>
          <a:graphicData uri="http://schemas.openxmlformats.org/presentationml/2006/ole">
            <mc:AlternateContent xmlns:mc="http://schemas.openxmlformats.org/markup-compatibility/2006">
              <mc:Choice xmlns:v="urn:schemas-microsoft-com:vml" Requires="v">
                <p:oleObj name="Equation" r:id="rId4" imgW="2120760" imgH="457200" progId="Equation.DSMT4">
                  <p:embed/>
                </p:oleObj>
              </mc:Choice>
              <mc:Fallback>
                <p:oleObj name="Equation" r:id="rId4" imgW="2120760" imgH="457200" progId="Equation.DSMT4">
                  <p:embed/>
                  <p:pic>
                    <p:nvPicPr>
                      <p:cNvPr id="2" name="Object 1">
                        <a:extLst>
                          <a:ext uri="{FF2B5EF4-FFF2-40B4-BE49-F238E27FC236}">
                            <a16:creationId xmlns:a16="http://schemas.microsoft.com/office/drawing/2014/main" id="{9F6596AA-1637-4CE9-B260-FD98D573F8DA}"/>
                          </a:ext>
                        </a:extLst>
                      </p:cNvPr>
                      <p:cNvPicPr/>
                      <p:nvPr/>
                    </p:nvPicPr>
                    <p:blipFill>
                      <a:blip r:embed="rId5"/>
                      <a:stretch>
                        <a:fillRect/>
                      </a:stretch>
                    </p:blipFill>
                    <p:spPr>
                      <a:xfrm>
                        <a:off x="312173" y="3632088"/>
                        <a:ext cx="4059519" cy="875106"/>
                      </a:xfrm>
                      <a:prstGeom prst="rect">
                        <a:avLst/>
                      </a:prstGeom>
                    </p:spPr>
                  </p:pic>
                </p:oleObj>
              </mc:Fallback>
            </mc:AlternateContent>
          </a:graphicData>
        </a:graphic>
      </p:graphicFrame>
      <p:sp>
        <p:nvSpPr>
          <p:cNvPr id="9" name="Title 1">
            <a:extLst>
              <a:ext uri="{FF2B5EF4-FFF2-40B4-BE49-F238E27FC236}">
                <a16:creationId xmlns:a16="http://schemas.microsoft.com/office/drawing/2014/main" id="{73E71E70-50AB-4441-8810-7F9B49A1C705}"/>
              </a:ext>
            </a:extLst>
          </p:cNvPr>
          <p:cNvSpPr txBox="1">
            <a:spLocks/>
          </p:cNvSpPr>
          <p:nvPr/>
        </p:nvSpPr>
        <p:spPr bwMode="auto">
          <a:xfrm>
            <a:off x="6044953" y="3963991"/>
            <a:ext cx="2641846" cy="713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a:lstStyle>
          <a:p>
            <a:r>
              <a:rPr lang="en-US"/>
              <a:t>Fig 9.48</a:t>
            </a:r>
            <a:endParaRPr lang="en-US" dirty="0"/>
          </a:p>
        </p:txBody>
      </p:sp>
    </p:spTree>
    <p:extLst>
      <p:ext uri="{BB962C8B-B14F-4D97-AF65-F5344CB8AC3E}">
        <p14:creationId xmlns:p14="http://schemas.microsoft.com/office/powerpoint/2010/main" val="22245469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36871" y="2169313"/>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9.16</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304799" y="2649883"/>
            <a:ext cx="8382000" cy="40568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We now can write KVL around the left-hand loop.  </a:t>
            </a:r>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2286001" y="1083421"/>
            <a:ext cx="6658896" cy="7453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We convert to the phasor domain, to get the circuit shown below.</a:t>
            </a:r>
          </a:p>
          <a:p>
            <a:endParaRPr lang="en-US" altLang="en-US" sz="2400" dirty="0"/>
          </a:p>
        </p:txBody>
      </p:sp>
      <p:sp>
        <p:nvSpPr>
          <p:cNvPr id="9" name="Title 1">
            <a:extLst>
              <a:ext uri="{FF2B5EF4-FFF2-40B4-BE49-F238E27FC236}">
                <a16:creationId xmlns:a16="http://schemas.microsoft.com/office/drawing/2014/main" id="{73E71E70-50AB-4441-8810-7F9B49A1C705}"/>
              </a:ext>
            </a:extLst>
          </p:cNvPr>
          <p:cNvSpPr txBox="1">
            <a:spLocks/>
          </p:cNvSpPr>
          <p:nvPr/>
        </p:nvSpPr>
        <p:spPr bwMode="auto">
          <a:xfrm>
            <a:off x="5943600" y="3135115"/>
            <a:ext cx="2641846" cy="713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a:lstStyle>
          <a:p>
            <a:r>
              <a:rPr lang="en-US" dirty="0"/>
              <a:t>Fig 9.49</a:t>
            </a:r>
          </a:p>
        </p:txBody>
      </p:sp>
      <p:pic>
        <p:nvPicPr>
          <p:cNvPr id="10" name="Picture Placeholder 5" descr="The figure illustrates a phasor domain circuit with an ideal transformer, powered by a voltage source.&#10;Long description is available in notes, Press F6.">
            <a:extLst>
              <a:ext uri="{FF2B5EF4-FFF2-40B4-BE49-F238E27FC236}">
                <a16:creationId xmlns:a16="http://schemas.microsoft.com/office/drawing/2014/main" id="{34E51A7A-A9D2-4223-8B6C-DE0A90DFE5E0}"/>
              </a:ext>
            </a:extLst>
          </p:cNvPr>
          <p:cNvPicPr>
            <a:picLocks noChangeAspect="1"/>
          </p:cNvPicPr>
          <p:nvPr/>
        </p:nvPicPr>
        <p:blipFill>
          <a:blip r:embed="rId3"/>
          <a:stretch/>
        </p:blipFill>
        <p:spPr>
          <a:xfrm>
            <a:off x="558554" y="3839227"/>
            <a:ext cx="7961337" cy="2899707"/>
          </a:xfrm>
          <a:prstGeom prst="rect">
            <a:avLst/>
          </a:prstGeom>
        </p:spPr>
      </p:pic>
      <p:graphicFrame>
        <p:nvGraphicFramePr>
          <p:cNvPr id="11" name="Object 10">
            <a:extLst>
              <a:ext uri="{FF2B5EF4-FFF2-40B4-BE49-F238E27FC236}">
                <a16:creationId xmlns:a16="http://schemas.microsoft.com/office/drawing/2014/main" id="{21C6EA97-6CD4-411D-8DFF-F4E9EE76D20C}"/>
              </a:ext>
            </a:extLst>
          </p:cNvPr>
          <p:cNvGraphicFramePr>
            <a:graphicFrameLocks noChangeAspect="1"/>
          </p:cNvGraphicFramePr>
          <p:nvPr>
            <p:extLst>
              <p:ext uri="{D42A27DB-BD31-4B8C-83A1-F6EECF244321}">
                <p14:modId xmlns:p14="http://schemas.microsoft.com/office/powerpoint/2010/main" val="2513033687"/>
              </p:ext>
            </p:extLst>
          </p:nvPr>
        </p:nvGraphicFramePr>
        <p:xfrm>
          <a:off x="225425" y="3240088"/>
          <a:ext cx="4398963" cy="487362"/>
        </p:xfrm>
        <a:graphic>
          <a:graphicData uri="http://schemas.openxmlformats.org/presentationml/2006/ole">
            <mc:AlternateContent xmlns:mc="http://schemas.openxmlformats.org/markup-compatibility/2006">
              <mc:Choice xmlns:v="urn:schemas-microsoft-com:vml" Requires="v">
                <p:oleObj name="Equation" r:id="rId4" imgW="2298600" imgH="253800" progId="Equation.DSMT4">
                  <p:embed/>
                </p:oleObj>
              </mc:Choice>
              <mc:Fallback>
                <p:oleObj name="Equation" r:id="rId4" imgW="2298600" imgH="253800" progId="Equation.DSMT4">
                  <p:embed/>
                  <p:pic>
                    <p:nvPicPr>
                      <p:cNvPr id="11" name="Object 10">
                        <a:extLst>
                          <a:ext uri="{FF2B5EF4-FFF2-40B4-BE49-F238E27FC236}">
                            <a16:creationId xmlns:a16="http://schemas.microsoft.com/office/drawing/2014/main" id="{21C6EA97-6CD4-411D-8DFF-F4E9EE76D20C}"/>
                          </a:ext>
                        </a:extLst>
                      </p:cNvPr>
                      <p:cNvPicPr/>
                      <p:nvPr/>
                    </p:nvPicPr>
                    <p:blipFill>
                      <a:blip r:embed="rId5"/>
                      <a:stretch>
                        <a:fillRect/>
                      </a:stretch>
                    </p:blipFill>
                    <p:spPr>
                      <a:xfrm>
                        <a:off x="225425" y="3240088"/>
                        <a:ext cx="4398963" cy="487362"/>
                      </a:xfrm>
                      <a:prstGeom prst="rect">
                        <a:avLst/>
                      </a:prstGeom>
                    </p:spPr>
                  </p:pic>
                </p:oleObj>
              </mc:Fallback>
            </mc:AlternateContent>
          </a:graphicData>
        </a:graphic>
      </p:graphicFrame>
    </p:spTree>
    <p:extLst>
      <p:ext uri="{BB962C8B-B14F-4D97-AF65-F5344CB8AC3E}">
        <p14:creationId xmlns:p14="http://schemas.microsoft.com/office/powerpoint/2010/main" val="1654269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36871" y="2155535"/>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9.16</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304799" y="2243618"/>
            <a:ext cx="8382000" cy="1218214"/>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A load impedance is connected to the secondary winding of the ideal transformer in Figure 9.48 as shown.</a:t>
            </a:r>
          </a:p>
          <a:p>
            <a:pPr marL="829818" lvl="1" indent="-342900">
              <a:defRPr/>
            </a:pPr>
            <a:r>
              <a:rPr lang="en-US" sz="2400" dirty="0"/>
              <a:t>Find the steady state expression for </a:t>
            </a:r>
            <a:r>
              <a:rPr lang="en-US" sz="2400" i="1" dirty="0">
                <a:latin typeface="Times New Roman" panose="02020603050405020304" pitchFamily="18" charset="0"/>
                <a:cs typeface="Times New Roman" panose="02020603050405020304" pitchFamily="18" charset="0"/>
              </a:rPr>
              <a:t>i</a:t>
            </a:r>
            <a:r>
              <a:rPr lang="en-US" sz="2400" i="1" baseline="-25000" dirty="0">
                <a:latin typeface="Times New Roman" panose="02020603050405020304" pitchFamily="18" charset="0"/>
                <a:cs typeface="Times New Roman" panose="02020603050405020304" pitchFamily="18" charset="0"/>
              </a:rPr>
              <a:t>1</a:t>
            </a:r>
            <a:r>
              <a:rPr lang="en-US" sz="2400" dirty="0"/>
              <a:t>.  </a:t>
            </a:r>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2286001" y="1083421"/>
            <a:ext cx="6658896" cy="7453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Let’s work an example problem.  This one is taken from the Nilsson and Reidel text.  </a:t>
            </a:r>
          </a:p>
          <a:p>
            <a:endParaRPr lang="en-US" altLang="en-US" sz="2400" dirty="0"/>
          </a:p>
        </p:txBody>
      </p:sp>
      <p:pic>
        <p:nvPicPr>
          <p:cNvPr id="7" name="Picture Placeholder 5" descr="The figure illustrates a circuit with an ideal transformer, powered by a voltage source.&#10;Long description is available in notes, Press F6.">
            <a:extLst>
              <a:ext uri="{FF2B5EF4-FFF2-40B4-BE49-F238E27FC236}">
                <a16:creationId xmlns:a16="http://schemas.microsoft.com/office/drawing/2014/main" id="{0105EF5B-EC80-4C7B-B89C-6B11571FCB2D}"/>
              </a:ext>
            </a:extLst>
          </p:cNvPr>
          <p:cNvPicPr>
            <a:picLocks noChangeAspect="1"/>
          </p:cNvPicPr>
          <p:nvPr/>
        </p:nvPicPr>
        <p:blipFill>
          <a:blip r:embed="rId3"/>
          <a:stretch/>
        </p:blipFill>
        <p:spPr>
          <a:xfrm>
            <a:off x="2642101" y="4677450"/>
            <a:ext cx="6257793" cy="2180549"/>
          </a:xfrm>
          <a:prstGeom prst="rect">
            <a:avLst/>
          </a:prstGeom>
        </p:spPr>
      </p:pic>
      <p:graphicFrame>
        <p:nvGraphicFramePr>
          <p:cNvPr id="2" name="Object 1">
            <a:extLst>
              <a:ext uri="{FF2B5EF4-FFF2-40B4-BE49-F238E27FC236}">
                <a16:creationId xmlns:a16="http://schemas.microsoft.com/office/drawing/2014/main" id="{9F6596AA-1637-4CE9-B260-FD98D573F8DA}"/>
              </a:ext>
            </a:extLst>
          </p:cNvPr>
          <p:cNvGraphicFramePr>
            <a:graphicFrameLocks noChangeAspect="1"/>
          </p:cNvGraphicFramePr>
          <p:nvPr/>
        </p:nvGraphicFramePr>
        <p:xfrm>
          <a:off x="312173" y="3632088"/>
          <a:ext cx="4059519" cy="875106"/>
        </p:xfrm>
        <a:graphic>
          <a:graphicData uri="http://schemas.openxmlformats.org/presentationml/2006/ole">
            <mc:AlternateContent xmlns:mc="http://schemas.openxmlformats.org/markup-compatibility/2006">
              <mc:Choice xmlns:v="urn:schemas-microsoft-com:vml" Requires="v">
                <p:oleObj name="Equation" r:id="rId4" imgW="2120760" imgH="457200" progId="Equation.DSMT4">
                  <p:embed/>
                </p:oleObj>
              </mc:Choice>
              <mc:Fallback>
                <p:oleObj name="Equation" r:id="rId4" imgW="2120760" imgH="457200" progId="Equation.DSMT4">
                  <p:embed/>
                  <p:pic>
                    <p:nvPicPr>
                      <p:cNvPr id="2" name="Object 1">
                        <a:extLst>
                          <a:ext uri="{FF2B5EF4-FFF2-40B4-BE49-F238E27FC236}">
                            <a16:creationId xmlns:a16="http://schemas.microsoft.com/office/drawing/2014/main" id="{9F6596AA-1637-4CE9-B260-FD98D573F8DA}"/>
                          </a:ext>
                        </a:extLst>
                      </p:cNvPr>
                      <p:cNvPicPr/>
                      <p:nvPr/>
                    </p:nvPicPr>
                    <p:blipFill>
                      <a:blip r:embed="rId5"/>
                      <a:stretch>
                        <a:fillRect/>
                      </a:stretch>
                    </p:blipFill>
                    <p:spPr>
                      <a:xfrm>
                        <a:off x="312173" y="3632088"/>
                        <a:ext cx="4059519" cy="875106"/>
                      </a:xfrm>
                      <a:prstGeom prst="rect">
                        <a:avLst/>
                      </a:prstGeom>
                    </p:spPr>
                  </p:pic>
                </p:oleObj>
              </mc:Fallback>
            </mc:AlternateContent>
          </a:graphicData>
        </a:graphic>
      </p:graphicFrame>
      <p:sp>
        <p:nvSpPr>
          <p:cNvPr id="9" name="Title 1">
            <a:extLst>
              <a:ext uri="{FF2B5EF4-FFF2-40B4-BE49-F238E27FC236}">
                <a16:creationId xmlns:a16="http://schemas.microsoft.com/office/drawing/2014/main" id="{73E71E70-50AB-4441-8810-7F9B49A1C705}"/>
              </a:ext>
            </a:extLst>
          </p:cNvPr>
          <p:cNvSpPr txBox="1">
            <a:spLocks/>
          </p:cNvSpPr>
          <p:nvPr/>
        </p:nvSpPr>
        <p:spPr bwMode="auto">
          <a:xfrm>
            <a:off x="6044953" y="3963991"/>
            <a:ext cx="2641846" cy="7134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a:lstStyle>
          <a:p>
            <a:r>
              <a:rPr lang="en-US"/>
              <a:t>Fig 9.48</a:t>
            </a:r>
            <a:endParaRPr lang="en-US" dirty="0"/>
          </a:p>
        </p:txBody>
      </p:sp>
    </p:spTree>
    <p:extLst>
      <p:ext uri="{BB962C8B-B14F-4D97-AF65-F5344CB8AC3E}">
        <p14:creationId xmlns:p14="http://schemas.microsoft.com/office/powerpoint/2010/main" val="4341805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0" y="1089047"/>
            <a:ext cx="8981768" cy="3573633"/>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9.16</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290051" y="1611335"/>
            <a:ext cx="8382000" cy="775015"/>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We look at the voltage polarities below, and the positions of the dots, and we can write</a:t>
            </a:r>
          </a:p>
        </p:txBody>
      </p:sp>
      <p:sp>
        <p:nvSpPr>
          <p:cNvPr id="9" name="Title 1">
            <a:extLst>
              <a:ext uri="{FF2B5EF4-FFF2-40B4-BE49-F238E27FC236}">
                <a16:creationId xmlns:a16="http://schemas.microsoft.com/office/drawing/2014/main" id="{73E71E70-50AB-4441-8810-7F9B49A1C705}"/>
              </a:ext>
            </a:extLst>
          </p:cNvPr>
          <p:cNvSpPr txBox="1">
            <a:spLocks/>
          </p:cNvSpPr>
          <p:nvPr/>
        </p:nvSpPr>
        <p:spPr bwMode="auto">
          <a:xfrm>
            <a:off x="1001590" y="5566111"/>
            <a:ext cx="1727446" cy="405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a:lstStyle>
          <a:p>
            <a:r>
              <a:rPr lang="en-US" sz="2400" dirty="0"/>
              <a:t>Fig 9.49</a:t>
            </a:r>
          </a:p>
        </p:txBody>
      </p:sp>
      <p:pic>
        <p:nvPicPr>
          <p:cNvPr id="10" name="Picture Placeholder 5" descr="The figure illustrates a phasor domain circuit with an ideal transformer, powered by a voltage source.&#10;Long description is available in notes, Press F6.">
            <a:extLst>
              <a:ext uri="{FF2B5EF4-FFF2-40B4-BE49-F238E27FC236}">
                <a16:creationId xmlns:a16="http://schemas.microsoft.com/office/drawing/2014/main" id="{34E51A7A-A9D2-4223-8B6C-DE0A90DFE5E0}"/>
              </a:ext>
            </a:extLst>
          </p:cNvPr>
          <p:cNvPicPr>
            <a:picLocks noChangeAspect="1"/>
          </p:cNvPicPr>
          <p:nvPr/>
        </p:nvPicPr>
        <p:blipFill>
          <a:blip r:embed="rId3"/>
          <a:stretch/>
        </p:blipFill>
        <p:spPr>
          <a:xfrm>
            <a:off x="2819400" y="4662680"/>
            <a:ext cx="5700491" cy="2076254"/>
          </a:xfrm>
          <a:prstGeom prst="rect">
            <a:avLst/>
          </a:prstGeom>
        </p:spPr>
      </p:pic>
      <p:graphicFrame>
        <p:nvGraphicFramePr>
          <p:cNvPr id="11" name="Object 10">
            <a:extLst>
              <a:ext uri="{FF2B5EF4-FFF2-40B4-BE49-F238E27FC236}">
                <a16:creationId xmlns:a16="http://schemas.microsoft.com/office/drawing/2014/main" id="{21C6EA97-6CD4-411D-8DFF-F4E9EE76D20C}"/>
              </a:ext>
            </a:extLst>
          </p:cNvPr>
          <p:cNvGraphicFramePr>
            <a:graphicFrameLocks noChangeAspect="1"/>
          </p:cNvGraphicFramePr>
          <p:nvPr>
            <p:extLst>
              <p:ext uri="{D42A27DB-BD31-4B8C-83A1-F6EECF244321}">
                <p14:modId xmlns:p14="http://schemas.microsoft.com/office/powerpoint/2010/main" val="3738479347"/>
              </p:ext>
            </p:extLst>
          </p:nvPr>
        </p:nvGraphicFramePr>
        <p:xfrm>
          <a:off x="304799" y="1201769"/>
          <a:ext cx="4398963" cy="487362"/>
        </p:xfrm>
        <a:graphic>
          <a:graphicData uri="http://schemas.openxmlformats.org/presentationml/2006/ole">
            <mc:AlternateContent xmlns:mc="http://schemas.openxmlformats.org/markup-compatibility/2006">
              <mc:Choice xmlns:v="urn:schemas-microsoft-com:vml" Requires="v">
                <p:oleObj name="Equation" r:id="rId4" imgW="2298600" imgH="253800" progId="Equation.DSMT4">
                  <p:embed/>
                </p:oleObj>
              </mc:Choice>
              <mc:Fallback>
                <p:oleObj name="Equation" r:id="rId4" imgW="2298600" imgH="253800" progId="Equation.DSMT4">
                  <p:embed/>
                  <p:pic>
                    <p:nvPicPr>
                      <p:cNvPr id="11" name="Object 10">
                        <a:extLst>
                          <a:ext uri="{FF2B5EF4-FFF2-40B4-BE49-F238E27FC236}">
                            <a16:creationId xmlns:a16="http://schemas.microsoft.com/office/drawing/2014/main" id="{21C6EA97-6CD4-411D-8DFF-F4E9EE76D20C}"/>
                          </a:ext>
                        </a:extLst>
                      </p:cNvPr>
                      <p:cNvPicPr/>
                      <p:nvPr/>
                    </p:nvPicPr>
                    <p:blipFill>
                      <a:blip r:embed="rId5"/>
                      <a:stretch>
                        <a:fillRect/>
                      </a:stretch>
                    </p:blipFill>
                    <p:spPr>
                      <a:xfrm>
                        <a:off x="304799" y="1201769"/>
                        <a:ext cx="4398963" cy="487362"/>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EA512528-B3A4-4533-BF03-AC3818E71734}"/>
              </a:ext>
            </a:extLst>
          </p:cNvPr>
          <p:cNvGraphicFramePr>
            <a:graphicFrameLocks noChangeAspect="1"/>
          </p:cNvGraphicFramePr>
          <p:nvPr>
            <p:extLst>
              <p:ext uri="{D42A27DB-BD31-4B8C-83A1-F6EECF244321}">
                <p14:modId xmlns:p14="http://schemas.microsoft.com/office/powerpoint/2010/main" val="1753563974"/>
              </p:ext>
            </p:extLst>
          </p:nvPr>
        </p:nvGraphicFramePr>
        <p:xfrm>
          <a:off x="457200" y="2415598"/>
          <a:ext cx="1408113" cy="438150"/>
        </p:xfrm>
        <a:graphic>
          <a:graphicData uri="http://schemas.openxmlformats.org/presentationml/2006/ole">
            <mc:AlternateContent xmlns:mc="http://schemas.openxmlformats.org/markup-compatibility/2006">
              <mc:Choice xmlns:v="urn:schemas-microsoft-com:vml" Requires="v">
                <p:oleObj name="Equation" r:id="rId6" imgW="736560" imgH="228600" progId="Equation.DSMT4">
                  <p:embed/>
                </p:oleObj>
              </mc:Choice>
              <mc:Fallback>
                <p:oleObj name="Equation" r:id="rId6" imgW="736560" imgH="228600" progId="Equation.DSMT4">
                  <p:embed/>
                  <p:pic>
                    <p:nvPicPr>
                      <p:cNvPr id="14" name="Object 13">
                        <a:extLst>
                          <a:ext uri="{FF2B5EF4-FFF2-40B4-BE49-F238E27FC236}">
                            <a16:creationId xmlns:a16="http://schemas.microsoft.com/office/drawing/2014/main" id="{EA512528-B3A4-4533-BF03-AC3818E71734}"/>
                          </a:ext>
                        </a:extLst>
                      </p:cNvPr>
                      <p:cNvPicPr/>
                      <p:nvPr/>
                    </p:nvPicPr>
                    <p:blipFill>
                      <a:blip r:embed="rId7"/>
                      <a:stretch>
                        <a:fillRect/>
                      </a:stretch>
                    </p:blipFill>
                    <p:spPr>
                      <a:xfrm>
                        <a:off x="457200" y="2415598"/>
                        <a:ext cx="1408113" cy="438150"/>
                      </a:xfrm>
                      <a:prstGeom prst="rect">
                        <a:avLst/>
                      </a:prstGeom>
                    </p:spPr>
                  </p:pic>
                </p:oleObj>
              </mc:Fallback>
            </mc:AlternateContent>
          </a:graphicData>
        </a:graphic>
      </p:graphicFrame>
      <p:sp>
        <p:nvSpPr>
          <p:cNvPr id="15" name="Content Placeholder 7">
            <a:extLst>
              <a:ext uri="{FF2B5EF4-FFF2-40B4-BE49-F238E27FC236}">
                <a16:creationId xmlns:a16="http://schemas.microsoft.com/office/drawing/2014/main" id="{CF9A235F-538B-408B-8C78-84BE313247CB}"/>
              </a:ext>
            </a:extLst>
          </p:cNvPr>
          <p:cNvSpPr txBox="1">
            <a:spLocks/>
          </p:cNvSpPr>
          <p:nvPr/>
        </p:nvSpPr>
        <p:spPr>
          <a:xfrm>
            <a:off x="290051" y="2906779"/>
            <a:ext cx="8273846" cy="40568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Ohm’s Law gives us</a:t>
            </a:r>
          </a:p>
        </p:txBody>
      </p:sp>
      <p:graphicFrame>
        <p:nvGraphicFramePr>
          <p:cNvPr id="16" name="Object 15">
            <a:extLst>
              <a:ext uri="{FF2B5EF4-FFF2-40B4-BE49-F238E27FC236}">
                <a16:creationId xmlns:a16="http://schemas.microsoft.com/office/drawing/2014/main" id="{A71F0FD5-6C0B-46A4-86B0-E6299E5CBF1F}"/>
              </a:ext>
            </a:extLst>
          </p:cNvPr>
          <p:cNvGraphicFramePr>
            <a:graphicFrameLocks noChangeAspect="1"/>
          </p:cNvGraphicFramePr>
          <p:nvPr>
            <p:extLst>
              <p:ext uri="{D42A27DB-BD31-4B8C-83A1-F6EECF244321}">
                <p14:modId xmlns:p14="http://schemas.microsoft.com/office/powerpoint/2010/main" val="2783163061"/>
              </p:ext>
            </p:extLst>
          </p:nvPr>
        </p:nvGraphicFramePr>
        <p:xfrm>
          <a:off x="427703" y="3279606"/>
          <a:ext cx="3403600" cy="487362"/>
        </p:xfrm>
        <a:graphic>
          <a:graphicData uri="http://schemas.openxmlformats.org/presentationml/2006/ole">
            <mc:AlternateContent xmlns:mc="http://schemas.openxmlformats.org/markup-compatibility/2006">
              <mc:Choice xmlns:v="urn:schemas-microsoft-com:vml" Requires="v">
                <p:oleObj name="Equation" r:id="rId8" imgW="1777680" imgH="253800" progId="Equation.DSMT4">
                  <p:embed/>
                </p:oleObj>
              </mc:Choice>
              <mc:Fallback>
                <p:oleObj name="Equation" r:id="rId8" imgW="1777680" imgH="253800" progId="Equation.DSMT4">
                  <p:embed/>
                  <p:pic>
                    <p:nvPicPr>
                      <p:cNvPr id="16" name="Object 15">
                        <a:extLst>
                          <a:ext uri="{FF2B5EF4-FFF2-40B4-BE49-F238E27FC236}">
                            <a16:creationId xmlns:a16="http://schemas.microsoft.com/office/drawing/2014/main" id="{A71F0FD5-6C0B-46A4-86B0-E6299E5CBF1F}"/>
                          </a:ext>
                        </a:extLst>
                      </p:cNvPr>
                      <p:cNvPicPr/>
                      <p:nvPr/>
                    </p:nvPicPr>
                    <p:blipFill>
                      <a:blip r:embed="rId9"/>
                      <a:stretch>
                        <a:fillRect/>
                      </a:stretch>
                    </p:blipFill>
                    <p:spPr>
                      <a:xfrm>
                        <a:off x="427703" y="3279606"/>
                        <a:ext cx="3403600" cy="487362"/>
                      </a:xfrm>
                      <a:prstGeom prst="rect">
                        <a:avLst/>
                      </a:prstGeom>
                    </p:spPr>
                  </p:pic>
                </p:oleObj>
              </mc:Fallback>
            </mc:AlternateContent>
          </a:graphicData>
        </a:graphic>
      </p:graphicFrame>
      <p:sp>
        <p:nvSpPr>
          <p:cNvPr id="17" name="Content Placeholder 7">
            <a:extLst>
              <a:ext uri="{FF2B5EF4-FFF2-40B4-BE49-F238E27FC236}">
                <a16:creationId xmlns:a16="http://schemas.microsoft.com/office/drawing/2014/main" id="{13694722-F674-4730-88C7-6C2746D34A5F}"/>
              </a:ext>
            </a:extLst>
          </p:cNvPr>
          <p:cNvSpPr txBox="1">
            <a:spLocks/>
          </p:cNvSpPr>
          <p:nvPr/>
        </p:nvSpPr>
        <p:spPr>
          <a:xfrm>
            <a:off x="290051" y="3691655"/>
            <a:ext cx="8422149" cy="40568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Again, looking at current polarities and the dot positions, </a:t>
            </a:r>
          </a:p>
        </p:txBody>
      </p:sp>
      <p:graphicFrame>
        <p:nvGraphicFramePr>
          <p:cNvPr id="18" name="Object 17">
            <a:extLst>
              <a:ext uri="{FF2B5EF4-FFF2-40B4-BE49-F238E27FC236}">
                <a16:creationId xmlns:a16="http://schemas.microsoft.com/office/drawing/2014/main" id="{7C6A5308-5FEE-4A8A-9EB3-CBACE6199B9F}"/>
              </a:ext>
            </a:extLst>
          </p:cNvPr>
          <p:cNvGraphicFramePr>
            <a:graphicFrameLocks noChangeAspect="1"/>
          </p:cNvGraphicFramePr>
          <p:nvPr>
            <p:extLst>
              <p:ext uri="{D42A27DB-BD31-4B8C-83A1-F6EECF244321}">
                <p14:modId xmlns:p14="http://schemas.microsoft.com/office/powerpoint/2010/main" val="3508736741"/>
              </p:ext>
            </p:extLst>
          </p:nvPr>
        </p:nvGraphicFramePr>
        <p:xfrm>
          <a:off x="431800" y="4097338"/>
          <a:ext cx="1384300" cy="438150"/>
        </p:xfrm>
        <a:graphic>
          <a:graphicData uri="http://schemas.openxmlformats.org/presentationml/2006/ole">
            <mc:AlternateContent xmlns:mc="http://schemas.openxmlformats.org/markup-compatibility/2006">
              <mc:Choice xmlns:v="urn:schemas-microsoft-com:vml" Requires="v">
                <p:oleObj name="Equation" r:id="rId10" imgW="723600" imgH="228600" progId="Equation.DSMT4">
                  <p:embed/>
                </p:oleObj>
              </mc:Choice>
              <mc:Fallback>
                <p:oleObj name="Equation" r:id="rId10" imgW="723600" imgH="228600" progId="Equation.DSMT4">
                  <p:embed/>
                  <p:pic>
                    <p:nvPicPr>
                      <p:cNvPr id="18" name="Object 17">
                        <a:extLst>
                          <a:ext uri="{FF2B5EF4-FFF2-40B4-BE49-F238E27FC236}">
                            <a16:creationId xmlns:a16="http://schemas.microsoft.com/office/drawing/2014/main" id="{7C6A5308-5FEE-4A8A-9EB3-CBACE6199B9F}"/>
                          </a:ext>
                        </a:extLst>
                      </p:cNvPr>
                      <p:cNvPicPr/>
                      <p:nvPr/>
                    </p:nvPicPr>
                    <p:blipFill>
                      <a:blip r:embed="rId11"/>
                      <a:stretch>
                        <a:fillRect/>
                      </a:stretch>
                    </p:blipFill>
                    <p:spPr>
                      <a:xfrm>
                        <a:off x="431800" y="4097338"/>
                        <a:ext cx="1384300" cy="438150"/>
                      </a:xfrm>
                      <a:prstGeom prst="rect">
                        <a:avLst/>
                      </a:prstGeom>
                    </p:spPr>
                  </p:pic>
                </p:oleObj>
              </mc:Fallback>
            </mc:AlternateContent>
          </a:graphicData>
        </a:graphic>
      </p:graphicFrame>
    </p:spTree>
    <p:extLst>
      <p:ext uri="{BB962C8B-B14F-4D97-AF65-F5344CB8AC3E}">
        <p14:creationId xmlns:p14="http://schemas.microsoft.com/office/powerpoint/2010/main" val="37010338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0" y="1089047"/>
            <a:ext cx="8981768" cy="3573633"/>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9.16</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290051" y="1611335"/>
            <a:ext cx="8382000" cy="775015"/>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We plug the last equation into the one before, and then that into the one before that, and we have</a:t>
            </a:r>
          </a:p>
        </p:txBody>
      </p:sp>
      <p:sp>
        <p:nvSpPr>
          <p:cNvPr id="9" name="Title 1">
            <a:extLst>
              <a:ext uri="{FF2B5EF4-FFF2-40B4-BE49-F238E27FC236}">
                <a16:creationId xmlns:a16="http://schemas.microsoft.com/office/drawing/2014/main" id="{73E71E70-50AB-4441-8810-7F9B49A1C705}"/>
              </a:ext>
            </a:extLst>
          </p:cNvPr>
          <p:cNvSpPr txBox="1">
            <a:spLocks/>
          </p:cNvSpPr>
          <p:nvPr/>
        </p:nvSpPr>
        <p:spPr bwMode="auto">
          <a:xfrm>
            <a:off x="1001590" y="5566111"/>
            <a:ext cx="1727446" cy="405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a:lstStyle>
          <a:p>
            <a:r>
              <a:rPr lang="en-US" sz="2400" dirty="0"/>
              <a:t>Fig 9.49</a:t>
            </a:r>
          </a:p>
        </p:txBody>
      </p:sp>
      <p:pic>
        <p:nvPicPr>
          <p:cNvPr id="10" name="Picture Placeholder 5" descr="The figure illustrates a phasor domain circuit with an ideal transformer, powered by a voltage source.&#10;Long description is available in notes, Press F6.">
            <a:extLst>
              <a:ext uri="{FF2B5EF4-FFF2-40B4-BE49-F238E27FC236}">
                <a16:creationId xmlns:a16="http://schemas.microsoft.com/office/drawing/2014/main" id="{34E51A7A-A9D2-4223-8B6C-DE0A90DFE5E0}"/>
              </a:ext>
            </a:extLst>
          </p:cNvPr>
          <p:cNvPicPr>
            <a:picLocks noChangeAspect="1"/>
          </p:cNvPicPr>
          <p:nvPr/>
        </p:nvPicPr>
        <p:blipFill>
          <a:blip r:embed="rId3"/>
          <a:stretch/>
        </p:blipFill>
        <p:spPr>
          <a:xfrm>
            <a:off x="2819400" y="4662680"/>
            <a:ext cx="5700491" cy="2076254"/>
          </a:xfrm>
          <a:prstGeom prst="rect">
            <a:avLst/>
          </a:prstGeom>
        </p:spPr>
      </p:pic>
      <p:graphicFrame>
        <p:nvGraphicFramePr>
          <p:cNvPr id="11" name="Object 10">
            <a:extLst>
              <a:ext uri="{FF2B5EF4-FFF2-40B4-BE49-F238E27FC236}">
                <a16:creationId xmlns:a16="http://schemas.microsoft.com/office/drawing/2014/main" id="{21C6EA97-6CD4-411D-8DFF-F4E9EE76D20C}"/>
              </a:ext>
            </a:extLst>
          </p:cNvPr>
          <p:cNvGraphicFramePr>
            <a:graphicFrameLocks noChangeAspect="1"/>
          </p:cNvGraphicFramePr>
          <p:nvPr>
            <p:extLst>
              <p:ext uri="{D42A27DB-BD31-4B8C-83A1-F6EECF244321}">
                <p14:modId xmlns:p14="http://schemas.microsoft.com/office/powerpoint/2010/main" val="2573547275"/>
              </p:ext>
            </p:extLst>
          </p:nvPr>
        </p:nvGraphicFramePr>
        <p:xfrm>
          <a:off x="304799" y="1201769"/>
          <a:ext cx="4398963" cy="487362"/>
        </p:xfrm>
        <a:graphic>
          <a:graphicData uri="http://schemas.openxmlformats.org/presentationml/2006/ole">
            <mc:AlternateContent xmlns:mc="http://schemas.openxmlformats.org/markup-compatibility/2006">
              <mc:Choice xmlns:v="urn:schemas-microsoft-com:vml" Requires="v">
                <p:oleObj name="Equation" r:id="rId4" imgW="2298600" imgH="253800" progId="Equation.DSMT4">
                  <p:embed/>
                </p:oleObj>
              </mc:Choice>
              <mc:Fallback>
                <p:oleObj name="Equation" r:id="rId4" imgW="2298600" imgH="253800" progId="Equation.DSMT4">
                  <p:embed/>
                  <p:pic>
                    <p:nvPicPr>
                      <p:cNvPr id="11" name="Object 10">
                        <a:extLst>
                          <a:ext uri="{FF2B5EF4-FFF2-40B4-BE49-F238E27FC236}">
                            <a16:creationId xmlns:a16="http://schemas.microsoft.com/office/drawing/2014/main" id="{21C6EA97-6CD4-411D-8DFF-F4E9EE76D20C}"/>
                          </a:ext>
                        </a:extLst>
                      </p:cNvPr>
                      <p:cNvPicPr/>
                      <p:nvPr/>
                    </p:nvPicPr>
                    <p:blipFill>
                      <a:blip r:embed="rId5"/>
                      <a:stretch>
                        <a:fillRect/>
                      </a:stretch>
                    </p:blipFill>
                    <p:spPr>
                      <a:xfrm>
                        <a:off x="304799" y="1201769"/>
                        <a:ext cx="4398963" cy="487362"/>
                      </a:xfrm>
                      <a:prstGeom prst="rect">
                        <a:avLst/>
                      </a:prstGeom>
                    </p:spPr>
                  </p:pic>
                </p:oleObj>
              </mc:Fallback>
            </mc:AlternateContent>
          </a:graphicData>
        </a:graphic>
      </p:graphicFrame>
      <p:sp>
        <p:nvSpPr>
          <p:cNvPr id="15" name="Content Placeholder 7">
            <a:extLst>
              <a:ext uri="{FF2B5EF4-FFF2-40B4-BE49-F238E27FC236}">
                <a16:creationId xmlns:a16="http://schemas.microsoft.com/office/drawing/2014/main" id="{CF9A235F-538B-408B-8C78-84BE313247CB}"/>
              </a:ext>
            </a:extLst>
          </p:cNvPr>
          <p:cNvSpPr txBox="1">
            <a:spLocks/>
          </p:cNvSpPr>
          <p:nvPr/>
        </p:nvSpPr>
        <p:spPr>
          <a:xfrm>
            <a:off x="290051" y="2906779"/>
            <a:ext cx="8273846" cy="40568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We can plug this new equation into the top equation to get</a:t>
            </a:r>
          </a:p>
        </p:txBody>
      </p:sp>
      <p:graphicFrame>
        <p:nvGraphicFramePr>
          <p:cNvPr id="16" name="Object 15">
            <a:extLst>
              <a:ext uri="{FF2B5EF4-FFF2-40B4-BE49-F238E27FC236}">
                <a16:creationId xmlns:a16="http://schemas.microsoft.com/office/drawing/2014/main" id="{A71F0FD5-6C0B-46A4-86B0-E6299E5CBF1F}"/>
              </a:ext>
            </a:extLst>
          </p:cNvPr>
          <p:cNvGraphicFramePr>
            <a:graphicFrameLocks noChangeAspect="1"/>
          </p:cNvGraphicFramePr>
          <p:nvPr>
            <p:extLst>
              <p:ext uri="{D42A27DB-BD31-4B8C-83A1-F6EECF244321}">
                <p14:modId xmlns:p14="http://schemas.microsoft.com/office/powerpoint/2010/main" val="711180805"/>
              </p:ext>
            </p:extLst>
          </p:nvPr>
        </p:nvGraphicFramePr>
        <p:xfrm>
          <a:off x="431800" y="2423930"/>
          <a:ext cx="6807201" cy="487363"/>
        </p:xfrm>
        <a:graphic>
          <a:graphicData uri="http://schemas.openxmlformats.org/presentationml/2006/ole">
            <mc:AlternateContent xmlns:mc="http://schemas.openxmlformats.org/markup-compatibility/2006">
              <mc:Choice xmlns:v="urn:schemas-microsoft-com:vml" Requires="v">
                <p:oleObj name="Equation" r:id="rId6" imgW="3555720" imgH="253800" progId="Equation.DSMT4">
                  <p:embed/>
                </p:oleObj>
              </mc:Choice>
              <mc:Fallback>
                <p:oleObj name="Equation" r:id="rId6" imgW="3555720" imgH="253800" progId="Equation.DSMT4">
                  <p:embed/>
                  <p:pic>
                    <p:nvPicPr>
                      <p:cNvPr id="16" name="Object 15">
                        <a:extLst>
                          <a:ext uri="{FF2B5EF4-FFF2-40B4-BE49-F238E27FC236}">
                            <a16:creationId xmlns:a16="http://schemas.microsoft.com/office/drawing/2014/main" id="{A71F0FD5-6C0B-46A4-86B0-E6299E5CBF1F}"/>
                          </a:ext>
                        </a:extLst>
                      </p:cNvPr>
                      <p:cNvPicPr/>
                      <p:nvPr/>
                    </p:nvPicPr>
                    <p:blipFill>
                      <a:blip r:embed="rId7"/>
                      <a:stretch>
                        <a:fillRect/>
                      </a:stretch>
                    </p:blipFill>
                    <p:spPr>
                      <a:xfrm>
                        <a:off x="431800" y="2423930"/>
                        <a:ext cx="6807201" cy="487363"/>
                      </a:xfrm>
                      <a:prstGeom prst="rect">
                        <a:avLst/>
                      </a:prstGeom>
                    </p:spPr>
                  </p:pic>
                </p:oleObj>
              </mc:Fallback>
            </mc:AlternateContent>
          </a:graphicData>
        </a:graphic>
      </p:graphicFrame>
      <p:sp>
        <p:nvSpPr>
          <p:cNvPr id="17" name="Content Placeholder 7">
            <a:extLst>
              <a:ext uri="{FF2B5EF4-FFF2-40B4-BE49-F238E27FC236}">
                <a16:creationId xmlns:a16="http://schemas.microsoft.com/office/drawing/2014/main" id="{13694722-F674-4730-88C7-6C2746D34A5F}"/>
              </a:ext>
            </a:extLst>
          </p:cNvPr>
          <p:cNvSpPr txBox="1">
            <a:spLocks/>
          </p:cNvSpPr>
          <p:nvPr/>
        </p:nvSpPr>
        <p:spPr>
          <a:xfrm>
            <a:off x="304798" y="3826260"/>
            <a:ext cx="8229601" cy="40568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Solving, we get</a:t>
            </a:r>
          </a:p>
        </p:txBody>
      </p:sp>
      <p:graphicFrame>
        <p:nvGraphicFramePr>
          <p:cNvPr id="13" name="Object 12">
            <a:extLst>
              <a:ext uri="{FF2B5EF4-FFF2-40B4-BE49-F238E27FC236}">
                <a16:creationId xmlns:a16="http://schemas.microsoft.com/office/drawing/2014/main" id="{90AC7CDE-31FD-45EF-BF0E-D4392BA232C1}"/>
              </a:ext>
            </a:extLst>
          </p:cNvPr>
          <p:cNvGraphicFramePr>
            <a:graphicFrameLocks noChangeAspect="1"/>
          </p:cNvGraphicFramePr>
          <p:nvPr>
            <p:extLst>
              <p:ext uri="{D42A27DB-BD31-4B8C-83A1-F6EECF244321}">
                <p14:modId xmlns:p14="http://schemas.microsoft.com/office/powerpoint/2010/main" val="2312054447"/>
              </p:ext>
            </p:extLst>
          </p:nvPr>
        </p:nvGraphicFramePr>
        <p:xfrm>
          <a:off x="630238" y="3376613"/>
          <a:ext cx="3717925" cy="487362"/>
        </p:xfrm>
        <a:graphic>
          <a:graphicData uri="http://schemas.openxmlformats.org/presentationml/2006/ole">
            <mc:AlternateContent xmlns:mc="http://schemas.openxmlformats.org/markup-compatibility/2006">
              <mc:Choice xmlns:v="urn:schemas-microsoft-com:vml" Requires="v">
                <p:oleObj name="Equation" r:id="rId8" imgW="1942920" imgH="253800" progId="Equation.DSMT4">
                  <p:embed/>
                </p:oleObj>
              </mc:Choice>
              <mc:Fallback>
                <p:oleObj name="Equation" r:id="rId8" imgW="1942920" imgH="253800" progId="Equation.DSMT4">
                  <p:embed/>
                  <p:pic>
                    <p:nvPicPr>
                      <p:cNvPr id="13" name="Object 12">
                        <a:extLst>
                          <a:ext uri="{FF2B5EF4-FFF2-40B4-BE49-F238E27FC236}">
                            <a16:creationId xmlns:a16="http://schemas.microsoft.com/office/drawing/2014/main" id="{90AC7CDE-31FD-45EF-BF0E-D4392BA232C1}"/>
                          </a:ext>
                        </a:extLst>
                      </p:cNvPr>
                      <p:cNvPicPr/>
                      <p:nvPr/>
                    </p:nvPicPr>
                    <p:blipFill>
                      <a:blip r:embed="rId9"/>
                      <a:stretch>
                        <a:fillRect/>
                      </a:stretch>
                    </p:blipFill>
                    <p:spPr>
                      <a:xfrm>
                        <a:off x="630238" y="3376613"/>
                        <a:ext cx="3717925" cy="487362"/>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54B38756-1B42-41FD-9F7E-D073D1B01BBC}"/>
              </a:ext>
            </a:extLst>
          </p:cNvPr>
          <p:cNvGraphicFramePr>
            <a:graphicFrameLocks noChangeAspect="1"/>
          </p:cNvGraphicFramePr>
          <p:nvPr>
            <p:extLst>
              <p:ext uri="{D42A27DB-BD31-4B8C-83A1-F6EECF244321}">
                <p14:modId xmlns:p14="http://schemas.microsoft.com/office/powerpoint/2010/main" val="901842891"/>
              </p:ext>
            </p:extLst>
          </p:nvPr>
        </p:nvGraphicFramePr>
        <p:xfrm>
          <a:off x="962025" y="4192588"/>
          <a:ext cx="3013075" cy="534987"/>
        </p:xfrm>
        <a:graphic>
          <a:graphicData uri="http://schemas.openxmlformats.org/presentationml/2006/ole">
            <mc:AlternateContent xmlns:mc="http://schemas.openxmlformats.org/markup-compatibility/2006">
              <mc:Choice xmlns:v="urn:schemas-microsoft-com:vml" Requires="v">
                <p:oleObj name="Equation" r:id="rId10" imgW="1574640" imgH="279360" progId="Equation.DSMT4">
                  <p:embed/>
                </p:oleObj>
              </mc:Choice>
              <mc:Fallback>
                <p:oleObj name="Equation" r:id="rId10" imgW="1574640" imgH="279360" progId="Equation.DSMT4">
                  <p:embed/>
                  <p:pic>
                    <p:nvPicPr>
                      <p:cNvPr id="19" name="Object 18">
                        <a:extLst>
                          <a:ext uri="{FF2B5EF4-FFF2-40B4-BE49-F238E27FC236}">
                            <a16:creationId xmlns:a16="http://schemas.microsoft.com/office/drawing/2014/main" id="{54B38756-1B42-41FD-9F7E-D073D1B01BBC}"/>
                          </a:ext>
                        </a:extLst>
                      </p:cNvPr>
                      <p:cNvPicPr/>
                      <p:nvPr/>
                    </p:nvPicPr>
                    <p:blipFill>
                      <a:blip r:embed="rId11"/>
                      <a:stretch>
                        <a:fillRect/>
                      </a:stretch>
                    </p:blipFill>
                    <p:spPr>
                      <a:xfrm>
                        <a:off x="962025" y="4192588"/>
                        <a:ext cx="3013075" cy="534987"/>
                      </a:xfrm>
                      <a:prstGeom prst="rect">
                        <a:avLst/>
                      </a:prstGeom>
                    </p:spPr>
                  </p:pic>
                </p:oleObj>
              </mc:Fallback>
            </mc:AlternateContent>
          </a:graphicData>
        </a:graphic>
      </p:graphicFrame>
    </p:spTree>
    <p:extLst>
      <p:ext uri="{BB962C8B-B14F-4D97-AF65-F5344CB8AC3E}">
        <p14:creationId xmlns:p14="http://schemas.microsoft.com/office/powerpoint/2010/main" val="24325400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0" y="1089047"/>
            <a:ext cx="8981768" cy="3573633"/>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9.16</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290051" y="1796001"/>
            <a:ext cx="8382000" cy="40568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We can inverse transform to get</a:t>
            </a:r>
          </a:p>
        </p:txBody>
      </p:sp>
      <p:sp>
        <p:nvSpPr>
          <p:cNvPr id="9" name="Title 1">
            <a:extLst>
              <a:ext uri="{FF2B5EF4-FFF2-40B4-BE49-F238E27FC236}">
                <a16:creationId xmlns:a16="http://schemas.microsoft.com/office/drawing/2014/main" id="{73E71E70-50AB-4441-8810-7F9B49A1C705}"/>
              </a:ext>
            </a:extLst>
          </p:cNvPr>
          <p:cNvSpPr txBox="1">
            <a:spLocks/>
          </p:cNvSpPr>
          <p:nvPr/>
        </p:nvSpPr>
        <p:spPr bwMode="auto">
          <a:xfrm>
            <a:off x="762000" y="5526685"/>
            <a:ext cx="1727446" cy="4056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8000" rIns="0" bIns="18000" numCol="1" anchor="ctr" anchorCtr="0" compatLnSpc="1">
            <a:prstTxWarp prst="textNoShape">
              <a:avLst/>
            </a:prstTxWarp>
            <a:spAutoFit/>
          </a:bodyPr>
          <a:lstStyle>
            <a:lvl1pPr algn="r" rtl="0" fontAlgn="base">
              <a:spcBef>
                <a:spcPct val="0"/>
              </a:spcBef>
              <a:spcAft>
                <a:spcPct val="0"/>
              </a:spcAft>
              <a:defRPr sz="4400" i="1" kern="1200">
                <a:solidFill>
                  <a:schemeClr val="tx2"/>
                </a:solidFill>
                <a:latin typeface="+mj-lt"/>
                <a:ea typeface="+mj-ea"/>
                <a:cs typeface="+mj-cs"/>
              </a:defRPr>
            </a:lvl1pPr>
            <a:lvl2pPr algn="r" rtl="0" fontAlgn="base">
              <a:spcBef>
                <a:spcPct val="0"/>
              </a:spcBef>
              <a:spcAft>
                <a:spcPct val="0"/>
              </a:spcAft>
              <a:defRPr sz="4400" i="1">
                <a:solidFill>
                  <a:schemeClr val="tx2"/>
                </a:solidFill>
                <a:latin typeface="Arial" panose="020B0604020202020204" pitchFamily="34" charset="0"/>
              </a:defRPr>
            </a:lvl2pPr>
            <a:lvl3pPr algn="r" rtl="0" fontAlgn="base">
              <a:spcBef>
                <a:spcPct val="0"/>
              </a:spcBef>
              <a:spcAft>
                <a:spcPct val="0"/>
              </a:spcAft>
              <a:defRPr sz="4400" i="1">
                <a:solidFill>
                  <a:schemeClr val="tx2"/>
                </a:solidFill>
                <a:latin typeface="Arial" panose="020B0604020202020204" pitchFamily="34" charset="0"/>
              </a:defRPr>
            </a:lvl3pPr>
            <a:lvl4pPr algn="r" rtl="0" fontAlgn="base">
              <a:spcBef>
                <a:spcPct val="0"/>
              </a:spcBef>
              <a:spcAft>
                <a:spcPct val="0"/>
              </a:spcAft>
              <a:defRPr sz="4400" i="1">
                <a:solidFill>
                  <a:schemeClr val="tx2"/>
                </a:solidFill>
                <a:latin typeface="Arial" panose="020B0604020202020204" pitchFamily="34" charset="0"/>
              </a:defRPr>
            </a:lvl4pPr>
            <a:lvl5pPr algn="r" rtl="0" fontAlgn="base">
              <a:spcBef>
                <a:spcPct val="0"/>
              </a:spcBef>
              <a:spcAft>
                <a:spcPct val="0"/>
              </a:spcAft>
              <a:defRPr sz="4400" i="1">
                <a:solidFill>
                  <a:schemeClr val="tx2"/>
                </a:solidFill>
                <a:latin typeface="Arial" panose="020B0604020202020204" pitchFamily="34" charset="0"/>
              </a:defRPr>
            </a:lvl5pPr>
            <a:lvl6pPr marL="457200" algn="r" rtl="0" fontAlgn="base">
              <a:spcBef>
                <a:spcPct val="0"/>
              </a:spcBef>
              <a:spcAft>
                <a:spcPct val="0"/>
              </a:spcAft>
              <a:defRPr sz="4400" i="1">
                <a:solidFill>
                  <a:schemeClr val="tx2"/>
                </a:solidFill>
                <a:latin typeface="Arial" panose="020B0604020202020204" pitchFamily="34" charset="0"/>
              </a:defRPr>
            </a:lvl6pPr>
            <a:lvl7pPr marL="914400" algn="r" rtl="0" fontAlgn="base">
              <a:spcBef>
                <a:spcPct val="0"/>
              </a:spcBef>
              <a:spcAft>
                <a:spcPct val="0"/>
              </a:spcAft>
              <a:defRPr sz="4400" i="1">
                <a:solidFill>
                  <a:schemeClr val="tx2"/>
                </a:solidFill>
                <a:latin typeface="Arial" panose="020B0604020202020204" pitchFamily="34" charset="0"/>
              </a:defRPr>
            </a:lvl7pPr>
            <a:lvl8pPr marL="1371600" algn="r" rtl="0" fontAlgn="base">
              <a:spcBef>
                <a:spcPct val="0"/>
              </a:spcBef>
              <a:spcAft>
                <a:spcPct val="0"/>
              </a:spcAft>
              <a:defRPr sz="4400" i="1">
                <a:solidFill>
                  <a:schemeClr val="tx2"/>
                </a:solidFill>
                <a:latin typeface="Arial" panose="020B0604020202020204" pitchFamily="34" charset="0"/>
              </a:defRPr>
            </a:lvl8pPr>
            <a:lvl9pPr marL="1828800" algn="r" rtl="0" fontAlgn="base">
              <a:spcBef>
                <a:spcPct val="0"/>
              </a:spcBef>
              <a:spcAft>
                <a:spcPct val="0"/>
              </a:spcAft>
              <a:defRPr sz="4400" i="1">
                <a:solidFill>
                  <a:schemeClr val="tx2"/>
                </a:solidFill>
                <a:latin typeface="Arial" panose="020B0604020202020204" pitchFamily="34" charset="0"/>
              </a:defRPr>
            </a:lvl9pPr>
          </a:lstStyle>
          <a:p>
            <a:r>
              <a:rPr lang="en-US" sz="2400" dirty="0"/>
              <a:t>Fig 9.48</a:t>
            </a:r>
          </a:p>
        </p:txBody>
      </p:sp>
      <p:graphicFrame>
        <p:nvGraphicFramePr>
          <p:cNvPr id="19" name="Object 18">
            <a:extLst>
              <a:ext uri="{FF2B5EF4-FFF2-40B4-BE49-F238E27FC236}">
                <a16:creationId xmlns:a16="http://schemas.microsoft.com/office/drawing/2014/main" id="{54B38756-1B42-41FD-9F7E-D073D1B01BBC}"/>
              </a:ext>
            </a:extLst>
          </p:cNvPr>
          <p:cNvGraphicFramePr>
            <a:graphicFrameLocks noChangeAspect="1"/>
          </p:cNvGraphicFramePr>
          <p:nvPr>
            <p:extLst>
              <p:ext uri="{D42A27DB-BD31-4B8C-83A1-F6EECF244321}">
                <p14:modId xmlns:p14="http://schemas.microsoft.com/office/powerpoint/2010/main" val="1536843425"/>
              </p:ext>
            </p:extLst>
          </p:nvPr>
        </p:nvGraphicFramePr>
        <p:xfrm>
          <a:off x="609600" y="1128473"/>
          <a:ext cx="3013075" cy="534987"/>
        </p:xfrm>
        <a:graphic>
          <a:graphicData uri="http://schemas.openxmlformats.org/presentationml/2006/ole">
            <mc:AlternateContent xmlns:mc="http://schemas.openxmlformats.org/markup-compatibility/2006">
              <mc:Choice xmlns:v="urn:schemas-microsoft-com:vml" Requires="v">
                <p:oleObj name="Equation" r:id="rId3" imgW="1574640" imgH="279360" progId="Equation.DSMT4">
                  <p:embed/>
                </p:oleObj>
              </mc:Choice>
              <mc:Fallback>
                <p:oleObj name="Equation" r:id="rId3" imgW="1574640" imgH="279360" progId="Equation.DSMT4">
                  <p:embed/>
                  <p:pic>
                    <p:nvPicPr>
                      <p:cNvPr id="19" name="Object 18">
                        <a:extLst>
                          <a:ext uri="{FF2B5EF4-FFF2-40B4-BE49-F238E27FC236}">
                            <a16:creationId xmlns:a16="http://schemas.microsoft.com/office/drawing/2014/main" id="{54B38756-1B42-41FD-9F7E-D073D1B01BBC}"/>
                          </a:ext>
                        </a:extLst>
                      </p:cNvPr>
                      <p:cNvPicPr/>
                      <p:nvPr/>
                    </p:nvPicPr>
                    <p:blipFill>
                      <a:blip r:embed="rId4"/>
                      <a:stretch>
                        <a:fillRect/>
                      </a:stretch>
                    </p:blipFill>
                    <p:spPr>
                      <a:xfrm>
                        <a:off x="609600" y="1128473"/>
                        <a:ext cx="3013075" cy="534987"/>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B1605455-B54A-4E53-AB19-E5809CC933F7}"/>
              </a:ext>
            </a:extLst>
          </p:cNvPr>
          <p:cNvGraphicFramePr>
            <a:graphicFrameLocks noChangeAspect="1"/>
          </p:cNvGraphicFramePr>
          <p:nvPr>
            <p:extLst>
              <p:ext uri="{D42A27DB-BD31-4B8C-83A1-F6EECF244321}">
                <p14:modId xmlns:p14="http://schemas.microsoft.com/office/powerpoint/2010/main" val="3519520366"/>
              </p:ext>
            </p:extLst>
          </p:nvPr>
        </p:nvGraphicFramePr>
        <p:xfrm>
          <a:off x="1295400" y="2413323"/>
          <a:ext cx="4837112" cy="874713"/>
        </p:xfrm>
        <a:graphic>
          <a:graphicData uri="http://schemas.openxmlformats.org/presentationml/2006/ole">
            <mc:AlternateContent xmlns:mc="http://schemas.openxmlformats.org/markup-compatibility/2006">
              <mc:Choice xmlns:v="urn:schemas-microsoft-com:vml" Requires="v">
                <p:oleObj name="Equation" r:id="rId5" imgW="2527200" imgH="457200" progId="Equation.DSMT4">
                  <p:embed/>
                </p:oleObj>
              </mc:Choice>
              <mc:Fallback>
                <p:oleObj name="Equation" r:id="rId5" imgW="2527200" imgH="457200" progId="Equation.DSMT4">
                  <p:embed/>
                  <p:pic>
                    <p:nvPicPr>
                      <p:cNvPr id="14" name="Object 13">
                        <a:extLst>
                          <a:ext uri="{FF2B5EF4-FFF2-40B4-BE49-F238E27FC236}">
                            <a16:creationId xmlns:a16="http://schemas.microsoft.com/office/drawing/2014/main" id="{B1605455-B54A-4E53-AB19-E5809CC933F7}"/>
                          </a:ext>
                        </a:extLst>
                      </p:cNvPr>
                      <p:cNvPicPr/>
                      <p:nvPr/>
                    </p:nvPicPr>
                    <p:blipFill>
                      <a:blip r:embed="rId6"/>
                      <a:stretch>
                        <a:fillRect/>
                      </a:stretch>
                    </p:blipFill>
                    <p:spPr>
                      <a:xfrm>
                        <a:off x="1295400" y="2413323"/>
                        <a:ext cx="4837112" cy="874713"/>
                      </a:xfrm>
                      <a:prstGeom prst="rect">
                        <a:avLst/>
                      </a:prstGeom>
                      <a:ln w="38100">
                        <a:solidFill>
                          <a:srgbClr val="FF0066"/>
                        </a:solidFill>
                      </a:ln>
                    </p:spPr>
                  </p:pic>
                </p:oleObj>
              </mc:Fallback>
            </mc:AlternateContent>
          </a:graphicData>
        </a:graphic>
      </p:graphicFrame>
      <p:pic>
        <p:nvPicPr>
          <p:cNvPr id="18" name="Picture Placeholder 5" descr="The figure illustrates a circuit with an ideal transformer, powered by a voltage source.&#10;Long description is available in notes, Press F6.">
            <a:extLst>
              <a:ext uri="{FF2B5EF4-FFF2-40B4-BE49-F238E27FC236}">
                <a16:creationId xmlns:a16="http://schemas.microsoft.com/office/drawing/2014/main" id="{06FBFEBB-47B0-4028-BB8A-89D39055E463}"/>
              </a:ext>
            </a:extLst>
          </p:cNvPr>
          <p:cNvPicPr>
            <a:picLocks noChangeAspect="1"/>
          </p:cNvPicPr>
          <p:nvPr/>
        </p:nvPicPr>
        <p:blipFill>
          <a:blip r:embed="rId7"/>
          <a:stretch/>
        </p:blipFill>
        <p:spPr>
          <a:xfrm>
            <a:off x="2642101" y="4677450"/>
            <a:ext cx="6257793" cy="2180549"/>
          </a:xfrm>
          <a:prstGeom prst="rect">
            <a:avLst/>
          </a:prstGeom>
        </p:spPr>
      </p:pic>
    </p:spTree>
    <p:extLst>
      <p:ext uri="{BB962C8B-B14F-4D97-AF65-F5344CB8AC3E}">
        <p14:creationId xmlns:p14="http://schemas.microsoft.com/office/powerpoint/2010/main" val="963207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4" name="Rectangle 14">
            <a:extLst>
              <a:ext uri="{FF2B5EF4-FFF2-40B4-BE49-F238E27FC236}">
                <a16:creationId xmlns:a16="http://schemas.microsoft.com/office/drawing/2014/main" id="{E0B0BE02-302A-4863-8E81-CD127EC79BCE}"/>
              </a:ext>
            </a:extLst>
          </p:cNvPr>
          <p:cNvSpPr>
            <a:spLocks noChangeArrowheads="1"/>
          </p:cNvSpPr>
          <p:nvPr/>
        </p:nvSpPr>
        <p:spPr bwMode="auto">
          <a:xfrm>
            <a:off x="838200" y="2362200"/>
            <a:ext cx="3886200" cy="990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0251" name="Text Box 11">
            <a:extLst>
              <a:ext uri="{FF2B5EF4-FFF2-40B4-BE49-F238E27FC236}">
                <a16:creationId xmlns:a16="http://schemas.microsoft.com/office/drawing/2014/main" id="{BB242AF9-91EF-4AB5-8ACA-F3AC361F7F22}"/>
              </a:ext>
            </a:extLst>
          </p:cNvPr>
          <p:cNvSpPr txBox="1">
            <a:spLocks noChangeArrowheads="1"/>
          </p:cNvSpPr>
          <p:nvPr/>
        </p:nvSpPr>
        <p:spPr bwMode="auto">
          <a:xfrm>
            <a:off x="7620000" y="1371600"/>
            <a:ext cx="1524000" cy="1920875"/>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Arial" panose="020B0604020202020204" pitchFamily="34" charset="0"/>
              </a:rPr>
              <a:t>This figure is taken from the Rizzoni text, Rev. 4</a:t>
            </a:r>
            <a:r>
              <a:rPr lang="en-US" altLang="en-US" sz="2000" baseline="30000">
                <a:latin typeface="Arial" panose="020B0604020202020204" pitchFamily="34" charset="0"/>
              </a:rPr>
              <a:t>th</a:t>
            </a:r>
            <a:r>
              <a:rPr lang="en-US" altLang="en-US" sz="2000">
                <a:latin typeface="Arial" panose="020B0604020202020204" pitchFamily="34" charset="0"/>
              </a:rPr>
              <a:t> Ed.</a:t>
            </a:r>
          </a:p>
        </p:txBody>
      </p:sp>
      <p:sp>
        <p:nvSpPr>
          <p:cNvPr id="1290242" name="Rectangle 2">
            <a:extLst>
              <a:ext uri="{FF2B5EF4-FFF2-40B4-BE49-F238E27FC236}">
                <a16:creationId xmlns:a16="http://schemas.microsoft.com/office/drawing/2014/main" id="{46727CEE-301A-4483-8F29-A99801EBDF7F}"/>
              </a:ext>
            </a:extLst>
          </p:cNvPr>
          <p:cNvSpPr>
            <a:spLocks noGrp="1" noChangeArrowheads="1"/>
          </p:cNvSpPr>
          <p:nvPr>
            <p:ph type="title"/>
          </p:nvPr>
        </p:nvSpPr>
        <p:spPr>
          <a:xfrm>
            <a:off x="2286000" y="76200"/>
            <a:ext cx="6553200" cy="1066800"/>
          </a:xfrm>
        </p:spPr>
        <p:txBody>
          <a:bodyPr/>
          <a:lstStyle/>
          <a:p>
            <a:r>
              <a:rPr lang="en-US" altLang="en-US" sz="3200" dirty="0">
                <a:cs typeface="Times New Roman" panose="02020603050405020304" pitchFamily="18" charset="0"/>
              </a:rPr>
              <a:t>Impedance Reflection with Transformers</a:t>
            </a:r>
            <a:r>
              <a:rPr lang="en-US" altLang="en-US" sz="3200" dirty="0"/>
              <a:t> </a:t>
            </a:r>
          </a:p>
        </p:txBody>
      </p:sp>
      <p:sp>
        <p:nvSpPr>
          <p:cNvPr id="1290243" name="Text Box 3">
            <a:extLst>
              <a:ext uri="{FF2B5EF4-FFF2-40B4-BE49-F238E27FC236}">
                <a16:creationId xmlns:a16="http://schemas.microsoft.com/office/drawing/2014/main" id="{26A375D7-4D1E-4351-9998-443421D70C4F}"/>
              </a:ext>
            </a:extLst>
          </p:cNvPr>
          <p:cNvSpPr txBox="1">
            <a:spLocks noChangeArrowheads="1"/>
          </p:cNvSpPr>
          <p:nvPr/>
        </p:nvSpPr>
        <p:spPr bwMode="auto">
          <a:xfrm>
            <a:off x="228600" y="1106488"/>
            <a:ext cx="6400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en-US" dirty="0">
                <a:latin typeface="Arial" panose="020B0604020202020204" pitchFamily="34" charset="0"/>
                <a:cs typeface="Arial" panose="020B0604020202020204" pitchFamily="34" charset="0"/>
              </a:rPr>
              <a:t>Transformers can be used to match loads (impedances).  Note that with the dot conventions given here, we have</a:t>
            </a:r>
            <a:endParaRPr lang="en-US" altLang="en-US" dirty="0">
              <a:latin typeface="New York" charset="0"/>
              <a:cs typeface="Times New Roman" panose="02020603050405020304" pitchFamily="18" charset="0"/>
            </a:endParaRPr>
          </a:p>
        </p:txBody>
      </p:sp>
      <p:pic>
        <p:nvPicPr>
          <p:cNvPr id="1290250" name="Picture 10">
            <a:extLst>
              <a:ext uri="{FF2B5EF4-FFF2-40B4-BE49-F238E27FC236}">
                <a16:creationId xmlns:a16="http://schemas.microsoft.com/office/drawing/2014/main" id="{2F31D247-828E-4956-ABAC-E82D0B07C9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847" r="11905" b="20630"/>
          <a:stretch>
            <a:fillRect/>
          </a:stretch>
        </p:blipFill>
        <p:spPr bwMode="auto">
          <a:xfrm>
            <a:off x="5410200" y="3224213"/>
            <a:ext cx="3733800" cy="363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290252" name="Object 12">
            <a:extLst>
              <a:ext uri="{FF2B5EF4-FFF2-40B4-BE49-F238E27FC236}">
                <a16:creationId xmlns:a16="http://schemas.microsoft.com/office/drawing/2014/main" id="{D404EDA8-9C0D-4606-8D2B-416D525CE9C6}"/>
              </a:ext>
            </a:extLst>
          </p:cNvPr>
          <p:cNvGraphicFramePr>
            <a:graphicFrameLocks noChangeAspect="1"/>
          </p:cNvGraphicFramePr>
          <p:nvPr/>
        </p:nvGraphicFramePr>
        <p:xfrm>
          <a:off x="1066800" y="2362200"/>
          <a:ext cx="2030413" cy="981075"/>
        </p:xfrm>
        <a:graphic>
          <a:graphicData uri="http://schemas.openxmlformats.org/presentationml/2006/ole">
            <mc:AlternateContent xmlns:mc="http://schemas.openxmlformats.org/markup-compatibility/2006">
              <mc:Choice xmlns:v="urn:schemas-microsoft-com:vml" Requires="v">
                <p:oleObj name="Equation" r:id="rId4" imgW="825480" imgH="393480" progId="Equation.DSMT4">
                  <p:embed/>
                </p:oleObj>
              </mc:Choice>
              <mc:Fallback>
                <p:oleObj name="Equation" r:id="rId4" imgW="825480" imgH="393480" progId="Equation.DSMT4">
                  <p:embed/>
                  <p:pic>
                    <p:nvPicPr>
                      <p:cNvPr id="1290252" name="Object 12">
                        <a:extLst>
                          <a:ext uri="{FF2B5EF4-FFF2-40B4-BE49-F238E27FC236}">
                            <a16:creationId xmlns:a16="http://schemas.microsoft.com/office/drawing/2014/main" id="{D404EDA8-9C0D-4606-8D2B-416D525CE9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2362200"/>
                        <a:ext cx="2030413"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255" name="Object 15">
            <a:extLst>
              <a:ext uri="{FF2B5EF4-FFF2-40B4-BE49-F238E27FC236}">
                <a16:creationId xmlns:a16="http://schemas.microsoft.com/office/drawing/2014/main" id="{67D9C956-A9D7-40FF-B4CC-477127E8C9F7}"/>
              </a:ext>
            </a:extLst>
          </p:cNvPr>
          <p:cNvGraphicFramePr>
            <a:graphicFrameLocks noChangeAspect="1"/>
          </p:cNvGraphicFramePr>
          <p:nvPr/>
        </p:nvGraphicFramePr>
        <p:xfrm>
          <a:off x="3124200" y="2590800"/>
          <a:ext cx="1476375" cy="542925"/>
        </p:xfrm>
        <a:graphic>
          <a:graphicData uri="http://schemas.openxmlformats.org/presentationml/2006/ole">
            <mc:AlternateContent xmlns:mc="http://schemas.openxmlformats.org/markup-compatibility/2006">
              <mc:Choice xmlns:v="urn:schemas-microsoft-com:vml" Requires="v">
                <p:oleObj r:id="rId6" imgW="596641" imgH="215806" progId="Equation.DSMT4">
                  <p:embed/>
                </p:oleObj>
              </mc:Choice>
              <mc:Fallback>
                <p:oleObj r:id="rId6" imgW="596641" imgH="215806" progId="Equation.DSMT4">
                  <p:embed/>
                  <p:pic>
                    <p:nvPicPr>
                      <p:cNvPr id="1290255" name="Object 15">
                        <a:extLst>
                          <a:ext uri="{FF2B5EF4-FFF2-40B4-BE49-F238E27FC236}">
                            <a16:creationId xmlns:a16="http://schemas.microsoft.com/office/drawing/2014/main" id="{67D9C956-A9D7-40FF-B4CC-477127E8C9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24200" y="2590800"/>
                        <a:ext cx="1476375"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257" name="Text Box 17">
            <a:extLst>
              <a:ext uri="{FF2B5EF4-FFF2-40B4-BE49-F238E27FC236}">
                <a16:creationId xmlns:a16="http://schemas.microsoft.com/office/drawing/2014/main" id="{BB4D64F1-D116-4D8F-88F4-0C0172BAAF42}"/>
              </a:ext>
            </a:extLst>
          </p:cNvPr>
          <p:cNvSpPr txBox="1">
            <a:spLocks noChangeArrowheads="1"/>
          </p:cNvSpPr>
          <p:nvPr/>
        </p:nvSpPr>
        <p:spPr bwMode="auto">
          <a:xfrm>
            <a:off x="381000" y="3352800"/>
            <a:ext cx="48768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Arial" panose="020B0604020202020204" pitchFamily="34" charset="0"/>
                <a:cs typeface="Arial" panose="020B0604020202020204" pitchFamily="34" charset="0"/>
              </a:rPr>
              <a:t>If we divide the first equation by the second, we get</a:t>
            </a:r>
            <a:r>
              <a:rPr lang="en-US" altLang="en-US">
                <a:latin typeface="New York" charset="0"/>
                <a:cs typeface="Times New Roman" panose="02020603050405020304" pitchFamily="18" charset="0"/>
              </a:rPr>
              <a:t> </a:t>
            </a:r>
          </a:p>
        </p:txBody>
      </p:sp>
      <p:sp>
        <p:nvSpPr>
          <p:cNvPr id="1290258" name="Rectangle 18">
            <a:extLst>
              <a:ext uri="{FF2B5EF4-FFF2-40B4-BE49-F238E27FC236}">
                <a16:creationId xmlns:a16="http://schemas.microsoft.com/office/drawing/2014/main" id="{3298E931-64FC-4EBD-9C44-3189FA141F0F}"/>
              </a:ext>
            </a:extLst>
          </p:cNvPr>
          <p:cNvSpPr>
            <a:spLocks noChangeArrowheads="1"/>
          </p:cNvSpPr>
          <p:nvPr/>
        </p:nvSpPr>
        <p:spPr bwMode="auto">
          <a:xfrm>
            <a:off x="381000" y="4191000"/>
            <a:ext cx="3810000" cy="25146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290259" name="Object 19">
            <a:extLst>
              <a:ext uri="{FF2B5EF4-FFF2-40B4-BE49-F238E27FC236}">
                <a16:creationId xmlns:a16="http://schemas.microsoft.com/office/drawing/2014/main" id="{52AFD217-1CAD-40D5-918E-9BF531A30BA1}"/>
              </a:ext>
            </a:extLst>
          </p:cNvPr>
          <p:cNvGraphicFramePr>
            <a:graphicFrameLocks noChangeAspect="1"/>
          </p:cNvGraphicFramePr>
          <p:nvPr/>
        </p:nvGraphicFramePr>
        <p:xfrm>
          <a:off x="533400" y="4267200"/>
          <a:ext cx="2419350" cy="1076325"/>
        </p:xfrm>
        <a:graphic>
          <a:graphicData uri="http://schemas.openxmlformats.org/presentationml/2006/ole">
            <mc:AlternateContent xmlns:mc="http://schemas.openxmlformats.org/markup-compatibility/2006">
              <mc:Choice xmlns:v="urn:schemas-microsoft-com:vml" Requires="v">
                <p:oleObj name="Equation" r:id="rId8" imgW="977760" imgH="431640" progId="Equation.DSMT4">
                  <p:embed/>
                </p:oleObj>
              </mc:Choice>
              <mc:Fallback>
                <p:oleObj name="Equation" r:id="rId8" imgW="977760" imgH="431640" progId="Equation.DSMT4">
                  <p:embed/>
                  <p:pic>
                    <p:nvPicPr>
                      <p:cNvPr id="1290259" name="Object 19">
                        <a:extLst>
                          <a:ext uri="{FF2B5EF4-FFF2-40B4-BE49-F238E27FC236}">
                            <a16:creationId xmlns:a16="http://schemas.microsoft.com/office/drawing/2014/main" id="{52AFD217-1CAD-40D5-918E-9BF531A30BA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 y="4267200"/>
                        <a:ext cx="2419350" cy="1076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90261" name="Object 21">
            <a:extLst>
              <a:ext uri="{FF2B5EF4-FFF2-40B4-BE49-F238E27FC236}">
                <a16:creationId xmlns:a16="http://schemas.microsoft.com/office/drawing/2014/main" id="{FF5364F5-59A9-4668-9F20-15C35F2C8E12}"/>
              </a:ext>
            </a:extLst>
          </p:cNvPr>
          <p:cNvGraphicFramePr>
            <a:graphicFrameLocks noChangeAspect="1"/>
          </p:cNvGraphicFramePr>
          <p:nvPr/>
        </p:nvGraphicFramePr>
        <p:xfrm>
          <a:off x="457200" y="5486400"/>
          <a:ext cx="3667125" cy="981075"/>
        </p:xfrm>
        <a:graphic>
          <a:graphicData uri="http://schemas.openxmlformats.org/presentationml/2006/ole">
            <mc:AlternateContent xmlns:mc="http://schemas.openxmlformats.org/markup-compatibility/2006">
              <mc:Choice xmlns:v="urn:schemas-microsoft-com:vml" Requires="v">
                <p:oleObj r:id="rId10" imgW="1485900" imgH="393700" progId="Equation.DSMT4">
                  <p:embed/>
                </p:oleObj>
              </mc:Choice>
              <mc:Fallback>
                <p:oleObj r:id="rId10" imgW="1485900" imgH="393700" progId="Equation.DSMT4">
                  <p:embed/>
                  <p:pic>
                    <p:nvPicPr>
                      <p:cNvPr id="1290261" name="Object 21">
                        <a:extLst>
                          <a:ext uri="{FF2B5EF4-FFF2-40B4-BE49-F238E27FC236}">
                            <a16:creationId xmlns:a16="http://schemas.microsoft.com/office/drawing/2014/main" id="{FF5364F5-59A9-4668-9F20-15C35F2C8E1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7200" y="5486400"/>
                        <a:ext cx="3667125"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2291" name="Text Box 3">
            <a:extLst>
              <a:ext uri="{FF2B5EF4-FFF2-40B4-BE49-F238E27FC236}">
                <a16:creationId xmlns:a16="http://schemas.microsoft.com/office/drawing/2014/main" id="{60266B9B-5185-4DA6-8085-426D5BD165DA}"/>
              </a:ext>
            </a:extLst>
          </p:cNvPr>
          <p:cNvSpPr txBox="1">
            <a:spLocks noChangeArrowheads="1"/>
          </p:cNvSpPr>
          <p:nvPr/>
        </p:nvSpPr>
        <p:spPr bwMode="auto">
          <a:xfrm>
            <a:off x="7620000" y="1371600"/>
            <a:ext cx="1524000" cy="1920875"/>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latin typeface="Arial" panose="020B0604020202020204" pitchFamily="34" charset="0"/>
              </a:rPr>
              <a:t>This figure is taken from the </a:t>
            </a:r>
            <a:r>
              <a:rPr lang="en-US" altLang="en-US" sz="2000" dirty="0" err="1">
                <a:latin typeface="Arial" panose="020B0604020202020204" pitchFamily="34" charset="0"/>
              </a:rPr>
              <a:t>Rizzoni</a:t>
            </a:r>
            <a:r>
              <a:rPr lang="en-US" altLang="en-US" sz="2000" dirty="0">
                <a:latin typeface="Arial" panose="020B0604020202020204" pitchFamily="34" charset="0"/>
              </a:rPr>
              <a:t> text, Rev. 4</a:t>
            </a:r>
            <a:r>
              <a:rPr lang="en-US" altLang="en-US" sz="2000" baseline="30000" dirty="0">
                <a:latin typeface="Arial" panose="020B0604020202020204" pitchFamily="34" charset="0"/>
              </a:rPr>
              <a:t>th</a:t>
            </a:r>
            <a:r>
              <a:rPr lang="en-US" altLang="en-US" sz="2000" dirty="0">
                <a:latin typeface="Arial" panose="020B0604020202020204" pitchFamily="34" charset="0"/>
              </a:rPr>
              <a:t> Ed.</a:t>
            </a:r>
          </a:p>
        </p:txBody>
      </p:sp>
      <p:sp>
        <p:nvSpPr>
          <p:cNvPr id="1292292" name="Rectangle 4">
            <a:extLst>
              <a:ext uri="{FF2B5EF4-FFF2-40B4-BE49-F238E27FC236}">
                <a16:creationId xmlns:a16="http://schemas.microsoft.com/office/drawing/2014/main" id="{22F2896C-182B-4032-9690-98364B85869D}"/>
              </a:ext>
            </a:extLst>
          </p:cNvPr>
          <p:cNvSpPr>
            <a:spLocks noGrp="1" noChangeArrowheads="1"/>
          </p:cNvSpPr>
          <p:nvPr>
            <p:ph type="title"/>
          </p:nvPr>
        </p:nvSpPr>
        <p:spPr>
          <a:xfrm>
            <a:off x="2286000" y="0"/>
            <a:ext cx="6629400" cy="1066800"/>
          </a:xfrm>
        </p:spPr>
        <p:txBody>
          <a:bodyPr/>
          <a:lstStyle/>
          <a:p>
            <a:r>
              <a:rPr lang="en-US" altLang="en-US" sz="3200" dirty="0">
                <a:cs typeface="Times New Roman" panose="02020603050405020304" pitchFamily="18" charset="0"/>
              </a:rPr>
              <a:t>Impedance Reflection with Transformers</a:t>
            </a:r>
            <a:r>
              <a:rPr lang="en-US" altLang="en-US" sz="3200" dirty="0"/>
              <a:t> </a:t>
            </a:r>
          </a:p>
        </p:txBody>
      </p:sp>
      <p:sp>
        <p:nvSpPr>
          <p:cNvPr id="1292293" name="Text Box 5">
            <a:extLst>
              <a:ext uri="{FF2B5EF4-FFF2-40B4-BE49-F238E27FC236}">
                <a16:creationId xmlns:a16="http://schemas.microsoft.com/office/drawing/2014/main" id="{1966F2DA-6BF3-4845-ABCC-9BA335C5B5B5}"/>
              </a:ext>
            </a:extLst>
          </p:cNvPr>
          <p:cNvSpPr txBox="1">
            <a:spLocks noChangeArrowheads="1"/>
          </p:cNvSpPr>
          <p:nvPr/>
        </p:nvSpPr>
        <p:spPr bwMode="auto">
          <a:xfrm>
            <a:off x="228600" y="838200"/>
            <a:ext cx="518160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Arial" panose="020B0604020202020204" pitchFamily="34" charset="0"/>
                <a:cs typeface="Arial" panose="020B0604020202020204" pitchFamily="34" charset="0"/>
              </a:rPr>
              <a:t>Transformers can be used to match loads (impedances). This means that if we look at the apparent impedance seen at the primary side of a transformer (which is just the ratio of the phasor voltage to the phasor current) we will see the impedance at the secondary side divided by the turns ratio squared.  This can be very useful.  It is often referred to as the reflected impedance.</a:t>
            </a:r>
            <a:r>
              <a:rPr lang="en-US" altLang="en-US">
                <a:latin typeface="New York" charset="0"/>
                <a:cs typeface="Times New Roman" panose="02020603050405020304" pitchFamily="18" charset="0"/>
              </a:rPr>
              <a:t> </a:t>
            </a:r>
          </a:p>
        </p:txBody>
      </p:sp>
      <p:pic>
        <p:nvPicPr>
          <p:cNvPr id="1292294" name="Picture 6">
            <a:extLst>
              <a:ext uri="{FF2B5EF4-FFF2-40B4-BE49-F238E27FC236}">
                <a16:creationId xmlns:a16="http://schemas.microsoft.com/office/drawing/2014/main" id="{A9F8828A-38E5-414B-BFDB-D1D377B68E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847" r="11905" b="20630"/>
          <a:stretch>
            <a:fillRect/>
          </a:stretch>
        </p:blipFill>
        <p:spPr bwMode="auto">
          <a:xfrm>
            <a:off x="5410200" y="3224213"/>
            <a:ext cx="3733800" cy="363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92299" name="Rectangle 11">
            <a:extLst>
              <a:ext uri="{FF2B5EF4-FFF2-40B4-BE49-F238E27FC236}">
                <a16:creationId xmlns:a16="http://schemas.microsoft.com/office/drawing/2014/main" id="{B84B4D31-113C-4149-91E2-846A978ADB25}"/>
              </a:ext>
            </a:extLst>
          </p:cNvPr>
          <p:cNvSpPr>
            <a:spLocks noChangeArrowheads="1"/>
          </p:cNvSpPr>
          <p:nvPr/>
        </p:nvSpPr>
        <p:spPr bwMode="auto">
          <a:xfrm>
            <a:off x="381000" y="5410200"/>
            <a:ext cx="3810000" cy="1295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292303" name="Object 15">
            <a:extLst>
              <a:ext uri="{FF2B5EF4-FFF2-40B4-BE49-F238E27FC236}">
                <a16:creationId xmlns:a16="http://schemas.microsoft.com/office/drawing/2014/main" id="{15C070CC-5898-4568-86FB-58EA1388B3FD}"/>
              </a:ext>
            </a:extLst>
          </p:cNvPr>
          <p:cNvGraphicFramePr>
            <a:graphicFrameLocks noChangeAspect="1"/>
          </p:cNvGraphicFramePr>
          <p:nvPr/>
        </p:nvGraphicFramePr>
        <p:xfrm>
          <a:off x="457200" y="5486400"/>
          <a:ext cx="3667125" cy="981075"/>
        </p:xfrm>
        <a:graphic>
          <a:graphicData uri="http://schemas.openxmlformats.org/presentationml/2006/ole">
            <mc:AlternateContent xmlns:mc="http://schemas.openxmlformats.org/markup-compatibility/2006">
              <mc:Choice xmlns:v="urn:schemas-microsoft-com:vml" Requires="v">
                <p:oleObj r:id="rId4" imgW="1485900" imgH="393700" progId="Equation.DSMT4">
                  <p:embed/>
                </p:oleObj>
              </mc:Choice>
              <mc:Fallback>
                <p:oleObj r:id="rId4" imgW="1485900" imgH="393700" progId="Equation.DSMT4">
                  <p:embed/>
                  <p:pic>
                    <p:nvPicPr>
                      <p:cNvPr id="1292303" name="Object 15">
                        <a:extLst>
                          <a:ext uri="{FF2B5EF4-FFF2-40B4-BE49-F238E27FC236}">
                            <a16:creationId xmlns:a16="http://schemas.microsoft.com/office/drawing/2014/main" id="{15C070CC-5898-4568-86FB-58EA1388B3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5486400"/>
                        <a:ext cx="3667125" cy="981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4345" name="Rectangle 9">
            <a:extLst>
              <a:ext uri="{FF2B5EF4-FFF2-40B4-BE49-F238E27FC236}">
                <a16:creationId xmlns:a16="http://schemas.microsoft.com/office/drawing/2014/main" id="{B091B142-1F75-4D32-A2F6-C3A4BD7EE186}"/>
              </a:ext>
            </a:extLst>
          </p:cNvPr>
          <p:cNvSpPr>
            <a:spLocks noChangeArrowheads="1"/>
          </p:cNvSpPr>
          <p:nvPr/>
        </p:nvSpPr>
        <p:spPr bwMode="auto">
          <a:xfrm>
            <a:off x="1981200" y="2209800"/>
            <a:ext cx="64008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94339" name="Rectangle 3">
            <a:extLst>
              <a:ext uri="{FF2B5EF4-FFF2-40B4-BE49-F238E27FC236}">
                <a16:creationId xmlns:a16="http://schemas.microsoft.com/office/drawing/2014/main" id="{9FC46759-2824-4963-907F-26385B4AC40D}"/>
              </a:ext>
            </a:extLst>
          </p:cNvPr>
          <p:cNvSpPr>
            <a:spLocks noGrp="1" noChangeArrowheads="1"/>
          </p:cNvSpPr>
          <p:nvPr>
            <p:ph type="title"/>
          </p:nvPr>
        </p:nvSpPr>
        <p:spPr>
          <a:xfrm>
            <a:off x="2286000" y="0"/>
            <a:ext cx="6858000" cy="685800"/>
          </a:xfrm>
        </p:spPr>
        <p:txBody>
          <a:bodyPr/>
          <a:lstStyle/>
          <a:p>
            <a:r>
              <a:rPr lang="en-US" altLang="en-US" sz="3600"/>
              <a:t>Example Problem</a:t>
            </a:r>
          </a:p>
        </p:txBody>
      </p:sp>
      <p:sp>
        <p:nvSpPr>
          <p:cNvPr id="1294340" name="Text Box 4">
            <a:extLst>
              <a:ext uri="{FF2B5EF4-FFF2-40B4-BE49-F238E27FC236}">
                <a16:creationId xmlns:a16="http://schemas.microsoft.com/office/drawing/2014/main" id="{9BF20303-E311-4C05-9FD4-A93AD3DA0411}"/>
              </a:ext>
            </a:extLst>
          </p:cNvPr>
          <p:cNvSpPr txBox="1">
            <a:spLocks noChangeArrowheads="1"/>
          </p:cNvSpPr>
          <p:nvPr/>
        </p:nvSpPr>
        <p:spPr bwMode="auto">
          <a:xfrm>
            <a:off x="228600" y="838200"/>
            <a:ext cx="8686800" cy="1370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a:latin typeface="Arial" panose="020B0604020202020204" pitchFamily="34" charset="0"/>
                <a:cs typeface="Arial" panose="020B0604020202020204" pitchFamily="34" charset="0"/>
              </a:rPr>
              <a:t>Let’s do an example problem.</a:t>
            </a:r>
          </a:p>
          <a:p>
            <a:pPr>
              <a:spcBef>
                <a:spcPct val="50000"/>
              </a:spcBef>
            </a:pPr>
            <a:r>
              <a:rPr lang="en-US" altLang="en-US">
                <a:latin typeface="Arial" panose="020B0604020202020204" pitchFamily="34" charset="0"/>
                <a:cs typeface="Arial" panose="020B0604020202020204" pitchFamily="34" charset="0"/>
              </a:rPr>
              <a:t>Assume that the transformer in this problem is ideal, with a turns ratio N equal to 8.  Find </a:t>
            </a:r>
            <a:r>
              <a:rPr lang="en-US" altLang="en-US" b="1" i="1">
                <a:cs typeface="Arial" panose="020B0604020202020204" pitchFamily="34" charset="0"/>
              </a:rPr>
              <a:t>V</a:t>
            </a:r>
            <a:r>
              <a:rPr lang="en-US" altLang="en-US" i="1" baseline="-25000">
                <a:cs typeface="Arial" panose="020B0604020202020204" pitchFamily="34" charset="0"/>
              </a:rPr>
              <a:t>l,m</a:t>
            </a:r>
            <a:r>
              <a:rPr lang="en-US" altLang="en-US" i="1">
                <a:cs typeface="Arial" panose="020B0604020202020204" pitchFamily="34" charset="0"/>
              </a:rPr>
              <a:t>(</a:t>
            </a:r>
            <a:r>
              <a:rPr lang="en-US" altLang="en-US" i="1">
                <a:latin typeface="Symbol" panose="05050102010706020507" pitchFamily="18" charset="2"/>
                <a:cs typeface="Arial" panose="020B0604020202020204" pitchFamily="34" charset="0"/>
              </a:rPr>
              <a:t>w</a:t>
            </a:r>
            <a:r>
              <a:rPr lang="en-US" altLang="en-US" i="1">
                <a:cs typeface="Arial" panose="020B0604020202020204" pitchFamily="34" charset="0"/>
              </a:rPr>
              <a:t>).</a:t>
            </a:r>
            <a:endParaRPr lang="en-US" altLang="en-US" i="1">
              <a:cs typeface="Times New Roman" panose="02020603050405020304" pitchFamily="18" charset="0"/>
            </a:endParaRPr>
          </a:p>
        </p:txBody>
      </p:sp>
      <p:sp>
        <p:nvSpPr>
          <p:cNvPr id="1294342" name="Rectangle 6">
            <a:extLst>
              <a:ext uri="{FF2B5EF4-FFF2-40B4-BE49-F238E27FC236}">
                <a16:creationId xmlns:a16="http://schemas.microsoft.com/office/drawing/2014/main" id="{A7132A23-7A19-4EA2-ACB5-4951C9A67D09}"/>
              </a:ext>
            </a:extLst>
          </p:cNvPr>
          <p:cNvSpPr>
            <a:spLocks noChangeArrowheads="1"/>
          </p:cNvSpPr>
          <p:nvPr/>
        </p:nvSpPr>
        <p:spPr bwMode="auto">
          <a:xfrm>
            <a:off x="381000" y="5410200"/>
            <a:ext cx="3810000" cy="9144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294344" name="Object 8">
            <a:extLst>
              <a:ext uri="{FF2B5EF4-FFF2-40B4-BE49-F238E27FC236}">
                <a16:creationId xmlns:a16="http://schemas.microsoft.com/office/drawing/2014/main" id="{135D61F8-5E3D-49D0-9140-44E9F20EC6D6}"/>
              </a:ext>
            </a:extLst>
          </p:cNvPr>
          <p:cNvGraphicFramePr>
            <a:graphicFrameLocks noChangeAspect="1"/>
          </p:cNvGraphicFramePr>
          <p:nvPr/>
        </p:nvGraphicFramePr>
        <p:xfrm>
          <a:off x="2057400" y="2286000"/>
          <a:ext cx="6208713" cy="2908300"/>
        </p:xfrm>
        <a:graphic>
          <a:graphicData uri="http://schemas.openxmlformats.org/presentationml/2006/ole">
            <mc:AlternateContent xmlns:mc="http://schemas.openxmlformats.org/markup-compatibility/2006">
              <mc:Choice xmlns:v="urn:schemas-microsoft-com:vml" Requires="v">
                <p:oleObj name="Visio" r:id="rId3" imgW="6208295" imgH="2909090" progId="Visio.Drawing.11">
                  <p:embed/>
                </p:oleObj>
              </mc:Choice>
              <mc:Fallback>
                <p:oleObj name="Visio" r:id="rId3" imgW="6208295" imgH="2909090" progId="Visio.Drawing.11">
                  <p:embed/>
                  <p:pic>
                    <p:nvPicPr>
                      <p:cNvPr id="1294344" name="Object 8">
                        <a:extLst>
                          <a:ext uri="{FF2B5EF4-FFF2-40B4-BE49-F238E27FC236}">
                            <a16:creationId xmlns:a16="http://schemas.microsoft.com/office/drawing/2014/main" id="{135D61F8-5E3D-49D0-9140-44E9F20EC6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286000"/>
                        <a:ext cx="6208713" cy="290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94346" name="Object 10">
            <a:extLst>
              <a:ext uri="{FF2B5EF4-FFF2-40B4-BE49-F238E27FC236}">
                <a16:creationId xmlns:a16="http://schemas.microsoft.com/office/drawing/2014/main" id="{B6AE4950-A7E1-4C47-9B45-E9207CF5CA23}"/>
              </a:ext>
            </a:extLst>
          </p:cNvPr>
          <p:cNvGraphicFramePr>
            <a:graphicFrameLocks noChangeAspect="1"/>
          </p:cNvGraphicFramePr>
          <p:nvPr/>
        </p:nvGraphicFramePr>
        <p:xfrm>
          <a:off x="533400" y="5562600"/>
          <a:ext cx="3505200" cy="661988"/>
        </p:xfrm>
        <a:graphic>
          <a:graphicData uri="http://schemas.openxmlformats.org/presentationml/2006/ole">
            <mc:AlternateContent xmlns:mc="http://schemas.openxmlformats.org/markup-compatibility/2006">
              <mc:Choice xmlns:v="urn:schemas-microsoft-com:vml" Requires="v">
                <p:oleObj name="Equation" r:id="rId5" imgW="1346040" imgH="253800" progId="Equation.DSMT4">
                  <p:embed/>
                </p:oleObj>
              </mc:Choice>
              <mc:Fallback>
                <p:oleObj name="Equation" r:id="rId5" imgW="1346040" imgH="253800" progId="Equation.DSMT4">
                  <p:embed/>
                  <p:pic>
                    <p:nvPicPr>
                      <p:cNvPr id="1294346" name="Object 10">
                        <a:extLst>
                          <a:ext uri="{FF2B5EF4-FFF2-40B4-BE49-F238E27FC236}">
                            <a16:creationId xmlns:a16="http://schemas.microsoft.com/office/drawing/2014/main" id="{B6AE4950-A7E1-4C47-9B45-E9207CF5CA2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5562600"/>
                        <a:ext cx="3505200" cy="661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94349" name="Group 13">
            <a:extLst>
              <a:ext uri="{FF2B5EF4-FFF2-40B4-BE49-F238E27FC236}">
                <a16:creationId xmlns:a16="http://schemas.microsoft.com/office/drawing/2014/main" id="{F8F4AA5E-A7F4-4A95-96EB-0056F34B2BDF}"/>
              </a:ext>
            </a:extLst>
          </p:cNvPr>
          <p:cNvGrpSpPr>
            <a:grpSpLocks/>
          </p:cNvGrpSpPr>
          <p:nvPr/>
        </p:nvGrpSpPr>
        <p:grpSpPr bwMode="auto">
          <a:xfrm>
            <a:off x="4267200" y="5410200"/>
            <a:ext cx="4724400" cy="1295400"/>
            <a:chOff x="2688" y="3408"/>
            <a:chExt cx="2976" cy="816"/>
          </a:xfrm>
        </p:grpSpPr>
        <p:sp>
          <p:nvSpPr>
            <p:cNvPr id="1294348" name="Rectangle 12">
              <a:extLst>
                <a:ext uri="{FF2B5EF4-FFF2-40B4-BE49-F238E27FC236}">
                  <a16:creationId xmlns:a16="http://schemas.microsoft.com/office/drawing/2014/main" id="{71045EFD-75F1-4986-847A-D1FE671EA0CA}"/>
                </a:ext>
              </a:extLst>
            </p:cNvPr>
            <p:cNvSpPr>
              <a:spLocks noChangeArrowheads="1"/>
            </p:cNvSpPr>
            <p:nvPr/>
          </p:nvSpPr>
          <p:spPr bwMode="auto">
            <a:xfrm>
              <a:off x="2688" y="3408"/>
              <a:ext cx="2976" cy="816"/>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aphicFrame>
          <p:nvGraphicFramePr>
            <p:cNvPr id="1294347" name="Object 11">
              <a:extLst>
                <a:ext uri="{FF2B5EF4-FFF2-40B4-BE49-F238E27FC236}">
                  <a16:creationId xmlns:a16="http://schemas.microsoft.com/office/drawing/2014/main" id="{D3B816DE-9614-47A1-8F3A-AD81FA7C3F1B}"/>
                </a:ext>
              </a:extLst>
            </p:cNvPr>
            <p:cNvGraphicFramePr>
              <a:graphicFrameLocks noChangeAspect="1"/>
            </p:cNvGraphicFramePr>
            <p:nvPr>
              <p:extLst>
                <p:ext uri="{D42A27DB-BD31-4B8C-83A1-F6EECF244321}">
                  <p14:modId xmlns:p14="http://schemas.microsoft.com/office/powerpoint/2010/main" val="3297699784"/>
                </p:ext>
              </p:extLst>
            </p:nvPr>
          </p:nvGraphicFramePr>
          <p:xfrm>
            <a:off x="2722" y="3456"/>
            <a:ext cx="2938" cy="750"/>
          </p:xfrm>
          <a:graphic>
            <a:graphicData uri="http://schemas.openxmlformats.org/presentationml/2006/ole">
              <mc:AlternateContent xmlns:mc="http://schemas.openxmlformats.org/markup-compatibility/2006">
                <mc:Choice xmlns:v="urn:schemas-microsoft-com:vml" Requires="v">
                  <p:oleObj name="Equation" r:id="rId7" imgW="1790640" imgH="457200" progId="Equation.DSMT4">
                    <p:embed/>
                  </p:oleObj>
                </mc:Choice>
                <mc:Fallback>
                  <p:oleObj name="Equation" r:id="rId7" imgW="1790640" imgH="457200" progId="Equation.DSMT4">
                    <p:embed/>
                    <p:pic>
                      <p:nvPicPr>
                        <p:cNvPr id="1294347" name="Object 11">
                          <a:extLst>
                            <a:ext uri="{FF2B5EF4-FFF2-40B4-BE49-F238E27FC236}">
                              <a16:creationId xmlns:a16="http://schemas.microsoft.com/office/drawing/2014/main" id="{D3B816DE-9614-47A1-8F3A-AD81FA7C3F1B}"/>
                            </a:ext>
                          </a:extLst>
                        </p:cNvPr>
                        <p:cNvPicPr>
                          <a:picLocks noChangeAspect="1" noChangeArrowheads="1"/>
                        </p:cNvPicPr>
                        <p:nvPr/>
                      </p:nvPicPr>
                      <p:blipFill>
                        <a:blip r:embed="rId8"/>
                        <a:srcRect/>
                        <a:stretch>
                          <a:fillRect/>
                        </a:stretch>
                      </p:blipFill>
                      <p:spPr bwMode="auto">
                        <a:xfrm>
                          <a:off x="2722" y="3456"/>
                          <a:ext cx="2938" cy="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294349"/>
                                        </p:tgtEl>
                                        <p:attrNameLst>
                                          <p:attrName>style.visibility</p:attrName>
                                        </p:attrNameLst>
                                      </p:cBhvr>
                                      <p:to>
                                        <p:strVal val="visible"/>
                                      </p:to>
                                    </p:set>
                                    <p:animEffect transition="in" filter="dissolve">
                                      <p:cBhvr>
                                        <p:cTn id="7" dur="500"/>
                                        <p:tgtEl>
                                          <p:spTgt spid="12943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477000" cy="685800"/>
          </a:xfrm>
        </p:spPr>
        <p:txBody>
          <a:bodyPr/>
          <a:lstStyle/>
          <a:p>
            <a:r>
              <a:rPr lang="en-US" altLang="en-US" sz="4000" dirty="0">
                <a:cs typeface="Times New Roman" panose="02020603050405020304" pitchFamily="18" charset="0"/>
              </a:rPr>
              <a:t>Linear Transformers</a:t>
            </a:r>
            <a:r>
              <a:rPr lang="en-US" altLang="en-US" sz="4000" dirty="0"/>
              <a:t> </a:t>
            </a:r>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nvGraphicFramePr>
        <p:xfrm>
          <a:off x="6191250" y="5334000"/>
          <a:ext cx="2952750" cy="1209675"/>
        </p:xfrm>
        <a:graphic>
          <a:graphicData uri="http://schemas.openxmlformats.org/presentationml/2006/ole">
            <mc:AlternateContent xmlns:mc="http://schemas.openxmlformats.org/markup-compatibility/2006">
              <mc:Choice xmlns:v="urn:schemas-microsoft-com:vml" Requires="v">
                <p:oleObj r:id="rId3" imgW="1193800" imgH="482600" progId="Equation.DSMT4">
                  <p:embed/>
                </p:oleObj>
              </mc:Choice>
              <mc:Fallback>
                <p:oleObj r:id="rId3" imgW="1193800" imgH="4826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5334000"/>
                        <a:ext cx="295275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381000" y="3581400"/>
            <a:ext cx="83820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Placeholder 5" descr="The figure illustrates a domain circuit model for a transformer which is used to connect a load to a source.&#10;Long description is available in notes, Press F6.">
            <a:extLst>
              <a:ext uri="{FF2B5EF4-FFF2-40B4-BE49-F238E27FC236}">
                <a16:creationId xmlns:a16="http://schemas.microsoft.com/office/drawing/2014/main" id="{93EAA124-526E-41B8-9D88-49017AE8FAB1}"/>
              </a:ext>
            </a:extLst>
          </p:cNvPr>
          <p:cNvPicPr>
            <a:picLocks noChangeAspect="1"/>
          </p:cNvPicPr>
          <p:nvPr/>
        </p:nvPicPr>
        <p:blipFill>
          <a:blip r:embed="rId5"/>
          <a:stretch/>
        </p:blipFill>
        <p:spPr>
          <a:xfrm>
            <a:off x="1259724" y="3699702"/>
            <a:ext cx="6858000" cy="2897634"/>
          </a:xfrm>
          <a:prstGeom prst="rect">
            <a:avLst/>
          </a:prstGeom>
        </p:spPr>
      </p:pic>
      <p:sp>
        <p:nvSpPr>
          <p:cNvPr id="2" name="Content Placeholder 1">
            <a:extLst>
              <a:ext uri="{FF2B5EF4-FFF2-40B4-BE49-F238E27FC236}">
                <a16:creationId xmlns:a16="http://schemas.microsoft.com/office/drawing/2014/main" id="{CB0C88EB-DB1D-4DA7-8CC3-B83B8C9FC406}"/>
              </a:ext>
            </a:extLst>
          </p:cNvPr>
          <p:cNvSpPr>
            <a:spLocks noGrp="1"/>
          </p:cNvSpPr>
          <p:nvPr>
            <p:ph idx="1"/>
          </p:nvPr>
        </p:nvSpPr>
        <p:spPr>
          <a:xfrm>
            <a:off x="152400" y="976167"/>
            <a:ext cx="6400800" cy="2519508"/>
          </a:xfrm>
        </p:spPr>
        <p:txBody>
          <a:bodyPr/>
          <a:lstStyle/>
          <a:p>
            <a:pPr marL="0" indent="0">
              <a:buNone/>
            </a:pPr>
            <a:r>
              <a:rPr lang="en-US" dirty="0"/>
              <a:t>Let us return to our more general case, where we do not meet the three criteria needed to consider the transformer to be ideal.  We will call this a linear transformer. </a:t>
            </a:r>
          </a:p>
        </p:txBody>
      </p:sp>
      <p:sp>
        <p:nvSpPr>
          <p:cNvPr id="9" name="Title 1">
            <a:extLst>
              <a:ext uri="{FF2B5EF4-FFF2-40B4-BE49-F238E27FC236}">
                <a16:creationId xmlns:a16="http://schemas.microsoft.com/office/drawing/2014/main" id="{7D6A944A-1C7D-476F-B7A2-2A6A3594ED63}"/>
              </a:ext>
            </a:extLst>
          </p:cNvPr>
          <p:cNvSpPr txBox="1">
            <a:spLocks/>
          </p:cNvSpPr>
          <p:nvPr/>
        </p:nvSpPr>
        <p:spPr bwMode="auto">
          <a:xfrm>
            <a:off x="6634316" y="2291357"/>
            <a:ext cx="2187357" cy="1323439"/>
          </a:xfrm>
          <a:prstGeom prst="rect">
            <a:avLst/>
          </a:prstGeom>
          <a:solidFill>
            <a:schemeClr val="accent2"/>
          </a:solidFill>
          <a:ln>
            <a:noFill/>
          </a:ln>
          <a:effectLst/>
          <a:extLs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en-US"/>
            </a:defPPr>
            <a:lvl1pPr>
              <a:spcBef>
                <a:spcPct val="50000"/>
              </a:spcBef>
              <a:defRPr sz="2000">
                <a:latin typeface="Arial" panose="020B0604020202020204" pitchFamily="34" charset="0"/>
              </a:defRPr>
            </a:lvl1pPr>
          </a:lstStyle>
          <a:p>
            <a:r>
              <a:rPr lang="en-US" dirty="0"/>
              <a:t>This is Fig 9.41 from the Nilsson and Reidel textbook.</a:t>
            </a:r>
          </a:p>
        </p:txBody>
      </p:sp>
    </p:spTree>
    <p:extLst>
      <p:ext uri="{BB962C8B-B14F-4D97-AF65-F5344CB8AC3E}">
        <p14:creationId xmlns:p14="http://schemas.microsoft.com/office/powerpoint/2010/main" val="3159437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477000" cy="685800"/>
          </a:xfrm>
        </p:spPr>
        <p:txBody>
          <a:bodyPr/>
          <a:lstStyle/>
          <a:p>
            <a:r>
              <a:rPr lang="en-US" altLang="en-US" sz="4000" dirty="0">
                <a:cs typeface="Times New Roman" panose="02020603050405020304" pitchFamily="18" charset="0"/>
              </a:rPr>
              <a:t>Linear Transformers</a:t>
            </a:r>
            <a:r>
              <a:rPr lang="en-US" altLang="en-US" sz="4000" dirty="0"/>
              <a:t> </a:t>
            </a:r>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nvGraphicFramePr>
        <p:xfrm>
          <a:off x="6191250" y="5334000"/>
          <a:ext cx="2952750" cy="1209675"/>
        </p:xfrm>
        <a:graphic>
          <a:graphicData uri="http://schemas.openxmlformats.org/presentationml/2006/ole">
            <mc:AlternateContent xmlns:mc="http://schemas.openxmlformats.org/markup-compatibility/2006">
              <mc:Choice xmlns:v="urn:schemas-microsoft-com:vml" Requires="v">
                <p:oleObj r:id="rId3" imgW="1193800" imgH="482600" progId="Equation.DSMT4">
                  <p:embed/>
                </p:oleObj>
              </mc:Choice>
              <mc:Fallback>
                <p:oleObj r:id="rId3" imgW="1193800" imgH="4826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5334000"/>
                        <a:ext cx="295275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381000" y="3581400"/>
            <a:ext cx="83820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Placeholder 5" descr="The figure illustrates a domain circuit model for a transformer which is used to connect a load to a source.&#10;Long description is available in notes, Press F6.">
            <a:extLst>
              <a:ext uri="{FF2B5EF4-FFF2-40B4-BE49-F238E27FC236}">
                <a16:creationId xmlns:a16="http://schemas.microsoft.com/office/drawing/2014/main" id="{93EAA124-526E-41B8-9D88-49017AE8FAB1}"/>
              </a:ext>
            </a:extLst>
          </p:cNvPr>
          <p:cNvPicPr>
            <a:picLocks noChangeAspect="1"/>
          </p:cNvPicPr>
          <p:nvPr/>
        </p:nvPicPr>
        <p:blipFill>
          <a:blip r:embed="rId5"/>
          <a:stretch/>
        </p:blipFill>
        <p:spPr>
          <a:xfrm>
            <a:off x="7067" y="932559"/>
            <a:ext cx="6356430" cy="2685711"/>
          </a:xfrm>
          <a:prstGeom prst="rect">
            <a:avLst/>
          </a:prstGeom>
        </p:spPr>
      </p:pic>
      <p:sp>
        <p:nvSpPr>
          <p:cNvPr id="10" name="Content Placeholder 7">
            <a:extLst>
              <a:ext uri="{FF2B5EF4-FFF2-40B4-BE49-F238E27FC236}">
                <a16:creationId xmlns:a16="http://schemas.microsoft.com/office/drawing/2014/main" id="{5F7A5944-27A9-401B-8082-07195FDC4ED6}"/>
              </a:ext>
            </a:extLst>
          </p:cNvPr>
          <p:cNvSpPr txBox="1">
            <a:spLocks/>
          </p:cNvSpPr>
          <p:nvPr/>
        </p:nvSpPr>
        <p:spPr>
          <a:xfrm>
            <a:off x="429524" y="3673330"/>
            <a:ext cx="8041616" cy="405683"/>
          </a:xfrm>
          <a:prstGeom prst="rect">
            <a:avLst/>
          </a:prstGeom>
        </p:spPr>
        <p:txBody>
          <a:bodyPr wrap="square" lIns="0" tIns="18000" rIns="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Tx/>
              <a:buNone/>
            </a:pPr>
            <a:r>
              <a:rPr lang="en-US" altLang="en-US" sz="2400"/>
              <a:t>Find the equivalent impedance seen from the (real) source:</a:t>
            </a:r>
            <a:endParaRPr lang="en-US" altLang="en-US" sz="2400" dirty="0"/>
          </a:p>
        </p:txBody>
      </p:sp>
      <p:graphicFrame>
        <p:nvGraphicFramePr>
          <p:cNvPr id="11" name="Object 10" descr="Z subscript a b baseline equals StartFraction V subscript a b baseline over I subscript 1 EndFraction.&#10;">
            <a:extLst>
              <a:ext uri="{FF2B5EF4-FFF2-40B4-BE49-F238E27FC236}">
                <a16:creationId xmlns:a16="http://schemas.microsoft.com/office/drawing/2014/main" id="{63D92C2C-92E1-4874-AC02-336FBB89F8D9}"/>
              </a:ext>
            </a:extLst>
          </p:cNvPr>
          <p:cNvGraphicFramePr>
            <a:graphicFrameLocks noChangeAspect="1"/>
          </p:cNvGraphicFramePr>
          <p:nvPr>
            <p:extLst>
              <p:ext uri="{D42A27DB-BD31-4B8C-83A1-F6EECF244321}">
                <p14:modId xmlns:p14="http://schemas.microsoft.com/office/powerpoint/2010/main" val="4046459644"/>
              </p:ext>
            </p:extLst>
          </p:nvPr>
        </p:nvGraphicFramePr>
        <p:xfrm>
          <a:off x="3340246" y="4202599"/>
          <a:ext cx="1028700" cy="655638"/>
        </p:xfrm>
        <a:graphic>
          <a:graphicData uri="http://schemas.openxmlformats.org/presentationml/2006/ole">
            <mc:AlternateContent xmlns:mc="http://schemas.openxmlformats.org/markup-compatibility/2006">
              <mc:Choice xmlns:v="urn:schemas-microsoft-com:vml" Requires="v">
                <p:oleObj name="Equation" r:id="rId6" imgW="698400" imgH="444240" progId="Equation.DSMT4">
                  <p:embed/>
                </p:oleObj>
              </mc:Choice>
              <mc:Fallback>
                <p:oleObj name="Equation" r:id="rId6" imgW="698400" imgH="444240" progId="Equation.DSMT4">
                  <p:embed/>
                  <p:pic>
                    <p:nvPicPr>
                      <p:cNvPr id="11" name="Object 10" descr="Z subscript a b baseline equals StartFraction V subscript a b baseline over I subscript 1 EndFraction.&#10;">
                        <a:extLst>
                          <a:ext uri="{FF2B5EF4-FFF2-40B4-BE49-F238E27FC236}">
                            <a16:creationId xmlns:a16="http://schemas.microsoft.com/office/drawing/2014/main" id="{63D92C2C-92E1-4874-AC02-336FBB89F8D9}"/>
                          </a:ext>
                        </a:extLst>
                      </p:cNvPr>
                      <p:cNvPicPr>
                        <a:picLocks noChangeAspect="1" noChangeArrowheads="1"/>
                      </p:cNvPicPr>
                      <p:nvPr/>
                    </p:nvPicPr>
                    <p:blipFill>
                      <a:blip r:embed="rId7"/>
                      <a:srcRect/>
                      <a:stretch>
                        <a:fillRect/>
                      </a:stretch>
                    </p:blipFill>
                    <p:spPr bwMode="auto">
                      <a:xfrm>
                        <a:off x="3340246" y="4202599"/>
                        <a:ext cx="1028700"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descr="V subscript a b baseline equals OpenParenthesis R subscript 1 baseline plus j omega L subscript 1 baseline CloseParenthesis I subscript 1 baseline minus j omega M I subscript 2.&#10;">
            <a:extLst>
              <a:ext uri="{FF2B5EF4-FFF2-40B4-BE49-F238E27FC236}">
                <a16:creationId xmlns:a16="http://schemas.microsoft.com/office/drawing/2014/main" id="{E79FE6B9-1983-4761-BCD2-4CE751D64EC6}"/>
              </a:ext>
            </a:extLst>
          </p:cNvPr>
          <p:cNvGraphicFramePr>
            <a:graphicFrameLocks noChangeAspect="1"/>
          </p:cNvGraphicFramePr>
          <p:nvPr>
            <p:extLst>
              <p:ext uri="{D42A27DB-BD31-4B8C-83A1-F6EECF244321}">
                <p14:modId xmlns:p14="http://schemas.microsoft.com/office/powerpoint/2010/main" val="2892019560"/>
              </p:ext>
            </p:extLst>
          </p:nvPr>
        </p:nvGraphicFramePr>
        <p:xfrm>
          <a:off x="4589050" y="4353998"/>
          <a:ext cx="2624962" cy="351866"/>
        </p:xfrm>
        <a:graphic>
          <a:graphicData uri="http://schemas.openxmlformats.org/presentationml/2006/ole">
            <mc:AlternateContent xmlns:mc="http://schemas.openxmlformats.org/markup-compatibility/2006">
              <mc:Choice xmlns:v="urn:schemas-microsoft-com:vml" Requires="v">
                <p:oleObj name="Equation" r:id="rId8" imgW="1714320" imgH="228600" progId="Equation.DSMT4">
                  <p:embed/>
                </p:oleObj>
              </mc:Choice>
              <mc:Fallback>
                <p:oleObj name="Equation" r:id="rId8" imgW="1714320" imgH="228600" progId="Equation.DSMT4">
                  <p:embed/>
                  <p:pic>
                    <p:nvPicPr>
                      <p:cNvPr id="12" name="Object 11" descr="V subscript a b baseline equals OpenParenthesis R subscript 1 baseline plus j omega L subscript 1 baseline CloseParenthesis I subscript 1 baseline minus j omega M I subscript 2.&#10;">
                        <a:extLst>
                          <a:ext uri="{FF2B5EF4-FFF2-40B4-BE49-F238E27FC236}">
                            <a16:creationId xmlns:a16="http://schemas.microsoft.com/office/drawing/2014/main" id="{E79FE6B9-1983-4761-BCD2-4CE751D64EC6}"/>
                          </a:ext>
                        </a:extLst>
                      </p:cNvPr>
                      <p:cNvPicPr>
                        <a:picLocks noChangeAspect="1" noChangeArrowheads="1"/>
                      </p:cNvPicPr>
                      <p:nvPr/>
                    </p:nvPicPr>
                    <p:blipFill>
                      <a:blip r:embed="rId9"/>
                      <a:srcRect/>
                      <a:stretch>
                        <a:fillRect/>
                      </a:stretch>
                    </p:blipFill>
                    <p:spPr bwMode="auto">
                      <a:xfrm>
                        <a:off x="4589050" y="4353998"/>
                        <a:ext cx="2624962" cy="35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Content Placeholder 8">
            <a:extLst>
              <a:ext uri="{FF2B5EF4-FFF2-40B4-BE49-F238E27FC236}">
                <a16:creationId xmlns:a16="http://schemas.microsoft.com/office/drawing/2014/main" id="{E9046681-93EE-45E0-89F6-CBAA1731B8A0}"/>
              </a:ext>
            </a:extLst>
          </p:cNvPr>
          <p:cNvSpPr txBox="1">
            <a:spLocks/>
          </p:cNvSpPr>
          <p:nvPr/>
        </p:nvSpPr>
        <p:spPr>
          <a:xfrm>
            <a:off x="427726" y="4945368"/>
            <a:ext cx="8041616" cy="405683"/>
          </a:xfrm>
          <a:prstGeom prst="rect">
            <a:avLst/>
          </a:prstGeom>
        </p:spPr>
        <p:txBody>
          <a:bodyPr wrap="square" lIns="0" tIns="18000" rIns="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altLang="en-US" sz="2400"/>
              <a:t>Mesh current equations:</a:t>
            </a:r>
            <a:endParaRPr lang="en-US" altLang="en-US" sz="2400" dirty="0"/>
          </a:p>
        </p:txBody>
      </p:sp>
      <p:graphicFrame>
        <p:nvGraphicFramePr>
          <p:cNvPr id="14" name="Object 13" descr="V subscript s baseline equals OpenParenthesis Z subscript s baseline plus R subscript 1 baseline plus j omega L subscript 1 baseline CloseParenthesis I subscript 1 baseline minus j omega M I subscript 2.&#10;">
            <a:extLst>
              <a:ext uri="{FF2B5EF4-FFF2-40B4-BE49-F238E27FC236}">
                <a16:creationId xmlns:a16="http://schemas.microsoft.com/office/drawing/2014/main" id="{F7665F39-7956-4A72-8926-5BF524CA1CA7}"/>
              </a:ext>
            </a:extLst>
          </p:cNvPr>
          <p:cNvGraphicFramePr>
            <a:graphicFrameLocks noChangeAspect="1"/>
          </p:cNvGraphicFramePr>
          <p:nvPr>
            <p:extLst>
              <p:ext uri="{D42A27DB-BD31-4B8C-83A1-F6EECF244321}">
                <p14:modId xmlns:p14="http://schemas.microsoft.com/office/powerpoint/2010/main" val="3274692402"/>
              </p:ext>
            </p:extLst>
          </p:nvPr>
        </p:nvGraphicFramePr>
        <p:xfrm>
          <a:off x="2881702" y="5443710"/>
          <a:ext cx="3320271" cy="385418"/>
        </p:xfrm>
        <a:graphic>
          <a:graphicData uri="http://schemas.openxmlformats.org/presentationml/2006/ole">
            <mc:AlternateContent xmlns:mc="http://schemas.openxmlformats.org/markup-compatibility/2006">
              <mc:Choice xmlns:v="urn:schemas-microsoft-com:vml" Requires="v">
                <p:oleObj name="Equation" r:id="rId10" imgW="1968480" imgH="228600" progId="Equation.DSMT4">
                  <p:embed/>
                </p:oleObj>
              </mc:Choice>
              <mc:Fallback>
                <p:oleObj name="Equation" r:id="rId10" imgW="1968480" imgH="228600" progId="Equation.DSMT4">
                  <p:embed/>
                  <p:pic>
                    <p:nvPicPr>
                      <p:cNvPr id="14" name="Object 13" descr="V subscript s baseline equals OpenParenthesis Z subscript s baseline plus R subscript 1 baseline plus j omega L subscript 1 baseline CloseParenthesis I subscript 1 baseline minus j omega M I subscript 2.&#10;">
                        <a:extLst>
                          <a:ext uri="{FF2B5EF4-FFF2-40B4-BE49-F238E27FC236}">
                            <a16:creationId xmlns:a16="http://schemas.microsoft.com/office/drawing/2014/main" id="{F7665F39-7956-4A72-8926-5BF524CA1CA7}"/>
                          </a:ext>
                        </a:extLst>
                      </p:cNvPr>
                      <p:cNvPicPr>
                        <a:picLocks noChangeAspect="1" noChangeArrowheads="1"/>
                      </p:cNvPicPr>
                      <p:nvPr/>
                    </p:nvPicPr>
                    <p:blipFill>
                      <a:blip r:embed="rId11"/>
                      <a:srcRect/>
                      <a:stretch>
                        <a:fillRect/>
                      </a:stretch>
                    </p:blipFill>
                    <p:spPr bwMode="auto">
                      <a:xfrm>
                        <a:off x="2881702" y="5443710"/>
                        <a:ext cx="3320271" cy="3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4" descr="0 equals negative j omega M I subscript 1 baseline plus OpenParenthesis R subscript 2 baseline plus j omega L subscript 2 baseline plus Z subscript L CloseParenthesis I subscript 2.&#10;">
            <a:extLst>
              <a:ext uri="{FF2B5EF4-FFF2-40B4-BE49-F238E27FC236}">
                <a16:creationId xmlns:a16="http://schemas.microsoft.com/office/drawing/2014/main" id="{B1E977E5-D04E-4F5E-ADDD-B7BB9CC9CBDF}"/>
              </a:ext>
            </a:extLst>
          </p:cNvPr>
          <p:cNvGraphicFramePr>
            <a:graphicFrameLocks noChangeAspect="1"/>
          </p:cNvGraphicFramePr>
          <p:nvPr>
            <p:extLst>
              <p:ext uri="{D42A27DB-BD31-4B8C-83A1-F6EECF244321}">
                <p14:modId xmlns:p14="http://schemas.microsoft.com/office/powerpoint/2010/main" val="3539650265"/>
              </p:ext>
            </p:extLst>
          </p:nvPr>
        </p:nvGraphicFramePr>
        <p:xfrm>
          <a:off x="3059903" y="5955774"/>
          <a:ext cx="3303594" cy="375703"/>
        </p:xfrm>
        <a:graphic>
          <a:graphicData uri="http://schemas.openxmlformats.org/presentationml/2006/ole">
            <mc:AlternateContent xmlns:mc="http://schemas.openxmlformats.org/markup-compatibility/2006">
              <mc:Choice xmlns:v="urn:schemas-microsoft-com:vml" Requires="v">
                <p:oleObj name="Equation" r:id="rId12" imgW="2019240" imgH="228600" progId="Equation.DSMT4">
                  <p:embed/>
                </p:oleObj>
              </mc:Choice>
              <mc:Fallback>
                <p:oleObj name="Equation" r:id="rId12" imgW="2019240" imgH="228600" progId="Equation.DSMT4">
                  <p:embed/>
                  <p:pic>
                    <p:nvPicPr>
                      <p:cNvPr id="15" name="Object 14" descr="0 equals negative j omega M I subscript 1 baseline plus OpenParenthesis R subscript 2 baseline plus j omega L subscript 2 baseline plus Z subscript L CloseParenthesis I subscript 2.&#10;">
                        <a:extLst>
                          <a:ext uri="{FF2B5EF4-FFF2-40B4-BE49-F238E27FC236}">
                            <a16:creationId xmlns:a16="http://schemas.microsoft.com/office/drawing/2014/main" id="{B1E977E5-D04E-4F5E-ADDD-B7BB9CC9CBDF}"/>
                          </a:ext>
                        </a:extLst>
                      </p:cNvPr>
                      <p:cNvPicPr>
                        <a:picLocks noChangeAspect="1" noChangeArrowheads="1"/>
                      </p:cNvPicPr>
                      <p:nvPr/>
                    </p:nvPicPr>
                    <p:blipFill>
                      <a:blip r:embed="rId13"/>
                      <a:srcRect/>
                      <a:stretch>
                        <a:fillRect/>
                      </a:stretch>
                    </p:blipFill>
                    <p:spPr bwMode="auto">
                      <a:xfrm>
                        <a:off x="3059903" y="5955774"/>
                        <a:ext cx="3303594" cy="3757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665714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477000" cy="685800"/>
          </a:xfrm>
        </p:spPr>
        <p:txBody>
          <a:bodyPr/>
          <a:lstStyle/>
          <a:p>
            <a:r>
              <a:rPr lang="en-US" altLang="en-US" sz="4000" dirty="0">
                <a:cs typeface="Times New Roman" panose="02020603050405020304" pitchFamily="18" charset="0"/>
              </a:rPr>
              <a:t>Linear Transformers</a:t>
            </a:r>
            <a:r>
              <a:rPr lang="en-US" altLang="en-US" sz="4000" dirty="0"/>
              <a:t> </a:t>
            </a:r>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nvGraphicFramePr>
        <p:xfrm>
          <a:off x="6191250" y="5334000"/>
          <a:ext cx="2952750" cy="1209675"/>
        </p:xfrm>
        <a:graphic>
          <a:graphicData uri="http://schemas.openxmlformats.org/presentationml/2006/ole">
            <mc:AlternateContent xmlns:mc="http://schemas.openxmlformats.org/markup-compatibility/2006">
              <mc:Choice xmlns:v="urn:schemas-microsoft-com:vml" Requires="v">
                <p:oleObj r:id="rId3" imgW="1193800" imgH="482600" progId="Equation.DSMT4">
                  <p:embed/>
                </p:oleObj>
              </mc:Choice>
              <mc:Fallback>
                <p:oleObj r:id="rId3" imgW="1193800" imgH="4826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5334000"/>
                        <a:ext cx="295275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381000" y="3581400"/>
            <a:ext cx="83820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Placeholder 5" descr="The figure illustrates a domain circuit model for a transformer which is used to connect a load to a source.&#10;Long description is available in notes, Press F6.">
            <a:extLst>
              <a:ext uri="{FF2B5EF4-FFF2-40B4-BE49-F238E27FC236}">
                <a16:creationId xmlns:a16="http://schemas.microsoft.com/office/drawing/2014/main" id="{93EAA124-526E-41B8-9D88-49017AE8FAB1}"/>
              </a:ext>
            </a:extLst>
          </p:cNvPr>
          <p:cNvPicPr>
            <a:picLocks noChangeAspect="1"/>
          </p:cNvPicPr>
          <p:nvPr/>
        </p:nvPicPr>
        <p:blipFill>
          <a:blip r:embed="rId5"/>
          <a:stretch/>
        </p:blipFill>
        <p:spPr>
          <a:xfrm>
            <a:off x="7067" y="932559"/>
            <a:ext cx="6356430" cy="2685711"/>
          </a:xfrm>
          <a:prstGeom prst="rect">
            <a:avLst/>
          </a:prstGeom>
        </p:spPr>
      </p:pic>
      <p:sp>
        <p:nvSpPr>
          <p:cNvPr id="16" name="Content Placeholder 7">
            <a:extLst>
              <a:ext uri="{FF2B5EF4-FFF2-40B4-BE49-F238E27FC236}">
                <a16:creationId xmlns:a16="http://schemas.microsoft.com/office/drawing/2014/main" id="{246C55C0-488D-42D6-9A8B-BBA1AC2D0A2F}"/>
              </a:ext>
            </a:extLst>
          </p:cNvPr>
          <p:cNvSpPr txBox="1">
            <a:spLocks/>
          </p:cNvSpPr>
          <p:nvPr/>
        </p:nvSpPr>
        <p:spPr>
          <a:xfrm>
            <a:off x="438151" y="4052887"/>
            <a:ext cx="5764242" cy="405683"/>
          </a:xfrm>
          <a:prstGeom prst="rect">
            <a:avLst/>
          </a:prstGeom>
        </p:spPr>
        <p:txBody>
          <a:bodyPr wrap="square" lIns="0" tIns="18000" rIns="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altLang="en-US" sz="2400"/>
              <a:t>After lots of algebra and re-arranging:</a:t>
            </a:r>
            <a:endParaRPr lang="en-US" altLang="en-US" sz="2400" dirty="0"/>
          </a:p>
        </p:txBody>
      </p:sp>
      <p:graphicFrame>
        <p:nvGraphicFramePr>
          <p:cNvPr id="17" name="Object 16" descr="The figure illustrates an expression for Z subscript a b.&#10;Long description is available in notes, press F6.&#10;">
            <a:extLst>
              <a:ext uri="{FF2B5EF4-FFF2-40B4-BE49-F238E27FC236}">
                <a16:creationId xmlns:a16="http://schemas.microsoft.com/office/drawing/2014/main" id="{C01E2B0D-1651-4396-85C7-8F846D416B8B}"/>
              </a:ext>
            </a:extLst>
          </p:cNvPr>
          <p:cNvGraphicFramePr>
            <a:graphicFrameLocks noChangeAspect="1"/>
          </p:cNvGraphicFramePr>
          <p:nvPr>
            <p:extLst>
              <p:ext uri="{D42A27DB-BD31-4B8C-83A1-F6EECF244321}">
                <p14:modId xmlns:p14="http://schemas.microsoft.com/office/powerpoint/2010/main" val="3113261254"/>
              </p:ext>
            </p:extLst>
          </p:nvPr>
        </p:nvGraphicFramePr>
        <p:xfrm>
          <a:off x="2799773" y="4700530"/>
          <a:ext cx="4439227" cy="920018"/>
        </p:xfrm>
        <a:graphic>
          <a:graphicData uri="http://schemas.openxmlformats.org/presentationml/2006/ole">
            <mc:AlternateContent xmlns:mc="http://schemas.openxmlformats.org/markup-compatibility/2006">
              <mc:Choice xmlns:v="urn:schemas-microsoft-com:vml" Requires="v">
                <p:oleObj name="Equation" r:id="rId6" imgW="2209680" imgH="457200" progId="Equation.DSMT4">
                  <p:embed/>
                </p:oleObj>
              </mc:Choice>
              <mc:Fallback>
                <p:oleObj name="Equation" r:id="rId6" imgW="2209680" imgH="457200" progId="Equation.DSMT4">
                  <p:embed/>
                  <p:pic>
                    <p:nvPicPr>
                      <p:cNvPr id="17" name="Object 16" descr="The figure illustrates an expression for Z subscript a b.&#10;Long description is available in notes, press F6.&#10;">
                        <a:extLst>
                          <a:ext uri="{FF2B5EF4-FFF2-40B4-BE49-F238E27FC236}">
                            <a16:creationId xmlns:a16="http://schemas.microsoft.com/office/drawing/2014/main" id="{C01E2B0D-1651-4396-85C7-8F846D416B8B}"/>
                          </a:ext>
                        </a:extLst>
                      </p:cNvPr>
                      <p:cNvPicPr>
                        <a:picLocks noChangeAspect="1" noChangeArrowheads="1"/>
                      </p:cNvPicPr>
                      <p:nvPr/>
                    </p:nvPicPr>
                    <p:blipFill>
                      <a:blip r:embed="rId7"/>
                      <a:srcRect/>
                      <a:stretch>
                        <a:fillRect/>
                      </a:stretch>
                    </p:blipFill>
                    <p:spPr bwMode="auto">
                      <a:xfrm>
                        <a:off x="2799773" y="4700530"/>
                        <a:ext cx="4439227" cy="920018"/>
                      </a:xfrm>
                      <a:prstGeom prst="rect">
                        <a:avLst/>
                      </a:prstGeom>
                      <a:noFill/>
                      <a:ln>
                        <a:noFill/>
                      </a:ln>
                    </p:spPr>
                  </p:pic>
                </p:oleObj>
              </mc:Fallback>
            </mc:AlternateContent>
          </a:graphicData>
        </a:graphic>
      </p:graphicFrame>
      <p:graphicFrame>
        <p:nvGraphicFramePr>
          <p:cNvPr id="18" name="Object 17" descr="Equals Z subscript self baseline plus Z subscript reflected.&#10;">
            <a:extLst>
              <a:ext uri="{FF2B5EF4-FFF2-40B4-BE49-F238E27FC236}">
                <a16:creationId xmlns:a16="http://schemas.microsoft.com/office/drawing/2014/main" id="{67B37B4C-40D0-4F82-84C6-03528DDBCCEE}"/>
              </a:ext>
            </a:extLst>
          </p:cNvPr>
          <p:cNvGraphicFramePr>
            <a:graphicFrameLocks noChangeAspect="1"/>
          </p:cNvGraphicFramePr>
          <p:nvPr>
            <p:extLst>
              <p:ext uri="{D42A27DB-BD31-4B8C-83A1-F6EECF244321}">
                <p14:modId xmlns:p14="http://schemas.microsoft.com/office/powerpoint/2010/main" val="3851271321"/>
              </p:ext>
            </p:extLst>
          </p:nvPr>
        </p:nvGraphicFramePr>
        <p:xfrm>
          <a:off x="3352227" y="5670453"/>
          <a:ext cx="2677083" cy="609300"/>
        </p:xfrm>
        <a:graphic>
          <a:graphicData uri="http://schemas.openxmlformats.org/presentationml/2006/ole">
            <mc:AlternateContent xmlns:mc="http://schemas.openxmlformats.org/markup-compatibility/2006">
              <mc:Choice xmlns:v="urn:schemas-microsoft-com:vml" Requires="v">
                <p:oleObj name="Equation" r:id="rId8" imgW="1002960" imgH="228600" progId="Equation.DSMT4">
                  <p:embed/>
                </p:oleObj>
              </mc:Choice>
              <mc:Fallback>
                <p:oleObj name="Equation" r:id="rId8" imgW="1002960" imgH="228600" progId="Equation.DSMT4">
                  <p:embed/>
                  <p:pic>
                    <p:nvPicPr>
                      <p:cNvPr id="18" name="Object 17" descr="Equals Z subscript self baseline plus Z subscript reflected.&#10;">
                        <a:extLst>
                          <a:ext uri="{FF2B5EF4-FFF2-40B4-BE49-F238E27FC236}">
                            <a16:creationId xmlns:a16="http://schemas.microsoft.com/office/drawing/2014/main" id="{67B37B4C-40D0-4F82-84C6-03528DDBCCEE}"/>
                          </a:ext>
                        </a:extLst>
                      </p:cNvPr>
                      <p:cNvPicPr>
                        <a:picLocks noChangeAspect="1" noChangeArrowheads="1"/>
                      </p:cNvPicPr>
                      <p:nvPr/>
                    </p:nvPicPr>
                    <p:blipFill>
                      <a:blip r:embed="rId9"/>
                      <a:srcRect/>
                      <a:stretch>
                        <a:fillRect/>
                      </a:stretch>
                    </p:blipFill>
                    <p:spPr bwMode="auto">
                      <a:xfrm>
                        <a:off x="3352227" y="5670453"/>
                        <a:ext cx="2677083" cy="6093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88846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03" name="Rectangle 3">
            <a:extLst>
              <a:ext uri="{FF2B5EF4-FFF2-40B4-BE49-F238E27FC236}">
                <a16:creationId xmlns:a16="http://schemas.microsoft.com/office/drawing/2014/main" id="{95A4F2FF-CC7D-45CC-8B30-6CCB73BEAF75}"/>
              </a:ext>
            </a:extLst>
          </p:cNvPr>
          <p:cNvSpPr>
            <a:spLocks noGrp="1" noChangeArrowheads="1"/>
          </p:cNvSpPr>
          <p:nvPr>
            <p:ph type="title"/>
          </p:nvPr>
        </p:nvSpPr>
        <p:spPr>
          <a:xfrm>
            <a:off x="2286000" y="152400"/>
            <a:ext cx="6477000" cy="685800"/>
          </a:xfrm>
        </p:spPr>
        <p:txBody>
          <a:bodyPr/>
          <a:lstStyle/>
          <a:p>
            <a:r>
              <a:rPr lang="en-US" altLang="en-US" sz="4000" dirty="0">
                <a:cs typeface="Times New Roman" panose="02020603050405020304" pitchFamily="18" charset="0"/>
              </a:rPr>
              <a:t>Linear Transformers</a:t>
            </a:r>
            <a:r>
              <a:rPr lang="en-US" altLang="en-US" sz="4000" dirty="0"/>
              <a:t> </a:t>
            </a:r>
          </a:p>
        </p:txBody>
      </p:sp>
      <p:graphicFrame>
        <p:nvGraphicFramePr>
          <p:cNvPr id="1280008" name="Object 8">
            <a:extLst>
              <a:ext uri="{FF2B5EF4-FFF2-40B4-BE49-F238E27FC236}">
                <a16:creationId xmlns:a16="http://schemas.microsoft.com/office/drawing/2014/main" id="{8B1CEF22-B968-427F-AF68-F86FB38CCBCD}"/>
              </a:ext>
            </a:extLst>
          </p:cNvPr>
          <p:cNvGraphicFramePr>
            <a:graphicFrameLocks noChangeAspect="1"/>
          </p:cNvGraphicFramePr>
          <p:nvPr/>
        </p:nvGraphicFramePr>
        <p:xfrm>
          <a:off x="6191250" y="5334000"/>
          <a:ext cx="2952750" cy="1209675"/>
        </p:xfrm>
        <a:graphic>
          <a:graphicData uri="http://schemas.openxmlformats.org/presentationml/2006/ole">
            <mc:AlternateContent xmlns:mc="http://schemas.openxmlformats.org/markup-compatibility/2006">
              <mc:Choice xmlns:v="urn:schemas-microsoft-com:vml" Requires="v">
                <p:oleObj r:id="rId3" imgW="1193800" imgH="482600" progId="Equation.DSMT4">
                  <p:embed/>
                </p:oleObj>
              </mc:Choice>
              <mc:Fallback>
                <p:oleObj r:id="rId3" imgW="1193800" imgH="482600" progId="Equation.DSMT4">
                  <p:embed/>
                  <p:pic>
                    <p:nvPicPr>
                      <p:cNvPr id="1280008" name="Object 8">
                        <a:extLst>
                          <a:ext uri="{FF2B5EF4-FFF2-40B4-BE49-F238E27FC236}">
                            <a16:creationId xmlns:a16="http://schemas.microsoft.com/office/drawing/2014/main" id="{8B1CEF22-B968-427F-AF68-F86FB38CCB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0" y="5334000"/>
                        <a:ext cx="2952750" cy="1209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
            <a:extLst>
              <a:ext uri="{FF2B5EF4-FFF2-40B4-BE49-F238E27FC236}">
                <a16:creationId xmlns:a16="http://schemas.microsoft.com/office/drawing/2014/main" id="{4A60E521-05E9-4BC2-92AE-B0ED790D15FE}"/>
              </a:ext>
            </a:extLst>
          </p:cNvPr>
          <p:cNvSpPr>
            <a:spLocks noChangeArrowheads="1"/>
          </p:cNvSpPr>
          <p:nvPr/>
        </p:nvSpPr>
        <p:spPr bwMode="auto">
          <a:xfrm>
            <a:off x="381000" y="3581400"/>
            <a:ext cx="8382000" cy="3048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8" name="Picture Placeholder 5" descr="The figure illustrates a domain circuit model for a transformer which is used to connect a load to a source.&#10;Long description is available in notes, Press F6.">
            <a:extLst>
              <a:ext uri="{FF2B5EF4-FFF2-40B4-BE49-F238E27FC236}">
                <a16:creationId xmlns:a16="http://schemas.microsoft.com/office/drawing/2014/main" id="{93EAA124-526E-41B8-9D88-49017AE8FAB1}"/>
              </a:ext>
            </a:extLst>
          </p:cNvPr>
          <p:cNvPicPr>
            <a:picLocks noChangeAspect="1"/>
          </p:cNvPicPr>
          <p:nvPr/>
        </p:nvPicPr>
        <p:blipFill>
          <a:blip r:embed="rId5"/>
          <a:stretch/>
        </p:blipFill>
        <p:spPr>
          <a:xfrm>
            <a:off x="7067" y="932559"/>
            <a:ext cx="6356430" cy="2685711"/>
          </a:xfrm>
          <a:prstGeom prst="rect">
            <a:avLst/>
          </a:prstGeom>
        </p:spPr>
      </p:pic>
      <p:sp>
        <p:nvSpPr>
          <p:cNvPr id="16" name="Content Placeholder 7">
            <a:extLst>
              <a:ext uri="{FF2B5EF4-FFF2-40B4-BE49-F238E27FC236}">
                <a16:creationId xmlns:a16="http://schemas.microsoft.com/office/drawing/2014/main" id="{246C55C0-488D-42D6-9A8B-BBA1AC2D0A2F}"/>
              </a:ext>
            </a:extLst>
          </p:cNvPr>
          <p:cNvSpPr txBox="1">
            <a:spLocks/>
          </p:cNvSpPr>
          <p:nvPr/>
        </p:nvSpPr>
        <p:spPr>
          <a:xfrm>
            <a:off x="533400" y="3683555"/>
            <a:ext cx="8077199" cy="1144347"/>
          </a:xfrm>
          <a:prstGeom prst="rect">
            <a:avLst/>
          </a:prstGeom>
        </p:spPr>
        <p:txBody>
          <a:bodyPr wrap="square" lIns="0" tIns="18000" rIns="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Tx/>
              <a:buNone/>
            </a:pPr>
            <a:r>
              <a:rPr lang="en-US" altLang="en-US" sz="2400" dirty="0"/>
              <a:t>This is very useful.  It means that we know the input impedance, seen by the source, as a function of the load, </a:t>
            </a:r>
            <a:r>
              <a:rPr lang="en-US" altLang="en-US" sz="2400" i="1" dirty="0">
                <a:latin typeface="Times New Roman" panose="02020603050405020304" pitchFamily="18" charset="0"/>
                <a:cs typeface="Times New Roman" panose="02020603050405020304" pitchFamily="18" charset="0"/>
              </a:rPr>
              <a:t>Z</a:t>
            </a:r>
            <a:r>
              <a:rPr lang="en-US" altLang="en-US" sz="2400" i="1" baseline="-25000" dirty="0">
                <a:latin typeface="Times New Roman" panose="02020603050405020304" pitchFamily="18" charset="0"/>
                <a:cs typeface="Times New Roman" panose="02020603050405020304" pitchFamily="18" charset="0"/>
              </a:rPr>
              <a:t>L</a:t>
            </a:r>
            <a:r>
              <a:rPr lang="en-US" altLang="en-US" sz="2400" dirty="0"/>
              <a:t>, and the parameters of the transformer.  </a:t>
            </a:r>
          </a:p>
        </p:txBody>
      </p:sp>
      <p:graphicFrame>
        <p:nvGraphicFramePr>
          <p:cNvPr id="17" name="Object 16" descr="The figure illustrates an expression for Z subscript a b.&#10;Long description is available in notes, press F6.&#10;">
            <a:extLst>
              <a:ext uri="{FF2B5EF4-FFF2-40B4-BE49-F238E27FC236}">
                <a16:creationId xmlns:a16="http://schemas.microsoft.com/office/drawing/2014/main" id="{C01E2B0D-1651-4396-85C7-8F846D416B8B}"/>
              </a:ext>
            </a:extLst>
          </p:cNvPr>
          <p:cNvGraphicFramePr>
            <a:graphicFrameLocks noChangeAspect="1"/>
          </p:cNvGraphicFramePr>
          <p:nvPr>
            <p:extLst>
              <p:ext uri="{D42A27DB-BD31-4B8C-83A1-F6EECF244321}">
                <p14:modId xmlns:p14="http://schemas.microsoft.com/office/powerpoint/2010/main" val="3438730406"/>
              </p:ext>
            </p:extLst>
          </p:nvPr>
        </p:nvGraphicFramePr>
        <p:xfrm>
          <a:off x="3182824" y="4808633"/>
          <a:ext cx="4439227" cy="920018"/>
        </p:xfrm>
        <a:graphic>
          <a:graphicData uri="http://schemas.openxmlformats.org/presentationml/2006/ole">
            <mc:AlternateContent xmlns:mc="http://schemas.openxmlformats.org/markup-compatibility/2006">
              <mc:Choice xmlns:v="urn:schemas-microsoft-com:vml" Requires="v">
                <p:oleObj name="Equation" r:id="rId6" imgW="2209680" imgH="457200" progId="Equation.DSMT4">
                  <p:embed/>
                </p:oleObj>
              </mc:Choice>
              <mc:Fallback>
                <p:oleObj name="Equation" r:id="rId6" imgW="2209680" imgH="457200" progId="Equation.DSMT4">
                  <p:embed/>
                  <p:pic>
                    <p:nvPicPr>
                      <p:cNvPr id="17" name="Object 16" descr="The figure illustrates an expression for Z subscript a b.&#10;Long description is available in notes, press F6.&#10;">
                        <a:extLst>
                          <a:ext uri="{FF2B5EF4-FFF2-40B4-BE49-F238E27FC236}">
                            <a16:creationId xmlns:a16="http://schemas.microsoft.com/office/drawing/2014/main" id="{C01E2B0D-1651-4396-85C7-8F846D416B8B}"/>
                          </a:ext>
                        </a:extLst>
                      </p:cNvPr>
                      <p:cNvPicPr>
                        <a:picLocks noChangeAspect="1" noChangeArrowheads="1"/>
                      </p:cNvPicPr>
                      <p:nvPr/>
                    </p:nvPicPr>
                    <p:blipFill>
                      <a:blip r:embed="rId7"/>
                      <a:srcRect/>
                      <a:stretch>
                        <a:fillRect/>
                      </a:stretch>
                    </p:blipFill>
                    <p:spPr bwMode="auto">
                      <a:xfrm>
                        <a:off x="3182824" y="4808633"/>
                        <a:ext cx="4439227" cy="920018"/>
                      </a:xfrm>
                      <a:prstGeom prst="rect">
                        <a:avLst/>
                      </a:prstGeom>
                      <a:noFill/>
                      <a:ln>
                        <a:noFill/>
                      </a:ln>
                    </p:spPr>
                  </p:pic>
                </p:oleObj>
              </mc:Fallback>
            </mc:AlternateContent>
          </a:graphicData>
        </a:graphic>
      </p:graphicFrame>
      <p:graphicFrame>
        <p:nvGraphicFramePr>
          <p:cNvPr id="18" name="Object 17" descr="Equals Z subscript self baseline plus Z subscript reflected.&#10;">
            <a:extLst>
              <a:ext uri="{FF2B5EF4-FFF2-40B4-BE49-F238E27FC236}">
                <a16:creationId xmlns:a16="http://schemas.microsoft.com/office/drawing/2014/main" id="{67B37B4C-40D0-4F82-84C6-03528DDBCCEE}"/>
              </a:ext>
            </a:extLst>
          </p:cNvPr>
          <p:cNvGraphicFramePr>
            <a:graphicFrameLocks noChangeAspect="1"/>
          </p:cNvGraphicFramePr>
          <p:nvPr/>
        </p:nvGraphicFramePr>
        <p:xfrm>
          <a:off x="3352227" y="5670453"/>
          <a:ext cx="2677083" cy="609300"/>
        </p:xfrm>
        <a:graphic>
          <a:graphicData uri="http://schemas.openxmlformats.org/presentationml/2006/ole">
            <mc:AlternateContent xmlns:mc="http://schemas.openxmlformats.org/markup-compatibility/2006">
              <mc:Choice xmlns:v="urn:schemas-microsoft-com:vml" Requires="v">
                <p:oleObj name="Equation" r:id="rId8" imgW="1002960" imgH="228600" progId="Equation.DSMT4">
                  <p:embed/>
                </p:oleObj>
              </mc:Choice>
              <mc:Fallback>
                <p:oleObj name="Equation" r:id="rId8" imgW="1002960" imgH="228600" progId="Equation.DSMT4">
                  <p:embed/>
                  <p:pic>
                    <p:nvPicPr>
                      <p:cNvPr id="18" name="Object 17" descr="Equals Z subscript self baseline plus Z subscript reflected.&#10;">
                        <a:extLst>
                          <a:ext uri="{FF2B5EF4-FFF2-40B4-BE49-F238E27FC236}">
                            <a16:creationId xmlns:a16="http://schemas.microsoft.com/office/drawing/2014/main" id="{67B37B4C-40D0-4F82-84C6-03528DDBCCEE}"/>
                          </a:ext>
                        </a:extLst>
                      </p:cNvPr>
                      <p:cNvPicPr>
                        <a:picLocks noChangeAspect="1" noChangeArrowheads="1"/>
                      </p:cNvPicPr>
                      <p:nvPr/>
                    </p:nvPicPr>
                    <p:blipFill>
                      <a:blip r:embed="rId9"/>
                      <a:srcRect/>
                      <a:stretch>
                        <a:fillRect/>
                      </a:stretch>
                    </p:blipFill>
                    <p:spPr bwMode="auto">
                      <a:xfrm>
                        <a:off x="3352227" y="5670453"/>
                        <a:ext cx="2677083" cy="6093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720219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36871" y="2155535"/>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9.15</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99103" y="2369424"/>
            <a:ext cx="8382000" cy="225234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parameters of a linear transformer are </a:t>
            </a: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1</a:t>
            </a:r>
            <a:r>
              <a:rPr lang="en-US" sz="2400" dirty="0"/>
              <a:t> = 200[</a:t>
            </a:r>
            <a:r>
              <a:rPr lang="en-US" sz="2400" dirty="0">
                <a:latin typeface="Symbol" panose="05050102010706020507" pitchFamily="18" charset="2"/>
              </a:rPr>
              <a:t>W</a:t>
            </a:r>
            <a:r>
              <a:rPr lang="en-US" sz="2400" dirty="0"/>
              <a:t>], </a:t>
            </a:r>
            <a:br>
              <a:rPr lang="en-US" sz="2400" dirty="0"/>
            </a:b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2</a:t>
            </a:r>
            <a:r>
              <a:rPr lang="en-US" sz="2400" dirty="0"/>
              <a:t> = 100[</a:t>
            </a:r>
            <a:r>
              <a:rPr lang="en-US" sz="2400" dirty="0">
                <a:latin typeface="Symbol" panose="05050102010706020507" pitchFamily="18" charset="2"/>
              </a:rPr>
              <a:t>W</a:t>
            </a:r>
            <a:r>
              <a:rPr lang="en-US" sz="2400" dirty="0"/>
              <a:t>],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1</a:t>
            </a:r>
            <a:r>
              <a:rPr lang="en-US" sz="2400" dirty="0"/>
              <a:t> = 9[H],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2</a:t>
            </a:r>
            <a:r>
              <a:rPr lang="en-US" sz="2400" dirty="0"/>
              <a:t> = 4[H], and k = 0.5.  The transformer couples a load impedance with an 800[</a:t>
            </a:r>
            <a:r>
              <a:rPr lang="en-US" sz="2400" dirty="0">
                <a:latin typeface="Symbol" panose="05050102010706020507" pitchFamily="18" charset="2"/>
              </a:rPr>
              <a:t>W</a:t>
            </a:r>
            <a:r>
              <a:rPr lang="en-US" sz="2400" dirty="0"/>
              <a:t>] resistor in series with a 1[</a:t>
            </a:r>
            <a:r>
              <a:rPr lang="en-US" sz="2400" dirty="0">
                <a:latin typeface="Symbol" panose="05050102010706020507" pitchFamily="18" charset="2"/>
              </a:rPr>
              <a:t>m</a:t>
            </a:r>
            <a:r>
              <a:rPr lang="en-US" sz="2400" dirty="0"/>
              <a:t>F] capacitor to a sinusoidal voltage source.  The 300[</a:t>
            </a:r>
            <a:r>
              <a:rPr lang="en-US" sz="2400" dirty="0" err="1"/>
              <a:t>V</a:t>
            </a:r>
            <a:r>
              <a:rPr lang="en-US" sz="2400" baseline="-25000" dirty="0" err="1"/>
              <a:t>rms</a:t>
            </a:r>
            <a:r>
              <a:rPr lang="en-US" sz="2400" dirty="0"/>
              <a:t>] source has an internal impedance of (500 + j100)[</a:t>
            </a:r>
            <a:r>
              <a:rPr lang="en-US" sz="2400" dirty="0">
                <a:latin typeface="Symbol" panose="05050102010706020507" pitchFamily="18" charset="2"/>
              </a:rPr>
              <a:t>W</a:t>
            </a:r>
            <a:r>
              <a:rPr lang="en-US" sz="2400" dirty="0"/>
              <a:t>] and a frequency of 400[rad/s].  </a:t>
            </a:r>
          </a:p>
        </p:txBody>
      </p:sp>
      <p:sp>
        <p:nvSpPr>
          <p:cNvPr id="13" name="Text Box 3">
            <a:extLst>
              <a:ext uri="{FF2B5EF4-FFF2-40B4-BE49-F238E27FC236}">
                <a16:creationId xmlns:a16="http://schemas.microsoft.com/office/drawing/2014/main" id="{FF0D2BD2-140C-42F7-9EEF-5C38B2897D60}"/>
              </a:ext>
            </a:extLst>
          </p:cNvPr>
          <p:cNvSpPr txBox="1">
            <a:spLocks noChangeArrowheads="1"/>
          </p:cNvSpPr>
          <p:nvPr/>
        </p:nvSpPr>
        <p:spPr bwMode="auto">
          <a:xfrm>
            <a:off x="2286001" y="1083421"/>
            <a:ext cx="6658896" cy="7453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Let’s work an example problem.  This one is taken from the Nilsson and Reidel text.  </a:t>
            </a:r>
          </a:p>
          <a:p>
            <a:endParaRPr lang="en-US" altLang="en-US" sz="2400" dirty="0"/>
          </a:p>
        </p:txBody>
      </p:sp>
      <p:sp>
        <p:nvSpPr>
          <p:cNvPr id="10" name="Text Box 3">
            <a:extLst>
              <a:ext uri="{FF2B5EF4-FFF2-40B4-BE49-F238E27FC236}">
                <a16:creationId xmlns:a16="http://schemas.microsoft.com/office/drawing/2014/main" id="{7D81B732-59B9-4B7C-A5C5-9F4E10AA1DDF}"/>
              </a:ext>
            </a:extLst>
          </p:cNvPr>
          <p:cNvSpPr txBox="1">
            <a:spLocks noChangeArrowheads="1"/>
          </p:cNvSpPr>
          <p:nvPr/>
        </p:nvSpPr>
        <p:spPr bwMode="auto">
          <a:xfrm>
            <a:off x="1060655" y="5014102"/>
            <a:ext cx="6658896" cy="74537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a)  Construct a frequency-domain equivalent circuit of the system.  </a:t>
            </a:r>
          </a:p>
          <a:p>
            <a:endParaRPr lang="en-US" altLang="en-US" sz="2400" dirty="0"/>
          </a:p>
        </p:txBody>
      </p:sp>
    </p:spTree>
    <p:extLst>
      <p:ext uri="{BB962C8B-B14F-4D97-AF65-F5344CB8AC3E}">
        <p14:creationId xmlns:p14="http://schemas.microsoft.com/office/powerpoint/2010/main" val="13332234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27039" y="1066800"/>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9.15</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89271" y="1263160"/>
            <a:ext cx="8382000" cy="225234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parameters of a linear transformer are </a:t>
            </a: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1</a:t>
            </a:r>
            <a:r>
              <a:rPr lang="en-US" sz="2400" dirty="0"/>
              <a:t> = 200[</a:t>
            </a:r>
            <a:r>
              <a:rPr lang="en-US" sz="2400" dirty="0">
                <a:latin typeface="Symbol" panose="05050102010706020507" pitchFamily="18" charset="2"/>
              </a:rPr>
              <a:t>W</a:t>
            </a:r>
            <a:r>
              <a:rPr lang="en-US" sz="2400" dirty="0"/>
              <a:t>], </a:t>
            </a:r>
            <a:br>
              <a:rPr lang="en-US" sz="2400" dirty="0"/>
            </a:b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2</a:t>
            </a:r>
            <a:r>
              <a:rPr lang="en-US" sz="2400" dirty="0"/>
              <a:t> = 100[</a:t>
            </a:r>
            <a:r>
              <a:rPr lang="en-US" sz="2400" dirty="0">
                <a:latin typeface="Symbol" panose="05050102010706020507" pitchFamily="18" charset="2"/>
              </a:rPr>
              <a:t>W</a:t>
            </a:r>
            <a:r>
              <a:rPr lang="en-US" sz="2400" dirty="0"/>
              <a:t>],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1</a:t>
            </a:r>
            <a:r>
              <a:rPr lang="en-US" sz="2400" dirty="0"/>
              <a:t> = 9[H],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2</a:t>
            </a:r>
            <a:r>
              <a:rPr lang="en-US" sz="2400" dirty="0"/>
              <a:t> = 4[H], and k = 0.5.  The transformer couples a load impedance with an 800[</a:t>
            </a:r>
            <a:r>
              <a:rPr lang="en-US" sz="2400" dirty="0">
                <a:latin typeface="Symbol" panose="05050102010706020507" pitchFamily="18" charset="2"/>
              </a:rPr>
              <a:t>W</a:t>
            </a:r>
            <a:r>
              <a:rPr lang="en-US" sz="2400" dirty="0"/>
              <a:t>] resistor in series with a 1[</a:t>
            </a:r>
            <a:r>
              <a:rPr lang="en-US" sz="2400" dirty="0">
                <a:latin typeface="Symbol" panose="05050102010706020507" pitchFamily="18" charset="2"/>
              </a:rPr>
              <a:t>m</a:t>
            </a:r>
            <a:r>
              <a:rPr lang="en-US" sz="2400" dirty="0"/>
              <a:t>F] capacitor to a sinusoidal voltage source.  The 300[</a:t>
            </a:r>
            <a:r>
              <a:rPr lang="en-US" sz="2400" dirty="0" err="1"/>
              <a:t>V</a:t>
            </a:r>
            <a:r>
              <a:rPr lang="en-US" sz="2400" baseline="-25000" dirty="0" err="1"/>
              <a:t>rms</a:t>
            </a:r>
            <a:r>
              <a:rPr lang="en-US" sz="2400" dirty="0"/>
              <a:t>] source has an internal impedance of (500 + j100)[</a:t>
            </a:r>
            <a:r>
              <a:rPr lang="en-US" sz="2400" dirty="0">
                <a:latin typeface="Symbol" panose="05050102010706020507" pitchFamily="18" charset="2"/>
              </a:rPr>
              <a:t>W</a:t>
            </a:r>
            <a:r>
              <a:rPr lang="en-US" sz="2400" dirty="0"/>
              <a:t>] and a frequency of 400[rad/s].  </a:t>
            </a:r>
          </a:p>
        </p:txBody>
      </p:sp>
      <p:pic>
        <p:nvPicPr>
          <p:cNvPr id="7" name="Picture Placeholder 5" descr="The figure illustrates a time period domain equivalent L C R circuit with a linear transformer.&#10;Long description is available in notes, Press F6.">
            <a:extLst>
              <a:ext uri="{FF2B5EF4-FFF2-40B4-BE49-F238E27FC236}">
                <a16:creationId xmlns:a16="http://schemas.microsoft.com/office/drawing/2014/main" id="{87C1E69F-CFEA-4027-8230-8BC4AA9684DD}"/>
              </a:ext>
            </a:extLst>
          </p:cNvPr>
          <p:cNvPicPr>
            <a:picLocks noChangeAspect="1"/>
          </p:cNvPicPr>
          <p:nvPr/>
        </p:nvPicPr>
        <p:blipFill>
          <a:blip r:embed="rId3"/>
          <a:stretch/>
        </p:blipFill>
        <p:spPr>
          <a:xfrm>
            <a:off x="457200" y="5071001"/>
            <a:ext cx="7938192" cy="1786999"/>
          </a:xfrm>
          <a:prstGeom prst="rect">
            <a:avLst/>
          </a:prstGeom>
        </p:spPr>
      </p:pic>
      <p:sp>
        <p:nvSpPr>
          <p:cNvPr id="9" name="Text Box 3">
            <a:extLst>
              <a:ext uri="{FF2B5EF4-FFF2-40B4-BE49-F238E27FC236}">
                <a16:creationId xmlns:a16="http://schemas.microsoft.com/office/drawing/2014/main" id="{07E2A0DF-CF20-4CCC-84E6-4AB4A0977C18}"/>
              </a:ext>
            </a:extLst>
          </p:cNvPr>
          <p:cNvSpPr txBox="1">
            <a:spLocks noChangeArrowheads="1"/>
          </p:cNvSpPr>
          <p:nvPr/>
        </p:nvSpPr>
        <p:spPr bwMode="auto">
          <a:xfrm>
            <a:off x="1050823" y="3579771"/>
            <a:ext cx="6658896" cy="137322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a)  The frequency-domain equivalent circuit is shown below. The units on </a:t>
            </a:r>
            <a:r>
              <a:rPr lang="en-US" altLang="en-US" sz="2400" dirty="0" err="1"/>
              <a:t>wM</a:t>
            </a:r>
            <a:r>
              <a:rPr lang="en-US" altLang="en-US" sz="2400" dirty="0"/>
              <a:t> should have been shown as [Ohms].  They chose the phase of the source, since it was arbitrary.  </a:t>
            </a:r>
          </a:p>
          <a:p>
            <a:endParaRPr lang="en-US" altLang="en-US" sz="2400" dirty="0"/>
          </a:p>
        </p:txBody>
      </p:sp>
    </p:spTree>
    <p:extLst>
      <p:ext uri="{BB962C8B-B14F-4D97-AF65-F5344CB8AC3E}">
        <p14:creationId xmlns:p14="http://schemas.microsoft.com/office/powerpoint/2010/main" val="28693812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36871" y="2155535"/>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9.15</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99103" y="2369424"/>
            <a:ext cx="8382000" cy="225234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parameters of a linear transformer are </a:t>
            </a: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1</a:t>
            </a:r>
            <a:r>
              <a:rPr lang="en-US" sz="2400" dirty="0"/>
              <a:t> = 200[</a:t>
            </a:r>
            <a:r>
              <a:rPr lang="en-US" sz="2400" dirty="0">
                <a:latin typeface="Symbol" panose="05050102010706020507" pitchFamily="18" charset="2"/>
              </a:rPr>
              <a:t>W</a:t>
            </a:r>
            <a:r>
              <a:rPr lang="en-US" sz="2400" dirty="0"/>
              <a:t>], </a:t>
            </a:r>
            <a:br>
              <a:rPr lang="en-US" sz="2400" dirty="0"/>
            </a:b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2</a:t>
            </a:r>
            <a:r>
              <a:rPr lang="en-US" sz="2400" dirty="0"/>
              <a:t> = 100[</a:t>
            </a:r>
            <a:r>
              <a:rPr lang="en-US" sz="2400" dirty="0">
                <a:latin typeface="Symbol" panose="05050102010706020507" pitchFamily="18" charset="2"/>
              </a:rPr>
              <a:t>W</a:t>
            </a:r>
            <a:r>
              <a:rPr lang="en-US" sz="2400" dirty="0"/>
              <a:t>],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1</a:t>
            </a:r>
            <a:r>
              <a:rPr lang="en-US" sz="2400" dirty="0"/>
              <a:t> = 9[H],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2</a:t>
            </a:r>
            <a:r>
              <a:rPr lang="en-US" sz="2400" dirty="0"/>
              <a:t> = 4[H], and k = 0.5.  The transformer couples a load impedance with an 800[</a:t>
            </a:r>
            <a:r>
              <a:rPr lang="en-US" sz="2400" dirty="0">
                <a:latin typeface="Symbol" panose="05050102010706020507" pitchFamily="18" charset="2"/>
              </a:rPr>
              <a:t>W</a:t>
            </a:r>
            <a:r>
              <a:rPr lang="en-US" sz="2400" dirty="0"/>
              <a:t>] resistor in series with a 1[</a:t>
            </a:r>
            <a:r>
              <a:rPr lang="en-US" sz="2400" dirty="0">
                <a:latin typeface="Symbol" panose="05050102010706020507" pitchFamily="18" charset="2"/>
              </a:rPr>
              <a:t>m</a:t>
            </a:r>
            <a:r>
              <a:rPr lang="en-US" sz="2400" dirty="0"/>
              <a:t>F] capacitor to a sinusoidal voltage source.  The 300[</a:t>
            </a:r>
            <a:r>
              <a:rPr lang="en-US" sz="2400" dirty="0" err="1"/>
              <a:t>V</a:t>
            </a:r>
            <a:r>
              <a:rPr lang="en-US" sz="2400" baseline="-25000" dirty="0" err="1"/>
              <a:t>rms</a:t>
            </a:r>
            <a:r>
              <a:rPr lang="en-US" sz="2400" dirty="0"/>
              <a:t>] source has an internal impedance of (500 + j100)[</a:t>
            </a:r>
            <a:r>
              <a:rPr lang="en-US" sz="2400" dirty="0">
                <a:latin typeface="Symbol" panose="05050102010706020507" pitchFamily="18" charset="2"/>
              </a:rPr>
              <a:t>W</a:t>
            </a:r>
            <a:r>
              <a:rPr lang="en-US" sz="2400" dirty="0"/>
              <a:t>] and a frequency of 400[rad/s].  </a:t>
            </a:r>
          </a:p>
        </p:txBody>
      </p:sp>
      <p:sp>
        <p:nvSpPr>
          <p:cNvPr id="10" name="Text Box 3">
            <a:extLst>
              <a:ext uri="{FF2B5EF4-FFF2-40B4-BE49-F238E27FC236}">
                <a16:creationId xmlns:a16="http://schemas.microsoft.com/office/drawing/2014/main" id="{7D81B732-59B9-4B7C-A5C5-9F4E10AA1DDF}"/>
              </a:ext>
            </a:extLst>
          </p:cNvPr>
          <p:cNvSpPr txBox="1">
            <a:spLocks noChangeArrowheads="1"/>
          </p:cNvSpPr>
          <p:nvPr/>
        </p:nvSpPr>
        <p:spPr bwMode="auto">
          <a:xfrm>
            <a:off x="1060655" y="5014102"/>
            <a:ext cx="6658896" cy="169149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b)  Calculate the self-impedance of the primary circuit.  </a:t>
            </a:r>
          </a:p>
          <a:p>
            <a:endParaRPr lang="en-US" altLang="en-US" sz="2400" dirty="0"/>
          </a:p>
        </p:txBody>
      </p:sp>
      <p:graphicFrame>
        <p:nvGraphicFramePr>
          <p:cNvPr id="2" name="Object 1">
            <a:extLst>
              <a:ext uri="{FF2B5EF4-FFF2-40B4-BE49-F238E27FC236}">
                <a16:creationId xmlns:a16="http://schemas.microsoft.com/office/drawing/2014/main" id="{9D0E56A0-5378-40D3-AD4C-6E99DBDFEEA6}"/>
              </a:ext>
            </a:extLst>
          </p:cNvPr>
          <p:cNvGraphicFramePr>
            <a:graphicFrameLocks noChangeAspect="1"/>
          </p:cNvGraphicFramePr>
          <p:nvPr>
            <p:extLst>
              <p:ext uri="{D42A27DB-BD31-4B8C-83A1-F6EECF244321}">
                <p14:modId xmlns:p14="http://schemas.microsoft.com/office/powerpoint/2010/main" val="496633394"/>
              </p:ext>
            </p:extLst>
          </p:nvPr>
        </p:nvGraphicFramePr>
        <p:xfrm>
          <a:off x="1443754" y="5889336"/>
          <a:ext cx="6093696" cy="435264"/>
        </p:xfrm>
        <a:graphic>
          <a:graphicData uri="http://schemas.openxmlformats.org/presentationml/2006/ole">
            <mc:AlternateContent xmlns:mc="http://schemas.openxmlformats.org/markup-compatibility/2006">
              <mc:Choice xmlns:v="urn:schemas-microsoft-com:vml" Requires="v">
                <p:oleObj name="Equation" r:id="rId3" imgW="3555720" imgH="253800" progId="Equation.DSMT4">
                  <p:embed/>
                </p:oleObj>
              </mc:Choice>
              <mc:Fallback>
                <p:oleObj name="Equation" r:id="rId3" imgW="3555720" imgH="253800" progId="Equation.DSMT4">
                  <p:embed/>
                  <p:pic>
                    <p:nvPicPr>
                      <p:cNvPr id="2" name="Object 1">
                        <a:extLst>
                          <a:ext uri="{FF2B5EF4-FFF2-40B4-BE49-F238E27FC236}">
                            <a16:creationId xmlns:a16="http://schemas.microsoft.com/office/drawing/2014/main" id="{9D0E56A0-5378-40D3-AD4C-6E99DBDFEEA6}"/>
                          </a:ext>
                        </a:extLst>
                      </p:cNvPr>
                      <p:cNvPicPr/>
                      <p:nvPr/>
                    </p:nvPicPr>
                    <p:blipFill>
                      <a:blip r:embed="rId4"/>
                      <a:stretch>
                        <a:fillRect/>
                      </a:stretch>
                    </p:blipFill>
                    <p:spPr>
                      <a:xfrm>
                        <a:off x="1443754" y="5889336"/>
                        <a:ext cx="6093696" cy="435264"/>
                      </a:xfrm>
                      <a:prstGeom prst="rect">
                        <a:avLst/>
                      </a:prstGeom>
                    </p:spPr>
                  </p:pic>
                </p:oleObj>
              </mc:Fallback>
            </mc:AlternateContent>
          </a:graphicData>
        </a:graphic>
      </p:graphicFrame>
      <p:pic>
        <p:nvPicPr>
          <p:cNvPr id="9" name="Picture Placeholder 5" descr="The figure illustrates a time period domain equivalent L C R circuit with a linear transformer.&#10;Long description is available in notes, Press F6.">
            <a:extLst>
              <a:ext uri="{FF2B5EF4-FFF2-40B4-BE49-F238E27FC236}">
                <a16:creationId xmlns:a16="http://schemas.microsoft.com/office/drawing/2014/main" id="{85F80D1D-B9D9-46F5-AF4C-23872AFAFF94}"/>
              </a:ext>
            </a:extLst>
          </p:cNvPr>
          <p:cNvPicPr>
            <a:picLocks noChangeAspect="1"/>
          </p:cNvPicPr>
          <p:nvPr/>
        </p:nvPicPr>
        <p:blipFill>
          <a:blip r:embed="rId5"/>
          <a:stretch/>
        </p:blipFill>
        <p:spPr>
          <a:xfrm>
            <a:off x="-12290" y="997757"/>
            <a:ext cx="5066639" cy="1140572"/>
          </a:xfrm>
          <a:prstGeom prst="rect">
            <a:avLst/>
          </a:prstGeom>
        </p:spPr>
      </p:pic>
    </p:spTree>
    <p:extLst>
      <p:ext uri="{BB962C8B-B14F-4D97-AF65-F5344CB8AC3E}">
        <p14:creationId xmlns:p14="http://schemas.microsoft.com/office/powerpoint/2010/main" val="10996179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36871" y="2155535"/>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9.15</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199103" y="2369424"/>
            <a:ext cx="8382000" cy="225234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parameters of a linear transformer are </a:t>
            </a: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1</a:t>
            </a:r>
            <a:r>
              <a:rPr lang="en-US" sz="2400" dirty="0"/>
              <a:t> = 200[</a:t>
            </a:r>
            <a:r>
              <a:rPr lang="en-US" sz="2400" dirty="0">
                <a:latin typeface="Symbol" panose="05050102010706020507" pitchFamily="18" charset="2"/>
              </a:rPr>
              <a:t>W</a:t>
            </a:r>
            <a:r>
              <a:rPr lang="en-US" sz="2400" dirty="0"/>
              <a:t>], </a:t>
            </a:r>
            <a:br>
              <a:rPr lang="en-US" sz="2400" dirty="0"/>
            </a:b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2</a:t>
            </a:r>
            <a:r>
              <a:rPr lang="en-US" sz="2400" dirty="0"/>
              <a:t> = 100[</a:t>
            </a:r>
            <a:r>
              <a:rPr lang="en-US" sz="2400" dirty="0">
                <a:latin typeface="Symbol" panose="05050102010706020507" pitchFamily="18" charset="2"/>
              </a:rPr>
              <a:t>W</a:t>
            </a:r>
            <a:r>
              <a:rPr lang="en-US" sz="2400" dirty="0"/>
              <a:t>],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1</a:t>
            </a:r>
            <a:r>
              <a:rPr lang="en-US" sz="2400" dirty="0"/>
              <a:t> = 9[H],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2</a:t>
            </a:r>
            <a:r>
              <a:rPr lang="en-US" sz="2400" dirty="0"/>
              <a:t> = 4[H], and k = 0.5.  The transformer couples a load impedance with an 800[</a:t>
            </a:r>
            <a:r>
              <a:rPr lang="en-US" sz="2400" dirty="0">
                <a:latin typeface="Symbol" panose="05050102010706020507" pitchFamily="18" charset="2"/>
              </a:rPr>
              <a:t>W</a:t>
            </a:r>
            <a:r>
              <a:rPr lang="en-US" sz="2400" dirty="0"/>
              <a:t>] resistor in series with a 1[</a:t>
            </a:r>
            <a:r>
              <a:rPr lang="en-US" sz="2400" dirty="0">
                <a:latin typeface="Symbol" panose="05050102010706020507" pitchFamily="18" charset="2"/>
              </a:rPr>
              <a:t>m</a:t>
            </a:r>
            <a:r>
              <a:rPr lang="en-US" sz="2400" dirty="0"/>
              <a:t>F] capacitor to a sinusoidal voltage source.  The 300[</a:t>
            </a:r>
            <a:r>
              <a:rPr lang="en-US" sz="2400" dirty="0" err="1"/>
              <a:t>V</a:t>
            </a:r>
            <a:r>
              <a:rPr lang="en-US" sz="2400" baseline="-25000" dirty="0" err="1"/>
              <a:t>rms</a:t>
            </a:r>
            <a:r>
              <a:rPr lang="en-US" sz="2400" dirty="0"/>
              <a:t>] source has an internal impedance of (500 + j100)[</a:t>
            </a:r>
            <a:r>
              <a:rPr lang="en-US" sz="2400" dirty="0">
                <a:latin typeface="Symbol" panose="05050102010706020507" pitchFamily="18" charset="2"/>
              </a:rPr>
              <a:t>W</a:t>
            </a:r>
            <a:r>
              <a:rPr lang="en-US" sz="2400" dirty="0"/>
              <a:t>] and a frequency of 400[rad/s].  </a:t>
            </a:r>
          </a:p>
        </p:txBody>
      </p:sp>
      <p:sp>
        <p:nvSpPr>
          <p:cNvPr id="10" name="Text Box 3">
            <a:extLst>
              <a:ext uri="{FF2B5EF4-FFF2-40B4-BE49-F238E27FC236}">
                <a16:creationId xmlns:a16="http://schemas.microsoft.com/office/drawing/2014/main" id="{7D81B732-59B9-4B7C-A5C5-9F4E10AA1DDF}"/>
              </a:ext>
            </a:extLst>
          </p:cNvPr>
          <p:cNvSpPr txBox="1">
            <a:spLocks noChangeArrowheads="1"/>
          </p:cNvSpPr>
          <p:nvPr/>
        </p:nvSpPr>
        <p:spPr bwMode="auto">
          <a:xfrm>
            <a:off x="1060655" y="5014102"/>
            <a:ext cx="6658896" cy="169149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c)  Calculate the self-impedance of the secondary circuit.  </a:t>
            </a:r>
          </a:p>
          <a:p>
            <a:endParaRPr lang="en-US" altLang="en-US" sz="2400" dirty="0"/>
          </a:p>
        </p:txBody>
      </p:sp>
      <p:graphicFrame>
        <p:nvGraphicFramePr>
          <p:cNvPr id="2" name="Object 1">
            <a:extLst>
              <a:ext uri="{FF2B5EF4-FFF2-40B4-BE49-F238E27FC236}">
                <a16:creationId xmlns:a16="http://schemas.microsoft.com/office/drawing/2014/main" id="{9D0E56A0-5378-40D3-AD4C-6E99DBDFEEA6}"/>
              </a:ext>
            </a:extLst>
          </p:cNvPr>
          <p:cNvGraphicFramePr>
            <a:graphicFrameLocks noChangeAspect="1"/>
          </p:cNvGraphicFramePr>
          <p:nvPr>
            <p:extLst>
              <p:ext uri="{D42A27DB-BD31-4B8C-83A1-F6EECF244321}">
                <p14:modId xmlns:p14="http://schemas.microsoft.com/office/powerpoint/2010/main" val="2903825225"/>
              </p:ext>
            </p:extLst>
          </p:nvPr>
        </p:nvGraphicFramePr>
        <p:xfrm>
          <a:off x="1454150" y="5889625"/>
          <a:ext cx="6072188" cy="434975"/>
        </p:xfrm>
        <a:graphic>
          <a:graphicData uri="http://schemas.openxmlformats.org/presentationml/2006/ole">
            <mc:AlternateContent xmlns:mc="http://schemas.openxmlformats.org/markup-compatibility/2006">
              <mc:Choice xmlns:v="urn:schemas-microsoft-com:vml" Requires="v">
                <p:oleObj name="Equation" r:id="rId3" imgW="3543120" imgH="253800" progId="Equation.DSMT4">
                  <p:embed/>
                </p:oleObj>
              </mc:Choice>
              <mc:Fallback>
                <p:oleObj name="Equation" r:id="rId3" imgW="3543120" imgH="253800" progId="Equation.DSMT4">
                  <p:embed/>
                  <p:pic>
                    <p:nvPicPr>
                      <p:cNvPr id="2" name="Object 1">
                        <a:extLst>
                          <a:ext uri="{FF2B5EF4-FFF2-40B4-BE49-F238E27FC236}">
                            <a16:creationId xmlns:a16="http://schemas.microsoft.com/office/drawing/2014/main" id="{9D0E56A0-5378-40D3-AD4C-6E99DBDFEEA6}"/>
                          </a:ext>
                        </a:extLst>
                      </p:cNvPr>
                      <p:cNvPicPr/>
                      <p:nvPr/>
                    </p:nvPicPr>
                    <p:blipFill>
                      <a:blip r:embed="rId4"/>
                      <a:stretch>
                        <a:fillRect/>
                      </a:stretch>
                    </p:blipFill>
                    <p:spPr>
                      <a:xfrm>
                        <a:off x="1454150" y="5889625"/>
                        <a:ext cx="6072188" cy="434975"/>
                      </a:xfrm>
                      <a:prstGeom prst="rect">
                        <a:avLst/>
                      </a:prstGeom>
                    </p:spPr>
                  </p:pic>
                </p:oleObj>
              </mc:Fallback>
            </mc:AlternateContent>
          </a:graphicData>
        </a:graphic>
      </p:graphicFrame>
      <p:pic>
        <p:nvPicPr>
          <p:cNvPr id="9" name="Picture Placeholder 5" descr="The figure illustrates a time period domain equivalent L C R circuit with a linear transformer.&#10;Long description is available in notes, Press F6.">
            <a:extLst>
              <a:ext uri="{FF2B5EF4-FFF2-40B4-BE49-F238E27FC236}">
                <a16:creationId xmlns:a16="http://schemas.microsoft.com/office/drawing/2014/main" id="{6D404356-7501-4FD4-B4C9-B4332C2E5C1D}"/>
              </a:ext>
            </a:extLst>
          </p:cNvPr>
          <p:cNvPicPr>
            <a:picLocks noChangeAspect="1"/>
          </p:cNvPicPr>
          <p:nvPr/>
        </p:nvPicPr>
        <p:blipFill>
          <a:blip r:embed="rId5"/>
          <a:stretch/>
        </p:blipFill>
        <p:spPr>
          <a:xfrm>
            <a:off x="11061" y="1039761"/>
            <a:ext cx="5066639" cy="1140572"/>
          </a:xfrm>
          <a:prstGeom prst="rect">
            <a:avLst/>
          </a:prstGeom>
        </p:spPr>
      </p:pic>
    </p:spTree>
    <p:extLst>
      <p:ext uri="{BB962C8B-B14F-4D97-AF65-F5344CB8AC3E}">
        <p14:creationId xmlns:p14="http://schemas.microsoft.com/office/powerpoint/2010/main" val="41880394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81116" y="1211857"/>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2400" dirty="0">
                <a:cs typeface="Times New Roman" panose="02020603050405020304" pitchFamily="18" charset="0"/>
              </a:rPr>
              <a:t>Example Problem 9.15</a:t>
            </a:r>
            <a:endParaRPr lang="en-US" altLang="en-US" sz="24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349045" y="1397505"/>
            <a:ext cx="8382000" cy="225234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parameters of a linear transformer are </a:t>
            </a: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1</a:t>
            </a:r>
            <a:r>
              <a:rPr lang="en-US" sz="2400" dirty="0"/>
              <a:t> = 200[</a:t>
            </a:r>
            <a:r>
              <a:rPr lang="en-US" sz="2400" dirty="0">
                <a:latin typeface="Symbol" panose="05050102010706020507" pitchFamily="18" charset="2"/>
              </a:rPr>
              <a:t>W</a:t>
            </a:r>
            <a:r>
              <a:rPr lang="en-US" sz="2400" dirty="0"/>
              <a:t>], </a:t>
            </a:r>
            <a:br>
              <a:rPr lang="en-US" sz="2400" dirty="0"/>
            </a:b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2</a:t>
            </a:r>
            <a:r>
              <a:rPr lang="en-US" sz="2400" dirty="0"/>
              <a:t> = 100[</a:t>
            </a:r>
            <a:r>
              <a:rPr lang="en-US" sz="2400" dirty="0">
                <a:latin typeface="Symbol" panose="05050102010706020507" pitchFamily="18" charset="2"/>
              </a:rPr>
              <a:t>W</a:t>
            </a:r>
            <a:r>
              <a:rPr lang="en-US" sz="2400" dirty="0"/>
              <a:t>],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1</a:t>
            </a:r>
            <a:r>
              <a:rPr lang="en-US" sz="2400" dirty="0"/>
              <a:t> = 9[H],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2</a:t>
            </a:r>
            <a:r>
              <a:rPr lang="en-US" sz="2400" dirty="0"/>
              <a:t> = 4[H], and k = 0.5.  The transformer couples a load impedance with an 800[</a:t>
            </a:r>
            <a:r>
              <a:rPr lang="en-US" sz="2400" dirty="0">
                <a:latin typeface="Symbol" panose="05050102010706020507" pitchFamily="18" charset="2"/>
              </a:rPr>
              <a:t>W</a:t>
            </a:r>
            <a:r>
              <a:rPr lang="en-US" sz="2400" dirty="0"/>
              <a:t>] resistor in series with a 1[</a:t>
            </a:r>
            <a:r>
              <a:rPr lang="en-US" sz="2400" dirty="0">
                <a:latin typeface="Symbol" panose="05050102010706020507" pitchFamily="18" charset="2"/>
              </a:rPr>
              <a:t>m</a:t>
            </a:r>
            <a:r>
              <a:rPr lang="en-US" sz="2400" dirty="0"/>
              <a:t>F] capacitor to a sinusoidal voltage source.  The 300[</a:t>
            </a:r>
            <a:r>
              <a:rPr lang="en-US" sz="2400" dirty="0" err="1"/>
              <a:t>V</a:t>
            </a:r>
            <a:r>
              <a:rPr lang="en-US" sz="2400" baseline="-25000" dirty="0" err="1"/>
              <a:t>rms</a:t>
            </a:r>
            <a:r>
              <a:rPr lang="en-US" sz="2400" dirty="0"/>
              <a:t>] source has an internal impedance of (500 + j100)[</a:t>
            </a:r>
            <a:r>
              <a:rPr lang="en-US" sz="2400" dirty="0">
                <a:latin typeface="Symbol" panose="05050102010706020507" pitchFamily="18" charset="2"/>
              </a:rPr>
              <a:t>W</a:t>
            </a:r>
            <a:r>
              <a:rPr lang="en-US" sz="2400" dirty="0"/>
              <a:t>] and a frequency of 400[rad/s].  </a:t>
            </a:r>
          </a:p>
        </p:txBody>
      </p:sp>
      <p:sp>
        <p:nvSpPr>
          <p:cNvPr id="10" name="Text Box 3">
            <a:extLst>
              <a:ext uri="{FF2B5EF4-FFF2-40B4-BE49-F238E27FC236}">
                <a16:creationId xmlns:a16="http://schemas.microsoft.com/office/drawing/2014/main" id="{7D81B732-59B9-4B7C-A5C5-9F4E10AA1DDF}"/>
              </a:ext>
            </a:extLst>
          </p:cNvPr>
          <p:cNvSpPr txBox="1">
            <a:spLocks noChangeArrowheads="1"/>
          </p:cNvSpPr>
          <p:nvPr/>
        </p:nvSpPr>
        <p:spPr bwMode="auto">
          <a:xfrm>
            <a:off x="471948" y="4001978"/>
            <a:ext cx="8200103" cy="284490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d)  Calculate the impedance reflected into the primary winding.  </a:t>
            </a:r>
          </a:p>
          <a:p>
            <a:endParaRPr lang="en-US" altLang="en-US" sz="2400" dirty="0"/>
          </a:p>
        </p:txBody>
      </p:sp>
      <p:graphicFrame>
        <p:nvGraphicFramePr>
          <p:cNvPr id="2" name="Object 1">
            <a:extLst>
              <a:ext uri="{FF2B5EF4-FFF2-40B4-BE49-F238E27FC236}">
                <a16:creationId xmlns:a16="http://schemas.microsoft.com/office/drawing/2014/main" id="{9D0E56A0-5378-40D3-AD4C-6E99DBDFEEA6}"/>
              </a:ext>
            </a:extLst>
          </p:cNvPr>
          <p:cNvGraphicFramePr>
            <a:graphicFrameLocks noChangeAspect="1"/>
          </p:cNvGraphicFramePr>
          <p:nvPr>
            <p:extLst>
              <p:ext uri="{D42A27DB-BD31-4B8C-83A1-F6EECF244321}">
                <p14:modId xmlns:p14="http://schemas.microsoft.com/office/powerpoint/2010/main" val="739638680"/>
              </p:ext>
            </p:extLst>
          </p:nvPr>
        </p:nvGraphicFramePr>
        <p:xfrm>
          <a:off x="990600" y="5370824"/>
          <a:ext cx="6964363" cy="912813"/>
        </p:xfrm>
        <a:graphic>
          <a:graphicData uri="http://schemas.openxmlformats.org/presentationml/2006/ole">
            <mc:AlternateContent xmlns:mc="http://schemas.openxmlformats.org/markup-compatibility/2006">
              <mc:Choice xmlns:v="urn:schemas-microsoft-com:vml" Requires="v">
                <p:oleObj name="Equation" r:id="rId3" imgW="4063680" imgH="533160" progId="Equation.DSMT4">
                  <p:embed/>
                </p:oleObj>
              </mc:Choice>
              <mc:Fallback>
                <p:oleObj name="Equation" r:id="rId3" imgW="4063680" imgH="533160" progId="Equation.DSMT4">
                  <p:embed/>
                  <p:pic>
                    <p:nvPicPr>
                      <p:cNvPr id="2" name="Object 1">
                        <a:extLst>
                          <a:ext uri="{FF2B5EF4-FFF2-40B4-BE49-F238E27FC236}">
                            <a16:creationId xmlns:a16="http://schemas.microsoft.com/office/drawing/2014/main" id="{9D0E56A0-5378-40D3-AD4C-6E99DBDFEEA6}"/>
                          </a:ext>
                        </a:extLst>
                      </p:cNvPr>
                      <p:cNvPicPr/>
                      <p:nvPr/>
                    </p:nvPicPr>
                    <p:blipFill>
                      <a:blip r:embed="rId4"/>
                      <a:stretch>
                        <a:fillRect/>
                      </a:stretch>
                    </p:blipFill>
                    <p:spPr>
                      <a:xfrm>
                        <a:off x="990600" y="5370824"/>
                        <a:ext cx="6964363" cy="912813"/>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999732E7-7968-462F-959B-61873F75F4D1}"/>
              </a:ext>
            </a:extLst>
          </p:cNvPr>
          <p:cNvGraphicFramePr>
            <a:graphicFrameLocks noChangeAspect="1"/>
          </p:cNvGraphicFramePr>
          <p:nvPr>
            <p:extLst>
              <p:ext uri="{D42A27DB-BD31-4B8C-83A1-F6EECF244321}">
                <p14:modId xmlns:p14="http://schemas.microsoft.com/office/powerpoint/2010/main" val="3485933272"/>
              </p:ext>
            </p:extLst>
          </p:nvPr>
        </p:nvGraphicFramePr>
        <p:xfrm>
          <a:off x="2438400" y="4565229"/>
          <a:ext cx="2327275" cy="805595"/>
        </p:xfrm>
        <a:graphic>
          <a:graphicData uri="http://schemas.openxmlformats.org/presentationml/2006/ole">
            <mc:AlternateContent xmlns:mc="http://schemas.openxmlformats.org/markup-compatibility/2006">
              <mc:Choice xmlns:v="urn:schemas-microsoft-com:vml" Requires="v">
                <p:oleObj name="Equation" r:id="rId5" imgW="1320480" imgH="457200" progId="Equation.DSMT4">
                  <p:embed/>
                </p:oleObj>
              </mc:Choice>
              <mc:Fallback>
                <p:oleObj name="Equation" r:id="rId5" imgW="1320480" imgH="457200" progId="Equation.DSMT4">
                  <p:embed/>
                  <p:pic>
                    <p:nvPicPr>
                      <p:cNvPr id="3" name="Object 2">
                        <a:extLst>
                          <a:ext uri="{FF2B5EF4-FFF2-40B4-BE49-F238E27FC236}">
                            <a16:creationId xmlns:a16="http://schemas.microsoft.com/office/drawing/2014/main" id="{999732E7-7968-462F-959B-61873F75F4D1}"/>
                          </a:ext>
                        </a:extLst>
                      </p:cNvPr>
                      <p:cNvPicPr/>
                      <p:nvPr/>
                    </p:nvPicPr>
                    <p:blipFill>
                      <a:blip r:embed="rId6"/>
                      <a:stretch>
                        <a:fillRect/>
                      </a:stretch>
                    </p:blipFill>
                    <p:spPr>
                      <a:xfrm>
                        <a:off x="2438400" y="4565229"/>
                        <a:ext cx="2327275" cy="805595"/>
                      </a:xfrm>
                      <a:prstGeom prst="rect">
                        <a:avLst/>
                      </a:prstGeom>
                    </p:spPr>
                  </p:pic>
                </p:oleObj>
              </mc:Fallback>
            </mc:AlternateContent>
          </a:graphicData>
        </a:graphic>
      </p:graphicFrame>
      <p:pic>
        <p:nvPicPr>
          <p:cNvPr id="9" name="Picture Placeholder 5" descr="The figure illustrates a time period domain equivalent L C R circuit with a linear transformer.&#10;Long description is available in notes, Press F6.">
            <a:extLst>
              <a:ext uri="{FF2B5EF4-FFF2-40B4-BE49-F238E27FC236}">
                <a16:creationId xmlns:a16="http://schemas.microsoft.com/office/drawing/2014/main" id="{D14B4609-7FDB-4BCC-A8C3-527A4F7774E5}"/>
              </a:ext>
            </a:extLst>
          </p:cNvPr>
          <p:cNvPicPr>
            <a:picLocks noChangeAspect="1"/>
          </p:cNvPicPr>
          <p:nvPr/>
        </p:nvPicPr>
        <p:blipFill>
          <a:blip r:embed="rId7"/>
          <a:stretch/>
        </p:blipFill>
        <p:spPr>
          <a:xfrm>
            <a:off x="0" y="40610"/>
            <a:ext cx="5066639" cy="1140572"/>
          </a:xfrm>
          <a:prstGeom prst="rect">
            <a:avLst/>
          </a:prstGeom>
        </p:spPr>
      </p:pic>
    </p:spTree>
    <p:extLst>
      <p:ext uri="{BB962C8B-B14F-4D97-AF65-F5344CB8AC3E}">
        <p14:creationId xmlns:p14="http://schemas.microsoft.com/office/powerpoint/2010/main" val="24239941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81116" y="1211857"/>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9.15</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349045" y="1397505"/>
            <a:ext cx="8382000" cy="225234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parameters of a linear transformer are </a:t>
            </a: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1</a:t>
            </a:r>
            <a:r>
              <a:rPr lang="en-US" sz="2400" dirty="0"/>
              <a:t> = 200[</a:t>
            </a:r>
            <a:r>
              <a:rPr lang="en-US" sz="2400" dirty="0">
                <a:latin typeface="Symbol" panose="05050102010706020507" pitchFamily="18" charset="2"/>
              </a:rPr>
              <a:t>W</a:t>
            </a:r>
            <a:r>
              <a:rPr lang="en-US" sz="2400" dirty="0"/>
              <a:t>], </a:t>
            </a:r>
            <a:br>
              <a:rPr lang="en-US" sz="2400" dirty="0"/>
            </a:b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2</a:t>
            </a:r>
            <a:r>
              <a:rPr lang="en-US" sz="2400" dirty="0"/>
              <a:t> = 100[</a:t>
            </a:r>
            <a:r>
              <a:rPr lang="en-US" sz="2400" dirty="0">
                <a:latin typeface="Symbol" panose="05050102010706020507" pitchFamily="18" charset="2"/>
              </a:rPr>
              <a:t>W</a:t>
            </a:r>
            <a:r>
              <a:rPr lang="en-US" sz="2400" dirty="0"/>
              <a:t>],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1</a:t>
            </a:r>
            <a:r>
              <a:rPr lang="en-US" sz="2400" dirty="0"/>
              <a:t> = 9[H],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2</a:t>
            </a:r>
            <a:r>
              <a:rPr lang="en-US" sz="2400" dirty="0"/>
              <a:t> = 4[H], and k = 0.5.  The transformer couples a load impedance with an 800[</a:t>
            </a:r>
            <a:r>
              <a:rPr lang="en-US" sz="2400" dirty="0">
                <a:latin typeface="Symbol" panose="05050102010706020507" pitchFamily="18" charset="2"/>
              </a:rPr>
              <a:t>W</a:t>
            </a:r>
            <a:r>
              <a:rPr lang="en-US" sz="2400" dirty="0"/>
              <a:t>] resistor in series with a 1[</a:t>
            </a:r>
            <a:r>
              <a:rPr lang="en-US" sz="2400" dirty="0">
                <a:latin typeface="Symbol" panose="05050102010706020507" pitchFamily="18" charset="2"/>
              </a:rPr>
              <a:t>m</a:t>
            </a:r>
            <a:r>
              <a:rPr lang="en-US" sz="2400" dirty="0"/>
              <a:t>F] capacitor to a sinusoidal voltage source.  The 300[</a:t>
            </a:r>
            <a:r>
              <a:rPr lang="en-US" sz="2400" dirty="0" err="1"/>
              <a:t>V</a:t>
            </a:r>
            <a:r>
              <a:rPr lang="en-US" sz="2400" baseline="-25000" dirty="0" err="1"/>
              <a:t>rms</a:t>
            </a:r>
            <a:r>
              <a:rPr lang="en-US" sz="2400" dirty="0"/>
              <a:t>] source has an internal impedance of (500 + j100)[</a:t>
            </a:r>
            <a:r>
              <a:rPr lang="en-US" sz="2400" dirty="0">
                <a:latin typeface="Symbol" panose="05050102010706020507" pitchFamily="18" charset="2"/>
              </a:rPr>
              <a:t>W</a:t>
            </a:r>
            <a:r>
              <a:rPr lang="en-US" sz="2400" dirty="0"/>
              <a:t>] and a frequency of 400[rad/s].  </a:t>
            </a:r>
          </a:p>
        </p:txBody>
      </p:sp>
      <p:sp>
        <p:nvSpPr>
          <p:cNvPr id="10" name="Text Box 3">
            <a:extLst>
              <a:ext uri="{FF2B5EF4-FFF2-40B4-BE49-F238E27FC236}">
                <a16:creationId xmlns:a16="http://schemas.microsoft.com/office/drawing/2014/main" id="{7D81B732-59B9-4B7C-A5C5-9F4E10AA1DDF}"/>
              </a:ext>
            </a:extLst>
          </p:cNvPr>
          <p:cNvSpPr txBox="1">
            <a:spLocks noChangeArrowheads="1"/>
          </p:cNvSpPr>
          <p:nvPr/>
        </p:nvSpPr>
        <p:spPr bwMode="auto">
          <a:xfrm>
            <a:off x="471948" y="4001978"/>
            <a:ext cx="8200103" cy="284490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e)  Calculate the impedance seen looking into the primary terminals of the transformer.  </a:t>
            </a:r>
          </a:p>
          <a:p>
            <a:endParaRPr lang="en-US" altLang="en-US" sz="2400" dirty="0"/>
          </a:p>
        </p:txBody>
      </p:sp>
      <p:graphicFrame>
        <p:nvGraphicFramePr>
          <p:cNvPr id="3" name="Object 2">
            <a:extLst>
              <a:ext uri="{FF2B5EF4-FFF2-40B4-BE49-F238E27FC236}">
                <a16:creationId xmlns:a16="http://schemas.microsoft.com/office/drawing/2014/main" id="{999732E7-7968-462F-959B-61873F75F4D1}"/>
              </a:ext>
            </a:extLst>
          </p:cNvPr>
          <p:cNvGraphicFramePr>
            <a:graphicFrameLocks noChangeAspect="1"/>
          </p:cNvGraphicFramePr>
          <p:nvPr>
            <p:extLst>
              <p:ext uri="{D42A27DB-BD31-4B8C-83A1-F6EECF244321}">
                <p14:modId xmlns:p14="http://schemas.microsoft.com/office/powerpoint/2010/main" val="2135149054"/>
              </p:ext>
            </p:extLst>
          </p:nvPr>
        </p:nvGraphicFramePr>
        <p:xfrm>
          <a:off x="1219200" y="4755100"/>
          <a:ext cx="6265863" cy="446087"/>
        </p:xfrm>
        <a:graphic>
          <a:graphicData uri="http://schemas.openxmlformats.org/presentationml/2006/ole">
            <mc:AlternateContent xmlns:mc="http://schemas.openxmlformats.org/markup-compatibility/2006">
              <mc:Choice xmlns:v="urn:schemas-microsoft-com:vml" Requires="v">
                <p:oleObj name="Equation" r:id="rId3" imgW="3555720" imgH="253800" progId="Equation.DSMT4">
                  <p:embed/>
                </p:oleObj>
              </mc:Choice>
              <mc:Fallback>
                <p:oleObj name="Equation" r:id="rId3" imgW="3555720" imgH="253800" progId="Equation.DSMT4">
                  <p:embed/>
                  <p:pic>
                    <p:nvPicPr>
                      <p:cNvPr id="3" name="Object 2">
                        <a:extLst>
                          <a:ext uri="{FF2B5EF4-FFF2-40B4-BE49-F238E27FC236}">
                            <a16:creationId xmlns:a16="http://schemas.microsoft.com/office/drawing/2014/main" id="{999732E7-7968-462F-959B-61873F75F4D1}"/>
                          </a:ext>
                        </a:extLst>
                      </p:cNvPr>
                      <p:cNvPicPr/>
                      <p:nvPr/>
                    </p:nvPicPr>
                    <p:blipFill>
                      <a:blip r:embed="rId4"/>
                      <a:stretch>
                        <a:fillRect/>
                      </a:stretch>
                    </p:blipFill>
                    <p:spPr>
                      <a:xfrm>
                        <a:off x="1219200" y="4755100"/>
                        <a:ext cx="6265863" cy="446087"/>
                      </a:xfrm>
                      <a:prstGeom prst="rect">
                        <a:avLst/>
                      </a:prstGeom>
                    </p:spPr>
                  </p:pic>
                </p:oleObj>
              </mc:Fallback>
            </mc:AlternateContent>
          </a:graphicData>
        </a:graphic>
      </p:graphicFrame>
      <p:pic>
        <p:nvPicPr>
          <p:cNvPr id="9" name="Picture Placeholder 5" descr="The figure illustrates a time period domain equivalent L C R circuit with a linear transformer.&#10;Long description is available in notes, Press F6.">
            <a:extLst>
              <a:ext uri="{FF2B5EF4-FFF2-40B4-BE49-F238E27FC236}">
                <a16:creationId xmlns:a16="http://schemas.microsoft.com/office/drawing/2014/main" id="{9DEA2CAB-30E5-490C-B0C7-71722203CC78}"/>
              </a:ext>
            </a:extLst>
          </p:cNvPr>
          <p:cNvPicPr>
            <a:picLocks noChangeAspect="1"/>
          </p:cNvPicPr>
          <p:nvPr/>
        </p:nvPicPr>
        <p:blipFill>
          <a:blip r:embed="rId5"/>
          <a:stretch/>
        </p:blipFill>
        <p:spPr>
          <a:xfrm>
            <a:off x="1621342" y="5203644"/>
            <a:ext cx="6610973" cy="1488223"/>
          </a:xfrm>
          <a:prstGeom prst="rect">
            <a:avLst/>
          </a:prstGeom>
        </p:spPr>
      </p:pic>
    </p:spTree>
    <p:extLst>
      <p:ext uri="{BB962C8B-B14F-4D97-AF65-F5344CB8AC3E}">
        <p14:creationId xmlns:p14="http://schemas.microsoft.com/office/powerpoint/2010/main" val="27414591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a:extLst>
              <a:ext uri="{FF2B5EF4-FFF2-40B4-BE49-F238E27FC236}">
                <a16:creationId xmlns:a16="http://schemas.microsoft.com/office/drawing/2014/main" id="{088458FB-BCD8-4419-83A8-806E0F5814CE}"/>
              </a:ext>
            </a:extLst>
          </p:cNvPr>
          <p:cNvSpPr>
            <a:spLocks noChangeArrowheads="1"/>
          </p:cNvSpPr>
          <p:nvPr/>
        </p:nvSpPr>
        <p:spPr bwMode="auto">
          <a:xfrm>
            <a:off x="81116" y="1211857"/>
            <a:ext cx="8981768" cy="2645065"/>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86146" name="Rectangle 2">
            <a:extLst>
              <a:ext uri="{FF2B5EF4-FFF2-40B4-BE49-F238E27FC236}">
                <a16:creationId xmlns:a16="http://schemas.microsoft.com/office/drawing/2014/main" id="{63EDEA5C-C3DB-4261-9901-5F08CD3F2AE5}"/>
              </a:ext>
            </a:extLst>
          </p:cNvPr>
          <p:cNvSpPr>
            <a:spLocks noGrp="1" noChangeArrowheads="1"/>
          </p:cNvSpPr>
          <p:nvPr>
            <p:ph type="title"/>
          </p:nvPr>
        </p:nvSpPr>
        <p:spPr>
          <a:xfrm>
            <a:off x="2286000" y="0"/>
            <a:ext cx="6858000" cy="1066800"/>
          </a:xfrm>
        </p:spPr>
        <p:txBody>
          <a:bodyPr/>
          <a:lstStyle/>
          <a:p>
            <a:r>
              <a:rPr lang="en-US" altLang="en-US" sz="3200" dirty="0">
                <a:cs typeface="Times New Roman" panose="02020603050405020304" pitchFamily="18" charset="0"/>
              </a:rPr>
              <a:t>Example Problem 9.15</a:t>
            </a:r>
            <a:endParaRPr lang="en-US" altLang="en-US" sz="3200" dirty="0"/>
          </a:p>
        </p:txBody>
      </p:sp>
      <p:sp>
        <p:nvSpPr>
          <p:cNvPr id="12" name="Content Placeholder 7">
            <a:extLst>
              <a:ext uri="{FF2B5EF4-FFF2-40B4-BE49-F238E27FC236}">
                <a16:creationId xmlns:a16="http://schemas.microsoft.com/office/drawing/2014/main" id="{5931B5DA-6EDD-43C6-8613-0728E45EA92A}"/>
              </a:ext>
            </a:extLst>
          </p:cNvPr>
          <p:cNvSpPr txBox="1">
            <a:spLocks/>
          </p:cNvSpPr>
          <p:nvPr/>
        </p:nvSpPr>
        <p:spPr>
          <a:xfrm>
            <a:off x="349045" y="1397505"/>
            <a:ext cx="8382000" cy="2252343"/>
          </a:xfrm>
          <a:prstGeom prst="rect">
            <a:avLst/>
          </a:prstGeom>
          <a:ln w="28575">
            <a:solidFill>
              <a:srgbClr val="007FA3"/>
            </a:solidFill>
          </a:ln>
        </p:spPr>
        <p:txBody>
          <a:bodyPr wrap="square" lIns="54000" tIns="18000" rIns="54000" bIns="18000" anchor="ctr">
            <a:spAutoFit/>
          </a:bodyPr>
          <a:lst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lr>
                <a:schemeClr val="tx2"/>
              </a:buClr>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lr>
                <a:schemeClr val="tx2"/>
              </a:buClr>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defRPr/>
            </a:pPr>
            <a:r>
              <a:rPr lang="en-US" sz="2400" dirty="0"/>
              <a:t>The parameters of a linear transformer are </a:t>
            </a: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1</a:t>
            </a:r>
            <a:r>
              <a:rPr lang="en-US" sz="2400" dirty="0"/>
              <a:t> = 200[</a:t>
            </a:r>
            <a:r>
              <a:rPr lang="en-US" sz="2400" dirty="0">
                <a:latin typeface="Symbol" panose="05050102010706020507" pitchFamily="18" charset="2"/>
              </a:rPr>
              <a:t>W</a:t>
            </a:r>
            <a:r>
              <a:rPr lang="en-US" sz="2400" dirty="0"/>
              <a:t>], </a:t>
            </a:r>
            <a:br>
              <a:rPr lang="en-US" sz="2400" dirty="0"/>
            </a:br>
            <a:r>
              <a:rPr lang="en-US" sz="2400" i="1" dirty="0">
                <a:latin typeface="Times New Roman" panose="02020603050405020304" pitchFamily="18" charset="0"/>
                <a:cs typeface="Times New Roman" panose="02020603050405020304" pitchFamily="18" charset="0"/>
              </a:rPr>
              <a:t>R</a:t>
            </a:r>
            <a:r>
              <a:rPr lang="en-US" sz="2400" i="1" baseline="-25000" dirty="0">
                <a:latin typeface="Times New Roman" panose="02020603050405020304" pitchFamily="18" charset="0"/>
                <a:cs typeface="Times New Roman" panose="02020603050405020304" pitchFamily="18" charset="0"/>
              </a:rPr>
              <a:t>2</a:t>
            </a:r>
            <a:r>
              <a:rPr lang="en-US" sz="2400" dirty="0"/>
              <a:t> = 100[</a:t>
            </a:r>
            <a:r>
              <a:rPr lang="en-US" sz="2400" dirty="0">
                <a:latin typeface="Symbol" panose="05050102010706020507" pitchFamily="18" charset="2"/>
              </a:rPr>
              <a:t>W</a:t>
            </a:r>
            <a:r>
              <a:rPr lang="en-US" sz="2400" dirty="0"/>
              <a:t>],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1</a:t>
            </a:r>
            <a:r>
              <a:rPr lang="en-US" sz="2400" dirty="0"/>
              <a:t> = 9[H], </a:t>
            </a:r>
            <a:r>
              <a:rPr lang="en-US" sz="2400" i="1" dirty="0">
                <a:latin typeface="Times New Roman" panose="02020603050405020304" pitchFamily="18" charset="0"/>
                <a:cs typeface="Times New Roman" panose="02020603050405020304" pitchFamily="18" charset="0"/>
              </a:rPr>
              <a:t>L</a:t>
            </a:r>
            <a:r>
              <a:rPr lang="en-US" sz="2400" i="1" baseline="-25000" dirty="0">
                <a:latin typeface="Times New Roman" panose="02020603050405020304" pitchFamily="18" charset="0"/>
                <a:cs typeface="Times New Roman" panose="02020603050405020304" pitchFamily="18" charset="0"/>
              </a:rPr>
              <a:t>2</a:t>
            </a:r>
            <a:r>
              <a:rPr lang="en-US" sz="2400" dirty="0"/>
              <a:t> = 4[H], and k = 0.5.  The transformer couples a load impedance with an 800[</a:t>
            </a:r>
            <a:r>
              <a:rPr lang="en-US" sz="2400" dirty="0">
                <a:latin typeface="Symbol" panose="05050102010706020507" pitchFamily="18" charset="2"/>
              </a:rPr>
              <a:t>W</a:t>
            </a:r>
            <a:r>
              <a:rPr lang="en-US" sz="2400" dirty="0"/>
              <a:t>] resistor in series with a 1[</a:t>
            </a:r>
            <a:r>
              <a:rPr lang="en-US" sz="2400" dirty="0">
                <a:latin typeface="Symbol" panose="05050102010706020507" pitchFamily="18" charset="2"/>
              </a:rPr>
              <a:t>m</a:t>
            </a:r>
            <a:r>
              <a:rPr lang="en-US" sz="2400" dirty="0"/>
              <a:t>F] capacitor to a sinusoidal voltage source.  The 300[</a:t>
            </a:r>
            <a:r>
              <a:rPr lang="en-US" sz="2400" dirty="0" err="1"/>
              <a:t>V</a:t>
            </a:r>
            <a:r>
              <a:rPr lang="en-US" sz="2400" baseline="-25000" dirty="0" err="1"/>
              <a:t>rms</a:t>
            </a:r>
            <a:r>
              <a:rPr lang="en-US" sz="2400" dirty="0"/>
              <a:t>] source has an internal impedance of (500 + j100)[</a:t>
            </a:r>
            <a:r>
              <a:rPr lang="en-US" sz="2400" dirty="0">
                <a:latin typeface="Symbol" panose="05050102010706020507" pitchFamily="18" charset="2"/>
              </a:rPr>
              <a:t>W</a:t>
            </a:r>
            <a:r>
              <a:rPr lang="en-US" sz="2400" dirty="0"/>
              <a:t>] and a frequency of 400[rad/s].  </a:t>
            </a:r>
          </a:p>
        </p:txBody>
      </p:sp>
      <p:sp>
        <p:nvSpPr>
          <p:cNvPr id="10" name="Text Box 3">
            <a:extLst>
              <a:ext uri="{FF2B5EF4-FFF2-40B4-BE49-F238E27FC236}">
                <a16:creationId xmlns:a16="http://schemas.microsoft.com/office/drawing/2014/main" id="{7D81B732-59B9-4B7C-A5C5-9F4E10AA1DDF}"/>
              </a:ext>
            </a:extLst>
          </p:cNvPr>
          <p:cNvSpPr txBox="1">
            <a:spLocks noChangeArrowheads="1"/>
          </p:cNvSpPr>
          <p:nvPr/>
        </p:nvSpPr>
        <p:spPr bwMode="auto">
          <a:xfrm>
            <a:off x="31956" y="4001978"/>
            <a:ext cx="9112044" cy="2844909"/>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6350" indent="346075">
              <a:lnSpc>
                <a:spcPct val="90000"/>
              </a:lnSpc>
              <a:spcBef>
                <a:spcPct val="20000"/>
              </a:spcBef>
              <a:buClr>
                <a:schemeClr val="tx2"/>
              </a:buClr>
              <a:buFontTx/>
              <a:buNone/>
              <a:defRPr sz="3200">
                <a:latin typeface="+mn-lt"/>
                <a:cs typeface="Times New Roman" panose="02020603050405020304" pitchFamily="18" charset="0"/>
              </a:defRPr>
            </a:lvl1pPr>
            <a:lvl2pPr marL="742950" indent="-285750">
              <a:spcBef>
                <a:spcPct val="20000"/>
              </a:spcBef>
              <a:buClr>
                <a:schemeClr val="tx2"/>
              </a:buClr>
              <a:buChar char="–"/>
              <a:defRPr sz="2800">
                <a:latin typeface="+mn-lt"/>
              </a:defRPr>
            </a:lvl2pPr>
            <a:lvl3pPr marL="1143000" indent="-228600">
              <a:spcBef>
                <a:spcPct val="20000"/>
              </a:spcBef>
              <a:buClr>
                <a:schemeClr val="tx2"/>
              </a:buClr>
              <a:buChar char="•"/>
              <a:defRPr>
                <a:latin typeface="+mn-lt"/>
              </a:defRPr>
            </a:lvl3pPr>
            <a:lvl4pPr marL="1600200" indent="-228600">
              <a:spcBef>
                <a:spcPct val="20000"/>
              </a:spcBef>
              <a:buClr>
                <a:schemeClr val="tx2"/>
              </a:buClr>
              <a:buChar char="–"/>
              <a:defRPr sz="2000">
                <a:latin typeface="+mn-lt"/>
              </a:defRPr>
            </a:lvl4pPr>
            <a:lvl5pPr marL="2057400" indent="-228600">
              <a:spcBef>
                <a:spcPct val="20000"/>
              </a:spcBef>
              <a:buClr>
                <a:schemeClr val="tx2"/>
              </a:buClr>
              <a:buChar char="•"/>
              <a:defRPr sz="2000">
                <a:latin typeface="+mn-lt"/>
              </a:defRPr>
            </a:lvl5pPr>
            <a:lvl6pPr marL="2514600" indent="-228600">
              <a:lnSpc>
                <a:spcPct val="90000"/>
              </a:lnSpc>
              <a:spcBef>
                <a:spcPts val="500"/>
              </a:spcBef>
              <a:buFont typeface="Arial" panose="020B0604020202020204" pitchFamily="34" charset="0"/>
              <a:buChar char="•"/>
              <a:defRPr sz="1800">
                <a:latin typeface="+mn-lt"/>
              </a:defRPr>
            </a:lvl6pPr>
            <a:lvl7pPr marL="2971800" indent="-228600">
              <a:lnSpc>
                <a:spcPct val="90000"/>
              </a:lnSpc>
              <a:spcBef>
                <a:spcPts val="500"/>
              </a:spcBef>
              <a:buFont typeface="Arial" panose="020B0604020202020204" pitchFamily="34" charset="0"/>
              <a:buChar char="•"/>
              <a:defRPr sz="1800">
                <a:latin typeface="+mn-lt"/>
              </a:defRPr>
            </a:lvl7pPr>
            <a:lvl8pPr marL="3429000" indent="-228600">
              <a:lnSpc>
                <a:spcPct val="90000"/>
              </a:lnSpc>
              <a:spcBef>
                <a:spcPts val="500"/>
              </a:spcBef>
              <a:buFont typeface="Arial" panose="020B0604020202020204" pitchFamily="34" charset="0"/>
              <a:buChar char="•"/>
              <a:defRPr sz="1800">
                <a:latin typeface="+mn-lt"/>
              </a:defRPr>
            </a:lvl8pPr>
            <a:lvl9pPr marL="3886200" indent="-228600">
              <a:lnSpc>
                <a:spcPct val="90000"/>
              </a:lnSpc>
              <a:spcBef>
                <a:spcPts val="500"/>
              </a:spcBef>
              <a:buFont typeface="Arial" panose="020B0604020202020204" pitchFamily="34" charset="0"/>
              <a:buChar char="•"/>
              <a:defRPr sz="1800">
                <a:latin typeface="+mn-lt"/>
              </a:defRPr>
            </a:lvl9pPr>
          </a:lstStyle>
          <a:p>
            <a:r>
              <a:rPr lang="en-US" altLang="en-US" sz="2400" dirty="0"/>
              <a:t>f)  Calculate the Thevenin equivalent with respect to the terminals of the load impedance.  </a:t>
            </a:r>
          </a:p>
          <a:p>
            <a:r>
              <a:rPr lang="en-US" altLang="en-US" sz="2400" dirty="0"/>
              <a:t>We will work this part on the board.  We will find:</a:t>
            </a:r>
          </a:p>
        </p:txBody>
      </p:sp>
      <p:pic>
        <p:nvPicPr>
          <p:cNvPr id="7" name="Picture Placeholder 5" descr="The figure illustrates a Thevenin equivalent for the circuit shown in figure 9.42.&#10;Long description is available in notes, Press F6.">
            <a:extLst>
              <a:ext uri="{FF2B5EF4-FFF2-40B4-BE49-F238E27FC236}">
                <a16:creationId xmlns:a16="http://schemas.microsoft.com/office/drawing/2014/main" id="{E22F94C0-11C5-42B0-8609-E60D4C9F2813}"/>
              </a:ext>
            </a:extLst>
          </p:cNvPr>
          <p:cNvPicPr>
            <a:picLocks noChangeAspect="1"/>
          </p:cNvPicPr>
          <p:nvPr/>
        </p:nvPicPr>
        <p:blipFill>
          <a:blip r:embed="rId3"/>
          <a:stretch/>
        </p:blipFill>
        <p:spPr>
          <a:xfrm>
            <a:off x="5124313" y="5100455"/>
            <a:ext cx="3987731" cy="1452746"/>
          </a:xfrm>
          <a:prstGeom prst="rect">
            <a:avLst/>
          </a:prstGeom>
        </p:spPr>
      </p:pic>
      <p:pic>
        <p:nvPicPr>
          <p:cNvPr id="9" name="Picture Placeholder 5" descr="The figure illustrates a time period domain equivalent L C R circuit with a linear transformer.&#10;Long description is available in notes, Press F6.">
            <a:extLst>
              <a:ext uri="{FF2B5EF4-FFF2-40B4-BE49-F238E27FC236}">
                <a16:creationId xmlns:a16="http://schemas.microsoft.com/office/drawing/2014/main" id="{8E9ACB47-4F48-401C-A69B-E8B0F0E76851}"/>
              </a:ext>
            </a:extLst>
          </p:cNvPr>
          <p:cNvPicPr>
            <a:picLocks noChangeAspect="1"/>
          </p:cNvPicPr>
          <p:nvPr/>
        </p:nvPicPr>
        <p:blipFill>
          <a:blip r:embed="rId4"/>
          <a:stretch/>
        </p:blipFill>
        <p:spPr>
          <a:xfrm>
            <a:off x="57674" y="5132410"/>
            <a:ext cx="5066639" cy="1140572"/>
          </a:xfrm>
          <a:prstGeom prst="rect">
            <a:avLst/>
          </a:prstGeom>
        </p:spPr>
      </p:pic>
    </p:spTree>
    <p:extLst>
      <p:ext uri="{BB962C8B-B14F-4D97-AF65-F5344CB8AC3E}">
        <p14:creationId xmlns:p14="http://schemas.microsoft.com/office/powerpoint/2010/main" val="2977446108"/>
      </p:ext>
    </p:extLst>
  </p:cSld>
  <p:clrMapOvr>
    <a:masterClrMapping/>
  </p:clrMapOvr>
</p:sld>
</file>

<file path=ppt/theme/theme1.xml><?xml version="1.0" encoding="utf-8"?>
<a:theme xmlns:a="http://schemas.openxmlformats.org/drawingml/2006/main" name="Fireball">
  <a:themeElements>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fontScheme name="Firebal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Fireball 1">
        <a:dk1>
          <a:srgbClr val="5F5F5F"/>
        </a:dk1>
        <a:lt1>
          <a:srgbClr val="FFFFCC"/>
        </a:lt1>
        <a:dk2>
          <a:srgbClr val="000000"/>
        </a:dk2>
        <a:lt2>
          <a:srgbClr val="FFCC66"/>
        </a:lt2>
        <a:accent1>
          <a:srgbClr val="FF9933"/>
        </a:accent1>
        <a:accent2>
          <a:srgbClr val="CC0066"/>
        </a:accent2>
        <a:accent3>
          <a:srgbClr val="AAAAAA"/>
        </a:accent3>
        <a:accent4>
          <a:srgbClr val="DADAAE"/>
        </a:accent4>
        <a:accent5>
          <a:srgbClr val="FFCAAD"/>
        </a:accent5>
        <a:accent6>
          <a:srgbClr val="B9005C"/>
        </a:accent6>
        <a:hlink>
          <a:srgbClr val="CC00CC"/>
        </a:hlink>
        <a:folHlink>
          <a:srgbClr val="990099"/>
        </a:folHlink>
      </a:clrScheme>
      <a:clrMap bg1="dk2" tx1="lt1" bg2="dk1" tx2="lt2" accent1="accent1" accent2="accent2" accent3="accent3" accent4="accent4" accent5="accent5" accent6="accent6" hlink="hlink" folHlink="folHlink"/>
    </a:extraClrScheme>
    <a:extraClrScheme>
      <a:clrScheme name="Fireball 2">
        <a:dk1>
          <a:srgbClr val="000000"/>
        </a:dk1>
        <a:lt1>
          <a:srgbClr val="FFFFFF"/>
        </a:lt1>
        <a:dk2>
          <a:srgbClr val="FF9900"/>
        </a:dk2>
        <a:lt2>
          <a:srgbClr val="5F5F5F"/>
        </a:lt2>
        <a:accent1>
          <a:srgbClr val="FF9933"/>
        </a:accent1>
        <a:accent2>
          <a:srgbClr val="CC0066"/>
        </a:accent2>
        <a:accent3>
          <a:srgbClr val="FFFFFF"/>
        </a:accent3>
        <a:accent4>
          <a:srgbClr val="000000"/>
        </a:accent4>
        <a:accent5>
          <a:srgbClr val="FFCAAD"/>
        </a:accent5>
        <a:accent6>
          <a:srgbClr val="B9005C"/>
        </a:accent6>
        <a:hlink>
          <a:srgbClr val="CC00CC"/>
        </a:hlink>
        <a:folHlink>
          <a:srgbClr val="990099"/>
        </a:folHlink>
      </a:clrScheme>
      <a:clrMap bg1="lt1" tx1="dk1" bg2="lt2" tx2="dk2" accent1="accent1" accent2="accent2" accent3="accent3" accent4="accent4" accent5="accent5" accent6="accent6" hlink="hlink" folHlink="folHlink"/>
    </a:extraClrScheme>
    <a:extraClrScheme>
      <a:clrScheme name="Fireball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E:\Program Files\Microsoft Office\Templates\Presentation Designs\Fireball.pot</Template>
  <TotalTime>13907</TotalTime>
  <Words>3117</Words>
  <Application>Microsoft Office PowerPoint</Application>
  <PresentationFormat>On-screen Show (4:3)</PresentationFormat>
  <Paragraphs>240</Paragraphs>
  <Slides>45</Slides>
  <Notes>44</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4</vt:i4>
      </vt:variant>
      <vt:variant>
        <vt:lpstr>Slide Titles</vt:lpstr>
      </vt:variant>
      <vt:variant>
        <vt:i4>45</vt:i4>
      </vt:variant>
    </vt:vector>
  </HeadingPairs>
  <TitlesOfParts>
    <vt:vector size="54" baseType="lpstr">
      <vt:lpstr>Arial</vt:lpstr>
      <vt:lpstr>New York</vt:lpstr>
      <vt:lpstr>Symbol</vt:lpstr>
      <vt:lpstr>Times New Roman</vt:lpstr>
      <vt:lpstr>Fireball</vt:lpstr>
      <vt:lpstr>VISIO</vt:lpstr>
      <vt:lpstr>Equation</vt:lpstr>
      <vt:lpstr>MathType 7.0 Equation</vt:lpstr>
      <vt:lpstr>Visio</vt:lpstr>
      <vt:lpstr>ECE 3364  Circuits and Systems</vt:lpstr>
      <vt:lpstr>Overview of Lecture Set  Transformers</vt:lpstr>
      <vt:lpstr>Copyright Notice</vt:lpstr>
      <vt:lpstr>Inductor Review</vt:lpstr>
      <vt:lpstr>Mutual Inductance</vt:lpstr>
      <vt:lpstr>Mutual Inductance </vt:lpstr>
      <vt:lpstr>Mutual Inductance </vt:lpstr>
      <vt:lpstr>Mutual Inductance </vt:lpstr>
      <vt:lpstr>Polarity of Mutually Induced Voltages (The Dot Convention) </vt:lpstr>
      <vt:lpstr>The Dot Convention </vt:lpstr>
      <vt:lpstr>Ideal Transformers </vt:lpstr>
      <vt:lpstr>Ideal Transformers </vt:lpstr>
      <vt:lpstr>Ideal Transformers </vt:lpstr>
      <vt:lpstr>Ideal Transformers </vt:lpstr>
      <vt:lpstr>Ideal Transformers </vt:lpstr>
      <vt:lpstr>Ideal Transformers </vt:lpstr>
      <vt:lpstr>Ideal Transformers </vt:lpstr>
      <vt:lpstr>Ideal Transformers </vt:lpstr>
      <vt:lpstr>Ideal Transformers </vt:lpstr>
      <vt:lpstr>Dot Conventions for Ideal Transformers </vt:lpstr>
      <vt:lpstr>Dot Conventions for Ideal Transformers </vt:lpstr>
      <vt:lpstr>Dot Conventions for Ideal Transformers </vt:lpstr>
      <vt:lpstr>Dot Conventions for Ideal Transformers </vt:lpstr>
      <vt:lpstr>Dot Conventions for Ideal Transformers </vt:lpstr>
      <vt:lpstr>Dot Conventions for Ideal Transformers </vt:lpstr>
      <vt:lpstr>Example Problem 9.16</vt:lpstr>
      <vt:lpstr>Example Problem 9.16</vt:lpstr>
      <vt:lpstr>Example Problem 9.16</vt:lpstr>
      <vt:lpstr>Example Problem 9.16</vt:lpstr>
      <vt:lpstr>Example Problem 9.16</vt:lpstr>
      <vt:lpstr>Example Problem 9.16</vt:lpstr>
      <vt:lpstr>Impedance Reflection with Transformers </vt:lpstr>
      <vt:lpstr>Impedance Reflection with Transformers </vt:lpstr>
      <vt:lpstr>Example Problem</vt:lpstr>
      <vt:lpstr>Linear Transformers </vt:lpstr>
      <vt:lpstr>Linear Transformers </vt:lpstr>
      <vt:lpstr>Linear Transformers </vt:lpstr>
      <vt:lpstr>Linear Transformers </vt:lpstr>
      <vt:lpstr>Example Problem 9.15</vt:lpstr>
      <vt:lpstr>Example Problem 9.15</vt:lpstr>
      <vt:lpstr>Example Problem 9.15</vt:lpstr>
      <vt:lpstr>Example Problem 9.15</vt:lpstr>
      <vt:lpstr>Example Problem 9.15</vt:lpstr>
      <vt:lpstr>Example Problem 9.15</vt:lpstr>
      <vt:lpstr>Example Problem 9.15</vt:lpstr>
    </vt:vector>
  </TitlesOfParts>
  <Company>UH ECE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ECE3364 lecture Set 4</dc:title>
  <dc:subject>Transformers</dc:subject>
  <dc:creator>Dave Shattuck</dc:creator>
  <cp:lastModifiedBy>Shattuck, David P</cp:lastModifiedBy>
  <cp:revision>332</cp:revision>
  <cp:lastPrinted>1999-08-25T18:07:04Z</cp:lastPrinted>
  <dcterms:created xsi:type="dcterms:W3CDTF">1999-08-24T13:57:19Z</dcterms:created>
  <dcterms:modified xsi:type="dcterms:W3CDTF">2025-10-30T21:00:24Z</dcterms:modified>
</cp:coreProperties>
</file>