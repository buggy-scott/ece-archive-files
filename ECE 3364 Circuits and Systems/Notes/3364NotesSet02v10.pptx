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60"/>
  </p:notesMasterIdLst>
  <p:sldIdLst>
    <p:sldId id="353" r:id="rId2"/>
    <p:sldId id="797" r:id="rId3"/>
    <p:sldId id="798" r:id="rId4"/>
    <p:sldId id="884" r:id="rId5"/>
    <p:sldId id="802" r:id="rId6"/>
    <p:sldId id="803" r:id="rId7"/>
    <p:sldId id="881" r:id="rId8"/>
    <p:sldId id="804" r:id="rId9"/>
    <p:sldId id="805" r:id="rId10"/>
    <p:sldId id="806" r:id="rId11"/>
    <p:sldId id="807" r:id="rId12"/>
    <p:sldId id="808" r:id="rId13"/>
    <p:sldId id="882" r:id="rId14"/>
    <p:sldId id="883" r:id="rId15"/>
    <p:sldId id="885" r:id="rId16"/>
    <p:sldId id="886" r:id="rId17"/>
    <p:sldId id="887" r:id="rId18"/>
    <p:sldId id="888" r:id="rId19"/>
    <p:sldId id="821" r:id="rId20"/>
    <p:sldId id="891" r:id="rId21"/>
    <p:sldId id="893" r:id="rId22"/>
    <p:sldId id="890" r:id="rId23"/>
    <p:sldId id="889" r:id="rId24"/>
    <p:sldId id="892" r:id="rId25"/>
    <p:sldId id="894" r:id="rId26"/>
    <p:sldId id="895" r:id="rId27"/>
    <p:sldId id="896" r:id="rId28"/>
    <p:sldId id="897" r:id="rId29"/>
    <p:sldId id="898" r:id="rId30"/>
    <p:sldId id="900" r:id="rId31"/>
    <p:sldId id="901" r:id="rId32"/>
    <p:sldId id="899" r:id="rId33"/>
    <p:sldId id="902" r:id="rId34"/>
    <p:sldId id="903" r:id="rId35"/>
    <p:sldId id="904" r:id="rId36"/>
    <p:sldId id="905" r:id="rId37"/>
    <p:sldId id="914" r:id="rId38"/>
    <p:sldId id="915" r:id="rId39"/>
    <p:sldId id="916" r:id="rId40"/>
    <p:sldId id="917" r:id="rId41"/>
    <p:sldId id="918" r:id="rId42"/>
    <p:sldId id="874" r:id="rId43"/>
    <p:sldId id="906" r:id="rId44"/>
    <p:sldId id="907" r:id="rId45"/>
    <p:sldId id="908" r:id="rId46"/>
    <p:sldId id="909" r:id="rId47"/>
    <p:sldId id="910" r:id="rId48"/>
    <p:sldId id="920" r:id="rId49"/>
    <p:sldId id="911" r:id="rId50"/>
    <p:sldId id="912" r:id="rId51"/>
    <p:sldId id="913" r:id="rId52"/>
    <p:sldId id="919" r:id="rId53"/>
    <p:sldId id="921" r:id="rId54"/>
    <p:sldId id="922" r:id="rId55"/>
    <p:sldId id="923" r:id="rId56"/>
    <p:sldId id="925" r:id="rId57"/>
    <p:sldId id="924" r:id="rId58"/>
    <p:sldId id="876" r:id="rId59"/>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3366FF"/>
    <a:srgbClr val="FFFF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99" autoAdjust="0"/>
    <p:restoredTop sz="89388" autoAdjust="0"/>
  </p:normalViewPr>
  <p:slideViewPr>
    <p:cSldViewPr>
      <p:cViewPr varScale="1">
        <p:scale>
          <a:sx n="92" d="100"/>
          <a:sy n="92" d="100"/>
        </p:scale>
        <p:origin x="132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7577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757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7578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578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7578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B1CB129-7705-4FF2-9E5D-CE9C71BADEBF}" type="slidenum">
              <a:rPr lang="en-US"/>
              <a:pPr/>
              <a:t>‹#›</a:t>
            </a:fld>
            <a:endParaRPr lang="en-US"/>
          </a:p>
        </p:txBody>
      </p:sp>
    </p:spTree>
    <p:extLst>
      <p:ext uri="{BB962C8B-B14F-4D97-AF65-F5344CB8AC3E}">
        <p14:creationId xmlns:p14="http://schemas.microsoft.com/office/powerpoint/2010/main" val="10207260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E87AC0-3C41-4BA1-AFA2-5BE9E8478146}" type="slidenum">
              <a:rPr lang="en-US"/>
              <a:pPr/>
              <a:t>2</a:t>
            </a:fld>
            <a:endParaRPr lang="en-US"/>
          </a:p>
        </p:txBody>
      </p:sp>
      <p:sp>
        <p:nvSpPr>
          <p:cNvPr id="111001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1001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423114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BBD21F-21AF-4E81-BE8E-C303E9D907D2}" type="slidenum">
              <a:rPr lang="en-US"/>
              <a:pPr/>
              <a:t>3</a:t>
            </a:fld>
            <a:endParaRPr lang="en-US"/>
          </a:p>
        </p:txBody>
      </p:sp>
      <p:sp>
        <p:nvSpPr>
          <p:cNvPr id="111206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120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282509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BBD21F-21AF-4E81-BE8E-C303E9D907D2}" type="slidenum">
              <a:rPr lang="en-US"/>
              <a:pPr/>
              <a:t>4</a:t>
            </a:fld>
            <a:endParaRPr lang="en-US"/>
          </a:p>
        </p:txBody>
      </p:sp>
      <p:sp>
        <p:nvSpPr>
          <p:cNvPr id="111206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120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3838466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5</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r>
              <a:rPr lang="en-US" sz="1200" b="0" i="0" u="none" strike="noStrike" kern="1200" cap="none" dirty="0">
                <a:solidFill>
                  <a:schemeClr val="dk1"/>
                </a:solidFill>
                <a:latin typeface="Arial"/>
                <a:ea typeface="Arial"/>
                <a:cs typeface="Arial"/>
                <a:sym typeface="Arial"/>
              </a:rPr>
              <a: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“a”-phase winding, b-phase winding, and c-phase winding. Three dashed lines are drawn from the center of the rotor to the periphery of the stator, separated by an angle of 120 degrees. These lines represent axes of the “a”-phase winding, b-phase winding, and c-phase winding.</a:t>
            </a:r>
          </a:p>
          <a:p>
            <a:endParaRPr lang="en-US" dirty="0"/>
          </a:p>
        </p:txBody>
      </p:sp>
    </p:spTree>
    <p:extLst>
      <p:ext uri="{BB962C8B-B14F-4D97-AF65-F5344CB8AC3E}">
        <p14:creationId xmlns:p14="http://schemas.microsoft.com/office/powerpoint/2010/main" val="4016822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B876E0-19DE-44DD-9B0B-0AB1EF07CEE7}" type="slidenum">
              <a:rPr lang="en-US"/>
              <a:pPr/>
              <a:t>6</a:t>
            </a:fld>
            <a:endParaRPr lang="en-US"/>
          </a:p>
        </p:txBody>
      </p:sp>
      <p:sp>
        <p:nvSpPr>
          <p:cNvPr id="112230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23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4167715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B876E0-19DE-44DD-9B0B-0AB1EF07CEE7}" type="slidenum">
              <a:rPr lang="en-US"/>
              <a:pPr/>
              <a:t>7</a:t>
            </a:fld>
            <a:endParaRPr lang="en-US"/>
          </a:p>
        </p:txBody>
      </p:sp>
      <p:sp>
        <p:nvSpPr>
          <p:cNvPr id="112230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23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895122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71B173-FD5A-46D2-870D-E161873C46D6}" type="slidenum">
              <a:rPr lang="en-US"/>
              <a:pPr/>
              <a:t>8</a:t>
            </a:fld>
            <a:endParaRPr lang="en-US"/>
          </a:p>
        </p:txBody>
      </p:sp>
      <p:sp>
        <p:nvSpPr>
          <p:cNvPr id="112435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435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558861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73E8F8-7CF6-4B69-94C1-92E6C44FB3B4}" type="slidenum">
              <a:rPr lang="en-US"/>
              <a:pPr/>
              <a:t>9</a:t>
            </a:fld>
            <a:endParaRPr lang="en-US"/>
          </a:p>
        </p:txBody>
      </p:sp>
      <p:sp>
        <p:nvSpPr>
          <p:cNvPr id="112640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64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378395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907B09-090A-4310-8EBC-9708193827A0}" type="slidenum">
              <a:rPr lang="en-US"/>
              <a:pPr/>
              <a:t>10</a:t>
            </a:fld>
            <a:endParaRPr lang="en-US"/>
          </a:p>
        </p:txBody>
      </p:sp>
      <p:sp>
        <p:nvSpPr>
          <p:cNvPr id="112845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84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908627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280A51-BB5D-4E40-9F11-6FC154D383B9}" type="slidenum">
              <a:rPr lang="en-US"/>
              <a:pPr/>
              <a:t>11</a:t>
            </a:fld>
            <a:endParaRPr lang="en-US"/>
          </a:p>
        </p:txBody>
      </p:sp>
      <p:sp>
        <p:nvSpPr>
          <p:cNvPr id="113049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304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4118552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B4D23A-04BB-4BFE-AA81-B03F4938A540}" type="slidenum">
              <a:rPr lang="en-US"/>
              <a:pPr/>
              <a:t>12</a:t>
            </a:fld>
            <a:endParaRPr lang="en-US"/>
          </a:p>
        </p:txBody>
      </p:sp>
      <p:sp>
        <p:nvSpPr>
          <p:cNvPr id="113254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325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149095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13</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kern="1200" cap="none" dirty="0">
                <a:solidFill>
                  <a:schemeClr val="dk1"/>
                </a:solidFill>
                <a:latin typeface="Arial"/>
                <a:ea typeface="Arial"/>
                <a:cs typeface="Arial"/>
                <a:sym typeface="Arial"/>
              </a:rPr>
              <a:t>The two boxes contain three terminals each, which are connected by three parallel wires. The box on the left is labeled three-phase voltage source and the box on the right is labeled three-phase load. The connecting lines are labeled three-phase line.</a:t>
            </a:r>
          </a:p>
        </p:txBody>
      </p:sp>
    </p:spTree>
    <p:extLst>
      <p:ext uri="{BB962C8B-B14F-4D97-AF65-F5344CB8AC3E}">
        <p14:creationId xmlns:p14="http://schemas.microsoft.com/office/powerpoint/2010/main" val="901203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14</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r>
              <a:rPr lang="en-US" sz="1200" b="0" i="0" u="none" strike="noStrike" kern="1200" cap="none" dirty="0">
                <a:solidFill>
                  <a:schemeClr val="dk1"/>
                </a:solidFill>
                <a:latin typeface="Arial"/>
                <a:ea typeface="Arial"/>
                <a:cs typeface="Arial"/>
                <a:sym typeface="Arial"/>
              </a:rPr>
              <a:t>Part ("a"), Y-connected: The elements present in the circuit are three voltage sources labeled V subscript "a", V subscript b, and V subscript c. The negative terminals of V subscript "a", V subscript b, and V subscript c are connected at a node labeled n. The positive terminal of V subscript "a" is connected to terminal "a". The positive terminal of V subscript b is connected to terminal b. The positive terminal of V subscript c is connected to terminal c.  This diagram is given in the phasor domain.  </a:t>
            </a:r>
          </a:p>
        </p:txBody>
      </p:sp>
    </p:spTree>
    <p:extLst>
      <p:ext uri="{BB962C8B-B14F-4D97-AF65-F5344CB8AC3E}">
        <p14:creationId xmlns:p14="http://schemas.microsoft.com/office/powerpoint/2010/main" val="2575185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15</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r>
              <a:rPr lang="en-US" sz="1200" b="0" i="0" u="none" strike="noStrike" kern="1200" cap="none" dirty="0">
                <a:solidFill>
                  <a:schemeClr val="dk1"/>
                </a:solidFill>
                <a:latin typeface="Arial"/>
                <a:ea typeface="Arial"/>
                <a:cs typeface="Arial"/>
                <a:sym typeface="Arial"/>
              </a:rPr>
              <a:t>Part (b), Delta-connected: The elements present in the circuit are three voltage sources labeled V subscript "a", V subscript b, and V subscript c. The positive terminal of V subscript "a" and the negative terminal of V subscript c are connected to terminal "a". The negative terminal of V subscript "a" and the positive terminal of V subscript b are connected to terminal b. The negative terminal of V subscript b and the positive terminal of V subscript c are connected to terminal c.</a:t>
            </a:r>
          </a:p>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r>
              <a:rPr lang="en-US" sz="1200" b="0" i="0" u="none" strike="noStrike" kern="1200" cap="none" dirty="0">
                <a:solidFill>
                  <a:schemeClr val="dk1"/>
                </a:solidFill>
                <a:latin typeface="Arial"/>
                <a:ea typeface="Arial"/>
                <a:cs typeface="Arial"/>
                <a:sym typeface="Arial"/>
              </a:rPr>
              <a:t>This diagram is given in the phasor domain.  </a:t>
            </a:r>
          </a:p>
        </p:txBody>
      </p:sp>
    </p:spTree>
    <p:extLst>
      <p:ext uri="{BB962C8B-B14F-4D97-AF65-F5344CB8AC3E}">
        <p14:creationId xmlns:p14="http://schemas.microsoft.com/office/powerpoint/2010/main" val="3069429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16</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r>
              <a:rPr lang="en-US" sz="1200" b="0" i="0" u="none" strike="noStrike" kern="1200" cap="none" dirty="0">
                <a:solidFill>
                  <a:schemeClr val="dk1"/>
                </a:solidFill>
                <a:latin typeface="Arial"/>
                <a:ea typeface="Arial"/>
                <a:cs typeface="Arial"/>
                <a:sym typeface="Arial"/>
              </a:rPr>
              <a:t>These diagrams are given in the phasor domain.  Note that </a:t>
            </a:r>
            <a:r>
              <a:rPr lang="en-US" b="1" i="1" dirty="0">
                <a:cs typeface="Times New Roman" panose="02020603050405020304" pitchFamily="18" charset="0"/>
              </a:rPr>
              <a:t>V</a:t>
            </a:r>
            <a:r>
              <a:rPr lang="en-US" i="1" baseline="-25000" dirty="0">
                <a:cs typeface="Times New Roman" panose="02020603050405020304" pitchFamily="18" charset="0"/>
              </a:rPr>
              <a:t>a</a:t>
            </a:r>
            <a:r>
              <a:rPr lang="en-US" sz="1200" b="0" i="0" u="none" strike="noStrike" kern="1200" cap="none" dirty="0">
                <a:solidFill>
                  <a:schemeClr val="dk1"/>
                </a:solidFill>
                <a:latin typeface="Arial"/>
                <a:ea typeface="Arial"/>
                <a:cs typeface="Arial"/>
                <a:sym typeface="Arial"/>
              </a:rPr>
              <a:t> in (b) is equal to </a:t>
            </a:r>
            <a:r>
              <a:rPr lang="en-US" b="1" i="1" dirty="0">
                <a:cs typeface="Times New Roman" panose="02020603050405020304" pitchFamily="18" charset="0"/>
              </a:rPr>
              <a:t>V</a:t>
            </a:r>
            <a:r>
              <a:rPr lang="en-US" i="1" baseline="-25000" dirty="0">
                <a:cs typeface="Times New Roman" panose="02020603050405020304" pitchFamily="18" charset="0"/>
              </a:rPr>
              <a:t>a</a:t>
            </a:r>
            <a:r>
              <a:rPr lang="en-US" sz="1200" b="0" i="0" u="none" strike="noStrike" kern="1200" cap="none" dirty="0">
                <a:solidFill>
                  <a:schemeClr val="dk1"/>
                </a:solidFill>
                <a:latin typeface="Arial"/>
                <a:ea typeface="Arial"/>
                <a:cs typeface="Arial"/>
                <a:sym typeface="Arial"/>
              </a:rPr>
              <a:t> – </a:t>
            </a:r>
            <a:r>
              <a:rPr lang="en-US" b="1" i="1" dirty="0" err="1">
                <a:cs typeface="Times New Roman" panose="02020603050405020304" pitchFamily="18" charset="0"/>
              </a:rPr>
              <a:t>V</a:t>
            </a:r>
            <a:r>
              <a:rPr lang="en-US" i="1" baseline="-25000" dirty="0" err="1">
                <a:cs typeface="Times New Roman" panose="02020603050405020304" pitchFamily="18" charset="0"/>
              </a:rPr>
              <a:t>b</a:t>
            </a:r>
            <a:r>
              <a:rPr lang="en-US" sz="1200" b="0" i="0" u="none" strike="noStrike" kern="1200" cap="none" dirty="0">
                <a:solidFill>
                  <a:schemeClr val="dk1"/>
                </a:solidFill>
                <a:latin typeface="Arial"/>
                <a:ea typeface="Arial"/>
                <a:cs typeface="Arial"/>
                <a:sym typeface="Arial"/>
              </a:rPr>
              <a:t> in (a).  </a:t>
            </a:r>
          </a:p>
        </p:txBody>
      </p:sp>
    </p:spTree>
    <p:extLst>
      <p:ext uri="{BB962C8B-B14F-4D97-AF65-F5344CB8AC3E}">
        <p14:creationId xmlns:p14="http://schemas.microsoft.com/office/powerpoint/2010/main" val="1268497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17</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r>
              <a:rPr lang="en-US" sz="1200" b="0" i="0" u="none" strike="noStrike" kern="1200" cap="none" dirty="0">
                <a:solidFill>
                  <a:schemeClr val="dk1"/>
                </a:solidFill>
                <a:latin typeface="Arial"/>
                <a:ea typeface="Arial"/>
                <a:cs typeface="Arial"/>
                <a:sym typeface="Arial"/>
              </a:rPr>
              <a:t>These diagrams are given in the phasor domain.  Note that </a:t>
            </a:r>
            <a:r>
              <a:rPr lang="en-US" b="1" i="1" dirty="0">
                <a:cs typeface="Times New Roman" panose="02020603050405020304" pitchFamily="18" charset="0"/>
              </a:rPr>
              <a:t>V</a:t>
            </a:r>
            <a:r>
              <a:rPr lang="en-US" i="1" baseline="-25000" dirty="0">
                <a:cs typeface="Times New Roman" panose="02020603050405020304" pitchFamily="18" charset="0"/>
              </a:rPr>
              <a:t>a</a:t>
            </a:r>
            <a:r>
              <a:rPr lang="en-US" sz="1200" b="0" i="0" u="none" strike="noStrike" kern="1200" cap="none" dirty="0">
                <a:solidFill>
                  <a:schemeClr val="dk1"/>
                </a:solidFill>
                <a:latin typeface="Arial"/>
                <a:ea typeface="Arial"/>
                <a:cs typeface="Arial"/>
                <a:sym typeface="Arial"/>
              </a:rPr>
              <a:t> in (b) is equal to </a:t>
            </a:r>
            <a:r>
              <a:rPr lang="en-US" b="1" i="1" dirty="0">
                <a:cs typeface="Times New Roman" panose="02020603050405020304" pitchFamily="18" charset="0"/>
              </a:rPr>
              <a:t>V</a:t>
            </a:r>
            <a:r>
              <a:rPr lang="en-US" i="1" baseline="-25000" dirty="0">
                <a:cs typeface="Times New Roman" panose="02020603050405020304" pitchFamily="18" charset="0"/>
              </a:rPr>
              <a:t>a</a:t>
            </a:r>
            <a:r>
              <a:rPr lang="en-US" sz="1200" b="0" i="0" u="none" strike="noStrike" kern="1200" cap="none" dirty="0">
                <a:solidFill>
                  <a:schemeClr val="dk1"/>
                </a:solidFill>
                <a:latin typeface="Arial"/>
                <a:ea typeface="Arial"/>
                <a:cs typeface="Arial"/>
                <a:sym typeface="Arial"/>
              </a:rPr>
              <a:t> – </a:t>
            </a:r>
            <a:r>
              <a:rPr lang="en-US" b="1" i="1" dirty="0" err="1">
                <a:cs typeface="Times New Roman" panose="02020603050405020304" pitchFamily="18" charset="0"/>
              </a:rPr>
              <a:t>V</a:t>
            </a:r>
            <a:r>
              <a:rPr lang="en-US" i="1" baseline="-25000" dirty="0" err="1">
                <a:cs typeface="Times New Roman" panose="02020603050405020304" pitchFamily="18" charset="0"/>
              </a:rPr>
              <a:t>b</a:t>
            </a:r>
            <a:r>
              <a:rPr lang="en-US" sz="1200" b="0" i="0" u="none" strike="noStrike" kern="1200" cap="none" dirty="0">
                <a:solidFill>
                  <a:schemeClr val="dk1"/>
                </a:solidFill>
                <a:latin typeface="Arial"/>
                <a:ea typeface="Arial"/>
                <a:cs typeface="Arial"/>
                <a:sym typeface="Arial"/>
              </a:rPr>
              <a:t> in (a).  </a:t>
            </a:r>
          </a:p>
        </p:txBody>
      </p:sp>
    </p:spTree>
    <p:extLst>
      <p:ext uri="{BB962C8B-B14F-4D97-AF65-F5344CB8AC3E}">
        <p14:creationId xmlns:p14="http://schemas.microsoft.com/office/powerpoint/2010/main" val="2350521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18</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r>
              <a:rPr lang="en-US" sz="1200" b="0" i="0" u="none" strike="noStrike" kern="1200" cap="none" dirty="0">
                <a:solidFill>
                  <a:schemeClr val="dk1"/>
                </a:solidFill>
                <a:latin typeface="Arial"/>
                <a:ea typeface="Arial"/>
                <a:cs typeface="Arial"/>
                <a:sym typeface="Arial"/>
              </a:rPr>
              <a:t>This is the general case.  We will introduce what we mean by a “Balanced Three-Phase Circuit” next.  </a:t>
            </a:r>
          </a:p>
        </p:txBody>
      </p:sp>
    </p:spTree>
    <p:extLst>
      <p:ext uri="{BB962C8B-B14F-4D97-AF65-F5344CB8AC3E}">
        <p14:creationId xmlns:p14="http://schemas.microsoft.com/office/powerpoint/2010/main" val="3626053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19</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4105747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20</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9519122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21</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7533452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22</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474303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23</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1377663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24</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7566374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25</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3612155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26</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967084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27</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630067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28</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994053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29</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190868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30</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8034321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31</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230878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32</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279649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33</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39574152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34</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3830632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35</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0035554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36</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9547389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37</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5735409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38</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33454771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39</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4423618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40</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32860744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FFAD-6231-43F1-94C4-8AFE2DFACD8A}" type="slidenum">
              <a:rPr lang="en-US"/>
              <a:pPr/>
              <a:t>41</a:t>
            </a:fld>
            <a:endParaRPr lang="en-US"/>
          </a:p>
        </p:txBody>
      </p:sp>
      <p:sp>
        <p:nvSpPr>
          <p:cNvPr id="11591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9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1631782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3616F5E-2AAB-487A-909A-69C17C83AD34}" type="slidenum">
              <a:rPr lang="en-US" altLang="en-US" sz="1200"/>
              <a:pPr eaLnBrk="1" hangingPunct="1"/>
              <a:t>42</a:t>
            </a:fld>
            <a:endParaRPr lang="en-US" altLang="en-US" sz="1200"/>
          </a:p>
        </p:txBody>
      </p:sp>
      <p:sp>
        <p:nvSpPr>
          <p:cNvPr id="64515" name="Rectangle 2"/>
          <p:cNvSpPr>
            <a:spLocks noGrp="1" noRot="1" noChangeAspect="1" noChangeArrowheads="1" noTextEdit="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extLst>
      <p:ext uri="{BB962C8B-B14F-4D97-AF65-F5344CB8AC3E}">
        <p14:creationId xmlns:p14="http://schemas.microsoft.com/office/powerpoint/2010/main" val="41367973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3616F5E-2AAB-487A-909A-69C17C83AD34}" type="slidenum">
              <a:rPr lang="en-US" altLang="en-US" sz="1200"/>
              <a:pPr eaLnBrk="1" hangingPunct="1"/>
              <a:t>43</a:t>
            </a:fld>
            <a:endParaRPr lang="en-US" altLang="en-US" sz="1200"/>
          </a:p>
        </p:txBody>
      </p:sp>
      <p:sp>
        <p:nvSpPr>
          <p:cNvPr id="64515" name="Rectangle 2"/>
          <p:cNvSpPr>
            <a:spLocks noGrp="1" noRot="1" noChangeAspect="1" noChangeArrowheads="1" noTextEdit="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extLst>
      <p:ext uri="{BB962C8B-B14F-4D97-AF65-F5344CB8AC3E}">
        <p14:creationId xmlns:p14="http://schemas.microsoft.com/office/powerpoint/2010/main" val="4646123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3616F5E-2AAB-487A-909A-69C17C83AD34}" type="slidenum">
              <a:rPr lang="en-US" altLang="en-US" sz="1200"/>
              <a:pPr eaLnBrk="1" hangingPunct="1"/>
              <a:t>44</a:t>
            </a:fld>
            <a:endParaRPr lang="en-US" altLang="en-US" sz="1200"/>
          </a:p>
        </p:txBody>
      </p:sp>
      <p:sp>
        <p:nvSpPr>
          <p:cNvPr id="64515" name="Rectangle 2"/>
          <p:cNvSpPr>
            <a:spLocks noGrp="1" noRot="1" noChangeAspect="1" noChangeArrowheads="1" noTextEdit="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extLst>
      <p:ext uri="{BB962C8B-B14F-4D97-AF65-F5344CB8AC3E}">
        <p14:creationId xmlns:p14="http://schemas.microsoft.com/office/powerpoint/2010/main" val="33433663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3616F5E-2AAB-487A-909A-69C17C83AD34}" type="slidenum">
              <a:rPr lang="en-US" altLang="en-US" sz="1200"/>
              <a:pPr eaLnBrk="1" hangingPunct="1"/>
              <a:t>45</a:t>
            </a:fld>
            <a:endParaRPr lang="en-US" altLang="en-US" sz="1200"/>
          </a:p>
        </p:txBody>
      </p:sp>
      <p:sp>
        <p:nvSpPr>
          <p:cNvPr id="64515" name="Rectangle 2"/>
          <p:cNvSpPr>
            <a:spLocks noGrp="1" noRot="1" noChangeAspect="1" noChangeArrowheads="1" noTextEdit="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extLst>
      <p:ext uri="{BB962C8B-B14F-4D97-AF65-F5344CB8AC3E}">
        <p14:creationId xmlns:p14="http://schemas.microsoft.com/office/powerpoint/2010/main" val="42505634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46</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90815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47</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0593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48</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863328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49</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622870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50</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680646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51</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479982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DEC3F-AC7C-48B0-9F54-A5841C6589A1}" type="slidenum">
              <a:rPr lang="en-US"/>
              <a:pPr/>
              <a:t>52</a:t>
            </a:fld>
            <a:endParaRPr lang="en-US"/>
          </a:p>
        </p:txBody>
      </p:sp>
      <p:sp>
        <p:nvSpPr>
          <p:cNvPr id="1120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274897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019C-E1EB-C5AF-55F5-FD5B0FD6C47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347F5E10-17B2-6CD2-555B-048383DFAF5C}"/>
              </a:ext>
            </a:extLst>
          </p:cNvPr>
          <p:cNvSpPr>
            <a:spLocks noGrp="1" noChangeArrowheads="1"/>
          </p:cNvSpPr>
          <p:nvPr>
            <p:ph type="sldNum" sz="quarter" idx="5"/>
          </p:nvPr>
        </p:nvSpPr>
        <p:spPr>
          <a:ln/>
        </p:spPr>
        <p:txBody>
          <a:bodyPr/>
          <a:lstStyle/>
          <a:p>
            <a:fld id="{031DEC3F-AC7C-48B0-9F54-A5841C6589A1}" type="slidenum">
              <a:rPr lang="en-US"/>
              <a:pPr/>
              <a:t>53</a:t>
            </a:fld>
            <a:endParaRPr lang="en-US"/>
          </a:p>
        </p:txBody>
      </p:sp>
      <p:sp>
        <p:nvSpPr>
          <p:cNvPr id="1120258" name="Rectangle 2">
            <a:extLst>
              <a:ext uri="{FF2B5EF4-FFF2-40B4-BE49-F238E27FC236}">
                <a16:creationId xmlns:a16="http://schemas.microsoft.com/office/drawing/2014/main" id="{1410530F-6369-669F-D594-99507D421CE5}"/>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a:extLst>
              <a:ext uri="{FF2B5EF4-FFF2-40B4-BE49-F238E27FC236}">
                <a16:creationId xmlns:a16="http://schemas.microsoft.com/office/drawing/2014/main" id="{34845592-1137-2801-F3F3-0A2919AAE4F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927199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019C-E1EB-C5AF-55F5-FD5B0FD6C47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347F5E10-17B2-6CD2-555B-048383DFAF5C}"/>
              </a:ext>
            </a:extLst>
          </p:cNvPr>
          <p:cNvSpPr>
            <a:spLocks noGrp="1" noChangeArrowheads="1"/>
          </p:cNvSpPr>
          <p:nvPr>
            <p:ph type="sldNum" sz="quarter" idx="5"/>
          </p:nvPr>
        </p:nvSpPr>
        <p:spPr>
          <a:ln/>
        </p:spPr>
        <p:txBody>
          <a:bodyPr/>
          <a:lstStyle/>
          <a:p>
            <a:fld id="{031DEC3F-AC7C-48B0-9F54-A5841C6589A1}" type="slidenum">
              <a:rPr lang="en-US"/>
              <a:pPr/>
              <a:t>54</a:t>
            </a:fld>
            <a:endParaRPr lang="en-US"/>
          </a:p>
        </p:txBody>
      </p:sp>
      <p:sp>
        <p:nvSpPr>
          <p:cNvPr id="1120258" name="Rectangle 2">
            <a:extLst>
              <a:ext uri="{FF2B5EF4-FFF2-40B4-BE49-F238E27FC236}">
                <a16:creationId xmlns:a16="http://schemas.microsoft.com/office/drawing/2014/main" id="{1410530F-6369-669F-D594-99507D421CE5}"/>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a:extLst>
              <a:ext uri="{FF2B5EF4-FFF2-40B4-BE49-F238E27FC236}">
                <a16:creationId xmlns:a16="http://schemas.microsoft.com/office/drawing/2014/main" id="{34845592-1137-2801-F3F3-0A2919AAE4F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558916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019C-E1EB-C5AF-55F5-FD5B0FD6C47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347F5E10-17B2-6CD2-555B-048383DFAF5C}"/>
              </a:ext>
            </a:extLst>
          </p:cNvPr>
          <p:cNvSpPr>
            <a:spLocks noGrp="1" noChangeArrowheads="1"/>
          </p:cNvSpPr>
          <p:nvPr>
            <p:ph type="sldNum" sz="quarter" idx="5"/>
          </p:nvPr>
        </p:nvSpPr>
        <p:spPr>
          <a:ln/>
        </p:spPr>
        <p:txBody>
          <a:bodyPr/>
          <a:lstStyle/>
          <a:p>
            <a:fld id="{031DEC3F-AC7C-48B0-9F54-A5841C6589A1}" type="slidenum">
              <a:rPr lang="en-US"/>
              <a:pPr/>
              <a:t>55</a:t>
            </a:fld>
            <a:endParaRPr lang="en-US"/>
          </a:p>
        </p:txBody>
      </p:sp>
      <p:sp>
        <p:nvSpPr>
          <p:cNvPr id="1120258" name="Rectangle 2">
            <a:extLst>
              <a:ext uri="{FF2B5EF4-FFF2-40B4-BE49-F238E27FC236}">
                <a16:creationId xmlns:a16="http://schemas.microsoft.com/office/drawing/2014/main" id="{1410530F-6369-669F-D594-99507D421CE5}"/>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a:extLst>
              <a:ext uri="{FF2B5EF4-FFF2-40B4-BE49-F238E27FC236}">
                <a16:creationId xmlns:a16="http://schemas.microsoft.com/office/drawing/2014/main" id="{34845592-1137-2801-F3F3-0A2919AAE4F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464136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019C-E1EB-C5AF-55F5-FD5B0FD6C47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347F5E10-17B2-6CD2-555B-048383DFAF5C}"/>
              </a:ext>
            </a:extLst>
          </p:cNvPr>
          <p:cNvSpPr>
            <a:spLocks noGrp="1" noChangeArrowheads="1"/>
          </p:cNvSpPr>
          <p:nvPr>
            <p:ph type="sldNum" sz="quarter" idx="5"/>
          </p:nvPr>
        </p:nvSpPr>
        <p:spPr>
          <a:ln/>
        </p:spPr>
        <p:txBody>
          <a:bodyPr/>
          <a:lstStyle/>
          <a:p>
            <a:fld id="{031DEC3F-AC7C-48B0-9F54-A5841C6589A1}" type="slidenum">
              <a:rPr lang="en-US"/>
              <a:pPr/>
              <a:t>56</a:t>
            </a:fld>
            <a:endParaRPr lang="en-US"/>
          </a:p>
        </p:txBody>
      </p:sp>
      <p:sp>
        <p:nvSpPr>
          <p:cNvPr id="1120258" name="Rectangle 2">
            <a:extLst>
              <a:ext uri="{FF2B5EF4-FFF2-40B4-BE49-F238E27FC236}">
                <a16:creationId xmlns:a16="http://schemas.microsoft.com/office/drawing/2014/main" id="{1410530F-6369-669F-D594-99507D421CE5}"/>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a:extLst>
              <a:ext uri="{FF2B5EF4-FFF2-40B4-BE49-F238E27FC236}">
                <a16:creationId xmlns:a16="http://schemas.microsoft.com/office/drawing/2014/main" id="{34845592-1137-2801-F3F3-0A2919AAE4F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529128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019C-E1EB-C5AF-55F5-FD5B0FD6C47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347F5E10-17B2-6CD2-555B-048383DFAF5C}"/>
              </a:ext>
            </a:extLst>
          </p:cNvPr>
          <p:cNvSpPr>
            <a:spLocks noGrp="1" noChangeArrowheads="1"/>
          </p:cNvSpPr>
          <p:nvPr>
            <p:ph type="sldNum" sz="quarter" idx="5"/>
          </p:nvPr>
        </p:nvSpPr>
        <p:spPr>
          <a:ln/>
        </p:spPr>
        <p:txBody>
          <a:bodyPr/>
          <a:lstStyle/>
          <a:p>
            <a:fld id="{031DEC3F-AC7C-48B0-9F54-A5841C6589A1}" type="slidenum">
              <a:rPr lang="en-US"/>
              <a:pPr/>
              <a:t>57</a:t>
            </a:fld>
            <a:endParaRPr lang="en-US"/>
          </a:p>
        </p:txBody>
      </p:sp>
      <p:sp>
        <p:nvSpPr>
          <p:cNvPr id="1120258" name="Rectangle 2">
            <a:extLst>
              <a:ext uri="{FF2B5EF4-FFF2-40B4-BE49-F238E27FC236}">
                <a16:creationId xmlns:a16="http://schemas.microsoft.com/office/drawing/2014/main" id="{1410530F-6369-669F-D594-99507D421CE5}"/>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0259" name="Rectangle 3">
            <a:extLst>
              <a:ext uri="{FF2B5EF4-FFF2-40B4-BE49-F238E27FC236}">
                <a16:creationId xmlns:a16="http://schemas.microsoft.com/office/drawing/2014/main" id="{34845592-1137-2801-F3F3-0A2919AAE4F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endParaRPr lang="en-US" sz="1200" b="0" i="0" u="none" strike="noStrike" kern="1200"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83802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57645A8-C502-4855-A6DA-99E0754EFC8A}" type="slidenum">
              <a:rPr lang="en-US" altLang="en-US" sz="1200"/>
              <a:pPr eaLnBrk="1" hangingPunct="1"/>
              <a:t>58</a:t>
            </a:fld>
            <a:endParaRPr lang="en-US" altLang="en-US" sz="1200"/>
          </a:p>
        </p:txBody>
      </p:sp>
      <p:sp>
        <p:nvSpPr>
          <p:cNvPr id="67587" name="Rectangle 2"/>
          <p:cNvSpPr>
            <a:spLocks noGrp="1" noRot="1" noChangeAspect="1" noChangeArrowheads="1" noTextEdit="1"/>
          </p:cNvSpPr>
          <p:nvPr>
            <p:ph type="sldImg"/>
          </p:nvPr>
        </p:nvSpPr>
        <p:spPr>
          <a:solidFill>
            <a:srgbClr val="FFFFFF"/>
          </a:solidFill>
          <a:ln/>
        </p:spPr>
      </p:sp>
      <p:sp>
        <p:nvSpPr>
          <p:cNvPr id="67588"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extLst>
      <p:ext uri="{BB962C8B-B14F-4D97-AF65-F5344CB8AC3E}">
        <p14:creationId xmlns:p14="http://schemas.microsoft.com/office/powerpoint/2010/main" val="165295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1746" name="Group 2"/>
          <p:cNvGrpSpPr>
            <a:grpSpLocks/>
          </p:cNvGrpSpPr>
          <p:nvPr/>
        </p:nvGrpSpPr>
        <p:grpSpPr bwMode="auto">
          <a:xfrm>
            <a:off x="457200" y="2363788"/>
            <a:ext cx="8153400" cy="1600200"/>
            <a:chOff x="288" y="1489"/>
            <a:chExt cx="5136" cy="1008"/>
          </a:xfrm>
        </p:grpSpPr>
        <p:sp>
          <p:nvSpPr>
            <p:cNvPr id="31747" name="Arc 3"/>
            <p:cNvSpPr>
              <a:spLocks/>
            </p:cNvSpPr>
            <p:nvPr/>
          </p:nvSpPr>
          <p:spPr bwMode="invGray">
            <a:xfrm>
              <a:off x="3595" y="1489"/>
              <a:ext cx="1829" cy="1008"/>
            </a:xfrm>
            <a:custGeom>
              <a:avLst/>
              <a:gdLst>
                <a:gd name="G0" fmla="+- 312 0 0"/>
                <a:gd name="G1" fmla="+- 21600 0 0"/>
                <a:gd name="G2" fmla="+- 21600 0 0"/>
                <a:gd name="T0" fmla="*/ 300 w 21912"/>
                <a:gd name="T1" fmla="*/ 0 h 43200"/>
                <a:gd name="T2" fmla="*/ 0 w 21912"/>
                <a:gd name="T3" fmla="*/ 43198 h 43200"/>
                <a:gd name="T4" fmla="*/ 312 w 21912"/>
                <a:gd name="T5" fmla="*/ 21600 h 43200"/>
              </a:gdLst>
              <a:ahLst/>
              <a:cxnLst>
                <a:cxn ang="0">
                  <a:pos x="T0" y="T1"/>
                </a:cxn>
                <a:cxn ang="0">
                  <a:pos x="T2" y="T3"/>
                </a:cxn>
                <a:cxn ang="0">
                  <a:pos x="T4" y="T5"/>
                </a:cxn>
              </a:cxnLst>
              <a:rect l="0" t="0" r="r" b="b"/>
              <a:pathLst>
                <a:path w="21912" h="43200" fill="none"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path>
                <a:path w="21912" h="43200" stroke="0"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lnTo>
                    <a:pt x="312" y="21600"/>
                  </a:lnTo>
                  <a:close/>
                </a:path>
              </a:pathLst>
            </a:custGeom>
            <a:gradFill rotWithShape="0">
              <a:gsLst>
                <a:gs pos="0">
                  <a:schemeClr val="bg1"/>
                </a:gs>
                <a:gs pos="100000">
                  <a:srgbClr val="663300"/>
                </a:gs>
              </a:gsLst>
              <a:lin ang="0" scaled="1"/>
            </a:gradFill>
            <a:ln w="9525" cap="rnd">
              <a:noFill/>
              <a:round/>
              <a:headEnd/>
              <a:tailEnd/>
            </a:ln>
            <a:effectLst/>
          </p:spPr>
          <p:txBody>
            <a:bodyPr wrap="none" anchor="ctr"/>
            <a:lstStyle/>
            <a:p>
              <a:endParaRPr lang="en-US"/>
            </a:p>
          </p:txBody>
        </p:sp>
        <p:sp>
          <p:nvSpPr>
            <p:cNvPr id="31748" name="Arc 4"/>
            <p:cNvSpPr>
              <a:spLocks/>
            </p:cNvSpPr>
            <p:nvPr/>
          </p:nvSpPr>
          <p:spPr bwMode="invGray">
            <a:xfrm>
              <a:off x="3548" y="1593"/>
              <a:ext cx="1831" cy="800"/>
            </a:xfrm>
            <a:custGeom>
              <a:avLst/>
              <a:gdLst>
                <a:gd name="G0" fmla="+- 324 0 0"/>
                <a:gd name="G1" fmla="+- 21600 0 0"/>
                <a:gd name="G2" fmla="+- 21600 0 0"/>
                <a:gd name="T0" fmla="*/ 312 w 21924"/>
                <a:gd name="T1" fmla="*/ 0 h 43200"/>
                <a:gd name="T2" fmla="*/ 0 w 21924"/>
                <a:gd name="T3" fmla="*/ 43198 h 43200"/>
                <a:gd name="T4" fmla="*/ 324 w 21924"/>
                <a:gd name="T5" fmla="*/ 21600 h 43200"/>
              </a:gdLst>
              <a:ahLst/>
              <a:cxnLst>
                <a:cxn ang="0">
                  <a:pos x="T0" y="T1"/>
                </a:cxn>
                <a:cxn ang="0">
                  <a:pos x="T2" y="T3"/>
                </a:cxn>
                <a:cxn ang="0">
                  <a:pos x="T4" y="T5"/>
                </a:cxn>
              </a:cxnLst>
              <a:rect l="0" t="0" r="r" b="b"/>
              <a:pathLst>
                <a:path w="21924" h="43200" fill="none"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path>
                <a:path w="21924" h="43200" stroke="0"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lnTo>
                    <a:pt x="324" y="21600"/>
                  </a:lnTo>
                  <a:close/>
                </a:path>
              </a:pathLst>
            </a:custGeom>
            <a:gradFill rotWithShape="0">
              <a:gsLst>
                <a:gs pos="0">
                  <a:schemeClr val="bg1"/>
                </a:gs>
                <a:gs pos="100000">
                  <a:srgbClr val="894400"/>
                </a:gs>
              </a:gsLst>
              <a:lin ang="0" scaled="1"/>
            </a:gradFill>
            <a:ln w="9525" cap="rnd">
              <a:noFill/>
              <a:round/>
              <a:headEnd/>
              <a:tailEnd/>
            </a:ln>
            <a:effectLst/>
          </p:spPr>
          <p:txBody>
            <a:bodyPr wrap="none" anchor="ctr"/>
            <a:lstStyle/>
            <a:p>
              <a:endParaRPr lang="en-US"/>
            </a:p>
          </p:txBody>
        </p:sp>
        <p:sp>
          <p:nvSpPr>
            <p:cNvPr id="31749" name="Arc 5"/>
            <p:cNvSpPr>
              <a:spLocks/>
            </p:cNvSpPr>
            <p:nvPr/>
          </p:nvSpPr>
          <p:spPr bwMode="invGray">
            <a:xfrm>
              <a:off x="3521" y="1732"/>
              <a:ext cx="1830" cy="522"/>
            </a:xfrm>
            <a:custGeom>
              <a:avLst/>
              <a:gdLst>
                <a:gd name="G0" fmla="+- 325 0 0"/>
                <a:gd name="G1" fmla="+- 21600 0 0"/>
                <a:gd name="G2" fmla="+- 21600 0 0"/>
                <a:gd name="T0" fmla="*/ 313 w 21925"/>
                <a:gd name="T1" fmla="*/ 0 h 43200"/>
                <a:gd name="T2" fmla="*/ 0 w 21925"/>
                <a:gd name="T3" fmla="*/ 43198 h 43200"/>
                <a:gd name="T4" fmla="*/ 325 w 21925"/>
                <a:gd name="T5" fmla="*/ 21600 h 43200"/>
              </a:gdLst>
              <a:ahLst/>
              <a:cxnLst>
                <a:cxn ang="0">
                  <a:pos x="T0" y="T1"/>
                </a:cxn>
                <a:cxn ang="0">
                  <a:pos x="T2" y="T3"/>
                </a:cxn>
                <a:cxn ang="0">
                  <a:pos x="T4" y="T5"/>
                </a:cxn>
              </a:cxnLst>
              <a:rect l="0" t="0" r="r" b="b"/>
              <a:pathLst>
                <a:path w="21925" h="43200" fill="none"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path>
                <a:path w="21925" h="43200" stroke="0"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lnTo>
                    <a:pt x="325" y="21600"/>
                  </a:lnTo>
                  <a:close/>
                </a:path>
              </a:pathLst>
            </a:custGeom>
            <a:gradFill rotWithShape="0">
              <a:gsLst>
                <a:gs pos="0">
                  <a:schemeClr val="bg1"/>
                </a:gs>
                <a:gs pos="100000">
                  <a:srgbClr val="B75B00"/>
                </a:gs>
              </a:gsLst>
              <a:lin ang="0" scaled="1"/>
            </a:gradFill>
            <a:ln w="9525" cap="rnd">
              <a:noFill/>
              <a:round/>
              <a:headEnd/>
              <a:tailEnd/>
            </a:ln>
            <a:effectLst/>
          </p:spPr>
          <p:txBody>
            <a:bodyPr wrap="none" anchor="ctr"/>
            <a:lstStyle/>
            <a:p>
              <a:endParaRPr lang="en-US"/>
            </a:p>
          </p:txBody>
        </p:sp>
        <p:sp>
          <p:nvSpPr>
            <p:cNvPr id="31750" name="AutoShape 6"/>
            <p:cNvSpPr>
              <a:spLocks noChangeArrowheads="1"/>
            </p:cNvSpPr>
            <p:nvPr/>
          </p:nvSpPr>
          <p:spPr bwMode="invGray">
            <a:xfrm>
              <a:off x="288" y="1940"/>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w="9525">
              <a:noFill/>
              <a:round/>
              <a:headEnd/>
              <a:tailEnd/>
            </a:ln>
            <a:effectLst/>
          </p:spPr>
          <p:txBody>
            <a:bodyPr wrap="none" anchor="ctr"/>
            <a:lstStyle/>
            <a:p>
              <a:endParaRPr lang="en-US"/>
            </a:p>
          </p:txBody>
        </p:sp>
      </p:grpSp>
      <p:sp>
        <p:nvSpPr>
          <p:cNvPr id="31751" name="Rectangle 7"/>
          <p:cNvSpPr>
            <a:spLocks noGrp="1" noChangeArrowheads="1"/>
          </p:cNvSpPr>
          <p:nvPr>
            <p:ph type="ctrTitle" sz="quarter"/>
          </p:nvPr>
        </p:nvSpPr>
        <p:spPr>
          <a:xfrm>
            <a:off x="685800" y="1447800"/>
            <a:ext cx="7772400" cy="1143000"/>
          </a:xfrm>
        </p:spPr>
        <p:txBody>
          <a:bodyPr/>
          <a:lstStyle>
            <a:lvl1pPr>
              <a:defRPr/>
            </a:lvl1pPr>
          </a:lstStyle>
          <a:p>
            <a:r>
              <a:rPr lang="en-US"/>
              <a:t>Click to edit Master title style</a:t>
            </a:r>
          </a:p>
        </p:txBody>
      </p:sp>
      <p:sp>
        <p:nvSpPr>
          <p:cNvPr id="31752" name="Rectangle 8"/>
          <p:cNvSpPr>
            <a:spLocks noGrp="1" noChangeArrowheads="1"/>
          </p:cNvSpPr>
          <p:nvPr>
            <p:ph type="subTitle" sz="quarter" idx="1"/>
          </p:nvPr>
        </p:nvSpPr>
        <p:spPr>
          <a:xfrm>
            <a:off x="1371600" y="3733800"/>
            <a:ext cx="6400800" cy="1752600"/>
          </a:xfrm>
        </p:spPr>
        <p:txBody>
          <a:bodyPr/>
          <a:lstStyle>
            <a:lvl1pPr marL="0" indent="0" algn="ctr">
              <a:buFontTx/>
              <a:buNone/>
              <a:defRPr/>
            </a:lvl1pPr>
          </a:lstStyle>
          <a:p>
            <a:r>
              <a:rPr lang="en-US"/>
              <a:t>Click to edit Master subtitle style</a:t>
            </a:r>
          </a:p>
        </p:txBody>
      </p:sp>
      <p:sp>
        <p:nvSpPr>
          <p:cNvPr id="31753" name="Rectangle 9"/>
          <p:cNvSpPr>
            <a:spLocks noGrp="1" noChangeArrowheads="1"/>
          </p:cNvSpPr>
          <p:nvPr>
            <p:ph type="dt" sz="quarter" idx="2"/>
          </p:nvPr>
        </p:nvSpPr>
        <p:spPr/>
        <p:txBody>
          <a:bodyPr/>
          <a:lstStyle>
            <a:lvl1pPr>
              <a:defRPr/>
            </a:lvl1pPr>
          </a:lstStyle>
          <a:p>
            <a:endParaRPr lang="en-US"/>
          </a:p>
        </p:txBody>
      </p:sp>
      <p:sp>
        <p:nvSpPr>
          <p:cNvPr id="31754" name="Rectangle 10"/>
          <p:cNvSpPr>
            <a:spLocks noGrp="1" noChangeArrowheads="1"/>
          </p:cNvSpPr>
          <p:nvPr>
            <p:ph type="ftr" sz="quarter" idx="3"/>
          </p:nvPr>
        </p:nvSpPr>
        <p:spPr/>
        <p:txBody>
          <a:bodyPr/>
          <a:lstStyle>
            <a:lvl1pPr>
              <a:defRPr/>
            </a:lvl1pPr>
          </a:lstStyle>
          <a:p>
            <a:endParaRPr lang="en-US"/>
          </a:p>
        </p:txBody>
      </p:sp>
      <p:sp>
        <p:nvSpPr>
          <p:cNvPr id="31755" name="Rectangle 11"/>
          <p:cNvSpPr>
            <a:spLocks noGrp="1" noChangeArrowheads="1"/>
          </p:cNvSpPr>
          <p:nvPr>
            <p:ph type="sldNum" sz="quarter" idx="4"/>
          </p:nvPr>
        </p:nvSpPr>
        <p:spPr/>
        <p:txBody>
          <a:bodyPr/>
          <a:lstStyle>
            <a:lvl1pPr>
              <a:defRPr/>
            </a:lvl1pPr>
          </a:lstStyle>
          <a:p>
            <a:fld id="{C326D795-B145-4508-A282-81AA74F46720}"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341F348-A503-47E1-BD00-E249BEADD6D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297F4F0-80CC-4124-8838-F62419041F5C}"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057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057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2AF73D3-5E55-4DA5-955D-3AE40E6274F6}"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FACB2330-42A4-4E1D-AF78-887904A00115}"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94AA343C-2380-4196-AC9A-6F92174B4424}"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4E92C461-DA9A-461C-92A1-B08D9E013D01}"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67BA3F9-D351-438F-AF23-C97C47B74AED}"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ED0B237-D65A-4119-A9AE-B30F9913691D}"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588992B-DBDC-459C-9B8C-52D5ACF4329D}"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77000" y="152400"/>
            <a:ext cx="19812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152400"/>
            <a:ext cx="57912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81E4A2B-89E4-4E40-914A-5E13A6CE7DC9}"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33" name="Rectangle 13"/>
          <p:cNvSpPr>
            <a:spLocks noChangeArrowheads="1"/>
          </p:cNvSpPr>
          <p:nvPr userDrawn="1"/>
        </p:nvSpPr>
        <p:spPr bwMode="auto">
          <a:xfrm>
            <a:off x="0" y="0"/>
            <a:ext cx="2286000" cy="6858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grpSp>
        <p:nvGrpSpPr>
          <p:cNvPr id="30722" name="Group 2"/>
          <p:cNvGrpSpPr>
            <a:grpSpLocks/>
          </p:cNvGrpSpPr>
          <p:nvPr/>
        </p:nvGrpSpPr>
        <p:grpSpPr bwMode="auto">
          <a:xfrm>
            <a:off x="457200" y="992188"/>
            <a:ext cx="8153400" cy="1600200"/>
            <a:chOff x="288" y="625"/>
            <a:chExt cx="5136" cy="1008"/>
          </a:xfrm>
        </p:grpSpPr>
        <p:sp>
          <p:nvSpPr>
            <p:cNvPr id="30723" name="Arc 3"/>
            <p:cNvSpPr>
              <a:spLocks/>
            </p:cNvSpPr>
            <p:nvPr/>
          </p:nvSpPr>
          <p:spPr bwMode="invGray">
            <a:xfrm>
              <a:off x="3595" y="625"/>
              <a:ext cx="1829" cy="1008"/>
            </a:xfrm>
            <a:custGeom>
              <a:avLst/>
              <a:gdLst>
                <a:gd name="G0" fmla="+- 312 0 0"/>
                <a:gd name="G1" fmla="+- 21600 0 0"/>
                <a:gd name="G2" fmla="+- 21600 0 0"/>
                <a:gd name="T0" fmla="*/ 300 w 21912"/>
                <a:gd name="T1" fmla="*/ 0 h 43200"/>
                <a:gd name="T2" fmla="*/ 0 w 21912"/>
                <a:gd name="T3" fmla="*/ 43198 h 43200"/>
                <a:gd name="T4" fmla="*/ 312 w 21912"/>
                <a:gd name="T5" fmla="*/ 21600 h 43200"/>
              </a:gdLst>
              <a:ahLst/>
              <a:cxnLst>
                <a:cxn ang="0">
                  <a:pos x="T0" y="T1"/>
                </a:cxn>
                <a:cxn ang="0">
                  <a:pos x="T2" y="T3"/>
                </a:cxn>
                <a:cxn ang="0">
                  <a:pos x="T4" y="T5"/>
                </a:cxn>
              </a:cxnLst>
              <a:rect l="0" t="0" r="r" b="b"/>
              <a:pathLst>
                <a:path w="21912" h="43200" fill="none"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path>
                <a:path w="21912" h="43200" stroke="0"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lnTo>
                    <a:pt x="312" y="21600"/>
                  </a:lnTo>
                  <a:close/>
                </a:path>
              </a:pathLst>
            </a:custGeom>
            <a:gradFill rotWithShape="0">
              <a:gsLst>
                <a:gs pos="0">
                  <a:schemeClr val="bg1"/>
                </a:gs>
                <a:gs pos="100000">
                  <a:srgbClr val="663300"/>
                </a:gs>
              </a:gsLst>
              <a:lin ang="0" scaled="1"/>
            </a:gradFill>
            <a:ln w="9525" cap="rnd">
              <a:noFill/>
              <a:round/>
              <a:headEnd/>
              <a:tailEnd/>
            </a:ln>
            <a:effectLst/>
          </p:spPr>
          <p:txBody>
            <a:bodyPr wrap="none" anchor="ctr"/>
            <a:lstStyle/>
            <a:p>
              <a:endParaRPr lang="en-US"/>
            </a:p>
          </p:txBody>
        </p:sp>
        <p:sp>
          <p:nvSpPr>
            <p:cNvPr id="30724" name="Arc 4"/>
            <p:cNvSpPr>
              <a:spLocks/>
            </p:cNvSpPr>
            <p:nvPr/>
          </p:nvSpPr>
          <p:spPr bwMode="invGray">
            <a:xfrm>
              <a:off x="3548" y="729"/>
              <a:ext cx="1831" cy="800"/>
            </a:xfrm>
            <a:custGeom>
              <a:avLst/>
              <a:gdLst>
                <a:gd name="G0" fmla="+- 324 0 0"/>
                <a:gd name="G1" fmla="+- 21600 0 0"/>
                <a:gd name="G2" fmla="+- 21600 0 0"/>
                <a:gd name="T0" fmla="*/ 312 w 21924"/>
                <a:gd name="T1" fmla="*/ 0 h 43200"/>
                <a:gd name="T2" fmla="*/ 0 w 21924"/>
                <a:gd name="T3" fmla="*/ 43198 h 43200"/>
                <a:gd name="T4" fmla="*/ 324 w 21924"/>
                <a:gd name="T5" fmla="*/ 21600 h 43200"/>
              </a:gdLst>
              <a:ahLst/>
              <a:cxnLst>
                <a:cxn ang="0">
                  <a:pos x="T0" y="T1"/>
                </a:cxn>
                <a:cxn ang="0">
                  <a:pos x="T2" y="T3"/>
                </a:cxn>
                <a:cxn ang="0">
                  <a:pos x="T4" y="T5"/>
                </a:cxn>
              </a:cxnLst>
              <a:rect l="0" t="0" r="r" b="b"/>
              <a:pathLst>
                <a:path w="21924" h="43200" fill="none"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path>
                <a:path w="21924" h="43200" stroke="0"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lnTo>
                    <a:pt x="324" y="21600"/>
                  </a:lnTo>
                  <a:close/>
                </a:path>
              </a:pathLst>
            </a:custGeom>
            <a:gradFill rotWithShape="0">
              <a:gsLst>
                <a:gs pos="0">
                  <a:schemeClr val="bg1"/>
                </a:gs>
                <a:gs pos="100000">
                  <a:srgbClr val="894400"/>
                </a:gs>
              </a:gsLst>
              <a:lin ang="0" scaled="1"/>
            </a:gradFill>
            <a:ln w="9525" cap="rnd">
              <a:noFill/>
              <a:round/>
              <a:headEnd/>
              <a:tailEnd/>
            </a:ln>
            <a:effectLst/>
          </p:spPr>
          <p:txBody>
            <a:bodyPr wrap="none" anchor="ctr"/>
            <a:lstStyle/>
            <a:p>
              <a:endParaRPr lang="en-US"/>
            </a:p>
          </p:txBody>
        </p:sp>
        <p:sp>
          <p:nvSpPr>
            <p:cNvPr id="30725" name="Arc 5"/>
            <p:cNvSpPr>
              <a:spLocks/>
            </p:cNvSpPr>
            <p:nvPr/>
          </p:nvSpPr>
          <p:spPr bwMode="invGray">
            <a:xfrm>
              <a:off x="3521" y="868"/>
              <a:ext cx="1830" cy="522"/>
            </a:xfrm>
            <a:custGeom>
              <a:avLst/>
              <a:gdLst>
                <a:gd name="G0" fmla="+- 325 0 0"/>
                <a:gd name="G1" fmla="+- 21600 0 0"/>
                <a:gd name="G2" fmla="+- 21600 0 0"/>
                <a:gd name="T0" fmla="*/ 313 w 21925"/>
                <a:gd name="T1" fmla="*/ 0 h 43200"/>
                <a:gd name="T2" fmla="*/ 0 w 21925"/>
                <a:gd name="T3" fmla="*/ 43198 h 43200"/>
                <a:gd name="T4" fmla="*/ 325 w 21925"/>
                <a:gd name="T5" fmla="*/ 21600 h 43200"/>
              </a:gdLst>
              <a:ahLst/>
              <a:cxnLst>
                <a:cxn ang="0">
                  <a:pos x="T0" y="T1"/>
                </a:cxn>
                <a:cxn ang="0">
                  <a:pos x="T2" y="T3"/>
                </a:cxn>
                <a:cxn ang="0">
                  <a:pos x="T4" y="T5"/>
                </a:cxn>
              </a:cxnLst>
              <a:rect l="0" t="0" r="r" b="b"/>
              <a:pathLst>
                <a:path w="21925" h="43200" fill="none"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path>
                <a:path w="21925" h="43200" stroke="0"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lnTo>
                    <a:pt x="325" y="21600"/>
                  </a:lnTo>
                  <a:close/>
                </a:path>
              </a:pathLst>
            </a:custGeom>
            <a:gradFill rotWithShape="0">
              <a:gsLst>
                <a:gs pos="0">
                  <a:schemeClr val="bg1"/>
                </a:gs>
                <a:gs pos="100000">
                  <a:srgbClr val="B75B00"/>
                </a:gs>
              </a:gsLst>
              <a:lin ang="0" scaled="1"/>
            </a:gradFill>
            <a:ln w="9525" cap="rnd">
              <a:noFill/>
              <a:round/>
              <a:headEnd/>
              <a:tailEnd/>
            </a:ln>
            <a:effectLst/>
          </p:spPr>
          <p:txBody>
            <a:bodyPr wrap="none" anchor="ctr"/>
            <a:lstStyle/>
            <a:p>
              <a:endParaRPr lang="en-US"/>
            </a:p>
          </p:txBody>
        </p:sp>
        <p:sp>
          <p:nvSpPr>
            <p:cNvPr id="30726" name="AutoShape 6"/>
            <p:cNvSpPr>
              <a:spLocks noChangeArrowheads="1"/>
            </p:cNvSpPr>
            <p:nvPr/>
          </p:nvSpPr>
          <p:spPr bwMode="invGray">
            <a:xfrm>
              <a:off x="288" y="1076"/>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w="9525">
              <a:noFill/>
              <a:round/>
              <a:headEnd/>
              <a:tailEnd/>
            </a:ln>
            <a:effectLst/>
          </p:spPr>
          <p:txBody>
            <a:bodyPr wrap="none" anchor="ctr"/>
            <a:lstStyle/>
            <a:p>
              <a:endParaRPr lang="en-US"/>
            </a:p>
          </p:txBody>
        </p:sp>
      </p:grpSp>
      <p:sp>
        <p:nvSpPr>
          <p:cNvPr id="30727" name="Rectangle 7"/>
          <p:cNvSpPr>
            <a:spLocks noGrp="1" noChangeArrowheads="1"/>
          </p:cNvSpPr>
          <p:nvPr>
            <p:ph type="title"/>
          </p:nvPr>
        </p:nvSpPr>
        <p:spPr bwMode="auto">
          <a:xfrm>
            <a:off x="533400" y="152400"/>
            <a:ext cx="7772400" cy="11430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30728" name="Rectangle 8"/>
          <p:cNvSpPr>
            <a:spLocks noGrp="1" noChangeArrowheads="1"/>
          </p:cNvSpPr>
          <p:nvPr>
            <p:ph type="body" idx="1"/>
          </p:nvPr>
        </p:nvSpPr>
        <p:spPr bwMode="auto">
          <a:xfrm>
            <a:off x="685800" y="20574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29" name="Rectangle 9"/>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defRPr sz="1400">
                <a:latin typeface="+mn-lt"/>
              </a:defRPr>
            </a:lvl1pPr>
          </a:lstStyle>
          <a:p>
            <a:endParaRPr lang="en-US"/>
          </a:p>
        </p:txBody>
      </p:sp>
      <p:sp>
        <p:nvSpPr>
          <p:cNvPr id="30730" name="Rectangle 10"/>
          <p:cNvSpPr>
            <a:spLocks noGrp="1" noChangeArrowheads="1"/>
          </p:cNvSpPr>
          <p:nvPr>
            <p:ph type="ftr" sz="quarter" idx="3"/>
          </p:nvPr>
        </p:nvSpPr>
        <p:spPr bwMode="auto">
          <a:xfrm>
            <a:off x="3124200" y="6324600"/>
            <a:ext cx="28956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ctr">
              <a:defRPr sz="1400">
                <a:latin typeface="+mn-lt"/>
              </a:defRPr>
            </a:lvl1pPr>
          </a:lstStyle>
          <a:p>
            <a:endParaRPr lang="en-US"/>
          </a:p>
        </p:txBody>
      </p:sp>
      <p:sp>
        <p:nvSpPr>
          <p:cNvPr id="30731" name="Rectangle 11"/>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r">
              <a:defRPr sz="1400">
                <a:latin typeface="+mn-lt"/>
              </a:defRPr>
            </a:lvl1pPr>
          </a:lstStyle>
          <a:p>
            <a:fld id="{CFCBA86B-697A-4D15-9E8E-2BD6FF67502F}" type="slidenum">
              <a:rPr lang="en-US"/>
              <a:pPr/>
              <a:t>‹#›</a:t>
            </a:fld>
            <a:endParaRPr lang="en-US"/>
          </a:p>
        </p:txBody>
      </p:sp>
      <p:graphicFrame>
        <p:nvGraphicFramePr>
          <p:cNvPr id="30732" name="Object 12"/>
          <p:cNvGraphicFramePr>
            <a:graphicFrameLocks noChangeAspect="1"/>
          </p:cNvGraphicFramePr>
          <p:nvPr/>
        </p:nvGraphicFramePr>
        <p:xfrm>
          <a:off x="0" y="0"/>
          <a:ext cx="2662238" cy="720725"/>
        </p:xfrm>
        <a:graphic>
          <a:graphicData uri="http://schemas.openxmlformats.org/presentationml/2006/ole">
            <mc:AlternateContent xmlns:mc="http://schemas.openxmlformats.org/markup-compatibility/2006">
              <mc:Choice xmlns:v="urn:schemas-microsoft-com:vml" Requires="v">
                <p:oleObj name="VISIO" r:id="rId13" imgW="2662920" imgH="721080" progId="Visio.Drawing.6">
                  <p:embed/>
                </p:oleObj>
              </mc:Choice>
              <mc:Fallback>
                <p:oleObj name="VISIO" r:id="rId13" imgW="2662920" imgH="721080" progId="Visio.Drawing.6">
                  <p:embed/>
                  <p:pic>
                    <p:nvPicPr>
                      <p:cNvPr id="30732"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662238" cy="720725"/>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12700">
                            <a:solidFill>
                              <a:srgbClr val="FFFF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5F5F5F"/>
                              </a:outerShdw>
                            </a:effectLst>
                          </a14:hiddenEffects>
                        </a:ext>
                      </a:extLst>
                    </p:spPr>
                  </p:pic>
                </p:oleObj>
              </mc:Fallback>
            </mc:AlternateContent>
          </a:graphicData>
        </a:graphic>
      </p:graphicFrame>
    </p:spTree>
  </p:cSld>
  <p:clrMap bg1="dk2" tx1="lt1" bg2="dk1"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r" rtl="0" fontAlgn="base">
        <a:spcBef>
          <a:spcPct val="0"/>
        </a:spcBef>
        <a:spcAft>
          <a:spcPct val="0"/>
        </a:spcAft>
        <a:defRPr sz="4400" i="1">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charset="0"/>
        </a:defRPr>
      </a:lvl2pPr>
      <a:lvl3pPr algn="r" rtl="0" fontAlgn="base">
        <a:spcBef>
          <a:spcPct val="0"/>
        </a:spcBef>
        <a:spcAft>
          <a:spcPct val="0"/>
        </a:spcAft>
        <a:defRPr sz="4400" i="1">
          <a:solidFill>
            <a:schemeClr val="tx2"/>
          </a:solidFill>
          <a:latin typeface="Arial" charset="0"/>
        </a:defRPr>
      </a:lvl3pPr>
      <a:lvl4pPr algn="r" rtl="0" fontAlgn="base">
        <a:spcBef>
          <a:spcPct val="0"/>
        </a:spcBef>
        <a:spcAft>
          <a:spcPct val="0"/>
        </a:spcAft>
        <a:defRPr sz="4400" i="1">
          <a:solidFill>
            <a:schemeClr val="tx2"/>
          </a:solidFill>
          <a:latin typeface="Arial" charset="0"/>
        </a:defRPr>
      </a:lvl4pPr>
      <a:lvl5pPr algn="r" rtl="0" fontAlgn="base">
        <a:spcBef>
          <a:spcPct val="0"/>
        </a:spcBef>
        <a:spcAft>
          <a:spcPct val="0"/>
        </a:spcAft>
        <a:defRPr sz="4400" i="1">
          <a:solidFill>
            <a:schemeClr val="tx2"/>
          </a:solidFill>
          <a:latin typeface="Arial" charset="0"/>
        </a:defRPr>
      </a:lvl5pPr>
      <a:lvl6pPr marL="457200" algn="r" rtl="0" fontAlgn="base">
        <a:spcBef>
          <a:spcPct val="0"/>
        </a:spcBef>
        <a:spcAft>
          <a:spcPct val="0"/>
        </a:spcAft>
        <a:defRPr sz="4400" i="1">
          <a:solidFill>
            <a:schemeClr val="tx2"/>
          </a:solidFill>
          <a:latin typeface="Arial" charset="0"/>
        </a:defRPr>
      </a:lvl6pPr>
      <a:lvl7pPr marL="914400" algn="r" rtl="0" fontAlgn="base">
        <a:spcBef>
          <a:spcPct val="0"/>
        </a:spcBef>
        <a:spcAft>
          <a:spcPct val="0"/>
        </a:spcAft>
        <a:defRPr sz="4400" i="1">
          <a:solidFill>
            <a:schemeClr val="tx2"/>
          </a:solidFill>
          <a:latin typeface="Arial" charset="0"/>
        </a:defRPr>
      </a:lvl7pPr>
      <a:lvl8pPr marL="1371600" algn="r" rtl="0" fontAlgn="base">
        <a:spcBef>
          <a:spcPct val="0"/>
        </a:spcBef>
        <a:spcAft>
          <a:spcPct val="0"/>
        </a:spcAft>
        <a:defRPr sz="4400" i="1">
          <a:solidFill>
            <a:schemeClr val="tx2"/>
          </a:solidFill>
          <a:latin typeface="Arial" charset="0"/>
        </a:defRPr>
      </a:lvl8pPr>
      <a:lvl9pPr marL="1828800" algn="r" rtl="0" fontAlgn="base">
        <a:spcBef>
          <a:spcPct val="0"/>
        </a:spcBef>
        <a:spcAft>
          <a:spcPct val="0"/>
        </a:spcAft>
        <a:defRPr sz="4400" i="1">
          <a:solidFill>
            <a:schemeClr val="tx2"/>
          </a:solidFill>
          <a:latin typeface="Arial" charset="0"/>
        </a:defRPr>
      </a:lvl9pPr>
    </p:titleStyle>
    <p:body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c9gm_NL7Ky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c9gm_NL7KyE"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 Id="rId9" Type="http://schemas.openxmlformats.org/officeDocument/2006/relationships/image" Target="../media/image8.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1.w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7.bin"/><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0.bin"/><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eg"/><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7.jpeg"/><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7.jpeg"/><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2.wmf"/></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hyperlink" Target="https://pixabay.com/en/water-stone-nature-turkey-relax-2045469/"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hyperlink" Target="https://pixabay.com/en/water-stone-nature-turkey-relax-2045469/"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4.w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23.jpg"/><Relationship Id="rId4" Type="http://schemas.openxmlformats.org/officeDocument/2006/relationships/hyperlink" Target="https://pixabay.com/en/water-stone-nature-turkey-relax-2045469/"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pixabay.com/en/water-stone-nature-turkey-relax-2045469/"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13.bin"/></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oleObject" Target="../embeddings/oleObject18.bin"/><Relationship Id="rId3" Type="http://schemas.openxmlformats.org/officeDocument/2006/relationships/image" Target="../media/image25.jpg"/><Relationship Id="rId7" Type="http://schemas.openxmlformats.org/officeDocument/2006/relationships/image" Target="../media/image29.wmf"/><Relationship Id="rId12" Type="http://schemas.openxmlformats.org/officeDocument/2006/relationships/image" Target="../media/image32.wmf"/><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oleObject" Target="../embeddings/oleObject17.bin"/><Relationship Id="rId5" Type="http://schemas.openxmlformats.org/officeDocument/2006/relationships/image" Target="../media/image28.wmf"/><Relationship Id="rId10" Type="http://schemas.openxmlformats.org/officeDocument/2006/relationships/image" Target="../media/image31.jpg"/><Relationship Id="rId4" Type="http://schemas.openxmlformats.org/officeDocument/2006/relationships/oleObject" Target="../embeddings/oleObject14.bin"/><Relationship Id="rId9" Type="http://schemas.openxmlformats.org/officeDocument/2006/relationships/image" Target="../media/image30.wmf"/><Relationship Id="rId14" Type="http://schemas.openxmlformats.org/officeDocument/2006/relationships/image" Target="../media/image33.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oleObject" Target="../embeddings/oleObject18.bin"/><Relationship Id="rId3" Type="http://schemas.openxmlformats.org/officeDocument/2006/relationships/image" Target="../media/image25.jpg"/><Relationship Id="rId7" Type="http://schemas.openxmlformats.org/officeDocument/2006/relationships/image" Target="../media/image29.wmf"/><Relationship Id="rId12" Type="http://schemas.openxmlformats.org/officeDocument/2006/relationships/image" Target="../media/image32.wmf"/><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oleObject" Target="../embeddings/oleObject17.bin"/><Relationship Id="rId5" Type="http://schemas.openxmlformats.org/officeDocument/2006/relationships/image" Target="../media/image28.wmf"/><Relationship Id="rId10" Type="http://schemas.openxmlformats.org/officeDocument/2006/relationships/image" Target="../media/image31.jpg"/><Relationship Id="rId4" Type="http://schemas.openxmlformats.org/officeDocument/2006/relationships/oleObject" Target="../embeddings/oleObject14.bin"/><Relationship Id="rId9" Type="http://schemas.openxmlformats.org/officeDocument/2006/relationships/image" Target="../media/image30.wmf"/><Relationship Id="rId14" Type="http://schemas.openxmlformats.org/officeDocument/2006/relationships/image" Target="../media/image33.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oleObject" Target="../embeddings/oleObject18.bin"/><Relationship Id="rId3" Type="http://schemas.openxmlformats.org/officeDocument/2006/relationships/image" Target="../media/image25.jpg"/><Relationship Id="rId7" Type="http://schemas.openxmlformats.org/officeDocument/2006/relationships/image" Target="../media/image29.wmf"/><Relationship Id="rId12" Type="http://schemas.openxmlformats.org/officeDocument/2006/relationships/image" Target="../media/image32.wmf"/><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oleObject" Target="../embeddings/oleObject17.bin"/><Relationship Id="rId5" Type="http://schemas.openxmlformats.org/officeDocument/2006/relationships/image" Target="../media/image28.wmf"/><Relationship Id="rId10" Type="http://schemas.openxmlformats.org/officeDocument/2006/relationships/image" Target="../media/image31.jpg"/><Relationship Id="rId4" Type="http://schemas.openxmlformats.org/officeDocument/2006/relationships/oleObject" Target="../embeddings/oleObject14.bin"/><Relationship Id="rId9" Type="http://schemas.openxmlformats.org/officeDocument/2006/relationships/image" Target="../media/image30.wmf"/><Relationship Id="rId14" Type="http://schemas.openxmlformats.org/officeDocument/2006/relationships/image" Target="../media/image33.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39.wmf"/><Relationship Id="rId3" Type="http://schemas.openxmlformats.org/officeDocument/2006/relationships/oleObject" Target="../embeddings/oleObject19.bin"/><Relationship Id="rId7" Type="http://schemas.openxmlformats.org/officeDocument/2006/relationships/image" Target="../media/image36.wmf"/><Relationship Id="rId12" Type="http://schemas.openxmlformats.org/officeDocument/2006/relationships/oleObject" Target="../embeddings/oleObject23.bin"/><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38.wmf"/><Relationship Id="rId5" Type="http://schemas.openxmlformats.org/officeDocument/2006/relationships/image" Target="../media/image35.jpg"/><Relationship Id="rId15" Type="http://schemas.openxmlformats.org/officeDocument/2006/relationships/image" Target="../media/image40.wmf"/><Relationship Id="rId10" Type="http://schemas.openxmlformats.org/officeDocument/2006/relationships/oleObject" Target="../embeddings/oleObject22.bin"/><Relationship Id="rId4" Type="http://schemas.openxmlformats.org/officeDocument/2006/relationships/image" Target="../media/image34.wmf"/><Relationship Id="rId9" Type="http://schemas.openxmlformats.org/officeDocument/2006/relationships/image" Target="../media/image37.wmf"/><Relationship Id="rId14" Type="http://schemas.openxmlformats.org/officeDocument/2006/relationships/oleObject" Target="../embeddings/oleObject24.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35.jpg"/><Relationship Id="rId4" Type="http://schemas.openxmlformats.org/officeDocument/2006/relationships/image" Target="../media/image34.wmf"/></Relationships>
</file>

<file path=ppt/slides/_rels/slide3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35.jpg"/><Relationship Id="rId4" Type="http://schemas.openxmlformats.org/officeDocument/2006/relationships/image" Target="../media/image34.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35.jpg"/><Relationship Id="rId4" Type="http://schemas.openxmlformats.org/officeDocument/2006/relationships/image" Target="../media/image34.wmf"/></Relationships>
</file>

<file path=ppt/slides/_rels/slide42.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26.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28.bin"/></Relationships>
</file>

<file path=ppt/slides/_rels/slide43.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30.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32.bin"/></Relationships>
</file>

<file path=ppt/slides/_rels/slide44.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30.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32.bin"/></Relationships>
</file>

<file path=ppt/slides/_rels/slide45.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46.wmf"/><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3.wmf"/><Relationship Id="rId11" Type="http://schemas.openxmlformats.org/officeDocument/2006/relationships/oleObject" Target="../embeddings/oleObject33.bin"/><Relationship Id="rId5" Type="http://schemas.openxmlformats.org/officeDocument/2006/relationships/oleObject" Target="../embeddings/oleObject30.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32.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7.jpg"/><Relationship Id="rId4" Type="http://schemas.openxmlformats.org/officeDocument/2006/relationships/image" Target="../media/image2.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52.wmf"/><Relationship Id="rId3" Type="http://schemas.openxmlformats.org/officeDocument/2006/relationships/image" Target="../media/image47.jpg"/><Relationship Id="rId7" Type="http://schemas.openxmlformats.org/officeDocument/2006/relationships/image" Target="../media/image49.wmf"/><Relationship Id="rId12" Type="http://schemas.openxmlformats.org/officeDocument/2006/relationships/oleObject" Target="../embeddings/oleObject38.bin"/><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oleObject" Target="../embeddings/oleObject35.bin"/><Relationship Id="rId11" Type="http://schemas.openxmlformats.org/officeDocument/2006/relationships/image" Target="../media/image51.wmf"/><Relationship Id="rId5" Type="http://schemas.openxmlformats.org/officeDocument/2006/relationships/image" Target="../media/image48.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50.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57.wmf"/><Relationship Id="rId3" Type="http://schemas.openxmlformats.org/officeDocument/2006/relationships/image" Target="../media/image47.jpg"/><Relationship Id="rId7" Type="http://schemas.openxmlformats.org/officeDocument/2006/relationships/image" Target="../media/image54.wmf"/><Relationship Id="rId12" Type="http://schemas.openxmlformats.org/officeDocument/2006/relationships/oleObject" Target="../embeddings/oleObject43.bin"/><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oleObject" Target="../embeddings/oleObject40.bin"/><Relationship Id="rId11" Type="http://schemas.openxmlformats.org/officeDocument/2006/relationships/oleObject" Target="../embeddings/oleObject42.bin"/><Relationship Id="rId5" Type="http://schemas.openxmlformats.org/officeDocument/2006/relationships/image" Target="../media/image53.wmf"/><Relationship Id="rId10" Type="http://schemas.openxmlformats.org/officeDocument/2006/relationships/image" Target="../media/image56.jpg"/><Relationship Id="rId4" Type="http://schemas.openxmlformats.org/officeDocument/2006/relationships/oleObject" Target="../embeddings/oleObject39.bin"/><Relationship Id="rId9" Type="http://schemas.openxmlformats.org/officeDocument/2006/relationships/image" Target="../media/image55.wmf"/></Relationships>
</file>

<file path=ppt/slides/_rels/slide49.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2.bin"/><Relationship Id="rId7" Type="http://schemas.openxmlformats.org/officeDocument/2006/relationships/oleObject" Target="../embeddings/oleObject45.bin"/><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44.bin"/><Relationship Id="rId10" Type="http://schemas.openxmlformats.org/officeDocument/2006/relationships/image" Target="../media/image60.wmf"/><Relationship Id="rId4" Type="http://schemas.openxmlformats.org/officeDocument/2006/relationships/image" Target="../media/image2.wmf"/><Relationship Id="rId9" Type="http://schemas.openxmlformats.org/officeDocument/2006/relationships/oleObject" Target="../embeddings/oleObject46.bin"/></Relationships>
</file>

<file path=ppt/slides/_rels/slide50.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2.bin"/><Relationship Id="rId7" Type="http://schemas.openxmlformats.org/officeDocument/2006/relationships/oleObject" Target="../embeddings/oleObject48.bin"/><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61.wmf"/><Relationship Id="rId5" Type="http://schemas.openxmlformats.org/officeDocument/2006/relationships/oleObject" Target="../embeddings/oleObject47.bin"/><Relationship Id="rId4" Type="http://schemas.openxmlformats.org/officeDocument/2006/relationships/image" Target="../media/image2.wmf"/></Relationships>
</file>

<file path=ppt/slides/_rels/slide51.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2.bin"/><Relationship Id="rId7" Type="http://schemas.openxmlformats.org/officeDocument/2006/relationships/oleObject" Target="../embeddings/oleObject50.bin"/><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63.wmf"/><Relationship Id="rId5" Type="http://schemas.openxmlformats.org/officeDocument/2006/relationships/oleObject" Target="../embeddings/oleObject49.bin"/><Relationship Id="rId4" Type="http://schemas.openxmlformats.org/officeDocument/2006/relationships/image" Target="../media/image2.wmf"/></Relationships>
</file>

<file path=ppt/slides/_rels/slide52.xml.rels><?xml version="1.0" encoding="UTF-8" standalone="yes"?>
<Relationships xmlns="http://schemas.openxmlformats.org/package/2006/relationships"><Relationship Id="rId8" Type="http://schemas.openxmlformats.org/officeDocument/2006/relationships/image" Target="../media/image67.wmf"/><Relationship Id="rId13" Type="http://schemas.openxmlformats.org/officeDocument/2006/relationships/image" Target="../media/image70.jpg"/><Relationship Id="rId18" Type="http://schemas.openxmlformats.org/officeDocument/2006/relationships/oleObject" Target="../embeddings/oleObject58.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69.wmf"/><Relationship Id="rId17" Type="http://schemas.openxmlformats.org/officeDocument/2006/relationships/image" Target="../media/image72.wmf"/><Relationship Id="rId2" Type="http://schemas.openxmlformats.org/officeDocument/2006/relationships/notesSlide" Target="../notesSlides/notesSlide51.xml"/><Relationship Id="rId16" Type="http://schemas.openxmlformats.org/officeDocument/2006/relationships/oleObject" Target="../embeddings/oleObject57.bin"/><Relationship Id="rId1" Type="http://schemas.openxmlformats.org/officeDocument/2006/relationships/slideLayout" Target="../slideLayouts/slideLayout2.xml"/><Relationship Id="rId6" Type="http://schemas.openxmlformats.org/officeDocument/2006/relationships/image" Target="../media/image66.w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image" Target="../media/image71.wmf"/><Relationship Id="rId10" Type="http://schemas.openxmlformats.org/officeDocument/2006/relationships/image" Target="../media/image68.wmf"/><Relationship Id="rId19" Type="http://schemas.openxmlformats.org/officeDocument/2006/relationships/image" Target="../media/image73.wmf"/><Relationship Id="rId4" Type="http://schemas.openxmlformats.org/officeDocument/2006/relationships/image" Target="../media/image65.wmf"/><Relationship Id="rId9" Type="http://schemas.openxmlformats.org/officeDocument/2006/relationships/oleObject" Target="../embeddings/oleObject54.bin"/><Relationship Id="rId14" Type="http://schemas.openxmlformats.org/officeDocument/2006/relationships/oleObject" Target="../embeddings/oleObject56.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image" Target="../media/image74.jpg"/><Relationship Id="rId7" Type="http://schemas.openxmlformats.org/officeDocument/2006/relationships/image" Target="../media/image76.wmf"/><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oleObject" Target="../embeddings/oleObject60.bin"/><Relationship Id="rId5" Type="http://schemas.openxmlformats.org/officeDocument/2006/relationships/image" Target="../media/image75.wmf"/><Relationship Id="rId4" Type="http://schemas.openxmlformats.org/officeDocument/2006/relationships/oleObject" Target="../embeddings/oleObject59.bin"/><Relationship Id="rId9" Type="http://schemas.openxmlformats.org/officeDocument/2006/relationships/image" Target="../media/image77.wmf"/></Relationships>
</file>

<file path=ppt/slides/_rels/slide54.xml.rels><?xml version="1.0" encoding="UTF-8" standalone="yes"?>
<Relationships xmlns="http://schemas.openxmlformats.org/package/2006/relationships"><Relationship Id="rId3" Type="http://schemas.openxmlformats.org/officeDocument/2006/relationships/image" Target="../media/image74.jpg"/><Relationship Id="rId7" Type="http://schemas.openxmlformats.org/officeDocument/2006/relationships/image" Target="../media/image79.wmf"/><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oleObject" Target="../embeddings/oleObject63.bin"/><Relationship Id="rId5" Type="http://schemas.openxmlformats.org/officeDocument/2006/relationships/image" Target="../media/image78.wmf"/><Relationship Id="rId4" Type="http://schemas.openxmlformats.org/officeDocument/2006/relationships/oleObject" Target="../embeddings/oleObject62.bin"/></Relationships>
</file>

<file path=ppt/slides/_rels/slide55.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81.wmf"/><Relationship Id="rId5" Type="http://schemas.openxmlformats.org/officeDocument/2006/relationships/oleObject" Target="../embeddings/oleObject65.bin"/><Relationship Id="rId4" Type="http://schemas.openxmlformats.org/officeDocument/2006/relationships/image" Target="../media/image80.wmf"/></Relationships>
</file>

<file path=ppt/slides/_rels/slide56.x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oleObject" Target="../embeddings/oleObject64.bin"/><Relationship Id="rId7" Type="http://schemas.openxmlformats.org/officeDocument/2006/relationships/oleObject" Target="../embeddings/oleObject67.bin"/><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81.wmf"/><Relationship Id="rId5" Type="http://schemas.openxmlformats.org/officeDocument/2006/relationships/oleObject" Target="../embeddings/oleObject65.bin"/><Relationship Id="rId4" Type="http://schemas.openxmlformats.org/officeDocument/2006/relationships/image" Target="../media/image80.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85.wmf"/><Relationship Id="rId5" Type="http://schemas.openxmlformats.org/officeDocument/2006/relationships/oleObject" Target="../embeddings/oleObject69.bin"/><Relationship Id="rId4" Type="http://schemas.openxmlformats.org/officeDocument/2006/relationships/image" Target="../media/image84.wmf"/></Relationships>
</file>

<file path=ppt/slides/_rels/slide58.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990600" y="609600"/>
            <a:ext cx="7772400" cy="762000"/>
          </a:xfrm>
        </p:spPr>
        <p:txBody>
          <a:bodyPr/>
          <a:lstStyle/>
          <a:p>
            <a:pPr algn="ctr"/>
            <a:r>
              <a:rPr lang="en-US" sz="3600" dirty="0"/>
              <a:t>ECE 3364</a:t>
            </a:r>
            <a:br>
              <a:rPr lang="en-US" sz="3600" dirty="0"/>
            </a:br>
            <a:r>
              <a:rPr lang="en-US" sz="3600" dirty="0"/>
              <a:t> Circuits and Systems</a:t>
            </a:r>
          </a:p>
        </p:txBody>
      </p:sp>
      <p:sp>
        <p:nvSpPr>
          <p:cNvPr id="217091" name="Text Box 3"/>
          <p:cNvSpPr txBox="1">
            <a:spLocks noChangeArrowheads="1"/>
          </p:cNvSpPr>
          <p:nvPr/>
        </p:nvSpPr>
        <p:spPr bwMode="auto">
          <a:xfrm>
            <a:off x="2514600" y="4114800"/>
            <a:ext cx="4068763" cy="822325"/>
          </a:xfrm>
          <a:prstGeom prst="rect">
            <a:avLst/>
          </a:prstGeom>
          <a:noFill/>
          <a:ln w="9525">
            <a:noFill/>
            <a:miter lim="800000"/>
            <a:headEnd/>
            <a:tailEnd/>
          </a:ln>
          <a:effectLst/>
        </p:spPr>
        <p:txBody>
          <a:bodyPr wrap="none">
            <a:spAutoFit/>
          </a:bodyPr>
          <a:lstStyle/>
          <a:p>
            <a:pPr algn="ctr" eaLnBrk="0" hangingPunct="0"/>
            <a:r>
              <a:rPr lang="en-US"/>
              <a:t>Dr. Dave Shattuck</a:t>
            </a:r>
          </a:p>
          <a:p>
            <a:pPr algn="ctr" eaLnBrk="0" hangingPunct="0"/>
            <a:r>
              <a:rPr lang="en-US"/>
              <a:t>Associate Professor, ECE Dept.</a:t>
            </a:r>
          </a:p>
        </p:txBody>
      </p:sp>
      <p:sp>
        <p:nvSpPr>
          <p:cNvPr id="217092" name="Text Box 4"/>
          <p:cNvSpPr txBox="1">
            <a:spLocks noChangeArrowheads="1"/>
          </p:cNvSpPr>
          <p:nvPr/>
        </p:nvSpPr>
        <p:spPr bwMode="auto">
          <a:xfrm>
            <a:off x="982879" y="2133600"/>
            <a:ext cx="6981398" cy="1384995"/>
          </a:xfrm>
          <a:prstGeom prst="rect">
            <a:avLst/>
          </a:prstGeom>
          <a:noFill/>
          <a:ln w="9525">
            <a:noFill/>
            <a:miter lim="800000"/>
            <a:headEnd/>
            <a:tailEnd/>
          </a:ln>
          <a:effectLst/>
        </p:spPr>
        <p:txBody>
          <a:bodyPr wrap="none">
            <a:spAutoFit/>
          </a:bodyPr>
          <a:lstStyle/>
          <a:p>
            <a:pPr algn="ctr" eaLnBrk="0" hangingPunct="0"/>
            <a:r>
              <a:rPr lang="en-US" sz="3600" b="1" dirty="0">
                <a:latin typeface="Arial" charset="0"/>
              </a:rPr>
              <a:t>Lecture Set #2</a:t>
            </a:r>
          </a:p>
          <a:p>
            <a:pPr algn="ctr" eaLnBrk="0" hangingPunct="0"/>
            <a:r>
              <a:rPr lang="en-US" sz="3600" b="1" dirty="0">
                <a:latin typeface="Arial" charset="0"/>
              </a:rPr>
              <a:t>Balanced Three-Phase Circuits</a:t>
            </a:r>
          </a:p>
          <a:p>
            <a:pPr algn="ctr" eaLnBrk="0" hangingPunct="0"/>
            <a:r>
              <a:rPr lang="en-US" sz="1200" b="1" dirty="0">
                <a:latin typeface="Arial" charset="0"/>
              </a:rPr>
              <a:t>Version 10</a:t>
            </a:r>
            <a:endParaRPr lang="en-US" sz="1200" dirty="0">
              <a:latin typeface="Arial" charset="0"/>
            </a:endParaRPr>
          </a:p>
        </p:txBody>
      </p:sp>
      <p:sp>
        <p:nvSpPr>
          <p:cNvPr id="217093" name="Rectangle 5"/>
          <p:cNvSpPr>
            <a:spLocks noChangeArrowheads="1"/>
          </p:cNvSpPr>
          <p:nvPr/>
        </p:nvSpPr>
        <p:spPr bwMode="auto">
          <a:xfrm>
            <a:off x="6782074" y="5670550"/>
            <a:ext cx="2372764" cy="830997"/>
          </a:xfrm>
          <a:prstGeom prst="rect">
            <a:avLst/>
          </a:prstGeom>
          <a:noFill/>
          <a:ln w="9525">
            <a:noFill/>
            <a:miter lim="800000"/>
            <a:headEnd/>
            <a:tailEnd/>
          </a:ln>
          <a:effectLst/>
        </p:spPr>
        <p:txBody>
          <a:bodyPr wrap="none">
            <a:spAutoFit/>
          </a:bodyPr>
          <a:lstStyle/>
          <a:p>
            <a:pPr algn="ctr" eaLnBrk="0" hangingPunct="0"/>
            <a:r>
              <a:rPr lang="en-US" dirty="0"/>
              <a:t>Shattuck@uh.edu</a:t>
            </a:r>
          </a:p>
          <a:p>
            <a:pPr algn="ctr" eaLnBrk="0" hangingPunct="0"/>
            <a:r>
              <a:rPr lang="en-US" dirty="0"/>
              <a:t>(713) 743-4422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994" name="Rectangle 2"/>
          <p:cNvSpPr>
            <a:spLocks noGrp="1" noChangeArrowheads="1"/>
          </p:cNvSpPr>
          <p:nvPr>
            <p:ph type="title"/>
          </p:nvPr>
        </p:nvSpPr>
        <p:spPr>
          <a:xfrm>
            <a:off x="2362200" y="0"/>
            <a:ext cx="6629400" cy="1066800"/>
          </a:xfrm>
        </p:spPr>
        <p:txBody>
          <a:bodyPr/>
          <a:lstStyle/>
          <a:p>
            <a:r>
              <a:rPr lang="en-US" sz="3200" dirty="0"/>
              <a:t>Overview of this Lecture Set</a:t>
            </a:r>
            <a:br>
              <a:rPr lang="en-US" sz="3200" dirty="0"/>
            </a:br>
            <a:r>
              <a:rPr lang="en-US" sz="3200" dirty="0"/>
              <a:t> Balanced Three-Phase Circuits</a:t>
            </a:r>
          </a:p>
        </p:txBody>
      </p:sp>
      <p:sp>
        <p:nvSpPr>
          <p:cNvPr id="1108995" name="Rectangle 3"/>
          <p:cNvSpPr>
            <a:spLocks noGrp="1" noChangeArrowheads="1"/>
          </p:cNvSpPr>
          <p:nvPr>
            <p:ph type="body" idx="1"/>
          </p:nvPr>
        </p:nvSpPr>
        <p:spPr>
          <a:xfrm>
            <a:off x="533400" y="2057400"/>
            <a:ext cx="7772400" cy="4495800"/>
          </a:xfrm>
        </p:spPr>
        <p:txBody>
          <a:bodyPr/>
          <a:lstStyle/>
          <a:p>
            <a:pPr>
              <a:buFontTx/>
              <a:buNone/>
            </a:pPr>
            <a:r>
              <a:rPr lang="en-US" sz="2800" dirty="0"/>
              <a:t>In this set of lecture notes, we will cover an important area in the transmission of power.  We will review the following topics:</a:t>
            </a:r>
          </a:p>
          <a:p>
            <a:r>
              <a:rPr lang="en-US" sz="2800" dirty="0"/>
              <a:t>Balanced Three-Phase Voltages</a:t>
            </a:r>
          </a:p>
          <a:p>
            <a:r>
              <a:rPr lang="en-US" sz="2800" dirty="0"/>
              <a:t>Wye-Wye Circuits</a:t>
            </a:r>
          </a:p>
          <a:p>
            <a:r>
              <a:rPr lang="en-US" altLang="en-US" sz="2800" dirty="0"/>
              <a:t>Wye-Delta Circuits</a:t>
            </a:r>
          </a:p>
          <a:p>
            <a:r>
              <a:rPr lang="en-US" altLang="en-US" sz="2800" dirty="0"/>
              <a:t>Power Calculations in Balanced Three-Phase Circuits</a:t>
            </a:r>
          </a:p>
          <a:p>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Rectangle 2"/>
          <p:cNvSpPr>
            <a:spLocks noGrp="1" noChangeArrowheads="1"/>
          </p:cNvSpPr>
          <p:nvPr>
            <p:ph type="title"/>
          </p:nvPr>
        </p:nvSpPr>
        <p:spPr/>
        <p:txBody>
          <a:bodyPr/>
          <a:lstStyle/>
          <a:p>
            <a:r>
              <a:rPr lang="en-US"/>
              <a:t>Textbook Coverage</a:t>
            </a:r>
          </a:p>
        </p:txBody>
      </p:sp>
      <p:sp>
        <p:nvSpPr>
          <p:cNvPr id="1111043" name="Rectangle 3"/>
          <p:cNvSpPr>
            <a:spLocks noGrp="1" noChangeArrowheads="1"/>
          </p:cNvSpPr>
          <p:nvPr>
            <p:ph type="body" idx="1"/>
          </p:nvPr>
        </p:nvSpPr>
        <p:spPr>
          <a:xfrm>
            <a:off x="685800" y="2362200"/>
            <a:ext cx="7772400" cy="4114800"/>
          </a:xfrm>
        </p:spPr>
        <p:txBody>
          <a:bodyPr/>
          <a:lstStyle/>
          <a:p>
            <a:pPr>
              <a:buFontTx/>
              <a:buNone/>
            </a:pPr>
            <a:r>
              <a:rPr lang="en-US" sz="2800" dirty="0"/>
              <a:t>This material is introduced in different ways in different textbooks.  Approximately this same material is covered in your textbook in the following sections:</a:t>
            </a:r>
          </a:p>
          <a:p>
            <a:r>
              <a:rPr lang="en-US" sz="2800" dirty="0"/>
              <a:t>Electric Circuits 12</a:t>
            </a:r>
            <a:r>
              <a:rPr lang="en-US" sz="2800" baseline="30000" dirty="0"/>
              <a:t>th</a:t>
            </a:r>
            <a:r>
              <a:rPr lang="en-US" sz="2800" dirty="0"/>
              <a:t> Edition by Nilsson and Riedel:  Sections 11.1 through 11.5</a:t>
            </a:r>
          </a:p>
          <a:p>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Rectangle 2"/>
          <p:cNvSpPr>
            <a:spLocks noGrp="1" noChangeArrowheads="1"/>
          </p:cNvSpPr>
          <p:nvPr>
            <p:ph type="title"/>
          </p:nvPr>
        </p:nvSpPr>
        <p:spPr/>
        <p:txBody>
          <a:bodyPr/>
          <a:lstStyle/>
          <a:p>
            <a:r>
              <a:rPr lang="en-US" dirty="0"/>
              <a:t>Copyright Notice</a:t>
            </a:r>
          </a:p>
        </p:txBody>
      </p:sp>
      <p:sp>
        <p:nvSpPr>
          <p:cNvPr id="4" name="Content Placeholder 2">
            <a:extLst>
              <a:ext uri="{FF2B5EF4-FFF2-40B4-BE49-F238E27FC236}">
                <a16:creationId xmlns:a16="http://schemas.microsoft.com/office/drawing/2014/main" id="{F1C3D434-61A6-4AED-9A60-C88F9F4B6217}"/>
              </a:ext>
            </a:extLst>
          </p:cNvPr>
          <p:cNvSpPr>
            <a:spLocks noGrp="1"/>
          </p:cNvSpPr>
          <p:nvPr>
            <p:ph idx="1"/>
          </p:nvPr>
        </p:nvSpPr>
        <p:spPr bwMode="auto">
          <a:xfrm>
            <a:off x="469397" y="2057400"/>
            <a:ext cx="8205205" cy="4155626"/>
          </a:xfrm>
          <a:solidFill>
            <a:schemeClr val="accent1"/>
          </a:solidFill>
          <a:ln w="9525">
            <a:solidFill>
              <a:schemeClr val="tx1"/>
            </a:solidFill>
            <a:miter lim="800000"/>
            <a:headEnd/>
            <a:tailEnd/>
          </a:ln>
          <a:effectLst/>
        </p:spPr>
        <p:txBody>
          <a:bodyPr>
            <a:spAutoFit/>
          </a:bodyPr>
          <a:lstStyle/>
          <a:p>
            <a:pPr marL="0" indent="0" eaLnBrk="0" hangingPunct="0">
              <a:spcBef>
                <a:spcPct val="0"/>
              </a:spcBef>
              <a:buNone/>
            </a:pPr>
            <a:r>
              <a:rPr lang="en-US" altLang="en-US" sz="2400" kern="1200" dirty="0">
                <a:solidFill>
                  <a:schemeClr val="bg1"/>
                </a:solidFil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1156923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362200" y="0"/>
            <a:ext cx="6781800" cy="838200"/>
          </a:xfrm>
        </p:spPr>
        <p:txBody>
          <a:bodyPr/>
          <a:lstStyle/>
          <a:p>
            <a:r>
              <a:rPr lang="en-US" sz="3600" dirty="0"/>
              <a:t>Three-Phase Power Distribution</a:t>
            </a:r>
          </a:p>
        </p:txBody>
      </p:sp>
      <p:graphicFrame>
        <p:nvGraphicFramePr>
          <p:cNvPr id="1119237" name="Object 5"/>
          <p:cNvGraphicFramePr>
            <a:graphicFrameLocks noChangeAspect="1"/>
          </p:cNvGraphicFramePr>
          <p:nvPr>
            <p:extLst>
              <p:ext uri="{D42A27DB-BD31-4B8C-83A1-F6EECF244321}">
                <p14:modId xmlns:p14="http://schemas.microsoft.com/office/powerpoint/2010/main" val="14149517"/>
              </p:ext>
            </p:extLst>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Content Placeholder 9">
            <a:extLst>
              <a:ext uri="{FF2B5EF4-FFF2-40B4-BE49-F238E27FC236}">
                <a16:creationId xmlns:a16="http://schemas.microsoft.com/office/drawing/2014/main" id="{A28F9DCB-4587-4CC1-9B51-6FC556284260}"/>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bwMode="auto">
          <a:xfrm>
            <a:off x="4700427" y="911711"/>
            <a:ext cx="4098680" cy="485615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C435B97-8C84-40E7-BC0F-98F09D0BBC27}"/>
              </a:ext>
            </a:extLst>
          </p:cNvPr>
          <p:cNvSpPr txBox="1"/>
          <p:nvPr/>
        </p:nvSpPr>
        <p:spPr>
          <a:xfrm>
            <a:off x="4700427" y="5767869"/>
            <a:ext cx="4098680" cy="1200329"/>
          </a:xfrm>
          <a:prstGeom prst="rect">
            <a:avLst/>
          </a:prstGeom>
          <a:noFill/>
        </p:spPr>
        <p:txBody>
          <a:bodyPr wrap="square" rtlCol="0">
            <a:spAutoFit/>
          </a:bodyPr>
          <a:lstStyle/>
          <a:p>
            <a:r>
              <a:rPr lang="en-US" dirty="0"/>
              <a:t>This image taken from Figure 11.3 in Nilsson and Reidel, Electric Circuits, 12</a:t>
            </a:r>
            <a:r>
              <a:rPr lang="en-US" baseline="30000" dirty="0"/>
              <a:t>th</a:t>
            </a:r>
            <a:r>
              <a:rPr lang="en-US" dirty="0"/>
              <a:t> Edition.  </a:t>
            </a:r>
          </a:p>
        </p:txBody>
      </p:sp>
      <p:sp>
        <p:nvSpPr>
          <p:cNvPr id="12" name="TextBox 11">
            <a:extLst>
              <a:ext uri="{FF2B5EF4-FFF2-40B4-BE49-F238E27FC236}">
                <a16:creationId xmlns:a16="http://schemas.microsoft.com/office/drawing/2014/main" id="{8995B099-3C47-4CE3-818C-83A86E4185BA}"/>
              </a:ext>
            </a:extLst>
          </p:cNvPr>
          <p:cNvSpPr txBox="1"/>
          <p:nvPr/>
        </p:nvSpPr>
        <p:spPr>
          <a:xfrm>
            <a:off x="457200" y="1371600"/>
            <a:ext cx="3986374" cy="3785652"/>
          </a:xfrm>
          <a:prstGeom prst="rect">
            <a:avLst/>
          </a:prstGeom>
          <a:noFill/>
        </p:spPr>
        <p:txBody>
          <a:bodyPr wrap="square" rtlCol="0">
            <a:spAutoFit/>
          </a:bodyPr>
          <a:lstStyle/>
          <a:p>
            <a:r>
              <a:rPr lang="en-US" dirty="0">
                <a:latin typeface="+mn-lt"/>
              </a:rPr>
              <a:t>It is common to use three-phase circuits to generate, transmit, and distribute electrical power.  We are going to look at what are called “balanced three-phase circuits”, which is a special case of interest because it simplifies many of the calculations.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282" name="Rectangle 2"/>
          <p:cNvSpPr>
            <a:spLocks noGrp="1" noChangeArrowheads="1"/>
          </p:cNvSpPr>
          <p:nvPr>
            <p:ph type="title"/>
          </p:nvPr>
        </p:nvSpPr>
        <p:spPr>
          <a:xfrm>
            <a:off x="2362200" y="0"/>
            <a:ext cx="6781800" cy="838200"/>
          </a:xfrm>
        </p:spPr>
        <p:txBody>
          <a:bodyPr/>
          <a:lstStyle/>
          <a:p>
            <a:r>
              <a:rPr lang="en-US" sz="4000" dirty="0"/>
              <a:t>Why Three-Phase Circuits?</a:t>
            </a:r>
          </a:p>
        </p:txBody>
      </p:sp>
      <p:sp>
        <p:nvSpPr>
          <p:cNvPr id="1121283" name="Rectangle 3"/>
          <p:cNvSpPr>
            <a:spLocks noGrp="1" noChangeArrowheads="1"/>
          </p:cNvSpPr>
          <p:nvPr>
            <p:ph type="body" idx="1"/>
          </p:nvPr>
        </p:nvSpPr>
        <p:spPr>
          <a:xfrm>
            <a:off x="228600" y="1219200"/>
            <a:ext cx="6553200" cy="5486400"/>
          </a:xfrm>
        </p:spPr>
        <p:txBody>
          <a:bodyPr/>
          <a:lstStyle/>
          <a:p>
            <a:pPr>
              <a:buFontTx/>
              <a:buNone/>
            </a:pPr>
            <a:r>
              <a:rPr lang="en-US" sz="2400" dirty="0"/>
              <a:t>It is a reasonable question to ask why do we use three-phase circuits?  </a:t>
            </a:r>
          </a:p>
          <a:p>
            <a:pPr>
              <a:buNone/>
            </a:pPr>
            <a:r>
              <a:rPr lang="en-US" sz="2400" dirty="0"/>
              <a:t>I had the same question.  I found a pretty good web site that gives a pretty clear description of the answer.  It is </a:t>
            </a:r>
            <a:r>
              <a:rPr lang="en-US" sz="2400" u="sng" dirty="0">
                <a:solidFill>
                  <a:srgbClr val="0563C1"/>
                </a:solidFill>
                <a:effectLst/>
                <a:latin typeface="Calibri" panose="020F0502020204030204" pitchFamily="34" charset="0"/>
                <a:ea typeface="Calibri" panose="020F0502020204030204" pitchFamily="34" charset="0"/>
                <a:hlinkClick r:id="rId3"/>
              </a:rPr>
              <a:t>https://www.youtube.com/watch?v=c9gm_NL7KyE</a:t>
            </a:r>
            <a:endParaRPr lang="en-US" sz="2400" dirty="0">
              <a:effectLst/>
              <a:latin typeface="Calibri" panose="020F0502020204030204" pitchFamily="34" charset="0"/>
              <a:ea typeface="Calibri" panose="020F0502020204030204" pitchFamily="34" charset="0"/>
            </a:endParaRPr>
          </a:p>
          <a:p>
            <a:pPr>
              <a:buFontTx/>
              <a:buNone/>
            </a:pPr>
            <a:r>
              <a:rPr lang="en-US" sz="2400" dirty="0"/>
              <a:t>If you watch this video, you will find an explanation in graphical form, showing that the power available from three-phase circuits “more constant”, that is, has smaller changes in time than a single phase, or a single sinusoid.  </a:t>
            </a:r>
          </a:p>
        </p:txBody>
      </p:sp>
      <p:pic>
        <p:nvPicPr>
          <p:cNvPr id="1121284" name="Picture 4" descr="E:\Program Files\Microsoft Office\Clipart\smbusbas\bd10432_.wmf"/>
          <p:cNvPicPr>
            <a:picLocks noChangeAspect="1" noChangeArrowheads="1"/>
          </p:cNvPicPr>
          <p:nvPr/>
        </p:nvPicPr>
        <p:blipFill>
          <a:blip r:embed="rId4" cstate="print"/>
          <a:srcRect/>
          <a:stretch>
            <a:fillRect/>
          </a:stretch>
        </p:blipFill>
        <p:spPr bwMode="auto">
          <a:xfrm>
            <a:off x="7010400" y="1295400"/>
            <a:ext cx="1797050" cy="48768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282" name="Rectangle 2"/>
          <p:cNvSpPr>
            <a:spLocks noGrp="1" noChangeArrowheads="1"/>
          </p:cNvSpPr>
          <p:nvPr>
            <p:ph type="title"/>
          </p:nvPr>
        </p:nvSpPr>
        <p:spPr>
          <a:xfrm>
            <a:off x="2362200" y="0"/>
            <a:ext cx="6781800" cy="838200"/>
          </a:xfrm>
        </p:spPr>
        <p:txBody>
          <a:bodyPr/>
          <a:lstStyle/>
          <a:p>
            <a:r>
              <a:rPr lang="en-US" sz="4000" dirty="0"/>
              <a:t>RMS Voltages and Currents</a:t>
            </a:r>
          </a:p>
        </p:txBody>
      </p:sp>
      <p:sp>
        <p:nvSpPr>
          <p:cNvPr id="1121283" name="Rectangle 3"/>
          <p:cNvSpPr>
            <a:spLocks noGrp="1" noChangeArrowheads="1"/>
          </p:cNvSpPr>
          <p:nvPr>
            <p:ph type="body" idx="1"/>
          </p:nvPr>
        </p:nvSpPr>
        <p:spPr>
          <a:xfrm>
            <a:off x="228600" y="1219200"/>
            <a:ext cx="6553200" cy="5486400"/>
          </a:xfrm>
        </p:spPr>
        <p:txBody>
          <a:bodyPr/>
          <a:lstStyle/>
          <a:p>
            <a:pPr>
              <a:buFontTx/>
              <a:buNone/>
            </a:pPr>
            <a:r>
              <a:rPr lang="en-US" sz="2400" dirty="0"/>
              <a:t>It is a reasonable question to ask why do we use three-phase circuits?  </a:t>
            </a:r>
          </a:p>
          <a:p>
            <a:pPr>
              <a:buNone/>
            </a:pPr>
            <a:r>
              <a:rPr lang="en-US" sz="2400" dirty="0"/>
              <a:t>I had the same question.  I found a pretty good web site that gives a pretty clear description of the answer.  It is </a:t>
            </a:r>
            <a:r>
              <a:rPr lang="en-US" sz="2400" u="sng" dirty="0">
                <a:solidFill>
                  <a:srgbClr val="0563C1"/>
                </a:solidFill>
                <a:effectLst/>
                <a:latin typeface="Calibri" panose="020F0502020204030204" pitchFamily="34" charset="0"/>
                <a:ea typeface="Calibri" panose="020F0502020204030204" pitchFamily="34" charset="0"/>
                <a:hlinkClick r:id="rId3"/>
              </a:rPr>
              <a:t>https://www.youtube.com/watch?v=c9gm_NL7KyE</a:t>
            </a:r>
            <a:endParaRPr lang="en-US" sz="2400" dirty="0">
              <a:effectLst/>
              <a:latin typeface="Calibri" panose="020F0502020204030204" pitchFamily="34" charset="0"/>
              <a:ea typeface="Calibri" panose="020F0502020204030204" pitchFamily="34" charset="0"/>
            </a:endParaRPr>
          </a:p>
          <a:p>
            <a:pPr>
              <a:buFontTx/>
              <a:buNone/>
            </a:pPr>
            <a:r>
              <a:rPr lang="en-US" sz="2400" dirty="0"/>
              <a:t>This same video also describes why we use rms voltages and currents, although their wish to avoid doing mathematical calculations leads to a different approach to explaining where the conversion from the periodic waveform to the rms value comes from. </a:t>
            </a:r>
          </a:p>
        </p:txBody>
      </p:sp>
      <p:pic>
        <p:nvPicPr>
          <p:cNvPr id="1121284" name="Picture 4" descr="E:\Program Files\Microsoft Office\Clipart\smbusbas\bd10432_.wmf"/>
          <p:cNvPicPr>
            <a:picLocks noChangeAspect="1" noChangeArrowheads="1"/>
          </p:cNvPicPr>
          <p:nvPr/>
        </p:nvPicPr>
        <p:blipFill>
          <a:blip r:embed="rId4" cstate="print"/>
          <a:srcRect/>
          <a:stretch>
            <a:fillRect/>
          </a:stretch>
        </p:blipFill>
        <p:spPr bwMode="auto">
          <a:xfrm>
            <a:off x="7010400" y="1295400"/>
            <a:ext cx="1797050" cy="4876800"/>
          </a:xfrm>
          <a:prstGeom prst="rect">
            <a:avLst/>
          </a:prstGeom>
          <a:noFill/>
        </p:spPr>
      </p:pic>
    </p:spTree>
    <p:extLst>
      <p:ext uri="{BB962C8B-B14F-4D97-AF65-F5344CB8AC3E}">
        <p14:creationId xmlns:p14="http://schemas.microsoft.com/office/powerpoint/2010/main" val="1309459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41" name="Rectangle 13"/>
          <p:cNvSpPr>
            <a:spLocks noChangeArrowheads="1"/>
          </p:cNvSpPr>
          <p:nvPr/>
        </p:nvSpPr>
        <p:spPr bwMode="auto">
          <a:xfrm>
            <a:off x="6705600" y="4343400"/>
            <a:ext cx="2209800" cy="25146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3340" name="Rectangle 12"/>
          <p:cNvSpPr>
            <a:spLocks noChangeArrowheads="1"/>
          </p:cNvSpPr>
          <p:nvPr/>
        </p:nvSpPr>
        <p:spPr bwMode="auto">
          <a:xfrm>
            <a:off x="533400" y="5791200"/>
            <a:ext cx="3429000" cy="10668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3339" name="Rectangle 11"/>
          <p:cNvSpPr>
            <a:spLocks noChangeArrowheads="1"/>
          </p:cNvSpPr>
          <p:nvPr/>
        </p:nvSpPr>
        <p:spPr bwMode="auto">
          <a:xfrm>
            <a:off x="1905000" y="4038600"/>
            <a:ext cx="1981200" cy="9906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3338" name="Rectangle 10"/>
          <p:cNvSpPr>
            <a:spLocks noChangeArrowheads="1"/>
          </p:cNvSpPr>
          <p:nvPr/>
        </p:nvSpPr>
        <p:spPr bwMode="auto">
          <a:xfrm>
            <a:off x="1600200" y="1981200"/>
            <a:ext cx="2209800" cy="6096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3330" name="Rectangle 2"/>
          <p:cNvSpPr>
            <a:spLocks noGrp="1" noChangeArrowheads="1"/>
          </p:cNvSpPr>
          <p:nvPr>
            <p:ph type="title"/>
          </p:nvPr>
        </p:nvSpPr>
        <p:spPr>
          <a:xfrm>
            <a:off x="1371600" y="0"/>
            <a:ext cx="7772400" cy="838200"/>
          </a:xfrm>
        </p:spPr>
        <p:txBody>
          <a:bodyPr/>
          <a:lstStyle/>
          <a:p>
            <a:r>
              <a:rPr lang="en-US"/>
              <a:t>Derivation of RMS – 1</a:t>
            </a:r>
          </a:p>
        </p:txBody>
      </p:sp>
      <p:sp>
        <p:nvSpPr>
          <p:cNvPr id="1123331" name="Rectangle 3"/>
          <p:cNvSpPr>
            <a:spLocks noGrp="1" noChangeArrowheads="1"/>
          </p:cNvSpPr>
          <p:nvPr>
            <p:ph type="body" idx="1"/>
          </p:nvPr>
        </p:nvSpPr>
        <p:spPr>
          <a:xfrm>
            <a:off x="533400" y="1066800"/>
            <a:ext cx="8153400" cy="3657600"/>
          </a:xfrm>
        </p:spPr>
        <p:txBody>
          <a:bodyPr/>
          <a:lstStyle/>
          <a:p>
            <a:pPr>
              <a:buFontTx/>
              <a:buNone/>
            </a:pPr>
            <a:r>
              <a:rPr lang="en-US" sz="2400" dirty="0"/>
              <a:t>We want the effective value that could be used in power calculations, for average power, in the formula</a:t>
            </a:r>
          </a:p>
        </p:txBody>
      </p:sp>
      <p:graphicFrame>
        <p:nvGraphicFramePr>
          <p:cNvPr id="1123332" name="Object 4"/>
          <p:cNvGraphicFramePr>
            <a:graphicFrameLocks noChangeAspect="1"/>
          </p:cNvGraphicFramePr>
          <p:nvPr/>
        </p:nvGraphicFramePr>
        <p:xfrm>
          <a:off x="1752600" y="2057400"/>
          <a:ext cx="1930400" cy="469900"/>
        </p:xfrm>
        <a:graphic>
          <a:graphicData uri="http://schemas.openxmlformats.org/presentationml/2006/ole">
            <mc:AlternateContent xmlns:mc="http://schemas.openxmlformats.org/markup-compatibility/2006">
              <mc:Choice xmlns:v="urn:schemas-microsoft-com:vml" Requires="v">
                <p:oleObj name="Equation" r:id="rId3" imgW="990360" imgH="241200" progId="Equation.DSMT4">
                  <p:embed/>
                </p:oleObj>
              </mc:Choice>
              <mc:Fallback>
                <p:oleObj name="Equation" r:id="rId3" imgW="990360" imgH="241200" progId="Equation.DSMT4">
                  <p:embed/>
                  <p:pic>
                    <p:nvPicPr>
                      <p:cNvPr id="112333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057400"/>
                        <a:ext cx="19304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3333" name="Text Box 5"/>
          <p:cNvSpPr txBox="1">
            <a:spLocks noChangeArrowheads="1"/>
          </p:cNvSpPr>
          <p:nvPr/>
        </p:nvSpPr>
        <p:spPr bwMode="auto">
          <a:xfrm>
            <a:off x="304800" y="2514600"/>
            <a:ext cx="8534400" cy="1552575"/>
          </a:xfrm>
          <a:prstGeom prst="rect">
            <a:avLst/>
          </a:prstGeom>
          <a:noFill/>
          <a:ln w="9525">
            <a:noFill/>
            <a:miter lim="800000"/>
            <a:headEnd/>
            <a:tailEnd/>
          </a:ln>
          <a:effectLst/>
        </p:spPr>
        <p:txBody>
          <a:bodyPr>
            <a:spAutoFit/>
          </a:bodyPr>
          <a:lstStyle/>
          <a:p>
            <a:pPr eaLnBrk="0" hangingPunct="0"/>
            <a:r>
              <a:rPr lang="en-US">
                <a:latin typeface="Arial" charset="0"/>
              </a:rPr>
              <a:t>We will do the derivation for a resistance, since we want the formula to work with the resistance power formulas.  Let’s arbitrarily choose to work with the voltage.  What we want to get is a value that will work in the formula,</a:t>
            </a:r>
          </a:p>
        </p:txBody>
      </p:sp>
      <p:graphicFrame>
        <p:nvGraphicFramePr>
          <p:cNvPr id="1123334" name="Object 6"/>
          <p:cNvGraphicFramePr>
            <a:graphicFrameLocks noChangeAspect="1"/>
          </p:cNvGraphicFramePr>
          <p:nvPr/>
        </p:nvGraphicFramePr>
        <p:xfrm>
          <a:off x="1905000" y="4038600"/>
          <a:ext cx="1955800" cy="989013"/>
        </p:xfrm>
        <a:graphic>
          <a:graphicData uri="http://schemas.openxmlformats.org/presentationml/2006/ole">
            <mc:AlternateContent xmlns:mc="http://schemas.openxmlformats.org/markup-compatibility/2006">
              <mc:Choice xmlns:v="urn:schemas-microsoft-com:vml" Requires="v">
                <p:oleObj name="Equation" r:id="rId5" imgW="1002960" imgH="507960" progId="Equation.DSMT4">
                  <p:embed/>
                </p:oleObj>
              </mc:Choice>
              <mc:Fallback>
                <p:oleObj name="Equation" r:id="rId5" imgW="1002960" imgH="507960" progId="Equation.DSMT4">
                  <p:embed/>
                  <p:pic>
                    <p:nvPicPr>
                      <p:cNvPr id="112333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038600"/>
                        <a:ext cx="1955800" cy="989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3335" name="Text Box 7"/>
          <p:cNvSpPr txBox="1">
            <a:spLocks noChangeArrowheads="1"/>
          </p:cNvSpPr>
          <p:nvPr/>
        </p:nvSpPr>
        <p:spPr bwMode="auto">
          <a:xfrm>
            <a:off x="533400" y="5029200"/>
            <a:ext cx="5562600" cy="830997"/>
          </a:xfrm>
          <a:prstGeom prst="rect">
            <a:avLst/>
          </a:prstGeom>
          <a:noFill/>
          <a:ln w="9525">
            <a:noFill/>
            <a:miter lim="800000"/>
            <a:headEnd/>
            <a:tailEnd/>
          </a:ln>
          <a:effectLst/>
        </p:spPr>
        <p:txBody>
          <a:bodyPr>
            <a:spAutoFit/>
          </a:bodyPr>
          <a:lstStyle/>
          <a:p>
            <a:pPr eaLnBrk="0" hangingPunct="0"/>
            <a:r>
              <a:rPr lang="en-US" dirty="0">
                <a:latin typeface="Arial" charset="0"/>
              </a:rPr>
              <a:t>With </a:t>
            </a:r>
            <a:r>
              <a:rPr lang="en-US" i="1" dirty="0">
                <a:cs typeface="Times New Roman" panose="02020603050405020304" pitchFamily="18" charset="0"/>
              </a:rPr>
              <a:t>T</a:t>
            </a:r>
            <a:r>
              <a:rPr lang="en-US" dirty="0">
                <a:latin typeface="Arial" charset="0"/>
              </a:rPr>
              <a:t> as the period, the average value of the power is obtained by the formula,</a:t>
            </a:r>
          </a:p>
        </p:txBody>
      </p:sp>
      <p:graphicFrame>
        <p:nvGraphicFramePr>
          <p:cNvPr id="1123336" name="Object 8"/>
          <p:cNvGraphicFramePr>
            <a:graphicFrameLocks noChangeAspect="1"/>
          </p:cNvGraphicFramePr>
          <p:nvPr/>
        </p:nvGraphicFramePr>
        <p:xfrm>
          <a:off x="609600" y="5794375"/>
          <a:ext cx="3243263" cy="1063625"/>
        </p:xfrm>
        <a:graphic>
          <a:graphicData uri="http://schemas.openxmlformats.org/presentationml/2006/ole">
            <mc:AlternateContent xmlns:mc="http://schemas.openxmlformats.org/markup-compatibility/2006">
              <mc:Choice xmlns:v="urn:schemas-microsoft-com:vml" Requires="v">
                <p:oleObj name="Equation" r:id="rId7" imgW="1663560" imgH="545760" progId="Equation.DSMT4">
                  <p:embed/>
                </p:oleObj>
              </mc:Choice>
              <mc:Fallback>
                <p:oleObj name="Equation" r:id="rId7" imgW="1663560" imgH="545760" progId="Equation.DSMT4">
                  <p:embed/>
                  <p:pic>
                    <p:nvPicPr>
                      <p:cNvPr id="112333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5794375"/>
                        <a:ext cx="3243263" cy="1063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23337" name="Picture 9" descr="C:\Program Files\Common Files\Microsoft Shared\Clipart\cagcat50\bd04924_.wmf"/>
          <p:cNvPicPr>
            <a:picLocks noChangeAspect="1" noChangeArrowheads="1"/>
          </p:cNvPicPr>
          <p:nvPr/>
        </p:nvPicPr>
        <p:blipFill>
          <a:blip r:embed="rId9" cstate="print"/>
          <a:srcRect/>
          <a:stretch>
            <a:fillRect/>
          </a:stretch>
        </p:blipFill>
        <p:spPr bwMode="auto">
          <a:xfrm>
            <a:off x="6813550" y="4419600"/>
            <a:ext cx="1808163" cy="24384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386" name="Rectangle 10"/>
          <p:cNvSpPr>
            <a:spLocks noChangeArrowheads="1"/>
          </p:cNvSpPr>
          <p:nvPr/>
        </p:nvSpPr>
        <p:spPr bwMode="auto">
          <a:xfrm>
            <a:off x="6934200" y="3886200"/>
            <a:ext cx="2209800" cy="29718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5385" name="Rectangle 9"/>
          <p:cNvSpPr>
            <a:spLocks noChangeArrowheads="1"/>
          </p:cNvSpPr>
          <p:nvPr/>
        </p:nvSpPr>
        <p:spPr bwMode="auto">
          <a:xfrm>
            <a:off x="914400" y="4419600"/>
            <a:ext cx="3810000" cy="9906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5384" name="Rectangle 8"/>
          <p:cNvSpPr>
            <a:spLocks noChangeArrowheads="1"/>
          </p:cNvSpPr>
          <p:nvPr/>
        </p:nvSpPr>
        <p:spPr bwMode="auto">
          <a:xfrm>
            <a:off x="533400" y="1828800"/>
            <a:ext cx="4724400" cy="12192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5378" name="Rectangle 2"/>
          <p:cNvSpPr>
            <a:spLocks noGrp="1" noChangeArrowheads="1"/>
          </p:cNvSpPr>
          <p:nvPr>
            <p:ph type="title"/>
          </p:nvPr>
        </p:nvSpPr>
        <p:spPr>
          <a:xfrm>
            <a:off x="1371600" y="0"/>
            <a:ext cx="7772400" cy="838200"/>
          </a:xfrm>
        </p:spPr>
        <p:txBody>
          <a:bodyPr/>
          <a:lstStyle/>
          <a:p>
            <a:r>
              <a:rPr lang="en-US"/>
              <a:t>Derivation of RMS – 2</a:t>
            </a:r>
          </a:p>
        </p:txBody>
      </p:sp>
      <p:sp>
        <p:nvSpPr>
          <p:cNvPr id="1125379" name="Rectangle 3"/>
          <p:cNvSpPr>
            <a:spLocks noGrp="1" noChangeArrowheads="1"/>
          </p:cNvSpPr>
          <p:nvPr>
            <p:ph type="body" idx="1"/>
          </p:nvPr>
        </p:nvSpPr>
        <p:spPr>
          <a:xfrm>
            <a:off x="533400" y="1066800"/>
            <a:ext cx="8153400" cy="3657600"/>
          </a:xfrm>
        </p:spPr>
        <p:txBody>
          <a:bodyPr/>
          <a:lstStyle/>
          <a:p>
            <a:pPr>
              <a:buFontTx/>
              <a:buNone/>
            </a:pPr>
            <a:r>
              <a:rPr lang="en-US" sz="2400"/>
              <a:t>Now, to get the formula, we simply set the two equations from the previous slide equal to each other,  </a:t>
            </a:r>
          </a:p>
        </p:txBody>
      </p:sp>
      <p:sp>
        <p:nvSpPr>
          <p:cNvPr id="1125380" name="Text Box 4"/>
          <p:cNvSpPr txBox="1">
            <a:spLocks noChangeArrowheads="1"/>
          </p:cNvSpPr>
          <p:nvPr/>
        </p:nvSpPr>
        <p:spPr bwMode="auto">
          <a:xfrm>
            <a:off x="533400" y="3048000"/>
            <a:ext cx="8016875" cy="1200329"/>
          </a:xfrm>
          <a:prstGeom prst="rect">
            <a:avLst/>
          </a:prstGeom>
          <a:noFill/>
          <a:ln w="9525">
            <a:noFill/>
            <a:miter lim="800000"/>
            <a:headEnd/>
            <a:tailEnd/>
          </a:ln>
          <a:effectLst/>
        </p:spPr>
        <p:txBody>
          <a:bodyPr>
            <a:spAutoFit/>
          </a:bodyPr>
          <a:lstStyle/>
          <a:p>
            <a:pPr eaLnBrk="0" hangingPunct="0"/>
            <a:r>
              <a:rPr lang="en-US" dirty="0">
                <a:latin typeface="Arial" charset="0"/>
              </a:rPr>
              <a:t>Now, we need to simplify.  The resistance is assumed to be a constant, and so it can be taken out of the integral.  When we multiply both sides by </a:t>
            </a:r>
            <a:r>
              <a:rPr lang="en-US" i="1" dirty="0">
                <a:cs typeface="Times New Roman" panose="02020603050405020304" pitchFamily="18" charset="0"/>
              </a:rPr>
              <a:t>R</a:t>
            </a:r>
            <a:r>
              <a:rPr lang="en-US" dirty="0">
                <a:latin typeface="Arial" charset="0"/>
              </a:rPr>
              <a:t>, we get</a:t>
            </a:r>
          </a:p>
        </p:txBody>
      </p:sp>
      <p:graphicFrame>
        <p:nvGraphicFramePr>
          <p:cNvPr id="1125381" name="Object 5"/>
          <p:cNvGraphicFramePr>
            <a:graphicFrameLocks noChangeAspect="1"/>
          </p:cNvGraphicFramePr>
          <p:nvPr/>
        </p:nvGraphicFramePr>
        <p:xfrm>
          <a:off x="609600" y="1905000"/>
          <a:ext cx="4556125" cy="1112838"/>
        </p:xfrm>
        <a:graphic>
          <a:graphicData uri="http://schemas.openxmlformats.org/presentationml/2006/ole">
            <mc:AlternateContent xmlns:mc="http://schemas.openxmlformats.org/markup-compatibility/2006">
              <mc:Choice xmlns:v="urn:schemas-microsoft-com:vml" Requires="v">
                <p:oleObj name="Equation" r:id="rId3" imgW="2336760" imgH="571320" progId="Equation.DSMT4">
                  <p:embed/>
                </p:oleObj>
              </mc:Choice>
              <mc:Fallback>
                <p:oleObj name="Equation" r:id="rId3" imgW="2336760" imgH="571320" progId="Equation.DSMT4">
                  <p:embed/>
                  <p:pic>
                    <p:nvPicPr>
                      <p:cNvPr id="112538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905000"/>
                        <a:ext cx="4556125" cy="1112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5382" name="Object 6"/>
          <p:cNvGraphicFramePr>
            <a:graphicFrameLocks noChangeAspect="1"/>
          </p:cNvGraphicFramePr>
          <p:nvPr/>
        </p:nvGraphicFramePr>
        <p:xfrm>
          <a:off x="1028700" y="4467225"/>
          <a:ext cx="3565525" cy="865188"/>
        </p:xfrm>
        <a:graphic>
          <a:graphicData uri="http://schemas.openxmlformats.org/presentationml/2006/ole">
            <mc:AlternateContent xmlns:mc="http://schemas.openxmlformats.org/markup-compatibility/2006">
              <mc:Choice xmlns:v="urn:schemas-microsoft-com:vml" Requires="v">
                <p:oleObj name="Equation" r:id="rId5" imgW="1828800" imgH="444240" progId="Equation.DSMT4">
                  <p:embed/>
                </p:oleObj>
              </mc:Choice>
              <mc:Fallback>
                <p:oleObj name="Equation" r:id="rId5" imgW="1828800" imgH="444240" progId="Equation.DSMT4">
                  <p:embed/>
                  <p:pic>
                    <p:nvPicPr>
                      <p:cNvPr id="112538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700" y="4467225"/>
                        <a:ext cx="3565525"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25383" name="Picture 7" descr="E:\Program Files\Microsoft Office\Clipart\standard\stddir1\bd05030_.wmf"/>
          <p:cNvPicPr>
            <a:picLocks noChangeAspect="1" noChangeArrowheads="1"/>
          </p:cNvPicPr>
          <p:nvPr/>
        </p:nvPicPr>
        <p:blipFill>
          <a:blip r:embed="rId7" cstate="print"/>
          <a:srcRect/>
          <a:stretch>
            <a:fillRect/>
          </a:stretch>
        </p:blipFill>
        <p:spPr bwMode="auto">
          <a:xfrm>
            <a:off x="7000875" y="3962400"/>
            <a:ext cx="2143125" cy="28956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432" name="Rectangle 8"/>
          <p:cNvSpPr>
            <a:spLocks noChangeArrowheads="1"/>
          </p:cNvSpPr>
          <p:nvPr/>
        </p:nvSpPr>
        <p:spPr bwMode="auto">
          <a:xfrm>
            <a:off x="6781800" y="3581400"/>
            <a:ext cx="2362200" cy="32766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7431" name="Rectangle 7"/>
          <p:cNvSpPr>
            <a:spLocks noChangeArrowheads="1"/>
          </p:cNvSpPr>
          <p:nvPr/>
        </p:nvSpPr>
        <p:spPr bwMode="auto">
          <a:xfrm>
            <a:off x="533400" y="1905000"/>
            <a:ext cx="3733800" cy="11430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7426" name="Rectangle 2"/>
          <p:cNvSpPr>
            <a:spLocks noGrp="1" noChangeArrowheads="1"/>
          </p:cNvSpPr>
          <p:nvPr>
            <p:ph type="title"/>
          </p:nvPr>
        </p:nvSpPr>
        <p:spPr>
          <a:xfrm>
            <a:off x="1371600" y="0"/>
            <a:ext cx="7772400" cy="838200"/>
          </a:xfrm>
        </p:spPr>
        <p:txBody>
          <a:bodyPr/>
          <a:lstStyle/>
          <a:p>
            <a:r>
              <a:rPr lang="en-US"/>
              <a:t>Derivation of RMS – 3</a:t>
            </a:r>
          </a:p>
        </p:txBody>
      </p:sp>
      <p:sp>
        <p:nvSpPr>
          <p:cNvPr id="1127427" name="Rectangle 3"/>
          <p:cNvSpPr>
            <a:spLocks noGrp="1" noChangeArrowheads="1"/>
          </p:cNvSpPr>
          <p:nvPr>
            <p:ph type="body" idx="1"/>
          </p:nvPr>
        </p:nvSpPr>
        <p:spPr>
          <a:xfrm>
            <a:off x="533400" y="1066800"/>
            <a:ext cx="8153400" cy="3657600"/>
          </a:xfrm>
        </p:spPr>
        <p:txBody>
          <a:bodyPr/>
          <a:lstStyle/>
          <a:p>
            <a:pPr>
              <a:buFontTx/>
              <a:buNone/>
            </a:pPr>
            <a:r>
              <a:rPr lang="en-US" sz="2400"/>
              <a:t>Finally, we can solve for the rms value of the voltage, by taking the square root of both sides,  </a:t>
            </a:r>
          </a:p>
        </p:txBody>
      </p:sp>
      <p:sp>
        <p:nvSpPr>
          <p:cNvPr id="1127428" name="Text Box 4"/>
          <p:cNvSpPr txBox="1">
            <a:spLocks noChangeArrowheads="1"/>
          </p:cNvSpPr>
          <p:nvPr/>
        </p:nvSpPr>
        <p:spPr bwMode="auto">
          <a:xfrm>
            <a:off x="533400" y="3048000"/>
            <a:ext cx="6172200" cy="3416320"/>
          </a:xfrm>
          <a:prstGeom prst="rect">
            <a:avLst/>
          </a:prstGeom>
          <a:noFill/>
          <a:ln w="9525">
            <a:noFill/>
            <a:miter lim="800000"/>
            <a:headEnd/>
            <a:tailEnd/>
          </a:ln>
          <a:effectLst/>
        </p:spPr>
        <p:txBody>
          <a:bodyPr>
            <a:spAutoFit/>
          </a:bodyPr>
          <a:lstStyle/>
          <a:p>
            <a:pPr eaLnBrk="0" hangingPunct="0"/>
            <a:r>
              <a:rPr lang="en-US" dirty="0">
                <a:latin typeface="Arial" charset="0"/>
              </a:rPr>
              <a:t>This is the result that we have been working toward.  We only need to interpret this result.  We have taken the periodic voltage, </a:t>
            </a:r>
            <a:r>
              <a:rPr lang="en-US" i="1" dirty="0">
                <a:cs typeface="Times New Roman" panose="02020603050405020304" pitchFamily="18" charset="0"/>
              </a:rPr>
              <a:t>v(t)</a:t>
            </a:r>
            <a:r>
              <a:rPr lang="en-US" dirty="0">
                <a:latin typeface="Arial" charset="0"/>
              </a:rPr>
              <a:t>, and squared it.  Then, by integrating it over a period and dividing by the period, we are taking the mean value of the squared function.  Finally, we take the square </a:t>
            </a:r>
            <a:r>
              <a:rPr lang="en-US" b="1" dirty="0">
                <a:latin typeface="Arial" charset="0"/>
              </a:rPr>
              <a:t>r</a:t>
            </a:r>
            <a:r>
              <a:rPr lang="en-US" dirty="0">
                <a:latin typeface="Arial" charset="0"/>
              </a:rPr>
              <a:t>oot of the </a:t>
            </a:r>
            <a:r>
              <a:rPr lang="en-US" b="1" dirty="0">
                <a:latin typeface="Arial" charset="0"/>
              </a:rPr>
              <a:t>m</a:t>
            </a:r>
            <a:r>
              <a:rPr lang="en-US" dirty="0">
                <a:latin typeface="Arial" charset="0"/>
              </a:rPr>
              <a:t>ean value of the </a:t>
            </a:r>
            <a:r>
              <a:rPr lang="en-US" b="1" dirty="0">
                <a:latin typeface="Arial" charset="0"/>
              </a:rPr>
              <a:t>s</a:t>
            </a:r>
            <a:r>
              <a:rPr lang="en-US" dirty="0">
                <a:latin typeface="Arial" charset="0"/>
              </a:rPr>
              <a:t>quared function.  We call this </a:t>
            </a:r>
            <a:r>
              <a:rPr lang="en-US" b="1" dirty="0">
                <a:latin typeface="Arial" charset="0"/>
              </a:rPr>
              <a:t>rms</a:t>
            </a:r>
            <a:r>
              <a:rPr lang="en-US" dirty="0">
                <a:latin typeface="Arial" charset="0"/>
              </a:rPr>
              <a:t>.</a:t>
            </a:r>
          </a:p>
        </p:txBody>
      </p:sp>
      <p:graphicFrame>
        <p:nvGraphicFramePr>
          <p:cNvPr id="1127429" name="Object 5"/>
          <p:cNvGraphicFramePr>
            <a:graphicFrameLocks noChangeAspect="1"/>
          </p:cNvGraphicFramePr>
          <p:nvPr/>
        </p:nvGraphicFramePr>
        <p:xfrm>
          <a:off x="685800" y="1981200"/>
          <a:ext cx="3416300" cy="963613"/>
        </p:xfrm>
        <a:graphic>
          <a:graphicData uri="http://schemas.openxmlformats.org/presentationml/2006/ole">
            <mc:AlternateContent xmlns:mc="http://schemas.openxmlformats.org/markup-compatibility/2006">
              <mc:Choice xmlns:v="urn:schemas-microsoft-com:vml" Requires="v">
                <p:oleObj name="Equation" r:id="rId3" imgW="1752480" imgH="495000" progId="Equation.DSMT4">
                  <p:embed/>
                </p:oleObj>
              </mc:Choice>
              <mc:Fallback>
                <p:oleObj name="Equation" r:id="rId3" imgW="1752480" imgH="495000" progId="Equation.DSMT4">
                  <p:embed/>
                  <p:pic>
                    <p:nvPicPr>
                      <p:cNvPr id="112742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981200"/>
                        <a:ext cx="3416300" cy="96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27430" name="Picture 6" descr="E:\Program Files\Microsoft Office\Clipart\standard\stddir1\bd04957_.wmf"/>
          <p:cNvPicPr>
            <a:picLocks noChangeAspect="1" noChangeArrowheads="1"/>
          </p:cNvPicPr>
          <p:nvPr/>
        </p:nvPicPr>
        <p:blipFill>
          <a:blip r:embed="rId5" cstate="print"/>
          <a:srcRect/>
          <a:stretch>
            <a:fillRect/>
          </a:stretch>
        </p:blipFill>
        <p:spPr bwMode="auto">
          <a:xfrm>
            <a:off x="6811963" y="3613150"/>
            <a:ext cx="2332037" cy="324485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482" name="Rectangle 10"/>
          <p:cNvSpPr>
            <a:spLocks noChangeArrowheads="1"/>
          </p:cNvSpPr>
          <p:nvPr/>
        </p:nvSpPr>
        <p:spPr bwMode="auto">
          <a:xfrm>
            <a:off x="533400" y="5334000"/>
            <a:ext cx="1752600" cy="11430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9481" name="Rectangle 9"/>
          <p:cNvSpPr>
            <a:spLocks noChangeArrowheads="1"/>
          </p:cNvSpPr>
          <p:nvPr/>
        </p:nvSpPr>
        <p:spPr bwMode="auto">
          <a:xfrm>
            <a:off x="533400" y="1600200"/>
            <a:ext cx="3886200" cy="11430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29474" name="Rectangle 2"/>
          <p:cNvSpPr>
            <a:spLocks noGrp="1" noChangeArrowheads="1"/>
          </p:cNvSpPr>
          <p:nvPr>
            <p:ph type="title"/>
          </p:nvPr>
        </p:nvSpPr>
        <p:spPr>
          <a:xfrm>
            <a:off x="1371600" y="0"/>
            <a:ext cx="7772400" cy="838200"/>
          </a:xfrm>
        </p:spPr>
        <p:txBody>
          <a:bodyPr/>
          <a:lstStyle/>
          <a:p>
            <a:r>
              <a:rPr lang="en-US"/>
              <a:t>RMS Value of a Sinusoid</a:t>
            </a:r>
          </a:p>
        </p:txBody>
      </p:sp>
      <p:sp>
        <p:nvSpPr>
          <p:cNvPr id="1129475" name="Rectangle 3"/>
          <p:cNvSpPr>
            <a:spLocks noGrp="1" noChangeArrowheads="1"/>
          </p:cNvSpPr>
          <p:nvPr>
            <p:ph type="body" idx="1"/>
          </p:nvPr>
        </p:nvSpPr>
        <p:spPr>
          <a:xfrm>
            <a:off x="533400" y="1066800"/>
            <a:ext cx="8153400" cy="990600"/>
          </a:xfrm>
        </p:spPr>
        <p:txBody>
          <a:bodyPr/>
          <a:lstStyle/>
          <a:p>
            <a:pPr>
              <a:buFontTx/>
              <a:buNone/>
            </a:pPr>
            <a:r>
              <a:rPr lang="en-US" sz="2400" dirty="0"/>
              <a:t>The </a:t>
            </a:r>
            <a:r>
              <a:rPr lang="en-US" sz="2400" dirty="0" err="1"/>
              <a:t>rms</a:t>
            </a:r>
            <a:r>
              <a:rPr lang="en-US" sz="2400" dirty="0"/>
              <a:t> value for a general periodic function, </a:t>
            </a:r>
            <a:r>
              <a:rPr lang="en-US" sz="2400" i="1" dirty="0">
                <a:latin typeface="Times New Roman" panose="02020603050405020304" pitchFamily="18" charset="0"/>
                <a:cs typeface="Times New Roman" panose="02020603050405020304" pitchFamily="18" charset="0"/>
              </a:rPr>
              <a:t>x(t)</a:t>
            </a:r>
            <a:r>
              <a:rPr lang="en-US" sz="2400" dirty="0"/>
              <a:t>, is</a:t>
            </a:r>
          </a:p>
        </p:txBody>
      </p:sp>
      <p:sp>
        <p:nvSpPr>
          <p:cNvPr id="1129476" name="Text Box 4"/>
          <p:cNvSpPr txBox="1">
            <a:spLocks noChangeArrowheads="1"/>
          </p:cNvSpPr>
          <p:nvPr/>
        </p:nvSpPr>
        <p:spPr bwMode="auto">
          <a:xfrm>
            <a:off x="228600" y="3048000"/>
            <a:ext cx="8610600" cy="2282825"/>
          </a:xfrm>
          <a:prstGeom prst="rect">
            <a:avLst/>
          </a:prstGeom>
          <a:noFill/>
          <a:ln w="9525">
            <a:noFill/>
            <a:miter lim="800000"/>
            <a:headEnd/>
            <a:tailEnd/>
          </a:ln>
          <a:effectLst/>
        </p:spPr>
        <p:txBody>
          <a:bodyPr>
            <a:spAutoFit/>
          </a:bodyPr>
          <a:lstStyle/>
          <a:p>
            <a:pPr eaLnBrk="0" hangingPunct="0"/>
            <a:r>
              <a:rPr lang="en-US" dirty="0">
                <a:latin typeface="Arial" charset="0"/>
              </a:rPr>
              <a:t>	Now, this was derived for any periodic function.  The function must be periodic for the formula for the mean value to apply.  </a:t>
            </a:r>
          </a:p>
          <a:p>
            <a:pPr eaLnBrk="0" hangingPunct="0"/>
            <a:r>
              <a:rPr lang="en-US" dirty="0">
                <a:latin typeface="Arial" charset="0"/>
              </a:rPr>
              <a:t>	If we perform the calculus to get the rms value for a sinusoid, we find the rms value is equal to the zero-to-peak value (or amplitude) divided by the square root of 2, or</a:t>
            </a:r>
          </a:p>
        </p:txBody>
      </p:sp>
      <p:graphicFrame>
        <p:nvGraphicFramePr>
          <p:cNvPr id="1129477" name="Object 5"/>
          <p:cNvGraphicFramePr>
            <a:graphicFrameLocks noChangeAspect="1"/>
          </p:cNvGraphicFramePr>
          <p:nvPr/>
        </p:nvGraphicFramePr>
        <p:xfrm>
          <a:off x="663575" y="1676400"/>
          <a:ext cx="3540125" cy="963613"/>
        </p:xfrm>
        <a:graphic>
          <a:graphicData uri="http://schemas.openxmlformats.org/presentationml/2006/ole">
            <mc:AlternateContent xmlns:mc="http://schemas.openxmlformats.org/markup-compatibility/2006">
              <mc:Choice xmlns:v="urn:schemas-microsoft-com:vml" Requires="v">
                <p:oleObj name="Equation" r:id="rId3" imgW="1815840" imgH="495000" progId="Equation.DSMT4">
                  <p:embed/>
                </p:oleObj>
              </mc:Choice>
              <mc:Fallback>
                <p:oleObj name="Equation" r:id="rId3" imgW="1815840" imgH="495000" progId="Equation.DSMT4">
                  <p:embed/>
                  <p:pic>
                    <p:nvPicPr>
                      <p:cNvPr id="112947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575" y="1676400"/>
                        <a:ext cx="3540125" cy="96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9478" name="Object 6"/>
          <p:cNvGraphicFramePr>
            <a:graphicFrameLocks noChangeAspect="1"/>
          </p:cNvGraphicFramePr>
          <p:nvPr/>
        </p:nvGraphicFramePr>
        <p:xfrm>
          <a:off x="609600" y="5410200"/>
          <a:ext cx="1633538" cy="914400"/>
        </p:xfrm>
        <a:graphic>
          <a:graphicData uri="http://schemas.openxmlformats.org/presentationml/2006/ole">
            <mc:AlternateContent xmlns:mc="http://schemas.openxmlformats.org/markup-compatibility/2006">
              <mc:Choice xmlns:v="urn:schemas-microsoft-com:vml" Requires="v">
                <p:oleObj name="Equation" r:id="rId5" imgW="838080" imgH="469800" progId="Equation.DSMT4">
                  <p:embed/>
                </p:oleObj>
              </mc:Choice>
              <mc:Fallback>
                <p:oleObj name="Equation" r:id="rId5" imgW="838080" imgH="469800" progId="Equation.DSMT4">
                  <p:embed/>
                  <p:pic>
                    <p:nvPicPr>
                      <p:cNvPr id="112947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5410200"/>
                        <a:ext cx="163353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9479" name="Text Box 7"/>
          <p:cNvSpPr txBox="1">
            <a:spLocks noChangeArrowheads="1"/>
          </p:cNvSpPr>
          <p:nvPr/>
        </p:nvSpPr>
        <p:spPr bwMode="auto">
          <a:xfrm>
            <a:off x="2971800" y="5410200"/>
            <a:ext cx="5867400" cy="1320800"/>
          </a:xfrm>
          <a:prstGeom prst="rect">
            <a:avLst/>
          </a:prstGeom>
          <a:solidFill>
            <a:schemeClr val="accent1"/>
          </a:solidFill>
          <a:ln w="9525">
            <a:solidFill>
              <a:schemeClr val="tx1"/>
            </a:solidFill>
            <a:miter lim="800000"/>
            <a:headEnd/>
            <a:tailEnd/>
          </a:ln>
          <a:effectLst/>
        </p:spPr>
        <p:txBody>
          <a:bodyPr>
            <a:spAutoFit/>
          </a:bodyPr>
          <a:lstStyle/>
          <a:p>
            <a:pPr eaLnBrk="0" hangingPunct="0"/>
            <a:r>
              <a:rPr lang="en-US" sz="4000" dirty="0"/>
              <a:t>Remember, this only holds for </a:t>
            </a:r>
            <a:r>
              <a:rPr lang="en-US" sz="4000" b="1" dirty="0"/>
              <a:t>sinusoids</a:t>
            </a:r>
            <a:r>
              <a:rPr lang="en-US" sz="4000" dirty="0"/>
              <a:t>!</a:t>
            </a:r>
          </a:p>
        </p:txBody>
      </p:sp>
      <p:sp>
        <p:nvSpPr>
          <p:cNvPr id="1129480" name="Line 8"/>
          <p:cNvSpPr>
            <a:spLocks noChangeShapeType="1"/>
          </p:cNvSpPr>
          <p:nvPr/>
        </p:nvSpPr>
        <p:spPr bwMode="auto">
          <a:xfrm flipH="1">
            <a:off x="2286000" y="5943600"/>
            <a:ext cx="685800" cy="0"/>
          </a:xfrm>
          <a:prstGeom prst="line">
            <a:avLst/>
          </a:prstGeom>
          <a:noFill/>
          <a:ln w="38100">
            <a:solidFill>
              <a:schemeClr val="accent1"/>
            </a:solidFill>
            <a:round/>
            <a:headEnd/>
            <a:tailEnd type="triangle" w="med" len="med"/>
          </a:ln>
          <a:effectLst/>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522" name="Rectangle 2"/>
          <p:cNvSpPr>
            <a:spLocks noGrp="1" noChangeArrowheads="1"/>
          </p:cNvSpPr>
          <p:nvPr>
            <p:ph type="title"/>
          </p:nvPr>
        </p:nvSpPr>
        <p:spPr>
          <a:xfrm>
            <a:off x="2362200" y="0"/>
            <a:ext cx="6781800" cy="838200"/>
          </a:xfrm>
        </p:spPr>
        <p:txBody>
          <a:bodyPr/>
          <a:lstStyle/>
          <a:p>
            <a:r>
              <a:rPr lang="en-US"/>
              <a:t>Power with Sinusoids – 1</a:t>
            </a:r>
          </a:p>
        </p:txBody>
      </p:sp>
      <p:sp>
        <p:nvSpPr>
          <p:cNvPr id="1131523" name="Rectangle 3"/>
          <p:cNvSpPr>
            <a:spLocks noGrp="1" noChangeArrowheads="1"/>
          </p:cNvSpPr>
          <p:nvPr>
            <p:ph type="body" idx="1"/>
          </p:nvPr>
        </p:nvSpPr>
        <p:spPr>
          <a:xfrm>
            <a:off x="304800" y="762000"/>
            <a:ext cx="8534400" cy="1219200"/>
          </a:xfrm>
        </p:spPr>
        <p:txBody>
          <a:bodyPr/>
          <a:lstStyle/>
          <a:p>
            <a:pPr marL="0" indent="223838">
              <a:lnSpc>
                <a:spcPct val="90000"/>
              </a:lnSpc>
              <a:buFontTx/>
              <a:buNone/>
            </a:pPr>
            <a:r>
              <a:rPr lang="en-US" sz="1900" dirty="0"/>
              <a:t>If we have sinusoidal voltages and currents, we can get the power by multiplying the two.  We could plot the power as shown below.  These curves were obtained by taking a couple of arbitrary sinusoids for voltage and current.  If you change the magnitudes and phases, these curves will change.</a:t>
            </a:r>
          </a:p>
        </p:txBody>
      </p:sp>
      <p:graphicFrame>
        <p:nvGraphicFramePr>
          <p:cNvPr id="1131524" name="Object 4"/>
          <p:cNvGraphicFramePr>
            <a:graphicFrameLocks noChangeAspect="1"/>
          </p:cNvGraphicFramePr>
          <p:nvPr/>
        </p:nvGraphicFramePr>
        <p:xfrm>
          <a:off x="457200" y="2133600"/>
          <a:ext cx="8296275" cy="4724400"/>
        </p:xfrm>
        <a:graphic>
          <a:graphicData uri="http://schemas.openxmlformats.org/presentationml/2006/ole">
            <mc:AlternateContent xmlns:mc="http://schemas.openxmlformats.org/markup-compatibility/2006">
              <mc:Choice xmlns:v="urn:schemas-microsoft-com:vml" Requires="v">
                <p:oleObj name="Chart" r:id="rId3" imgW="8296656" imgH="5658307" progId="Excel.Chart.8">
                  <p:embed/>
                </p:oleObj>
              </mc:Choice>
              <mc:Fallback>
                <p:oleObj name="Chart" r:id="rId3" imgW="8296656" imgH="5658307" progId="Excel.Chart.8">
                  <p:embed/>
                  <p:pic>
                    <p:nvPicPr>
                      <p:cNvPr id="11315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133600"/>
                        <a:ext cx="8296275" cy="4724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362200" y="0"/>
            <a:ext cx="6781800" cy="838200"/>
          </a:xfrm>
        </p:spPr>
        <p:txBody>
          <a:bodyPr/>
          <a:lstStyle/>
          <a:p>
            <a:r>
              <a:rPr lang="en-US" sz="3600" dirty="0"/>
              <a:t>Three-Phase Power Distribution</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Content Placeholder 9">
            <a:extLst>
              <a:ext uri="{FF2B5EF4-FFF2-40B4-BE49-F238E27FC236}">
                <a16:creationId xmlns:a16="http://schemas.microsoft.com/office/drawing/2014/main" id="{A28F9DCB-4587-4CC1-9B51-6FC556284260}"/>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bwMode="auto">
          <a:xfrm>
            <a:off x="5620055" y="838200"/>
            <a:ext cx="3260327" cy="386286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995B099-3C47-4CE3-818C-83A86E4185BA}"/>
              </a:ext>
            </a:extLst>
          </p:cNvPr>
          <p:cNvSpPr txBox="1"/>
          <p:nvPr/>
        </p:nvSpPr>
        <p:spPr>
          <a:xfrm>
            <a:off x="369012" y="924634"/>
            <a:ext cx="4202987" cy="3416320"/>
          </a:xfrm>
          <a:prstGeom prst="rect">
            <a:avLst/>
          </a:prstGeom>
          <a:noFill/>
        </p:spPr>
        <p:txBody>
          <a:bodyPr wrap="square" rtlCol="0">
            <a:spAutoFit/>
          </a:bodyPr>
          <a:lstStyle/>
          <a:p>
            <a:r>
              <a:rPr lang="en-US" dirty="0">
                <a:latin typeface="+mn-lt"/>
              </a:rPr>
              <a:t>We return to this diagram taken from the textbook at right, to talk about how we get the three-phase voltage sources that we will be using moving forward.  This generator forms the “Three-phase voltage source” in the diagram below.  </a:t>
            </a:r>
          </a:p>
        </p:txBody>
      </p:sp>
      <p:pic>
        <p:nvPicPr>
          <p:cNvPr id="9" name="Picture Placeholder 5" descr="The figure illustrates a basic three-phase circuit.&#10;Long description is available in notes, Press F6.">
            <a:extLst>
              <a:ext uri="{FF2B5EF4-FFF2-40B4-BE49-F238E27FC236}">
                <a16:creationId xmlns:a16="http://schemas.microsoft.com/office/drawing/2014/main" id="{858228BC-2337-4DAA-9954-D9E31B3F89B0}"/>
              </a:ext>
            </a:extLst>
          </p:cNvPr>
          <p:cNvPicPr>
            <a:picLocks noChangeAspect="1"/>
          </p:cNvPicPr>
          <p:nvPr/>
        </p:nvPicPr>
        <p:blipFill>
          <a:blip r:embed="rId6"/>
          <a:stretch>
            <a:fillRect/>
          </a:stretch>
        </p:blipFill>
        <p:spPr>
          <a:xfrm>
            <a:off x="334681" y="4343400"/>
            <a:ext cx="5244538" cy="2190674"/>
          </a:xfrm>
          <a:prstGeom prst="rect">
            <a:avLst/>
          </a:prstGeom>
        </p:spPr>
      </p:pic>
      <p:sp>
        <p:nvSpPr>
          <p:cNvPr id="2" name="TextBox 1">
            <a:extLst>
              <a:ext uri="{FF2B5EF4-FFF2-40B4-BE49-F238E27FC236}">
                <a16:creationId xmlns:a16="http://schemas.microsoft.com/office/drawing/2014/main" id="{6B93E953-D4C3-470A-BC0D-3FF098AEADD6}"/>
              </a:ext>
            </a:extLst>
          </p:cNvPr>
          <p:cNvSpPr txBox="1"/>
          <p:nvPr/>
        </p:nvSpPr>
        <p:spPr>
          <a:xfrm>
            <a:off x="5774504" y="5029200"/>
            <a:ext cx="3105878" cy="1477328"/>
          </a:xfrm>
          <a:prstGeom prst="rect">
            <a:avLst/>
          </a:prstGeom>
          <a:solidFill>
            <a:schemeClr val="accent1"/>
          </a:solidFill>
          <a:ln w="9525">
            <a:solidFill>
              <a:schemeClr val="tx1"/>
            </a:solidFill>
            <a:miter lim="800000"/>
            <a:headEnd/>
            <a:tailEnd/>
          </a:ln>
          <a:effectLst/>
        </p:spPr>
        <p:txBody>
          <a:bodyPr>
            <a:spAutoFit/>
          </a:bodyPr>
          <a:lstStyle>
            <a:defPPr>
              <a:defRPr lang="en-US"/>
            </a:defPPr>
            <a:lvl1pPr eaLnBrk="0" hangingPunct="0">
              <a:defRPr sz="4000"/>
            </a:lvl1pPr>
          </a:lstStyle>
          <a:p>
            <a:r>
              <a:rPr lang="en-US" sz="1800" dirty="0">
                <a:latin typeface="+mn-lt"/>
              </a:rPr>
              <a:t>The diagram above is Figure 11.3 in the Nilsson and Reidel textbook, 12th  Ed.  The diagram at left is Figure 11.1 from that textbook.  </a:t>
            </a:r>
          </a:p>
        </p:txBody>
      </p:sp>
    </p:spTree>
    <p:extLst>
      <p:ext uri="{BB962C8B-B14F-4D97-AF65-F5344CB8AC3E}">
        <p14:creationId xmlns:p14="http://schemas.microsoft.com/office/powerpoint/2010/main" val="298472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362200" y="0"/>
            <a:ext cx="6781800" cy="838200"/>
          </a:xfrm>
        </p:spPr>
        <p:txBody>
          <a:bodyPr/>
          <a:lstStyle/>
          <a:p>
            <a:r>
              <a:rPr lang="en-US" sz="3600" dirty="0"/>
              <a:t>Three-Phase Power Distribution</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Content Placeholder 9">
            <a:extLst>
              <a:ext uri="{FF2B5EF4-FFF2-40B4-BE49-F238E27FC236}">
                <a16:creationId xmlns:a16="http://schemas.microsoft.com/office/drawing/2014/main" id="{A28F9DCB-4587-4CC1-9B51-6FC556284260}"/>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bwMode="auto">
          <a:xfrm>
            <a:off x="5620055" y="838200"/>
            <a:ext cx="3260327" cy="386286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995B099-3C47-4CE3-818C-83A86E4185BA}"/>
              </a:ext>
            </a:extLst>
          </p:cNvPr>
          <p:cNvSpPr txBox="1"/>
          <p:nvPr/>
        </p:nvSpPr>
        <p:spPr>
          <a:xfrm>
            <a:off x="369012" y="924634"/>
            <a:ext cx="4202987" cy="1569660"/>
          </a:xfrm>
          <a:prstGeom prst="rect">
            <a:avLst/>
          </a:prstGeom>
          <a:noFill/>
        </p:spPr>
        <p:txBody>
          <a:bodyPr wrap="square" rtlCol="0">
            <a:spAutoFit/>
          </a:bodyPr>
          <a:lstStyle/>
          <a:p>
            <a:r>
              <a:rPr lang="en-US" dirty="0">
                <a:latin typeface="+mn-lt"/>
              </a:rPr>
              <a:t>This generator can be modeled as the three voltage sources in the diagram below.  </a:t>
            </a:r>
          </a:p>
        </p:txBody>
      </p:sp>
      <p:sp>
        <p:nvSpPr>
          <p:cNvPr id="2" name="TextBox 1">
            <a:extLst>
              <a:ext uri="{FF2B5EF4-FFF2-40B4-BE49-F238E27FC236}">
                <a16:creationId xmlns:a16="http://schemas.microsoft.com/office/drawing/2014/main" id="{6B93E953-D4C3-470A-BC0D-3FF098AEADD6}"/>
              </a:ext>
            </a:extLst>
          </p:cNvPr>
          <p:cNvSpPr txBox="1"/>
          <p:nvPr/>
        </p:nvSpPr>
        <p:spPr>
          <a:xfrm>
            <a:off x="5774504" y="5029200"/>
            <a:ext cx="3105878" cy="1477328"/>
          </a:xfrm>
          <a:prstGeom prst="rect">
            <a:avLst/>
          </a:prstGeom>
          <a:solidFill>
            <a:schemeClr val="accent1"/>
          </a:solidFill>
          <a:ln w="9525">
            <a:solidFill>
              <a:schemeClr val="tx1"/>
            </a:solidFill>
            <a:miter lim="800000"/>
            <a:headEnd/>
            <a:tailEnd/>
          </a:ln>
          <a:effectLst/>
        </p:spPr>
        <p:txBody>
          <a:bodyPr>
            <a:spAutoFit/>
          </a:bodyPr>
          <a:lstStyle>
            <a:defPPr>
              <a:defRPr lang="en-US"/>
            </a:defPPr>
            <a:lvl1pPr eaLnBrk="0" hangingPunct="0">
              <a:defRPr sz="1800">
                <a:latin typeface="+mn-lt"/>
              </a:defRPr>
            </a:lvl1pPr>
          </a:lstStyle>
          <a:p>
            <a:r>
              <a:rPr lang="en-US" dirty="0"/>
              <a:t>The diagram above is Figure 11.3 in the Nilsson and Reidel textbook, 12</a:t>
            </a:r>
            <a:r>
              <a:rPr lang="en-US" baseline="30000" dirty="0"/>
              <a:t>th</a:t>
            </a:r>
            <a:r>
              <a:rPr lang="en-US" dirty="0"/>
              <a:t>  Ed.  The diagram at left is Figure 11.4(a) from that textbook.  </a:t>
            </a:r>
          </a:p>
        </p:txBody>
      </p:sp>
      <p:pic>
        <p:nvPicPr>
          <p:cNvPr id="11" name="Picture Placeholder 6" descr="The figure (&quot;a&quot;) that illustrate a Y-connected source and a Delta-connected source.&#10;Long description is available in notes, Press F6.">
            <a:extLst>
              <a:ext uri="{FF2B5EF4-FFF2-40B4-BE49-F238E27FC236}">
                <a16:creationId xmlns:a16="http://schemas.microsoft.com/office/drawing/2014/main" id="{6F2A2C7F-472E-4B1C-8515-B1DF7A709F97}"/>
              </a:ext>
            </a:extLst>
          </p:cNvPr>
          <p:cNvPicPr>
            <a:picLocks noChangeAspect="1"/>
          </p:cNvPicPr>
          <p:nvPr/>
        </p:nvPicPr>
        <p:blipFill rotWithShape="1">
          <a:blip r:embed="rId6"/>
          <a:srcRect b="50896"/>
          <a:stretch/>
        </p:blipFill>
        <p:spPr>
          <a:xfrm>
            <a:off x="326119" y="2459629"/>
            <a:ext cx="3941081" cy="4087231"/>
          </a:xfrm>
          <a:prstGeom prst="rect">
            <a:avLst/>
          </a:prstGeom>
        </p:spPr>
      </p:pic>
    </p:spTree>
    <p:extLst>
      <p:ext uri="{BB962C8B-B14F-4D97-AF65-F5344CB8AC3E}">
        <p14:creationId xmlns:p14="http://schemas.microsoft.com/office/powerpoint/2010/main" val="1406676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362200" y="0"/>
            <a:ext cx="6781800" cy="838200"/>
          </a:xfrm>
        </p:spPr>
        <p:txBody>
          <a:bodyPr/>
          <a:lstStyle/>
          <a:p>
            <a:r>
              <a:rPr lang="en-US" sz="3600" dirty="0"/>
              <a:t>Three-Phase Power Distribution</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Content Placeholder 9">
            <a:extLst>
              <a:ext uri="{FF2B5EF4-FFF2-40B4-BE49-F238E27FC236}">
                <a16:creationId xmlns:a16="http://schemas.microsoft.com/office/drawing/2014/main" id="{A28F9DCB-4587-4CC1-9B51-6FC556284260}"/>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bwMode="auto">
          <a:xfrm>
            <a:off x="5620055" y="838200"/>
            <a:ext cx="3260327" cy="386286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995B099-3C47-4CE3-818C-83A86E4185BA}"/>
              </a:ext>
            </a:extLst>
          </p:cNvPr>
          <p:cNvSpPr txBox="1"/>
          <p:nvPr/>
        </p:nvSpPr>
        <p:spPr>
          <a:xfrm>
            <a:off x="369012" y="924634"/>
            <a:ext cx="4202987" cy="1569660"/>
          </a:xfrm>
          <a:prstGeom prst="rect">
            <a:avLst/>
          </a:prstGeom>
          <a:noFill/>
        </p:spPr>
        <p:txBody>
          <a:bodyPr wrap="square" rtlCol="0">
            <a:spAutoFit/>
          </a:bodyPr>
          <a:lstStyle/>
          <a:p>
            <a:r>
              <a:rPr lang="en-US" dirty="0">
                <a:latin typeface="+mn-lt"/>
              </a:rPr>
              <a:t>This generator can also be modeled as the three voltage sources in delta-connected diagram below.  </a:t>
            </a:r>
          </a:p>
        </p:txBody>
      </p:sp>
      <p:sp>
        <p:nvSpPr>
          <p:cNvPr id="2" name="TextBox 1">
            <a:extLst>
              <a:ext uri="{FF2B5EF4-FFF2-40B4-BE49-F238E27FC236}">
                <a16:creationId xmlns:a16="http://schemas.microsoft.com/office/drawing/2014/main" id="{6B93E953-D4C3-470A-BC0D-3FF098AEADD6}"/>
              </a:ext>
            </a:extLst>
          </p:cNvPr>
          <p:cNvSpPr txBox="1"/>
          <p:nvPr/>
        </p:nvSpPr>
        <p:spPr>
          <a:xfrm>
            <a:off x="5774504" y="5029200"/>
            <a:ext cx="3105878" cy="1477328"/>
          </a:xfrm>
          <a:prstGeom prst="rect">
            <a:avLst/>
          </a:prstGeom>
          <a:solidFill>
            <a:schemeClr val="accent1"/>
          </a:solidFill>
          <a:ln w="9525">
            <a:solidFill>
              <a:schemeClr val="tx1"/>
            </a:solidFill>
            <a:miter lim="800000"/>
            <a:headEnd/>
            <a:tailEnd/>
          </a:ln>
          <a:effectLst/>
        </p:spPr>
        <p:txBody>
          <a:bodyPr>
            <a:spAutoFit/>
          </a:bodyPr>
          <a:lstStyle>
            <a:defPPr>
              <a:defRPr lang="en-US"/>
            </a:defPPr>
            <a:lvl1pPr eaLnBrk="0" hangingPunct="0">
              <a:defRPr sz="1800">
                <a:latin typeface="+mn-lt"/>
              </a:defRPr>
            </a:lvl1pPr>
          </a:lstStyle>
          <a:p>
            <a:r>
              <a:rPr lang="en-US" dirty="0"/>
              <a:t>The diagram above is Figure 11.3 in the Nilsson and Reidel textbook, 12</a:t>
            </a:r>
            <a:r>
              <a:rPr lang="en-US" baseline="30000" dirty="0"/>
              <a:t>th</a:t>
            </a:r>
            <a:r>
              <a:rPr lang="en-US" dirty="0"/>
              <a:t>  Ed.  The diagram at left is Figure 11.4(b) from that textbook.  </a:t>
            </a:r>
          </a:p>
        </p:txBody>
      </p:sp>
      <p:pic>
        <p:nvPicPr>
          <p:cNvPr id="13" name="Picture Placeholder 6" descr="The figure (b) that illustrate a Y-connected source and a Delta-connected source.&#10;Long description is available in notes, Press F6.">
            <a:extLst>
              <a:ext uri="{FF2B5EF4-FFF2-40B4-BE49-F238E27FC236}">
                <a16:creationId xmlns:a16="http://schemas.microsoft.com/office/drawing/2014/main" id="{E7B51CAC-8C30-4DEF-9D66-06D8191D220E}"/>
              </a:ext>
            </a:extLst>
          </p:cNvPr>
          <p:cNvPicPr>
            <a:picLocks noChangeAspect="1"/>
          </p:cNvPicPr>
          <p:nvPr/>
        </p:nvPicPr>
        <p:blipFill rotWithShape="1">
          <a:blip r:embed="rId6"/>
          <a:srcRect t="50737"/>
          <a:stretch/>
        </p:blipFill>
        <p:spPr>
          <a:xfrm>
            <a:off x="325203" y="2445355"/>
            <a:ext cx="4018197" cy="4180740"/>
          </a:xfrm>
          <a:prstGeom prst="rect">
            <a:avLst/>
          </a:prstGeom>
        </p:spPr>
      </p:pic>
    </p:spTree>
    <p:extLst>
      <p:ext uri="{BB962C8B-B14F-4D97-AF65-F5344CB8AC3E}">
        <p14:creationId xmlns:p14="http://schemas.microsoft.com/office/powerpoint/2010/main" val="4131167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362200" y="0"/>
            <a:ext cx="6340072" cy="838200"/>
          </a:xfrm>
        </p:spPr>
        <p:txBody>
          <a:bodyPr/>
          <a:lstStyle/>
          <a:p>
            <a:r>
              <a:rPr lang="en-US" sz="3600" dirty="0"/>
              <a:t>Two Models for the Generator</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8995B099-3C47-4CE3-818C-83A86E4185BA}"/>
              </a:ext>
            </a:extLst>
          </p:cNvPr>
          <p:cNvSpPr txBox="1"/>
          <p:nvPr/>
        </p:nvSpPr>
        <p:spPr>
          <a:xfrm>
            <a:off x="288594" y="5052785"/>
            <a:ext cx="5883606" cy="1569660"/>
          </a:xfrm>
          <a:prstGeom prst="rect">
            <a:avLst/>
          </a:prstGeom>
          <a:noFill/>
        </p:spPr>
        <p:txBody>
          <a:bodyPr wrap="square" rtlCol="0">
            <a:spAutoFit/>
          </a:bodyPr>
          <a:lstStyle/>
          <a:p>
            <a:r>
              <a:rPr lang="en-US" dirty="0">
                <a:latin typeface="+mn-lt"/>
              </a:rPr>
              <a:t>Let us compare the Y-connected source in (a) and the </a:t>
            </a:r>
            <a:r>
              <a:rPr lang="en-US" dirty="0">
                <a:latin typeface="Symbol" panose="05050102010706020507" pitchFamily="18" charset="2"/>
              </a:rPr>
              <a:t>D</a:t>
            </a:r>
            <a:r>
              <a:rPr lang="en-US" dirty="0">
                <a:latin typeface="+mn-lt"/>
              </a:rPr>
              <a:t>-connected source in (b).  We should note that </a:t>
            </a:r>
            <a:r>
              <a:rPr lang="en-US" b="1" i="1" dirty="0">
                <a:cs typeface="Times New Roman" panose="02020603050405020304" pitchFamily="18" charset="0"/>
              </a:rPr>
              <a:t>V</a:t>
            </a:r>
            <a:r>
              <a:rPr lang="en-US" i="1" baseline="-25000" dirty="0">
                <a:cs typeface="Times New Roman" panose="02020603050405020304" pitchFamily="18" charset="0"/>
              </a:rPr>
              <a:t>a</a:t>
            </a:r>
            <a:r>
              <a:rPr lang="en-US" dirty="0">
                <a:latin typeface="+mn-lt"/>
              </a:rPr>
              <a:t> in the two diagrams are not the same voltage.  </a:t>
            </a:r>
          </a:p>
        </p:txBody>
      </p:sp>
      <p:sp>
        <p:nvSpPr>
          <p:cNvPr id="2" name="TextBox 1">
            <a:extLst>
              <a:ext uri="{FF2B5EF4-FFF2-40B4-BE49-F238E27FC236}">
                <a16:creationId xmlns:a16="http://schemas.microsoft.com/office/drawing/2014/main" id="{6B93E953-D4C3-470A-BC0D-3FF098AEADD6}"/>
              </a:ext>
            </a:extLst>
          </p:cNvPr>
          <p:cNvSpPr txBox="1"/>
          <p:nvPr/>
        </p:nvSpPr>
        <p:spPr>
          <a:xfrm>
            <a:off x="6297506" y="5293868"/>
            <a:ext cx="2720511" cy="1200329"/>
          </a:xfrm>
          <a:prstGeom prst="rect">
            <a:avLst/>
          </a:prstGeom>
          <a:solidFill>
            <a:schemeClr val="accent1"/>
          </a:solidFill>
          <a:ln w="9525">
            <a:solidFill>
              <a:schemeClr val="tx1"/>
            </a:solidFill>
            <a:miter lim="800000"/>
            <a:headEnd/>
            <a:tailEnd/>
          </a:ln>
          <a:effectLst/>
        </p:spPr>
        <p:txBody>
          <a:bodyPr>
            <a:spAutoFit/>
          </a:bodyPr>
          <a:lstStyle>
            <a:defPPr>
              <a:defRPr lang="en-US"/>
            </a:defPPr>
            <a:lvl1pPr eaLnBrk="0" hangingPunct="0">
              <a:defRPr sz="1800">
                <a:latin typeface="+mn-lt"/>
              </a:defRPr>
            </a:lvl1pPr>
          </a:lstStyle>
          <a:p>
            <a:r>
              <a:rPr lang="en-US" dirty="0"/>
              <a:t>The diagrams are Figure 11.4 in the Nilsson and Reidel textbook, 12</a:t>
            </a:r>
            <a:r>
              <a:rPr lang="en-US" baseline="30000" dirty="0"/>
              <a:t>th</a:t>
            </a:r>
            <a:r>
              <a:rPr lang="en-US" dirty="0"/>
              <a:t>   Ed.  </a:t>
            </a:r>
          </a:p>
        </p:txBody>
      </p:sp>
      <p:pic>
        <p:nvPicPr>
          <p:cNvPr id="13" name="Picture Placeholder 6" descr="The figure (b) that illustrate a Y-connected source and a Delta-connected source.&#10;Long description is available in notes, Press F6.">
            <a:extLst>
              <a:ext uri="{FF2B5EF4-FFF2-40B4-BE49-F238E27FC236}">
                <a16:creationId xmlns:a16="http://schemas.microsoft.com/office/drawing/2014/main" id="{E7B51CAC-8C30-4DEF-9D66-06D8191D220E}"/>
              </a:ext>
            </a:extLst>
          </p:cNvPr>
          <p:cNvPicPr>
            <a:picLocks noChangeAspect="1"/>
          </p:cNvPicPr>
          <p:nvPr/>
        </p:nvPicPr>
        <p:blipFill rotWithShape="1">
          <a:blip r:embed="rId5"/>
          <a:srcRect t="50737"/>
          <a:stretch/>
        </p:blipFill>
        <p:spPr>
          <a:xfrm>
            <a:off x="5028467" y="963967"/>
            <a:ext cx="3673805" cy="3822417"/>
          </a:xfrm>
          <a:prstGeom prst="rect">
            <a:avLst/>
          </a:prstGeom>
        </p:spPr>
      </p:pic>
      <p:pic>
        <p:nvPicPr>
          <p:cNvPr id="11" name="Picture Placeholder 6" descr="The figure (&quot;a&quot;) that illustrate a Y-connected source and a Delta-connected source.&#10;Long description is available in notes, Press F6.">
            <a:extLst>
              <a:ext uri="{FF2B5EF4-FFF2-40B4-BE49-F238E27FC236}">
                <a16:creationId xmlns:a16="http://schemas.microsoft.com/office/drawing/2014/main" id="{3FCC4CF1-E6D1-460B-A596-11365D71254E}"/>
              </a:ext>
            </a:extLst>
          </p:cNvPr>
          <p:cNvPicPr>
            <a:picLocks noGrp="1" noChangeAspect="1"/>
          </p:cNvPicPr>
          <p:nvPr>
            <p:ph idx="1"/>
          </p:nvPr>
        </p:nvPicPr>
        <p:blipFill rotWithShape="1">
          <a:blip r:embed="rId5"/>
          <a:srcRect b="50896"/>
          <a:stretch/>
        </p:blipFill>
        <p:spPr>
          <a:xfrm>
            <a:off x="288594" y="969054"/>
            <a:ext cx="3673805" cy="3810075"/>
          </a:xfrm>
          <a:prstGeom prst="rect">
            <a:avLst/>
          </a:prstGeom>
        </p:spPr>
      </p:pic>
    </p:spTree>
    <p:extLst>
      <p:ext uri="{BB962C8B-B14F-4D97-AF65-F5344CB8AC3E}">
        <p14:creationId xmlns:p14="http://schemas.microsoft.com/office/powerpoint/2010/main" val="1548095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379177" y="76200"/>
            <a:ext cx="6340072" cy="838200"/>
          </a:xfrm>
        </p:spPr>
        <p:txBody>
          <a:bodyPr/>
          <a:lstStyle/>
          <a:p>
            <a:r>
              <a:rPr lang="en-US" sz="2400" dirty="0"/>
              <a:t>Two More Complicated Models for the Generator</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8995B099-3C47-4CE3-818C-83A86E4185BA}"/>
              </a:ext>
            </a:extLst>
          </p:cNvPr>
          <p:cNvSpPr txBox="1"/>
          <p:nvPr/>
        </p:nvSpPr>
        <p:spPr>
          <a:xfrm>
            <a:off x="312678" y="5495835"/>
            <a:ext cx="5461826" cy="1200329"/>
          </a:xfrm>
          <a:prstGeom prst="rect">
            <a:avLst/>
          </a:prstGeom>
          <a:noFill/>
        </p:spPr>
        <p:txBody>
          <a:bodyPr wrap="square" rtlCol="0">
            <a:spAutoFit/>
          </a:bodyPr>
          <a:lstStyle/>
          <a:p>
            <a:r>
              <a:rPr lang="en-US" dirty="0">
                <a:latin typeface="+mn-lt"/>
              </a:rPr>
              <a:t>These diagrams include the winding impedances, assuming a balanced circuit.</a:t>
            </a:r>
          </a:p>
        </p:txBody>
      </p:sp>
      <p:sp>
        <p:nvSpPr>
          <p:cNvPr id="2" name="TextBox 1">
            <a:extLst>
              <a:ext uri="{FF2B5EF4-FFF2-40B4-BE49-F238E27FC236}">
                <a16:creationId xmlns:a16="http://schemas.microsoft.com/office/drawing/2014/main" id="{6B93E953-D4C3-470A-BC0D-3FF098AEADD6}"/>
              </a:ext>
            </a:extLst>
          </p:cNvPr>
          <p:cNvSpPr txBox="1"/>
          <p:nvPr/>
        </p:nvSpPr>
        <p:spPr>
          <a:xfrm>
            <a:off x="5943600" y="5736808"/>
            <a:ext cx="2998217" cy="923330"/>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diagrams are Figure 11.5 in the Nilsson and Reidel textbook, 12</a:t>
            </a:r>
            <a:r>
              <a:rPr lang="en-US" baseline="30000" dirty="0"/>
              <a:t>th</a:t>
            </a:r>
            <a:r>
              <a:rPr lang="en-US" dirty="0"/>
              <a:t>   Ed.  </a:t>
            </a:r>
          </a:p>
        </p:txBody>
      </p:sp>
      <p:pic>
        <p:nvPicPr>
          <p:cNvPr id="14" name="Picture Placeholder 5" descr="The figure (&quot;a&quot;) that illustrate a three-phase Y-connected source and a Delta-connected source.&#10;Long description is available in notes, Press F6.">
            <a:extLst>
              <a:ext uri="{FF2B5EF4-FFF2-40B4-BE49-F238E27FC236}">
                <a16:creationId xmlns:a16="http://schemas.microsoft.com/office/drawing/2014/main" id="{976B70C6-A79F-4C1E-99F5-7D61554BB0B0}"/>
              </a:ext>
            </a:extLst>
          </p:cNvPr>
          <p:cNvPicPr>
            <a:picLocks noChangeAspect="1"/>
          </p:cNvPicPr>
          <p:nvPr/>
        </p:nvPicPr>
        <p:blipFill rotWithShape="1">
          <a:blip r:embed="rId5"/>
          <a:srcRect b="52362"/>
          <a:stretch/>
        </p:blipFill>
        <p:spPr>
          <a:xfrm>
            <a:off x="125983" y="844059"/>
            <a:ext cx="4506389" cy="4642925"/>
          </a:xfrm>
          <a:prstGeom prst="rect">
            <a:avLst/>
          </a:prstGeom>
        </p:spPr>
      </p:pic>
      <p:pic>
        <p:nvPicPr>
          <p:cNvPr id="15" name="Picture Placeholder 5" descr="The figure (b) that illustrate a three-phase Y-connected source and a Delta-connected source.&#10;Long description is available in notes, Press F6.">
            <a:extLst>
              <a:ext uri="{FF2B5EF4-FFF2-40B4-BE49-F238E27FC236}">
                <a16:creationId xmlns:a16="http://schemas.microsoft.com/office/drawing/2014/main" id="{3581B0B0-34F8-455C-9E16-60B076879934}"/>
              </a:ext>
            </a:extLst>
          </p:cNvPr>
          <p:cNvPicPr>
            <a:picLocks noChangeAspect="1"/>
          </p:cNvPicPr>
          <p:nvPr/>
        </p:nvPicPr>
        <p:blipFill rotWithShape="1">
          <a:blip r:embed="rId5"/>
          <a:srcRect t="51636"/>
          <a:stretch/>
        </p:blipFill>
        <p:spPr>
          <a:xfrm>
            <a:off x="4615248" y="838200"/>
            <a:ext cx="4443771" cy="4648199"/>
          </a:xfrm>
          <a:prstGeom prst="rect">
            <a:avLst/>
          </a:prstGeom>
        </p:spPr>
      </p:pic>
    </p:spTree>
    <p:extLst>
      <p:ext uri="{BB962C8B-B14F-4D97-AF65-F5344CB8AC3E}">
        <p14:creationId xmlns:p14="http://schemas.microsoft.com/office/powerpoint/2010/main" val="3405296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379177" y="76200"/>
            <a:ext cx="6340072" cy="838200"/>
          </a:xfrm>
        </p:spPr>
        <p:txBody>
          <a:bodyPr/>
          <a:lstStyle/>
          <a:p>
            <a:r>
              <a:rPr lang="en-US" sz="3200" dirty="0"/>
              <a:t>A Three Phase Y-Y System</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8995B099-3C47-4CE3-818C-83A86E4185BA}"/>
              </a:ext>
            </a:extLst>
          </p:cNvPr>
          <p:cNvSpPr txBox="1"/>
          <p:nvPr/>
        </p:nvSpPr>
        <p:spPr>
          <a:xfrm>
            <a:off x="312678" y="5495835"/>
            <a:ext cx="5461826" cy="1200329"/>
          </a:xfrm>
          <a:prstGeom prst="rect">
            <a:avLst/>
          </a:prstGeom>
          <a:noFill/>
        </p:spPr>
        <p:txBody>
          <a:bodyPr wrap="square" rtlCol="0">
            <a:spAutoFit/>
          </a:bodyPr>
          <a:lstStyle/>
          <a:p>
            <a:r>
              <a:rPr lang="en-US" dirty="0">
                <a:latin typeface="+mn-lt"/>
              </a:rPr>
              <a:t>We will use this diagram to consider the Three-Phase circuit, with source and load both in the Y-configuration.</a:t>
            </a:r>
          </a:p>
        </p:txBody>
      </p:sp>
      <p:sp>
        <p:nvSpPr>
          <p:cNvPr id="2" name="TextBox 1">
            <a:extLst>
              <a:ext uri="{FF2B5EF4-FFF2-40B4-BE49-F238E27FC236}">
                <a16:creationId xmlns:a16="http://schemas.microsoft.com/office/drawing/2014/main" id="{6B93E953-D4C3-470A-BC0D-3FF098AEADD6}"/>
              </a:ext>
            </a:extLst>
          </p:cNvPr>
          <p:cNvSpPr txBox="1"/>
          <p:nvPr/>
        </p:nvSpPr>
        <p:spPr>
          <a:xfrm>
            <a:off x="5943600" y="5736808"/>
            <a:ext cx="2998217" cy="923330"/>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a:t>
            </a:r>
          </a:p>
        </p:txBody>
      </p:sp>
      <p:pic>
        <p:nvPicPr>
          <p:cNvPr id="10" name="Picture Placeholder 6" descr="The figure illustrates a three-phase Y-Y system.&#10;Long description is available in notes, Press F6.">
            <a:extLst>
              <a:ext uri="{FF2B5EF4-FFF2-40B4-BE49-F238E27FC236}">
                <a16:creationId xmlns:a16="http://schemas.microsoft.com/office/drawing/2014/main" id="{DED6F2D7-0D44-4879-840F-328AA0E8F7F5}"/>
              </a:ext>
            </a:extLst>
          </p:cNvPr>
          <p:cNvPicPr>
            <a:picLocks noChangeAspect="1"/>
          </p:cNvPicPr>
          <p:nvPr/>
        </p:nvPicPr>
        <p:blipFill>
          <a:blip r:embed="rId5"/>
          <a:stretch>
            <a:fillRect/>
          </a:stretch>
        </p:blipFill>
        <p:spPr>
          <a:xfrm>
            <a:off x="700807" y="924871"/>
            <a:ext cx="7742386" cy="4560493"/>
          </a:xfrm>
          <a:prstGeom prst="rect">
            <a:avLst/>
          </a:prstGeom>
        </p:spPr>
      </p:pic>
    </p:spTree>
    <p:extLst>
      <p:ext uri="{BB962C8B-B14F-4D97-AF65-F5344CB8AC3E}">
        <p14:creationId xmlns:p14="http://schemas.microsoft.com/office/powerpoint/2010/main" val="1857486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50" name="Rectangle 6"/>
          <p:cNvSpPr>
            <a:spLocks noChangeArrowheads="1"/>
          </p:cNvSpPr>
          <p:nvPr/>
        </p:nvSpPr>
        <p:spPr bwMode="auto">
          <a:xfrm>
            <a:off x="5638800" y="4953000"/>
            <a:ext cx="3124200" cy="19050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58146" name="Rectangle 2"/>
          <p:cNvSpPr>
            <a:spLocks noGrp="1" noChangeArrowheads="1"/>
          </p:cNvSpPr>
          <p:nvPr>
            <p:ph type="title"/>
          </p:nvPr>
        </p:nvSpPr>
        <p:spPr>
          <a:xfrm>
            <a:off x="2438400" y="0"/>
            <a:ext cx="6629400" cy="685800"/>
          </a:xfrm>
        </p:spPr>
        <p:txBody>
          <a:bodyPr/>
          <a:lstStyle/>
          <a:p>
            <a:r>
              <a:rPr lang="en-US" sz="3200" dirty="0"/>
              <a:t>Balanced Three-Phase Voltages</a:t>
            </a:r>
          </a:p>
        </p:txBody>
      </p:sp>
      <p:sp>
        <p:nvSpPr>
          <p:cNvPr id="1158147" name="Rectangle 3"/>
          <p:cNvSpPr>
            <a:spLocks noGrp="1" noChangeArrowheads="1"/>
          </p:cNvSpPr>
          <p:nvPr>
            <p:ph type="body" idx="1"/>
          </p:nvPr>
        </p:nvSpPr>
        <p:spPr>
          <a:xfrm>
            <a:off x="3200400" y="1066800"/>
            <a:ext cx="5334000" cy="1676400"/>
          </a:xfrm>
        </p:spPr>
        <p:txBody>
          <a:bodyPr/>
          <a:lstStyle/>
          <a:p>
            <a:pPr marL="0" indent="0">
              <a:lnSpc>
                <a:spcPct val="90000"/>
              </a:lnSpc>
              <a:buNone/>
            </a:pPr>
            <a:r>
              <a:rPr lang="en-US" sz="2800" dirty="0"/>
              <a:t>A set of Balanced Three-Phase Voltages consists of three sinusoidal voltages that have identical amplitudes and frequencies but are out of phase with each other by exactly 120</a:t>
            </a:r>
            <a:r>
              <a:rPr lang="en-US" sz="2800" dirty="0">
                <a:latin typeface="Symbol" panose="05050102010706020507" pitchFamily="18" charset="2"/>
              </a:rPr>
              <a:t>°</a:t>
            </a:r>
            <a:r>
              <a:rPr lang="en-US" sz="2800" dirty="0"/>
              <a:t>.  </a:t>
            </a:r>
          </a:p>
        </p:txBody>
      </p:sp>
      <p:pic>
        <p:nvPicPr>
          <p:cNvPr id="3" name="Picture 2">
            <a:extLst>
              <a:ext uri="{FF2B5EF4-FFF2-40B4-BE49-F238E27FC236}">
                <a16:creationId xmlns:a16="http://schemas.microsoft.com/office/drawing/2014/main" id="{654F321C-017B-4D4F-8B71-EB1DE7DBFFF7}"/>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893085" y="5054600"/>
            <a:ext cx="2667000" cy="1778000"/>
          </a:xfrm>
          <a:prstGeom prst="rect">
            <a:avLst/>
          </a:prstGeom>
        </p:spPr>
      </p:pic>
      <p:pic>
        <p:nvPicPr>
          <p:cNvPr id="8" name="Picture Placeholder 6" descr="The figure contains two parts that illustrate the phasor diagrams of a balanced set of three-phase voltages.&#10;Long description is available in notes, Press F6.">
            <a:extLst>
              <a:ext uri="{FF2B5EF4-FFF2-40B4-BE49-F238E27FC236}">
                <a16:creationId xmlns:a16="http://schemas.microsoft.com/office/drawing/2014/main" id="{680C14FC-3644-491E-8100-DCDF49CEB712}"/>
              </a:ext>
            </a:extLst>
          </p:cNvPr>
          <p:cNvPicPr>
            <a:picLocks noChangeAspect="1"/>
          </p:cNvPicPr>
          <p:nvPr/>
        </p:nvPicPr>
        <p:blipFill>
          <a:blip r:embed="rId5"/>
          <a:stretch>
            <a:fillRect/>
          </a:stretch>
        </p:blipFill>
        <p:spPr>
          <a:xfrm>
            <a:off x="381000" y="821396"/>
            <a:ext cx="2514600" cy="5882142"/>
          </a:xfrm>
          <a:prstGeom prst="rect">
            <a:avLst/>
          </a:prstGeom>
        </p:spPr>
      </p:pic>
      <p:sp>
        <p:nvSpPr>
          <p:cNvPr id="4" name="TextBox 3">
            <a:extLst>
              <a:ext uri="{FF2B5EF4-FFF2-40B4-BE49-F238E27FC236}">
                <a16:creationId xmlns:a16="http://schemas.microsoft.com/office/drawing/2014/main" id="{C0887958-C5E0-4F4A-9931-C00F00A9CA31}"/>
              </a:ext>
            </a:extLst>
          </p:cNvPr>
          <p:cNvSpPr txBox="1"/>
          <p:nvPr/>
        </p:nvSpPr>
        <p:spPr>
          <a:xfrm>
            <a:off x="3148173" y="3423254"/>
            <a:ext cx="4876800" cy="1569660"/>
          </a:xfrm>
          <a:prstGeom prst="rect">
            <a:avLst/>
          </a:prstGeom>
          <a:noFill/>
        </p:spPr>
        <p:txBody>
          <a:bodyPr wrap="square" rtlCol="0">
            <a:spAutoFit/>
          </a:bodyPr>
          <a:lstStyle/>
          <a:p>
            <a:r>
              <a:rPr lang="en-US" dirty="0">
                <a:latin typeface="+mn-lt"/>
              </a:rPr>
              <a:t>If we take the phasors of each of the voltages, then we can plot those phasors in the complex plane.  This is done at left.  </a:t>
            </a:r>
          </a:p>
        </p:txBody>
      </p:sp>
      <p:sp>
        <p:nvSpPr>
          <p:cNvPr id="10" name="TextBox 9">
            <a:extLst>
              <a:ext uri="{FF2B5EF4-FFF2-40B4-BE49-F238E27FC236}">
                <a16:creationId xmlns:a16="http://schemas.microsoft.com/office/drawing/2014/main" id="{9FE538DD-04AA-4275-B26E-0DD2CEAD5767}"/>
              </a:ext>
            </a:extLst>
          </p:cNvPr>
          <p:cNvSpPr txBox="1"/>
          <p:nvPr/>
        </p:nvSpPr>
        <p:spPr>
          <a:xfrm>
            <a:off x="3148664" y="5191035"/>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11.2 in the Nilsson and Reidel textbook, 12</a:t>
            </a:r>
            <a:r>
              <a:rPr lang="en-US" baseline="30000" dirty="0"/>
              <a:t>th</a:t>
            </a:r>
            <a:r>
              <a:rPr lang="en-US" dirty="0"/>
              <a:t>   Ed.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50" name="Rectangle 6"/>
          <p:cNvSpPr>
            <a:spLocks noChangeArrowheads="1"/>
          </p:cNvSpPr>
          <p:nvPr/>
        </p:nvSpPr>
        <p:spPr bwMode="auto">
          <a:xfrm>
            <a:off x="5638800" y="4953000"/>
            <a:ext cx="3124200" cy="19050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58146" name="Rectangle 2"/>
          <p:cNvSpPr>
            <a:spLocks noGrp="1" noChangeArrowheads="1"/>
          </p:cNvSpPr>
          <p:nvPr>
            <p:ph type="title"/>
          </p:nvPr>
        </p:nvSpPr>
        <p:spPr>
          <a:xfrm>
            <a:off x="2438400" y="0"/>
            <a:ext cx="6629400" cy="685800"/>
          </a:xfrm>
        </p:spPr>
        <p:txBody>
          <a:bodyPr/>
          <a:lstStyle/>
          <a:p>
            <a:r>
              <a:rPr lang="en-US" sz="3200" dirty="0"/>
              <a:t>Balanced Three-Phase Voltages</a:t>
            </a:r>
          </a:p>
        </p:txBody>
      </p:sp>
      <p:sp>
        <p:nvSpPr>
          <p:cNvPr id="1158147" name="Rectangle 3"/>
          <p:cNvSpPr>
            <a:spLocks noGrp="1" noChangeArrowheads="1"/>
          </p:cNvSpPr>
          <p:nvPr>
            <p:ph type="body" idx="1"/>
          </p:nvPr>
        </p:nvSpPr>
        <p:spPr>
          <a:xfrm>
            <a:off x="2667000" y="838200"/>
            <a:ext cx="5867400" cy="1676400"/>
          </a:xfrm>
        </p:spPr>
        <p:txBody>
          <a:bodyPr/>
          <a:lstStyle/>
          <a:p>
            <a:pPr marL="0" indent="0">
              <a:lnSpc>
                <a:spcPct val="90000"/>
              </a:lnSpc>
              <a:buNone/>
            </a:pPr>
            <a:r>
              <a:rPr lang="en-US" sz="2400" dirty="0"/>
              <a:t>A set of Balanced Three-Phase Voltages consists of three sinusoidal voltages that have identical amplitudes and frequencies but are out of phase with each other by exactly 120</a:t>
            </a:r>
            <a:r>
              <a:rPr lang="en-US" sz="2400" dirty="0">
                <a:latin typeface="Symbol" panose="05050102010706020507" pitchFamily="18" charset="2"/>
              </a:rPr>
              <a:t>°</a:t>
            </a:r>
            <a:r>
              <a:rPr lang="en-US" sz="2400" dirty="0"/>
              <a:t>.  </a:t>
            </a:r>
          </a:p>
        </p:txBody>
      </p:sp>
      <p:pic>
        <p:nvPicPr>
          <p:cNvPr id="3" name="Picture 2">
            <a:extLst>
              <a:ext uri="{FF2B5EF4-FFF2-40B4-BE49-F238E27FC236}">
                <a16:creationId xmlns:a16="http://schemas.microsoft.com/office/drawing/2014/main" id="{654F321C-017B-4D4F-8B71-EB1DE7DBFFF7}"/>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893085" y="5054600"/>
            <a:ext cx="2667000" cy="1778000"/>
          </a:xfrm>
          <a:prstGeom prst="rect">
            <a:avLst/>
          </a:prstGeom>
        </p:spPr>
      </p:pic>
      <p:pic>
        <p:nvPicPr>
          <p:cNvPr id="8" name="Picture Placeholder 6" descr="The figure contains two parts that illustrate the phasor diagrams of a balanced set of three-phase voltages.&#10;Long description is available in notes, Press F6.">
            <a:extLst>
              <a:ext uri="{FF2B5EF4-FFF2-40B4-BE49-F238E27FC236}">
                <a16:creationId xmlns:a16="http://schemas.microsoft.com/office/drawing/2014/main" id="{680C14FC-3644-491E-8100-DCDF49CEB712}"/>
              </a:ext>
            </a:extLst>
          </p:cNvPr>
          <p:cNvPicPr>
            <a:picLocks noChangeAspect="1"/>
          </p:cNvPicPr>
          <p:nvPr/>
        </p:nvPicPr>
        <p:blipFill>
          <a:blip r:embed="rId5"/>
          <a:stretch>
            <a:fillRect/>
          </a:stretch>
        </p:blipFill>
        <p:spPr>
          <a:xfrm>
            <a:off x="71324" y="762000"/>
            <a:ext cx="2551791" cy="5969140"/>
          </a:xfrm>
          <a:prstGeom prst="rect">
            <a:avLst/>
          </a:prstGeom>
        </p:spPr>
      </p:pic>
      <p:sp>
        <p:nvSpPr>
          <p:cNvPr id="4" name="TextBox 3">
            <a:extLst>
              <a:ext uri="{FF2B5EF4-FFF2-40B4-BE49-F238E27FC236}">
                <a16:creationId xmlns:a16="http://schemas.microsoft.com/office/drawing/2014/main" id="{C0887958-C5E0-4F4A-9931-C00F00A9CA31}"/>
              </a:ext>
            </a:extLst>
          </p:cNvPr>
          <p:cNvSpPr txBox="1"/>
          <p:nvPr/>
        </p:nvSpPr>
        <p:spPr>
          <a:xfrm>
            <a:off x="2971800" y="2670464"/>
            <a:ext cx="4876800" cy="2246769"/>
          </a:xfrm>
          <a:prstGeom prst="rect">
            <a:avLst/>
          </a:prstGeom>
          <a:noFill/>
        </p:spPr>
        <p:txBody>
          <a:bodyPr wrap="square" rtlCol="0">
            <a:spAutoFit/>
          </a:bodyPr>
          <a:lstStyle/>
          <a:p>
            <a:r>
              <a:rPr lang="en-US" sz="2800" dirty="0">
                <a:latin typeface="+mn-lt"/>
              </a:rPr>
              <a:t>The top version is called the </a:t>
            </a:r>
            <a:r>
              <a:rPr lang="en-US" sz="2800" dirty="0" err="1">
                <a:latin typeface="+mn-lt"/>
              </a:rPr>
              <a:t>abc</a:t>
            </a:r>
            <a:r>
              <a:rPr lang="en-US" sz="2800" dirty="0">
                <a:latin typeface="+mn-lt"/>
              </a:rPr>
              <a:t>, or positive sequence.  The bottom version is called the </a:t>
            </a:r>
            <a:r>
              <a:rPr lang="en-US" sz="2800" dirty="0" err="1">
                <a:latin typeface="+mn-lt"/>
              </a:rPr>
              <a:t>acb</a:t>
            </a:r>
            <a:r>
              <a:rPr lang="en-US" sz="2800" dirty="0">
                <a:latin typeface="+mn-lt"/>
              </a:rPr>
              <a:t>, or negative sequence.  </a:t>
            </a:r>
          </a:p>
        </p:txBody>
      </p:sp>
      <p:sp>
        <p:nvSpPr>
          <p:cNvPr id="9" name="TextBox 8">
            <a:extLst>
              <a:ext uri="{FF2B5EF4-FFF2-40B4-BE49-F238E27FC236}">
                <a16:creationId xmlns:a16="http://schemas.microsoft.com/office/drawing/2014/main" id="{C0D0C699-D7C1-45CC-BF8B-0CF36A2743D8}"/>
              </a:ext>
            </a:extLst>
          </p:cNvPr>
          <p:cNvSpPr txBox="1"/>
          <p:nvPr/>
        </p:nvSpPr>
        <p:spPr>
          <a:xfrm>
            <a:off x="3148664" y="5191035"/>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11.2 in the Nilsson and Reidel textbook, 12</a:t>
            </a:r>
            <a:r>
              <a:rPr lang="en-US" baseline="30000" dirty="0"/>
              <a:t>th</a:t>
            </a:r>
            <a:r>
              <a:rPr lang="en-US" dirty="0"/>
              <a:t>   Ed.  </a:t>
            </a:r>
          </a:p>
        </p:txBody>
      </p:sp>
    </p:spTree>
    <p:extLst>
      <p:ext uri="{BB962C8B-B14F-4D97-AF65-F5344CB8AC3E}">
        <p14:creationId xmlns:p14="http://schemas.microsoft.com/office/powerpoint/2010/main" val="1755208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3896F98B-0E4C-4BD3-A27B-6EC2521BE435}"/>
              </a:ext>
            </a:extLst>
          </p:cNvPr>
          <p:cNvSpPr>
            <a:spLocks noChangeArrowheads="1"/>
          </p:cNvSpPr>
          <p:nvPr/>
        </p:nvSpPr>
        <p:spPr bwMode="auto">
          <a:xfrm>
            <a:off x="3048000" y="4248328"/>
            <a:ext cx="2767664" cy="806271"/>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58150" name="Rectangle 6"/>
          <p:cNvSpPr>
            <a:spLocks noChangeArrowheads="1"/>
          </p:cNvSpPr>
          <p:nvPr/>
        </p:nvSpPr>
        <p:spPr bwMode="auto">
          <a:xfrm>
            <a:off x="5973544" y="4952999"/>
            <a:ext cx="3124200" cy="19050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58146" name="Rectangle 2"/>
          <p:cNvSpPr>
            <a:spLocks noGrp="1" noChangeArrowheads="1"/>
          </p:cNvSpPr>
          <p:nvPr>
            <p:ph type="title"/>
          </p:nvPr>
        </p:nvSpPr>
        <p:spPr>
          <a:xfrm>
            <a:off x="2438400" y="0"/>
            <a:ext cx="6629400" cy="685800"/>
          </a:xfrm>
        </p:spPr>
        <p:txBody>
          <a:bodyPr/>
          <a:lstStyle/>
          <a:p>
            <a:r>
              <a:rPr lang="en-US" sz="3200" dirty="0"/>
              <a:t>Balanced Three-Phase Voltages</a:t>
            </a:r>
          </a:p>
        </p:txBody>
      </p:sp>
      <p:sp>
        <p:nvSpPr>
          <p:cNvPr id="1158147" name="Rectangle 3"/>
          <p:cNvSpPr>
            <a:spLocks noGrp="1" noChangeArrowheads="1"/>
          </p:cNvSpPr>
          <p:nvPr>
            <p:ph type="body" idx="1"/>
          </p:nvPr>
        </p:nvSpPr>
        <p:spPr>
          <a:xfrm>
            <a:off x="609600" y="838200"/>
            <a:ext cx="7924800" cy="1676400"/>
          </a:xfrm>
        </p:spPr>
        <p:txBody>
          <a:bodyPr/>
          <a:lstStyle/>
          <a:p>
            <a:pPr marL="0" indent="0">
              <a:lnSpc>
                <a:spcPct val="90000"/>
              </a:lnSpc>
              <a:buNone/>
            </a:pPr>
            <a:r>
              <a:rPr lang="en-US" sz="2400" dirty="0"/>
              <a:t>A set of Balanced Three-Phase Voltages consists of three sinusoidal voltages that have identical amplitudes and frequencies but are out of phase with each other by exactly 120</a:t>
            </a:r>
            <a:r>
              <a:rPr lang="en-US" sz="2400" dirty="0">
                <a:latin typeface="Symbol" panose="05050102010706020507" pitchFamily="18" charset="2"/>
              </a:rPr>
              <a:t>°</a:t>
            </a:r>
            <a:r>
              <a:rPr lang="en-US" sz="2400" dirty="0"/>
              <a:t>.  </a:t>
            </a:r>
          </a:p>
        </p:txBody>
      </p:sp>
      <p:pic>
        <p:nvPicPr>
          <p:cNvPr id="3" name="Picture 2">
            <a:extLst>
              <a:ext uri="{FF2B5EF4-FFF2-40B4-BE49-F238E27FC236}">
                <a16:creationId xmlns:a16="http://schemas.microsoft.com/office/drawing/2014/main" id="{654F321C-017B-4D4F-8B71-EB1DE7DBFFF7}"/>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227829" y="5054599"/>
            <a:ext cx="2667000" cy="1778000"/>
          </a:xfrm>
          <a:prstGeom prst="rect">
            <a:avLst/>
          </a:prstGeom>
        </p:spPr>
      </p:pic>
      <p:pic>
        <p:nvPicPr>
          <p:cNvPr id="8" name="Picture Placeholder 6" descr="The figure contains two parts that illustrate the phasor diagrams of a balanced set of three-phase voltages.&#10;Long description is available in notes, Press F6.">
            <a:extLst>
              <a:ext uri="{FF2B5EF4-FFF2-40B4-BE49-F238E27FC236}">
                <a16:creationId xmlns:a16="http://schemas.microsoft.com/office/drawing/2014/main" id="{680C14FC-3644-491E-8100-DCDF49CEB712}"/>
              </a:ext>
            </a:extLst>
          </p:cNvPr>
          <p:cNvPicPr>
            <a:picLocks noChangeAspect="1"/>
          </p:cNvPicPr>
          <p:nvPr/>
        </p:nvPicPr>
        <p:blipFill>
          <a:blip r:embed="rId5"/>
          <a:stretch>
            <a:fillRect/>
          </a:stretch>
        </p:blipFill>
        <p:spPr>
          <a:xfrm>
            <a:off x="685800" y="2504180"/>
            <a:ext cx="1807014" cy="4226960"/>
          </a:xfrm>
          <a:prstGeom prst="rect">
            <a:avLst/>
          </a:prstGeom>
        </p:spPr>
      </p:pic>
      <p:sp>
        <p:nvSpPr>
          <p:cNvPr id="4" name="TextBox 3">
            <a:extLst>
              <a:ext uri="{FF2B5EF4-FFF2-40B4-BE49-F238E27FC236}">
                <a16:creationId xmlns:a16="http://schemas.microsoft.com/office/drawing/2014/main" id="{C0887958-C5E0-4F4A-9931-C00F00A9CA31}"/>
              </a:ext>
            </a:extLst>
          </p:cNvPr>
          <p:cNvSpPr txBox="1"/>
          <p:nvPr/>
        </p:nvSpPr>
        <p:spPr>
          <a:xfrm>
            <a:off x="2819400" y="2379617"/>
            <a:ext cx="4876800" cy="1815882"/>
          </a:xfrm>
          <a:prstGeom prst="rect">
            <a:avLst/>
          </a:prstGeom>
          <a:noFill/>
        </p:spPr>
        <p:txBody>
          <a:bodyPr wrap="square" rtlCol="0">
            <a:spAutoFit/>
          </a:bodyPr>
          <a:lstStyle/>
          <a:p>
            <a:r>
              <a:rPr lang="en-US" sz="2800" dirty="0">
                <a:latin typeface="+mn-lt"/>
              </a:rPr>
              <a:t>If we add these three phasors, we should be able to see that by vector addition, we have</a:t>
            </a:r>
          </a:p>
        </p:txBody>
      </p:sp>
      <p:sp>
        <p:nvSpPr>
          <p:cNvPr id="9" name="TextBox 8">
            <a:extLst>
              <a:ext uri="{FF2B5EF4-FFF2-40B4-BE49-F238E27FC236}">
                <a16:creationId xmlns:a16="http://schemas.microsoft.com/office/drawing/2014/main" id="{C0D0C699-D7C1-45CC-BF8B-0CF36A2743D8}"/>
              </a:ext>
            </a:extLst>
          </p:cNvPr>
          <p:cNvSpPr txBox="1"/>
          <p:nvPr/>
        </p:nvSpPr>
        <p:spPr>
          <a:xfrm>
            <a:off x="3148664" y="5191035"/>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11.2 in the Nilsson and Reidel textbook, 12</a:t>
            </a:r>
            <a:r>
              <a:rPr lang="en-US" baseline="30000" dirty="0"/>
              <a:t>th</a:t>
            </a:r>
            <a:r>
              <a:rPr lang="en-US" dirty="0"/>
              <a:t>   Ed.  </a:t>
            </a:r>
          </a:p>
        </p:txBody>
      </p:sp>
      <p:graphicFrame>
        <p:nvGraphicFramePr>
          <p:cNvPr id="2" name="Object 1">
            <a:extLst>
              <a:ext uri="{FF2B5EF4-FFF2-40B4-BE49-F238E27FC236}">
                <a16:creationId xmlns:a16="http://schemas.microsoft.com/office/drawing/2014/main" id="{35A8952E-6F87-458A-AE60-0563D717392C}"/>
              </a:ext>
            </a:extLst>
          </p:cNvPr>
          <p:cNvGraphicFramePr>
            <a:graphicFrameLocks noChangeAspect="1"/>
          </p:cNvGraphicFramePr>
          <p:nvPr>
            <p:extLst>
              <p:ext uri="{D42A27DB-BD31-4B8C-83A1-F6EECF244321}">
                <p14:modId xmlns:p14="http://schemas.microsoft.com/office/powerpoint/2010/main" val="1020395500"/>
              </p:ext>
            </p:extLst>
          </p:nvPr>
        </p:nvGraphicFramePr>
        <p:xfrm>
          <a:off x="3189014" y="4400612"/>
          <a:ext cx="2362994" cy="552388"/>
        </p:xfrm>
        <a:graphic>
          <a:graphicData uri="http://schemas.openxmlformats.org/presentationml/2006/ole">
            <mc:AlternateContent xmlns:mc="http://schemas.openxmlformats.org/markup-compatibility/2006">
              <mc:Choice xmlns:v="urn:schemas-microsoft-com:vml" Requires="v">
                <p:oleObj name="Equation" r:id="rId6" imgW="977760" imgH="228600" progId="Equation.DSMT4">
                  <p:embed/>
                </p:oleObj>
              </mc:Choice>
              <mc:Fallback>
                <p:oleObj name="Equation" r:id="rId6" imgW="977760" imgH="228600" progId="Equation.DSMT4">
                  <p:embed/>
                  <p:pic>
                    <p:nvPicPr>
                      <p:cNvPr id="2" name="Object 1">
                        <a:extLst>
                          <a:ext uri="{FF2B5EF4-FFF2-40B4-BE49-F238E27FC236}">
                            <a16:creationId xmlns:a16="http://schemas.microsoft.com/office/drawing/2014/main" id="{35A8952E-6F87-458A-AE60-0563D717392C}"/>
                          </a:ext>
                        </a:extLst>
                      </p:cNvPr>
                      <p:cNvPicPr/>
                      <p:nvPr/>
                    </p:nvPicPr>
                    <p:blipFill>
                      <a:blip r:embed="rId7"/>
                      <a:stretch>
                        <a:fillRect/>
                      </a:stretch>
                    </p:blipFill>
                    <p:spPr>
                      <a:xfrm>
                        <a:off x="3189014" y="4400612"/>
                        <a:ext cx="2362994" cy="552388"/>
                      </a:xfrm>
                      <a:prstGeom prst="rect">
                        <a:avLst/>
                      </a:prstGeom>
                    </p:spPr>
                  </p:pic>
                </p:oleObj>
              </mc:Fallback>
            </mc:AlternateContent>
          </a:graphicData>
        </a:graphic>
      </p:graphicFrame>
    </p:spTree>
    <p:extLst>
      <p:ext uri="{BB962C8B-B14F-4D97-AF65-F5344CB8AC3E}">
        <p14:creationId xmlns:p14="http://schemas.microsoft.com/office/powerpoint/2010/main" val="3416692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50" name="Rectangle 6"/>
          <p:cNvSpPr>
            <a:spLocks noChangeArrowheads="1"/>
          </p:cNvSpPr>
          <p:nvPr/>
        </p:nvSpPr>
        <p:spPr bwMode="auto">
          <a:xfrm>
            <a:off x="5638800" y="4953000"/>
            <a:ext cx="3124200" cy="19050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58146" name="Rectangle 2"/>
          <p:cNvSpPr>
            <a:spLocks noGrp="1" noChangeArrowheads="1"/>
          </p:cNvSpPr>
          <p:nvPr>
            <p:ph type="title"/>
          </p:nvPr>
        </p:nvSpPr>
        <p:spPr>
          <a:xfrm>
            <a:off x="2438400" y="0"/>
            <a:ext cx="6629400" cy="685800"/>
          </a:xfrm>
        </p:spPr>
        <p:txBody>
          <a:bodyPr/>
          <a:lstStyle/>
          <a:p>
            <a:r>
              <a:rPr lang="en-US" sz="3600" dirty="0"/>
              <a:t>Balanced Three-Phase Circuits</a:t>
            </a:r>
          </a:p>
        </p:txBody>
      </p:sp>
      <p:sp>
        <p:nvSpPr>
          <p:cNvPr id="1158147" name="Rectangle 3"/>
          <p:cNvSpPr>
            <a:spLocks noGrp="1" noChangeArrowheads="1"/>
          </p:cNvSpPr>
          <p:nvPr>
            <p:ph type="body" idx="1"/>
          </p:nvPr>
        </p:nvSpPr>
        <p:spPr>
          <a:xfrm>
            <a:off x="609600" y="1066800"/>
            <a:ext cx="7924800" cy="4876800"/>
          </a:xfrm>
        </p:spPr>
        <p:txBody>
          <a:bodyPr/>
          <a:lstStyle/>
          <a:p>
            <a:pPr marL="0" indent="0">
              <a:lnSpc>
                <a:spcPct val="90000"/>
              </a:lnSpc>
              <a:buNone/>
            </a:pPr>
            <a:r>
              <a:rPr lang="en-US" sz="2800" b="1" dirty="0"/>
              <a:t>A Balanced Three-Phase Circuit meets four conditions:  </a:t>
            </a:r>
          </a:p>
          <a:p>
            <a:pPr>
              <a:lnSpc>
                <a:spcPct val="90000"/>
              </a:lnSpc>
            </a:pPr>
            <a:r>
              <a:rPr lang="en-US" sz="2800" dirty="0"/>
              <a:t>The voltage sources form a balanced three-phase set.  Their magnitudes are equal, and they are 120</a:t>
            </a:r>
            <a:r>
              <a:rPr lang="en-US" sz="2800" dirty="0">
                <a:latin typeface="Symbol" panose="05050102010706020507" pitchFamily="18" charset="2"/>
              </a:rPr>
              <a:t>° </a:t>
            </a:r>
            <a:r>
              <a:rPr lang="en-US" sz="2800" dirty="0"/>
              <a:t>apart in phase.  </a:t>
            </a:r>
          </a:p>
          <a:p>
            <a:pPr>
              <a:lnSpc>
                <a:spcPct val="90000"/>
              </a:lnSpc>
            </a:pPr>
            <a:r>
              <a:rPr lang="en-US" sz="2800" dirty="0"/>
              <a:t>The impedance of each phase of the voltage source is the same.  </a:t>
            </a:r>
          </a:p>
          <a:p>
            <a:pPr>
              <a:lnSpc>
                <a:spcPct val="90000"/>
              </a:lnSpc>
            </a:pPr>
            <a:r>
              <a:rPr lang="en-US" sz="2800" dirty="0"/>
              <a:t>The impedance of each line is the same.</a:t>
            </a:r>
          </a:p>
          <a:p>
            <a:pPr>
              <a:lnSpc>
                <a:spcPct val="90000"/>
              </a:lnSpc>
            </a:pPr>
            <a:r>
              <a:rPr lang="en-US" sz="2800" dirty="0"/>
              <a:t>The impedance of each phase of the load is the same.    </a:t>
            </a:r>
          </a:p>
        </p:txBody>
      </p:sp>
      <p:pic>
        <p:nvPicPr>
          <p:cNvPr id="3" name="Picture 2">
            <a:extLst>
              <a:ext uri="{FF2B5EF4-FFF2-40B4-BE49-F238E27FC236}">
                <a16:creationId xmlns:a16="http://schemas.microsoft.com/office/drawing/2014/main" id="{654F321C-017B-4D4F-8B71-EB1DE7DBFFF7}"/>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893085" y="5054600"/>
            <a:ext cx="2667000" cy="1778000"/>
          </a:xfrm>
          <a:prstGeom prst="rect">
            <a:avLst/>
          </a:prstGeom>
        </p:spPr>
      </p:pic>
    </p:spTree>
    <p:extLst>
      <p:ext uri="{BB962C8B-B14F-4D97-AF65-F5344CB8AC3E}">
        <p14:creationId xmlns:p14="http://schemas.microsoft.com/office/powerpoint/2010/main" val="2547350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Balanced Three-Phase Circuits</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51690" y="4609728"/>
            <a:ext cx="8240620" cy="2113843"/>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400" dirty="0"/>
              <a:t>Balanced three-phase circuits:</a:t>
            </a:r>
          </a:p>
          <a:p>
            <a:pPr marL="342900" indent="-342900" algn="l">
              <a:spcBef>
                <a:spcPts val="600"/>
              </a:spcBef>
              <a:buFont typeface="Arial" panose="020B0604020202020204" pitchFamily="34" charset="0"/>
              <a:buChar char="•"/>
            </a:pPr>
            <a:r>
              <a:rPr lang="en-US" altLang="en-US" sz="2400" dirty="0"/>
              <a:t>Equal impedances (source, line and load) in all phases</a:t>
            </a:r>
          </a:p>
          <a:p>
            <a:pPr marL="342900" indent="-342900" algn="l">
              <a:spcBef>
                <a:spcPts val="600"/>
              </a:spcBef>
              <a:buFont typeface="Arial" panose="020B0604020202020204" pitchFamily="34" charset="0"/>
              <a:buChar char="•"/>
            </a:pPr>
            <a:r>
              <a:rPr lang="en-US" altLang="en-US" sz="2400" kern="0" dirty="0"/>
              <a:t>Sources have equal magnitudes, are </a:t>
            </a:r>
            <a:r>
              <a:rPr lang="en-US" sz="2400" dirty="0"/>
              <a:t>120</a:t>
            </a:r>
            <a:r>
              <a:rPr lang="en-US" sz="2400" dirty="0">
                <a:latin typeface="Symbol" panose="05050102010706020507" pitchFamily="18" charset="2"/>
              </a:rPr>
              <a:t>° </a:t>
            </a:r>
            <a:r>
              <a:rPr lang="en-US" altLang="en-US" sz="2400" kern="0" dirty="0"/>
              <a:t>out of phase, so they form a balanced set.  </a:t>
            </a:r>
          </a:p>
          <a:p>
            <a:pPr marL="342900" indent="-342900" algn="l">
              <a:spcBef>
                <a:spcPts val="600"/>
              </a:spcBef>
              <a:buFont typeface="Arial" panose="020B0604020202020204" pitchFamily="34" charset="0"/>
              <a:buChar char="•"/>
            </a:pPr>
            <a:r>
              <a:rPr lang="en-US" sz="2400" kern="0" dirty="0"/>
              <a:t>If a balanced circuit, no current in the neutral line</a:t>
            </a:r>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1066800" y="810560"/>
            <a:ext cx="6400799" cy="3770260"/>
          </a:xfrm>
          <a:prstGeom prst="rect">
            <a:avLst/>
          </a:prstGeom>
        </p:spPr>
      </p:pic>
    </p:spTree>
    <p:extLst>
      <p:ext uri="{BB962C8B-B14F-4D97-AF65-F5344CB8AC3E}">
        <p14:creationId xmlns:p14="http://schemas.microsoft.com/office/powerpoint/2010/main" val="1983860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513252" y="4243648"/>
            <a:ext cx="8240620" cy="405683"/>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400" dirty="0"/>
              <a:t>We can do KCL , with node n as the reference.  We get</a:t>
            </a:r>
            <a:endParaRPr lang="en-US" sz="2400" kern="0" dirty="0"/>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513252" y="832460"/>
            <a:ext cx="5791200" cy="3411188"/>
          </a:xfrm>
          <a:prstGeom prst="rect">
            <a:avLst/>
          </a:prstGeom>
        </p:spPr>
      </p:pic>
      <p:sp>
        <p:nvSpPr>
          <p:cNvPr id="5" name="Rectangle 6">
            <a:extLst>
              <a:ext uri="{FF2B5EF4-FFF2-40B4-BE49-F238E27FC236}">
                <a16:creationId xmlns:a16="http://schemas.microsoft.com/office/drawing/2014/main" id="{8B9C07B7-468D-47DC-A9CF-71EE8DB07B66}"/>
              </a:ext>
            </a:extLst>
          </p:cNvPr>
          <p:cNvSpPr>
            <a:spLocks noChangeArrowheads="1"/>
          </p:cNvSpPr>
          <p:nvPr/>
        </p:nvSpPr>
        <p:spPr bwMode="auto">
          <a:xfrm>
            <a:off x="170656" y="4800600"/>
            <a:ext cx="8802688" cy="18830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graphicFrame>
        <p:nvGraphicFramePr>
          <p:cNvPr id="7" name="Object 6">
            <a:extLst>
              <a:ext uri="{FF2B5EF4-FFF2-40B4-BE49-F238E27FC236}">
                <a16:creationId xmlns:a16="http://schemas.microsoft.com/office/drawing/2014/main" id="{C972623D-3E40-411C-BA87-E1EFD8AD0E59}"/>
              </a:ext>
            </a:extLst>
          </p:cNvPr>
          <p:cNvGraphicFramePr>
            <a:graphicFrameLocks noChangeAspect="1"/>
          </p:cNvGraphicFramePr>
          <p:nvPr>
            <p:extLst>
              <p:ext uri="{D42A27DB-BD31-4B8C-83A1-F6EECF244321}">
                <p14:modId xmlns:p14="http://schemas.microsoft.com/office/powerpoint/2010/main" val="856764290"/>
              </p:ext>
            </p:extLst>
          </p:nvPr>
        </p:nvGraphicFramePr>
        <p:xfrm>
          <a:off x="520700" y="4903788"/>
          <a:ext cx="8224838" cy="1676400"/>
        </p:xfrm>
        <a:graphic>
          <a:graphicData uri="http://schemas.openxmlformats.org/presentationml/2006/ole">
            <mc:AlternateContent xmlns:mc="http://schemas.openxmlformats.org/markup-compatibility/2006">
              <mc:Choice xmlns:v="urn:schemas-microsoft-com:vml" Requires="v">
                <p:oleObj name="Equation" r:id="rId4" imgW="4546440" imgH="927000" progId="Equation.DSMT4">
                  <p:embed/>
                </p:oleObj>
              </mc:Choice>
              <mc:Fallback>
                <p:oleObj name="Equation" r:id="rId4" imgW="4546440" imgH="927000" progId="Equation.DSMT4">
                  <p:embed/>
                  <p:pic>
                    <p:nvPicPr>
                      <p:cNvPr id="7" name="Object 6">
                        <a:extLst>
                          <a:ext uri="{FF2B5EF4-FFF2-40B4-BE49-F238E27FC236}">
                            <a16:creationId xmlns:a16="http://schemas.microsoft.com/office/drawing/2014/main" id="{C972623D-3E40-411C-BA87-E1EFD8AD0E59}"/>
                          </a:ext>
                        </a:extLst>
                      </p:cNvPr>
                      <p:cNvPicPr/>
                      <p:nvPr/>
                    </p:nvPicPr>
                    <p:blipFill>
                      <a:blip r:embed="rId5"/>
                      <a:stretch>
                        <a:fillRect/>
                      </a:stretch>
                    </p:blipFill>
                    <p:spPr>
                      <a:xfrm>
                        <a:off x="520700" y="4903788"/>
                        <a:ext cx="8224838" cy="1676400"/>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6A83CC2C-BF5D-4C7D-ACA5-9B94114E3856}"/>
              </a:ext>
            </a:extLst>
          </p:cNvPr>
          <p:cNvSpPr txBox="1"/>
          <p:nvPr/>
        </p:nvSpPr>
        <p:spPr>
          <a:xfrm>
            <a:off x="6704806" y="836289"/>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a:t>
            </a:r>
          </a:p>
        </p:txBody>
      </p:sp>
      <p:sp>
        <p:nvSpPr>
          <p:cNvPr id="9" name="TextBox 8">
            <a:extLst>
              <a:ext uri="{FF2B5EF4-FFF2-40B4-BE49-F238E27FC236}">
                <a16:creationId xmlns:a16="http://schemas.microsoft.com/office/drawing/2014/main" id="{0F3481B7-50F4-43F7-B89D-7DADF2394DD4}"/>
              </a:ext>
            </a:extLst>
          </p:cNvPr>
          <p:cNvSpPr txBox="1"/>
          <p:nvPr/>
        </p:nvSpPr>
        <p:spPr>
          <a:xfrm>
            <a:off x="6704806" y="2725095"/>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This analysis below is how we got the last bullet in the previous slide.  </a:t>
            </a:r>
          </a:p>
        </p:txBody>
      </p:sp>
      <p:cxnSp>
        <p:nvCxnSpPr>
          <p:cNvPr id="3" name="Straight Arrow Connector 2">
            <a:extLst>
              <a:ext uri="{FF2B5EF4-FFF2-40B4-BE49-F238E27FC236}">
                <a16:creationId xmlns:a16="http://schemas.microsoft.com/office/drawing/2014/main" id="{25BAB6FA-F19F-4381-8A3F-09997D14B10C}"/>
              </a:ext>
            </a:extLst>
          </p:cNvPr>
          <p:cNvCxnSpPr>
            <a:cxnSpLocks/>
          </p:cNvCxnSpPr>
          <p:nvPr/>
        </p:nvCxnSpPr>
        <p:spPr bwMode="auto">
          <a:xfrm flipH="1">
            <a:off x="6781800" y="3970236"/>
            <a:ext cx="228601" cy="961889"/>
          </a:xfrm>
          <a:prstGeom prst="straightConnector1">
            <a:avLst/>
          </a:prstGeom>
          <a:solidFill>
            <a:schemeClr val="accent1"/>
          </a:solidFill>
          <a:ln w="41275" cap="flat" cmpd="sng" algn="ctr">
            <a:solidFill>
              <a:schemeClr val="tx1"/>
            </a:solidFill>
            <a:prstDash val="solid"/>
            <a:round/>
            <a:headEnd type="none" w="sm" len="sm"/>
            <a:tailEnd type="triangle"/>
          </a:ln>
          <a:effectLst/>
        </p:spPr>
      </p:cxnSp>
      <p:sp>
        <p:nvSpPr>
          <p:cNvPr id="15" name="Rectangle 2">
            <a:extLst>
              <a:ext uri="{FF2B5EF4-FFF2-40B4-BE49-F238E27FC236}">
                <a16:creationId xmlns:a16="http://schemas.microsoft.com/office/drawing/2014/main" id="{F34E9EBE-92D6-4588-945E-49E98BD28B3A}"/>
              </a:ext>
            </a:extLst>
          </p:cNvPr>
          <p:cNvSpPr txBox="1">
            <a:spLocks noChangeArrowheads="1"/>
          </p:cNvSpPr>
          <p:nvPr/>
        </p:nvSpPr>
        <p:spPr bwMode="auto">
          <a:xfrm>
            <a:off x="2438400" y="0"/>
            <a:ext cx="6629400" cy="6858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algn="r" rtl="0" fontAlgn="base">
              <a:spcBef>
                <a:spcPct val="0"/>
              </a:spcBef>
              <a:spcAft>
                <a:spcPct val="0"/>
              </a:spcAft>
              <a:defRPr sz="4400" i="1">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charset="0"/>
              </a:defRPr>
            </a:lvl2pPr>
            <a:lvl3pPr algn="r" rtl="0" fontAlgn="base">
              <a:spcBef>
                <a:spcPct val="0"/>
              </a:spcBef>
              <a:spcAft>
                <a:spcPct val="0"/>
              </a:spcAft>
              <a:defRPr sz="4400" i="1">
                <a:solidFill>
                  <a:schemeClr val="tx2"/>
                </a:solidFill>
                <a:latin typeface="Arial" charset="0"/>
              </a:defRPr>
            </a:lvl3pPr>
            <a:lvl4pPr algn="r" rtl="0" fontAlgn="base">
              <a:spcBef>
                <a:spcPct val="0"/>
              </a:spcBef>
              <a:spcAft>
                <a:spcPct val="0"/>
              </a:spcAft>
              <a:defRPr sz="4400" i="1">
                <a:solidFill>
                  <a:schemeClr val="tx2"/>
                </a:solidFill>
                <a:latin typeface="Arial" charset="0"/>
              </a:defRPr>
            </a:lvl4pPr>
            <a:lvl5pPr algn="r" rtl="0" fontAlgn="base">
              <a:spcBef>
                <a:spcPct val="0"/>
              </a:spcBef>
              <a:spcAft>
                <a:spcPct val="0"/>
              </a:spcAft>
              <a:defRPr sz="4400" i="1">
                <a:solidFill>
                  <a:schemeClr val="tx2"/>
                </a:solidFill>
                <a:latin typeface="Arial" charset="0"/>
              </a:defRPr>
            </a:lvl5pPr>
            <a:lvl6pPr marL="457200" algn="r" rtl="0" fontAlgn="base">
              <a:spcBef>
                <a:spcPct val="0"/>
              </a:spcBef>
              <a:spcAft>
                <a:spcPct val="0"/>
              </a:spcAft>
              <a:defRPr sz="4400" i="1">
                <a:solidFill>
                  <a:schemeClr val="tx2"/>
                </a:solidFill>
                <a:latin typeface="Arial" charset="0"/>
              </a:defRPr>
            </a:lvl6pPr>
            <a:lvl7pPr marL="914400" algn="r" rtl="0" fontAlgn="base">
              <a:spcBef>
                <a:spcPct val="0"/>
              </a:spcBef>
              <a:spcAft>
                <a:spcPct val="0"/>
              </a:spcAft>
              <a:defRPr sz="4400" i="1">
                <a:solidFill>
                  <a:schemeClr val="tx2"/>
                </a:solidFill>
                <a:latin typeface="Arial" charset="0"/>
              </a:defRPr>
            </a:lvl7pPr>
            <a:lvl8pPr marL="1371600" algn="r" rtl="0" fontAlgn="base">
              <a:spcBef>
                <a:spcPct val="0"/>
              </a:spcBef>
              <a:spcAft>
                <a:spcPct val="0"/>
              </a:spcAft>
              <a:defRPr sz="4400" i="1">
                <a:solidFill>
                  <a:schemeClr val="tx2"/>
                </a:solidFill>
                <a:latin typeface="Arial" charset="0"/>
              </a:defRPr>
            </a:lvl8pPr>
            <a:lvl9pPr marL="1828800" algn="r" rtl="0" fontAlgn="base">
              <a:spcBef>
                <a:spcPct val="0"/>
              </a:spcBef>
              <a:spcAft>
                <a:spcPct val="0"/>
              </a:spcAft>
              <a:defRPr sz="4400" i="1">
                <a:solidFill>
                  <a:schemeClr val="tx2"/>
                </a:solidFill>
                <a:latin typeface="Arial" charset="0"/>
              </a:defRPr>
            </a:lvl9pPr>
          </a:lstStyle>
          <a:p>
            <a:r>
              <a:rPr lang="en-US" sz="3200" kern="0"/>
              <a:t>Balanced Three-Phase Y-Y Circuit</a:t>
            </a:r>
            <a:endParaRPr lang="en-US" sz="3200" kern="0" dirty="0"/>
          </a:p>
        </p:txBody>
      </p:sp>
    </p:spTree>
    <p:extLst>
      <p:ext uri="{BB962C8B-B14F-4D97-AF65-F5344CB8AC3E}">
        <p14:creationId xmlns:p14="http://schemas.microsoft.com/office/powerpoint/2010/main" val="117443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Other Useful Terminology</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51690" y="4265711"/>
            <a:ext cx="8158910" cy="2267732"/>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There are other terms that are used in the context of three-phase power.  </a:t>
            </a:r>
          </a:p>
          <a:p>
            <a:pPr algn="l">
              <a:spcBef>
                <a:spcPts val="600"/>
              </a:spcBef>
            </a:pPr>
            <a:r>
              <a:rPr lang="en-US" sz="2800" b="1" kern="0" dirty="0"/>
              <a:t>Line Voltage </a:t>
            </a:r>
            <a:r>
              <a:rPr lang="en-US" sz="2800" kern="0" dirty="0"/>
              <a:t>is the voltage across any pair of lines, typically at the load.  For this case, the three line voltages are </a:t>
            </a:r>
            <a:r>
              <a:rPr lang="en-US" sz="2800" b="1" i="1" kern="0" dirty="0">
                <a:latin typeface="Times New Roman" panose="02020603050405020304" pitchFamily="18" charset="0"/>
                <a:cs typeface="Times New Roman" panose="02020603050405020304" pitchFamily="18" charset="0"/>
              </a:rPr>
              <a:t>V</a:t>
            </a:r>
            <a:r>
              <a:rPr lang="en-US" sz="2800" i="1" kern="0" baseline="-25000" dirty="0">
                <a:latin typeface="Times New Roman" panose="02020603050405020304" pitchFamily="18" charset="0"/>
                <a:cs typeface="Times New Roman" panose="02020603050405020304" pitchFamily="18" charset="0"/>
              </a:rPr>
              <a:t>AB</a:t>
            </a:r>
            <a:r>
              <a:rPr lang="en-US" sz="2800" kern="0" dirty="0"/>
              <a:t>, </a:t>
            </a:r>
            <a:r>
              <a:rPr lang="en-US" sz="2800" b="1" i="1" kern="0" dirty="0">
                <a:latin typeface="Times New Roman" panose="02020603050405020304" pitchFamily="18" charset="0"/>
                <a:cs typeface="Times New Roman" panose="02020603050405020304" pitchFamily="18" charset="0"/>
              </a:rPr>
              <a:t>V</a:t>
            </a:r>
            <a:r>
              <a:rPr lang="en-US" sz="2800" i="1" kern="0" baseline="-25000" dirty="0">
                <a:latin typeface="Times New Roman" panose="02020603050405020304" pitchFamily="18" charset="0"/>
                <a:cs typeface="Times New Roman" panose="02020603050405020304" pitchFamily="18" charset="0"/>
              </a:rPr>
              <a:t>BC</a:t>
            </a:r>
            <a:r>
              <a:rPr lang="en-US" sz="2800" kern="0" dirty="0"/>
              <a:t>, and </a:t>
            </a:r>
            <a:r>
              <a:rPr lang="en-US" sz="2800" b="1" i="1" kern="0" dirty="0">
                <a:latin typeface="Times New Roman" panose="02020603050405020304" pitchFamily="18" charset="0"/>
                <a:cs typeface="Times New Roman" panose="02020603050405020304" pitchFamily="18" charset="0"/>
              </a:rPr>
              <a:t>V</a:t>
            </a:r>
            <a:r>
              <a:rPr lang="en-US" sz="2800" i="1" kern="0" baseline="-25000" dirty="0">
                <a:latin typeface="Times New Roman" panose="02020603050405020304" pitchFamily="18" charset="0"/>
                <a:cs typeface="Times New Roman" panose="02020603050405020304" pitchFamily="18" charset="0"/>
              </a:rPr>
              <a:t>CA</a:t>
            </a:r>
            <a:r>
              <a:rPr lang="en-US" sz="2800" kern="0" dirty="0"/>
              <a:t>.  </a:t>
            </a:r>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451690" y="777088"/>
            <a:ext cx="5791200" cy="3411188"/>
          </a:xfrm>
          <a:prstGeom prst="rect">
            <a:avLst/>
          </a:prstGeom>
        </p:spPr>
      </p:pic>
      <p:sp>
        <p:nvSpPr>
          <p:cNvPr id="8" name="TextBox 7">
            <a:extLst>
              <a:ext uri="{FF2B5EF4-FFF2-40B4-BE49-F238E27FC236}">
                <a16:creationId xmlns:a16="http://schemas.microsoft.com/office/drawing/2014/main" id="{24AF89C5-5D43-41A3-BA5C-58B5342ACA79}"/>
              </a:ext>
            </a:extLst>
          </p:cNvPr>
          <p:cNvSpPr txBox="1"/>
          <p:nvPr/>
        </p:nvSpPr>
        <p:spPr>
          <a:xfrm>
            <a:off x="6756761" y="2108399"/>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a:t>
            </a:r>
          </a:p>
        </p:txBody>
      </p:sp>
    </p:spTree>
    <p:extLst>
      <p:ext uri="{BB962C8B-B14F-4D97-AF65-F5344CB8AC3E}">
        <p14:creationId xmlns:p14="http://schemas.microsoft.com/office/powerpoint/2010/main" val="9709526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Other Useful Terminology</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51690" y="4265711"/>
            <a:ext cx="8235110" cy="2267732"/>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There are other terms that are used in the context of three-phase power.  </a:t>
            </a:r>
          </a:p>
          <a:p>
            <a:pPr algn="l">
              <a:spcBef>
                <a:spcPts val="600"/>
              </a:spcBef>
            </a:pPr>
            <a:r>
              <a:rPr lang="en-US" sz="2800" b="1" kern="0" dirty="0"/>
              <a:t>Phase Voltage </a:t>
            </a:r>
            <a:r>
              <a:rPr lang="en-US" sz="2800" kern="0" dirty="0"/>
              <a:t>is the voltage across a single phase of the load.  For this case, the three phase voltages are </a:t>
            </a:r>
            <a:r>
              <a:rPr lang="en-US" sz="2800" b="1" i="1" kern="0" dirty="0">
                <a:latin typeface="Times New Roman" panose="02020603050405020304" pitchFamily="18" charset="0"/>
                <a:cs typeface="Times New Roman" panose="02020603050405020304" pitchFamily="18" charset="0"/>
              </a:rPr>
              <a:t>V</a:t>
            </a:r>
            <a:r>
              <a:rPr lang="en-US" sz="2800" i="1" kern="0" baseline="-25000" dirty="0">
                <a:latin typeface="Times New Roman" panose="02020603050405020304" pitchFamily="18" charset="0"/>
                <a:cs typeface="Times New Roman" panose="02020603050405020304" pitchFamily="18" charset="0"/>
              </a:rPr>
              <a:t>AN</a:t>
            </a:r>
            <a:r>
              <a:rPr lang="en-US" sz="2800" kern="0" dirty="0"/>
              <a:t>, </a:t>
            </a:r>
            <a:r>
              <a:rPr lang="en-US" sz="2800" b="1" i="1" kern="0" dirty="0">
                <a:latin typeface="Times New Roman" panose="02020603050405020304" pitchFamily="18" charset="0"/>
                <a:cs typeface="Times New Roman" panose="02020603050405020304" pitchFamily="18" charset="0"/>
              </a:rPr>
              <a:t>V</a:t>
            </a:r>
            <a:r>
              <a:rPr lang="en-US" sz="2800" i="1" kern="0" baseline="-25000" dirty="0">
                <a:latin typeface="Times New Roman" panose="02020603050405020304" pitchFamily="18" charset="0"/>
                <a:cs typeface="Times New Roman" panose="02020603050405020304" pitchFamily="18" charset="0"/>
              </a:rPr>
              <a:t>BN</a:t>
            </a:r>
            <a:r>
              <a:rPr lang="en-US" sz="2800" kern="0" dirty="0"/>
              <a:t>, and </a:t>
            </a:r>
            <a:r>
              <a:rPr lang="en-US" sz="2800" b="1" i="1" kern="0" dirty="0">
                <a:latin typeface="Times New Roman" panose="02020603050405020304" pitchFamily="18" charset="0"/>
                <a:cs typeface="Times New Roman" panose="02020603050405020304" pitchFamily="18" charset="0"/>
              </a:rPr>
              <a:t>V</a:t>
            </a:r>
            <a:r>
              <a:rPr lang="en-US" sz="2800" i="1" kern="0" baseline="-25000" dirty="0">
                <a:latin typeface="Times New Roman" panose="02020603050405020304" pitchFamily="18" charset="0"/>
                <a:cs typeface="Times New Roman" panose="02020603050405020304" pitchFamily="18" charset="0"/>
              </a:rPr>
              <a:t>CN</a:t>
            </a:r>
            <a:r>
              <a:rPr lang="en-US" sz="2800" kern="0" dirty="0"/>
              <a:t>.  </a:t>
            </a:r>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451690" y="777088"/>
            <a:ext cx="5791200" cy="3411188"/>
          </a:xfrm>
          <a:prstGeom prst="rect">
            <a:avLst/>
          </a:prstGeom>
        </p:spPr>
      </p:pic>
      <p:sp>
        <p:nvSpPr>
          <p:cNvPr id="8" name="TextBox 7">
            <a:extLst>
              <a:ext uri="{FF2B5EF4-FFF2-40B4-BE49-F238E27FC236}">
                <a16:creationId xmlns:a16="http://schemas.microsoft.com/office/drawing/2014/main" id="{24AF89C5-5D43-41A3-BA5C-58B5342ACA79}"/>
              </a:ext>
            </a:extLst>
          </p:cNvPr>
          <p:cNvSpPr txBox="1"/>
          <p:nvPr/>
        </p:nvSpPr>
        <p:spPr>
          <a:xfrm>
            <a:off x="6756761" y="2108399"/>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a:t>
            </a:r>
          </a:p>
        </p:txBody>
      </p:sp>
    </p:spTree>
    <p:extLst>
      <p:ext uri="{BB962C8B-B14F-4D97-AF65-F5344CB8AC3E}">
        <p14:creationId xmlns:p14="http://schemas.microsoft.com/office/powerpoint/2010/main" val="1610836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Other Useful Terminology</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51690" y="4265711"/>
            <a:ext cx="8235110" cy="2267732"/>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There are other terms that are used in the context of three-phase power.  </a:t>
            </a:r>
          </a:p>
          <a:p>
            <a:pPr algn="l">
              <a:spcBef>
                <a:spcPts val="600"/>
              </a:spcBef>
            </a:pPr>
            <a:r>
              <a:rPr lang="en-US" sz="2800" b="1" kern="0" dirty="0"/>
              <a:t>Line Current </a:t>
            </a:r>
            <a:r>
              <a:rPr lang="en-US" sz="2800" kern="0" dirty="0"/>
              <a:t>is the current through a single line between the source and the load.  For this case, the three line currents are </a:t>
            </a:r>
            <a:r>
              <a:rPr lang="en-US" sz="2800" b="1"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aA</a:t>
            </a:r>
            <a:r>
              <a:rPr lang="en-US" sz="2800" kern="0" dirty="0"/>
              <a:t>, </a:t>
            </a:r>
            <a:r>
              <a:rPr lang="en-US" sz="2800" b="1"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bB</a:t>
            </a:r>
            <a:r>
              <a:rPr lang="en-US" sz="2800" kern="0" dirty="0"/>
              <a:t>, and </a:t>
            </a:r>
            <a:r>
              <a:rPr lang="en-US" sz="2800" b="1"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cC</a:t>
            </a:r>
            <a:r>
              <a:rPr lang="en-US" sz="2800" kern="0" dirty="0"/>
              <a:t>.  </a:t>
            </a:r>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451690" y="777088"/>
            <a:ext cx="5791200" cy="3411188"/>
          </a:xfrm>
          <a:prstGeom prst="rect">
            <a:avLst/>
          </a:prstGeom>
        </p:spPr>
      </p:pic>
      <p:sp>
        <p:nvSpPr>
          <p:cNvPr id="8" name="TextBox 7">
            <a:extLst>
              <a:ext uri="{FF2B5EF4-FFF2-40B4-BE49-F238E27FC236}">
                <a16:creationId xmlns:a16="http://schemas.microsoft.com/office/drawing/2014/main" id="{24AF89C5-5D43-41A3-BA5C-58B5342ACA79}"/>
              </a:ext>
            </a:extLst>
          </p:cNvPr>
          <p:cNvSpPr txBox="1"/>
          <p:nvPr/>
        </p:nvSpPr>
        <p:spPr>
          <a:xfrm>
            <a:off x="6756761" y="2108399"/>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a:t>
            </a:r>
          </a:p>
        </p:txBody>
      </p:sp>
    </p:spTree>
    <p:extLst>
      <p:ext uri="{BB962C8B-B14F-4D97-AF65-F5344CB8AC3E}">
        <p14:creationId xmlns:p14="http://schemas.microsoft.com/office/powerpoint/2010/main" val="4094472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Other Useful Terminology</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51690" y="4050268"/>
            <a:ext cx="8240620" cy="2698619"/>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There are other terms that are used in the context of three-phase power.  </a:t>
            </a:r>
          </a:p>
          <a:p>
            <a:pPr algn="l">
              <a:spcBef>
                <a:spcPts val="600"/>
              </a:spcBef>
            </a:pPr>
            <a:r>
              <a:rPr lang="en-US" sz="2800" b="1" kern="0" dirty="0"/>
              <a:t>Phase Current </a:t>
            </a:r>
            <a:r>
              <a:rPr lang="en-US" sz="2800" kern="0" dirty="0"/>
              <a:t>is the current through a single phase of  the load.  For this case, the three phase currents are </a:t>
            </a:r>
            <a:r>
              <a:rPr lang="en-US" sz="2800" b="1"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aA</a:t>
            </a:r>
            <a:r>
              <a:rPr lang="en-US" sz="2800" kern="0" dirty="0"/>
              <a:t>, </a:t>
            </a:r>
            <a:r>
              <a:rPr lang="en-US" sz="2800" b="1"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bB</a:t>
            </a:r>
            <a:r>
              <a:rPr lang="en-US" sz="2800" kern="0" dirty="0"/>
              <a:t>, and </a:t>
            </a:r>
            <a:r>
              <a:rPr lang="en-US" sz="2800" b="1"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cC</a:t>
            </a:r>
            <a:r>
              <a:rPr lang="en-US" sz="2800" kern="0" dirty="0"/>
              <a:t>.  The Line Currents and Phase Currents for a Y-connected load are equal.</a:t>
            </a:r>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451690" y="777088"/>
            <a:ext cx="5568110" cy="3279781"/>
          </a:xfrm>
          <a:prstGeom prst="rect">
            <a:avLst/>
          </a:prstGeom>
        </p:spPr>
      </p:pic>
      <p:sp>
        <p:nvSpPr>
          <p:cNvPr id="8" name="TextBox 7">
            <a:extLst>
              <a:ext uri="{FF2B5EF4-FFF2-40B4-BE49-F238E27FC236}">
                <a16:creationId xmlns:a16="http://schemas.microsoft.com/office/drawing/2014/main" id="{24AF89C5-5D43-41A3-BA5C-58B5342ACA79}"/>
              </a:ext>
            </a:extLst>
          </p:cNvPr>
          <p:cNvSpPr txBox="1"/>
          <p:nvPr/>
        </p:nvSpPr>
        <p:spPr>
          <a:xfrm>
            <a:off x="6756761" y="2108399"/>
            <a:ext cx="2362994" cy="1200329"/>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a:t>
            </a:r>
          </a:p>
        </p:txBody>
      </p:sp>
    </p:spTree>
    <p:extLst>
      <p:ext uri="{BB962C8B-B14F-4D97-AF65-F5344CB8AC3E}">
        <p14:creationId xmlns:p14="http://schemas.microsoft.com/office/powerpoint/2010/main" val="3332146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Other Useful Terminology</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51690" y="4050268"/>
            <a:ext cx="8240620" cy="2698619"/>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There are other terms that are used in the context of three-phase power.  </a:t>
            </a:r>
          </a:p>
          <a:p>
            <a:pPr algn="l">
              <a:spcBef>
                <a:spcPts val="600"/>
              </a:spcBef>
            </a:pPr>
            <a:r>
              <a:rPr lang="en-US" sz="2800" b="1" kern="0" dirty="0"/>
              <a:t>Phase Current </a:t>
            </a:r>
            <a:r>
              <a:rPr lang="en-US" sz="2800" kern="0" dirty="0"/>
              <a:t>is the current through a single phase of  the load.  For this case, the three phase currents are </a:t>
            </a:r>
            <a:r>
              <a:rPr lang="en-US" sz="2800" b="1" i="1" kern="0" dirty="0">
                <a:latin typeface="Times New Roman" panose="02020603050405020304" pitchFamily="18" charset="0"/>
                <a:cs typeface="Times New Roman" panose="02020603050405020304" pitchFamily="18" charset="0"/>
              </a:rPr>
              <a:t>I</a:t>
            </a:r>
            <a:r>
              <a:rPr lang="en-US" sz="2800" i="1" kern="0" baseline="-25000" dirty="0">
                <a:latin typeface="Times New Roman" panose="02020603050405020304" pitchFamily="18" charset="0"/>
                <a:cs typeface="Times New Roman" panose="02020603050405020304" pitchFamily="18" charset="0"/>
              </a:rPr>
              <a:t>AN</a:t>
            </a:r>
            <a:r>
              <a:rPr lang="en-US" sz="2800" kern="0" dirty="0"/>
              <a:t>, </a:t>
            </a:r>
            <a:r>
              <a:rPr lang="en-US" sz="2800" b="1" i="1" kern="0" dirty="0">
                <a:latin typeface="Times New Roman" panose="02020603050405020304" pitchFamily="18" charset="0"/>
                <a:cs typeface="Times New Roman" panose="02020603050405020304" pitchFamily="18" charset="0"/>
              </a:rPr>
              <a:t>I</a:t>
            </a:r>
            <a:r>
              <a:rPr lang="en-US" sz="2800" i="1" kern="0" baseline="-25000" dirty="0">
                <a:latin typeface="Times New Roman" panose="02020603050405020304" pitchFamily="18" charset="0"/>
                <a:cs typeface="Times New Roman" panose="02020603050405020304" pitchFamily="18" charset="0"/>
              </a:rPr>
              <a:t>BN</a:t>
            </a:r>
            <a:r>
              <a:rPr lang="en-US" sz="2800" kern="0" dirty="0"/>
              <a:t>, and </a:t>
            </a:r>
            <a:r>
              <a:rPr lang="en-US" sz="2800" b="1" i="1" kern="0" dirty="0">
                <a:latin typeface="Times New Roman" panose="02020603050405020304" pitchFamily="18" charset="0"/>
                <a:cs typeface="Times New Roman" panose="02020603050405020304" pitchFamily="18" charset="0"/>
              </a:rPr>
              <a:t>I</a:t>
            </a:r>
            <a:r>
              <a:rPr lang="en-US" sz="2800" i="1" kern="0" baseline="-25000" dirty="0">
                <a:latin typeface="Times New Roman" panose="02020603050405020304" pitchFamily="18" charset="0"/>
                <a:cs typeface="Times New Roman" panose="02020603050405020304" pitchFamily="18" charset="0"/>
              </a:rPr>
              <a:t>CN</a:t>
            </a:r>
            <a:r>
              <a:rPr lang="en-US" sz="2800" kern="0" dirty="0"/>
              <a:t>.  These Phase Currents are used but not defined in the text.</a:t>
            </a:r>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451690" y="777088"/>
            <a:ext cx="5568110" cy="3279781"/>
          </a:xfrm>
          <a:prstGeom prst="rect">
            <a:avLst/>
          </a:prstGeom>
        </p:spPr>
      </p:pic>
      <p:sp>
        <p:nvSpPr>
          <p:cNvPr id="8" name="TextBox 7">
            <a:extLst>
              <a:ext uri="{FF2B5EF4-FFF2-40B4-BE49-F238E27FC236}">
                <a16:creationId xmlns:a16="http://schemas.microsoft.com/office/drawing/2014/main" id="{24AF89C5-5D43-41A3-BA5C-58B5342ACA79}"/>
              </a:ext>
            </a:extLst>
          </p:cNvPr>
          <p:cNvSpPr txBox="1"/>
          <p:nvPr/>
        </p:nvSpPr>
        <p:spPr>
          <a:xfrm>
            <a:off x="6756761" y="2108399"/>
            <a:ext cx="2362994" cy="1754326"/>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We have added the three phase currents. </a:t>
            </a:r>
          </a:p>
        </p:txBody>
      </p:sp>
      <p:cxnSp>
        <p:nvCxnSpPr>
          <p:cNvPr id="3" name="Straight Arrow Connector 2">
            <a:extLst>
              <a:ext uri="{FF2B5EF4-FFF2-40B4-BE49-F238E27FC236}">
                <a16:creationId xmlns:a16="http://schemas.microsoft.com/office/drawing/2014/main" id="{318E3892-B91A-4BE3-89DB-2C908DAFE4D3}"/>
              </a:ext>
            </a:extLst>
          </p:cNvPr>
          <p:cNvCxnSpPr/>
          <p:nvPr/>
        </p:nvCxnSpPr>
        <p:spPr bwMode="auto">
          <a:xfrm>
            <a:off x="5334000" y="1295400"/>
            <a:ext cx="0" cy="45720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4" name="TextBox 3">
            <a:extLst>
              <a:ext uri="{FF2B5EF4-FFF2-40B4-BE49-F238E27FC236}">
                <a16:creationId xmlns:a16="http://schemas.microsoft.com/office/drawing/2014/main" id="{E3B77FBB-943C-428D-A437-68959E507FA5}"/>
              </a:ext>
            </a:extLst>
          </p:cNvPr>
          <p:cNvSpPr txBox="1"/>
          <p:nvPr/>
        </p:nvSpPr>
        <p:spPr>
          <a:xfrm>
            <a:off x="4876800" y="1217967"/>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AN</a:t>
            </a:r>
          </a:p>
        </p:txBody>
      </p:sp>
      <p:cxnSp>
        <p:nvCxnSpPr>
          <p:cNvPr id="9" name="Straight Arrow Connector 8">
            <a:extLst>
              <a:ext uri="{FF2B5EF4-FFF2-40B4-BE49-F238E27FC236}">
                <a16:creationId xmlns:a16="http://schemas.microsoft.com/office/drawing/2014/main" id="{CB76497B-9366-452B-91B9-5786EDEC05BA}"/>
              </a:ext>
            </a:extLst>
          </p:cNvPr>
          <p:cNvCxnSpPr>
            <a:cxnSpLocks/>
          </p:cNvCxnSpPr>
          <p:nvPr/>
        </p:nvCxnSpPr>
        <p:spPr bwMode="auto">
          <a:xfrm flipV="1">
            <a:off x="5410199" y="2879398"/>
            <a:ext cx="0" cy="625802"/>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cxnSp>
        <p:nvCxnSpPr>
          <p:cNvPr id="13" name="Straight Arrow Connector 12">
            <a:extLst>
              <a:ext uri="{FF2B5EF4-FFF2-40B4-BE49-F238E27FC236}">
                <a16:creationId xmlns:a16="http://schemas.microsoft.com/office/drawing/2014/main" id="{F033857B-221E-4923-BCF1-DBD3490D0B88}"/>
              </a:ext>
            </a:extLst>
          </p:cNvPr>
          <p:cNvCxnSpPr>
            <a:cxnSpLocks/>
          </p:cNvCxnSpPr>
          <p:nvPr/>
        </p:nvCxnSpPr>
        <p:spPr bwMode="auto">
          <a:xfrm>
            <a:off x="4724400" y="2708563"/>
            <a:ext cx="609600" cy="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15" name="TextBox 14">
            <a:extLst>
              <a:ext uri="{FF2B5EF4-FFF2-40B4-BE49-F238E27FC236}">
                <a16:creationId xmlns:a16="http://schemas.microsoft.com/office/drawing/2014/main" id="{BBEF5F15-63DE-43C3-8783-0AE380222510}"/>
              </a:ext>
            </a:extLst>
          </p:cNvPr>
          <p:cNvSpPr txBox="1"/>
          <p:nvPr/>
        </p:nvSpPr>
        <p:spPr>
          <a:xfrm>
            <a:off x="4724400" y="2651941"/>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BN</a:t>
            </a:r>
          </a:p>
        </p:txBody>
      </p:sp>
      <p:sp>
        <p:nvSpPr>
          <p:cNvPr id="16" name="TextBox 15">
            <a:extLst>
              <a:ext uri="{FF2B5EF4-FFF2-40B4-BE49-F238E27FC236}">
                <a16:creationId xmlns:a16="http://schemas.microsoft.com/office/drawing/2014/main" id="{F22B548A-3028-4827-B8EC-5AE2ACF3A0AE}"/>
              </a:ext>
            </a:extLst>
          </p:cNvPr>
          <p:cNvSpPr txBox="1"/>
          <p:nvPr/>
        </p:nvSpPr>
        <p:spPr>
          <a:xfrm>
            <a:off x="4876800" y="3056204"/>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CN</a:t>
            </a:r>
          </a:p>
        </p:txBody>
      </p:sp>
    </p:spTree>
    <p:extLst>
      <p:ext uri="{BB962C8B-B14F-4D97-AF65-F5344CB8AC3E}">
        <p14:creationId xmlns:p14="http://schemas.microsoft.com/office/powerpoint/2010/main" val="2223927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Other Useful Terminology</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48225" y="4348325"/>
            <a:ext cx="8240620" cy="1329013"/>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It is not difficult to show that the </a:t>
            </a:r>
            <a:r>
              <a:rPr lang="en-US" altLang="en-US" sz="2800" b="1" dirty="0"/>
              <a:t>line voltages </a:t>
            </a:r>
            <a:r>
              <a:rPr lang="en-US" altLang="en-US" sz="2800" dirty="0"/>
              <a:t>form a balanced three-phase set.  In addition, the </a:t>
            </a:r>
            <a:r>
              <a:rPr lang="en-US" altLang="en-US" sz="2800" b="1" dirty="0"/>
              <a:t>phase voltages</a:t>
            </a:r>
            <a:r>
              <a:rPr lang="en-US" altLang="en-US" sz="2800" dirty="0"/>
              <a:t> also form a balanced three-phase set.  </a:t>
            </a:r>
            <a:endParaRPr lang="en-US" sz="2800" kern="0" dirty="0"/>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451690" y="777088"/>
            <a:ext cx="5568110" cy="3279781"/>
          </a:xfrm>
          <a:prstGeom prst="rect">
            <a:avLst/>
          </a:prstGeom>
        </p:spPr>
      </p:pic>
      <p:sp>
        <p:nvSpPr>
          <p:cNvPr id="8" name="TextBox 7">
            <a:extLst>
              <a:ext uri="{FF2B5EF4-FFF2-40B4-BE49-F238E27FC236}">
                <a16:creationId xmlns:a16="http://schemas.microsoft.com/office/drawing/2014/main" id="{24AF89C5-5D43-41A3-BA5C-58B5342ACA79}"/>
              </a:ext>
            </a:extLst>
          </p:cNvPr>
          <p:cNvSpPr txBox="1"/>
          <p:nvPr/>
        </p:nvSpPr>
        <p:spPr>
          <a:xfrm>
            <a:off x="6756761" y="2108399"/>
            <a:ext cx="2362994" cy="1754326"/>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We have added the three phase currents. </a:t>
            </a:r>
          </a:p>
        </p:txBody>
      </p:sp>
      <p:cxnSp>
        <p:nvCxnSpPr>
          <p:cNvPr id="3" name="Straight Arrow Connector 2">
            <a:extLst>
              <a:ext uri="{FF2B5EF4-FFF2-40B4-BE49-F238E27FC236}">
                <a16:creationId xmlns:a16="http://schemas.microsoft.com/office/drawing/2014/main" id="{318E3892-B91A-4BE3-89DB-2C908DAFE4D3}"/>
              </a:ext>
            </a:extLst>
          </p:cNvPr>
          <p:cNvCxnSpPr/>
          <p:nvPr/>
        </p:nvCxnSpPr>
        <p:spPr bwMode="auto">
          <a:xfrm>
            <a:off x="5334000" y="1295400"/>
            <a:ext cx="0" cy="45720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4" name="TextBox 3">
            <a:extLst>
              <a:ext uri="{FF2B5EF4-FFF2-40B4-BE49-F238E27FC236}">
                <a16:creationId xmlns:a16="http://schemas.microsoft.com/office/drawing/2014/main" id="{E3B77FBB-943C-428D-A437-68959E507FA5}"/>
              </a:ext>
            </a:extLst>
          </p:cNvPr>
          <p:cNvSpPr txBox="1"/>
          <p:nvPr/>
        </p:nvSpPr>
        <p:spPr>
          <a:xfrm>
            <a:off x="4876800" y="1217967"/>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AN</a:t>
            </a:r>
          </a:p>
        </p:txBody>
      </p:sp>
      <p:cxnSp>
        <p:nvCxnSpPr>
          <p:cNvPr id="9" name="Straight Arrow Connector 8">
            <a:extLst>
              <a:ext uri="{FF2B5EF4-FFF2-40B4-BE49-F238E27FC236}">
                <a16:creationId xmlns:a16="http://schemas.microsoft.com/office/drawing/2014/main" id="{CB76497B-9366-452B-91B9-5786EDEC05BA}"/>
              </a:ext>
            </a:extLst>
          </p:cNvPr>
          <p:cNvCxnSpPr>
            <a:cxnSpLocks/>
          </p:cNvCxnSpPr>
          <p:nvPr/>
        </p:nvCxnSpPr>
        <p:spPr bwMode="auto">
          <a:xfrm flipV="1">
            <a:off x="5410199" y="2879398"/>
            <a:ext cx="0" cy="625802"/>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cxnSp>
        <p:nvCxnSpPr>
          <p:cNvPr id="13" name="Straight Arrow Connector 12">
            <a:extLst>
              <a:ext uri="{FF2B5EF4-FFF2-40B4-BE49-F238E27FC236}">
                <a16:creationId xmlns:a16="http://schemas.microsoft.com/office/drawing/2014/main" id="{F033857B-221E-4923-BCF1-DBD3490D0B88}"/>
              </a:ext>
            </a:extLst>
          </p:cNvPr>
          <p:cNvCxnSpPr>
            <a:cxnSpLocks/>
          </p:cNvCxnSpPr>
          <p:nvPr/>
        </p:nvCxnSpPr>
        <p:spPr bwMode="auto">
          <a:xfrm>
            <a:off x="4724400" y="2708563"/>
            <a:ext cx="609600" cy="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15" name="TextBox 14">
            <a:extLst>
              <a:ext uri="{FF2B5EF4-FFF2-40B4-BE49-F238E27FC236}">
                <a16:creationId xmlns:a16="http://schemas.microsoft.com/office/drawing/2014/main" id="{BBEF5F15-63DE-43C3-8783-0AE380222510}"/>
              </a:ext>
            </a:extLst>
          </p:cNvPr>
          <p:cNvSpPr txBox="1"/>
          <p:nvPr/>
        </p:nvSpPr>
        <p:spPr>
          <a:xfrm>
            <a:off x="4724400" y="2651941"/>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BN</a:t>
            </a:r>
          </a:p>
        </p:txBody>
      </p:sp>
      <p:sp>
        <p:nvSpPr>
          <p:cNvPr id="16" name="TextBox 15">
            <a:extLst>
              <a:ext uri="{FF2B5EF4-FFF2-40B4-BE49-F238E27FC236}">
                <a16:creationId xmlns:a16="http://schemas.microsoft.com/office/drawing/2014/main" id="{F22B548A-3028-4827-B8EC-5AE2ACF3A0AE}"/>
              </a:ext>
            </a:extLst>
          </p:cNvPr>
          <p:cNvSpPr txBox="1"/>
          <p:nvPr/>
        </p:nvSpPr>
        <p:spPr>
          <a:xfrm>
            <a:off x="4876800" y="3056204"/>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CN</a:t>
            </a:r>
          </a:p>
        </p:txBody>
      </p:sp>
    </p:spTree>
    <p:extLst>
      <p:ext uri="{BB962C8B-B14F-4D97-AF65-F5344CB8AC3E}">
        <p14:creationId xmlns:p14="http://schemas.microsoft.com/office/powerpoint/2010/main" val="4037192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Other Useful Terminology</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69008" y="4094683"/>
            <a:ext cx="8240620" cy="2621675"/>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The </a:t>
            </a:r>
            <a:r>
              <a:rPr lang="en-US" altLang="en-US" sz="2800" b="1" dirty="0"/>
              <a:t>line voltages </a:t>
            </a:r>
            <a:r>
              <a:rPr lang="en-US" altLang="en-US" sz="2800" dirty="0"/>
              <a:t>form a balanced three-phase set, and the </a:t>
            </a:r>
            <a:r>
              <a:rPr lang="en-US" altLang="en-US" sz="2800" b="1" dirty="0"/>
              <a:t>phase voltages</a:t>
            </a:r>
            <a:r>
              <a:rPr lang="en-US" altLang="en-US" sz="2800" dirty="0"/>
              <a:t> form a balanced three-phase set.  The </a:t>
            </a:r>
            <a:r>
              <a:rPr lang="en-US" altLang="en-US" sz="2800" b="1" dirty="0"/>
              <a:t>line currents </a:t>
            </a:r>
            <a:r>
              <a:rPr lang="en-US" altLang="en-US" sz="2800" dirty="0"/>
              <a:t>and the </a:t>
            </a:r>
            <a:r>
              <a:rPr lang="en-US" altLang="en-US" sz="2800" b="1" dirty="0"/>
              <a:t>phase currents</a:t>
            </a:r>
            <a:r>
              <a:rPr lang="en-US" altLang="en-US" sz="2800" dirty="0"/>
              <a:t> also each form balanced three-phase sets.  Remember, this means that they have the same magnitudes, and the phases differ by </a:t>
            </a:r>
            <a:r>
              <a:rPr lang="en-US" sz="2800" dirty="0"/>
              <a:t>120</a:t>
            </a:r>
            <a:r>
              <a:rPr lang="en-US" sz="2800" dirty="0">
                <a:latin typeface="Symbol" panose="05050102010706020507" pitchFamily="18" charset="2"/>
              </a:rPr>
              <a:t>°</a:t>
            </a:r>
            <a:r>
              <a:rPr lang="en-US" altLang="en-US" sz="2800" dirty="0"/>
              <a:t>.  </a:t>
            </a:r>
            <a:endParaRPr lang="en-US" sz="2800" kern="0" dirty="0"/>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451690" y="777088"/>
            <a:ext cx="5568110" cy="3279781"/>
          </a:xfrm>
          <a:prstGeom prst="rect">
            <a:avLst/>
          </a:prstGeom>
        </p:spPr>
      </p:pic>
      <p:sp>
        <p:nvSpPr>
          <p:cNvPr id="8" name="TextBox 7">
            <a:extLst>
              <a:ext uri="{FF2B5EF4-FFF2-40B4-BE49-F238E27FC236}">
                <a16:creationId xmlns:a16="http://schemas.microsoft.com/office/drawing/2014/main" id="{24AF89C5-5D43-41A3-BA5C-58B5342ACA79}"/>
              </a:ext>
            </a:extLst>
          </p:cNvPr>
          <p:cNvSpPr txBox="1"/>
          <p:nvPr/>
        </p:nvSpPr>
        <p:spPr>
          <a:xfrm>
            <a:off x="6756761" y="2108399"/>
            <a:ext cx="2362994" cy="1754326"/>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11.6 in the Nilsson and Reidel textbook, 12</a:t>
            </a:r>
            <a:r>
              <a:rPr lang="en-US" baseline="30000" dirty="0"/>
              <a:t>th</a:t>
            </a:r>
            <a:r>
              <a:rPr lang="en-US" dirty="0"/>
              <a:t>   Ed. We have added the three phase currents. </a:t>
            </a:r>
          </a:p>
        </p:txBody>
      </p:sp>
      <p:cxnSp>
        <p:nvCxnSpPr>
          <p:cNvPr id="3" name="Straight Arrow Connector 2">
            <a:extLst>
              <a:ext uri="{FF2B5EF4-FFF2-40B4-BE49-F238E27FC236}">
                <a16:creationId xmlns:a16="http://schemas.microsoft.com/office/drawing/2014/main" id="{318E3892-B91A-4BE3-89DB-2C908DAFE4D3}"/>
              </a:ext>
            </a:extLst>
          </p:cNvPr>
          <p:cNvCxnSpPr/>
          <p:nvPr/>
        </p:nvCxnSpPr>
        <p:spPr bwMode="auto">
          <a:xfrm>
            <a:off x="5334000" y="1295400"/>
            <a:ext cx="0" cy="45720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4" name="TextBox 3">
            <a:extLst>
              <a:ext uri="{FF2B5EF4-FFF2-40B4-BE49-F238E27FC236}">
                <a16:creationId xmlns:a16="http://schemas.microsoft.com/office/drawing/2014/main" id="{E3B77FBB-943C-428D-A437-68959E507FA5}"/>
              </a:ext>
            </a:extLst>
          </p:cNvPr>
          <p:cNvSpPr txBox="1"/>
          <p:nvPr/>
        </p:nvSpPr>
        <p:spPr>
          <a:xfrm>
            <a:off x="4876800" y="1217967"/>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AN</a:t>
            </a:r>
          </a:p>
        </p:txBody>
      </p:sp>
      <p:cxnSp>
        <p:nvCxnSpPr>
          <p:cNvPr id="9" name="Straight Arrow Connector 8">
            <a:extLst>
              <a:ext uri="{FF2B5EF4-FFF2-40B4-BE49-F238E27FC236}">
                <a16:creationId xmlns:a16="http://schemas.microsoft.com/office/drawing/2014/main" id="{CB76497B-9366-452B-91B9-5786EDEC05BA}"/>
              </a:ext>
            </a:extLst>
          </p:cNvPr>
          <p:cNvCxnSpPr>
            <a:cxnSpLocks/>
          </p:cNvCxnSpPr>
          <p:nvPr/>
        </p:nvCxnSpPr>
        <p:spPr bwMode="auto">
          <a:xfrm flipV="1">
            <a:off x="5410199" y="2879398"/>
            <a:ext cx="0" cy="625802"/>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cxnSp>
        <p:nvCxnSpPr>
          <p:cNvPr id="13" name="Straight Arrow Connector 12">
            <a:extLst>
              <a:ext uri="{FF2B5EF4-FFF2-40B4-BE49-F238E27FC236}">
                <a16:creationId xmlns:a16="http://schemas.microsoft.com/office/drawing/2014/main" id="{F033857B-221E-4923-BCF1-DBD3490D0B88}"/>
              </a:ext>
            </a:extLst>
          </p:cNvPr>
          <p:cNvCxnSpPr>
            <a:cxnSpLocks/>
          </p:cNvCxnSpPr>
          <p:nvPr/>
        </p:nvCxnSpPr>
        <p:spPr bwMode="auto">
          <a:xfrm>
            <a:off x="4724400" y="2708563"/>
            <a:ext cx="609600" cy="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15" name="TextBox 14">
            <a:extLst>
              <a:ext uri="{FF2B5EF4-FFF2-40B4-BE49-F238E27FC236}">
                <a16:creationId xmlns:a16="http://schemas.microsoft.com/office/drawing/2014/main" id="{BBEF5F15-63DE-43C3-8783-0AE380222510}"/>
              </a:ext>
            </a:extLst>
          </p:cNvPr>
          <p:cNvSpPr txBox="1"/>
          <p:nvPr/>
        </p:nvSpPr>
        <p:spPr>
          <a:xfrm>
            <a:off x="4724400" y="2651941"/>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BN</a:t>
            </a:r>
          </a:p>
        </p:txBody>
      </p:sp>
      <p:sp>
        <p:nvSpPr>
          <p:cNvPr id="16" name="TextBox 15">
            <a:extLst>
              <a:ext uri="{FF2B5EF4-FFF2-40B4-BE49-F238E27FC236}">
                <a16:creationId xmlns:a16="http://schemas.microsoft.com/office/drawing/2014/main" id="{F22B548A-3028-4827-B8EC-5AE2ACF3A0AE}"/>
              </a:ext>
            </a:extLst>
          </p:cNvPr>
          <p:cNvSpPr txBox="1"/>
          <p:nvPr/>
        </p:nvSpPr>
        <p:spPr>
          <a:xfrm>
            <a:off x="4876800" y="3056204"/>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CN</a:t>
            </a:r>
          </a:p>
        </p:txBody>
      </p:sp>
    </p:spTree>
    <p:extLst>
      <p:ext uri="{BB962C8B-B14F-4D97-AF65-F5344CB8AC3E}">
        <p14:creationId xmlns:p14="http://schemas.microsoft.com/office/powerpoint/2010/main" val="2972905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Single-Phase Equivalent Circuit</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6332742" y="2466792"/>
            <a:ext cx="2713855" cy="3914336"/>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We can draw what is called a single-phase equivalent circuit, as shown here.  While useful for finding </a:t>
            </a:r>
            <a:r>
              <a:rPr lang="en-US" sz="2800" b="1"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aA</a:t>
            </a:r>
            <a:r>
              <a:rPr lang="en-US" altLang="en-US" sz="2800" dirty="0"/>
              <a:t>, it cannot be used to find </a:t>
            </a:r>
            <a:r>
              <a:rPr lang="en-US" sz="2800" b="1" i="1" kern="0" dirty="0">
                <a:latin typeface="Times New Roman" panose="02020603050405020304" pitchFamily="18" charset="0"/>
                <a:cs typeface="Times New Roman" panose="02020603050405020304" pitchFamily="18" charset="0"/>
              </a:rPr>
              <a:t>I</a:t>
            </a:r>
            <a:r>
              <a:rPr lang="en-US" sz="2800" i="1" kern="0" baseline="-25000" dirty="0">
                <a:latin typeface="Times New Roman" panose="02020603050405020304" pitchFamily="18" charset="0"/>
                <a:cs typeface="Times New Roman" panose="02020603050405020304" pitchFamily="18" charset="0"/>
              </a:rPr>
              <a:t>O</a:t>
            </a:r>
            <a:r>
              <a:rPr lang="en-US" altLang="en-US" sz="2800" dirty="0"/>
              <a:t>.   </a:t>
            </a:r>
            <a:endParaRPr lang="en-US" sz="2800" kern="0" dirty="0"/>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451690" y="777088"/>
            <a:ext cx="5568110" cy="3279781"/>
          </a:xfrm>
          <a:prstGeom prst="rect">
            <a:avLst/>
          </a:prstGeom>
        </p:spPr>
      </p:pic>
      <p:sp>
        <p:nvSpPr>
          <p:cNvPr id="8" name="TextBox 7">
            <a:extLst>
              <a:ext uri="{FF2B5EF4-FFF2-40B4-BE49-F238E27FC236}">
                <a16:creationId xmlns:a16="http://schemas.microsoft.com/office/drawing/2014/main" id="{24AF89C5-5D43-41A3-BA5C-58B5342ACA79}"/>
              </a:ext>
            </a:extLst>
          </p:cNvPr>
          <p:cNvSpPr txBox="1"/>
          <p:nvPr/>
        </p:nvSpPr>
        <p:spPr>
          <a:xfrm>
            <a:off x="6508173" y="837632"/>
            <a:ext cx="2362994" cy="1477328"/>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diagrams are Figures 11.6 and 11.7 in the Nilsson and Reidel textbook, 12</a:t>
            </a:r>
            <a:r>
              <a:rPr lang="en-US" baseline="30000" dirty="0"/>
              <a:t>th</a:t>
            </a:r>
            <a:r>
              <a:rPr lang="en-US" dirty="0"/>
              <a:t>   Ed. </a:t>
            </a:r>
          </a:p>
        </p:txBody>
      </p:sp>
      <p:cxnSp>
        <p:nvCxnSpPr>
          <p:cNvPr id="3" name="Straight Arrow Connector 2">
            <a:extLst>
              <a:ext uri="{FF2B5EF4-FFF2-40B4-BE49-F238E27FC236}">
                <a16:creationId xmlns:a16="http://schemas.microsoft.com/office/drawing/2014/main" id="{318E3892-B91A-4BE3-89DB-2C908DAFE4D3}"/>
              </a:ext>
            </a:extLst>
          </p:cNvPr>
          <p:cNvCxnSpPr/>
          <p:nvPr/>
        </p:nvCxnSpPr>
        <p:spPr bwMode="auto">
          <a:xfrm>
            <a:off x="5334000" y="1295400"/>
            <a:ext cx="0" cy="45720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4" name="TextBox 3">
            <a:extLst>
              <a:ext uri="{FF2B5EF4-FFF2-40B4-BE49-F238E27FC236}">
                <a16:creationId xmlns:a16="http://schemas.microsoft.com/office/drawing/2014/main" id="{E3B77FBB-943C-428D-A437-68959E507FA5}"/>
              </a:ext>
            </a:extLst>
          </p:cNvPr>
          <p:cNvSpPr txBox="1"/>
          <p:nvPr/>
        </p:nvSpPr>
        <p:spPr>
          <a:xfrm>
            <a:off x="4876800" y="1217967"/>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AN</a:t>
            </a:r>
          </a:p>
        </p:txBody>
      </p:sp>
      <p:cxnSp>
        <p:nvCxnSpPr>
          <p:cNvPr id="9" name="Straight Arrow Connector 8">
            <a:extLst>
              <a:ext uri="{FF2B5EF4-FFF2-40B4-BE49-F238E27FC236}">
                <a16:creationId xmlns:a16="http://schemas.microsoft.com/office/drawing/2014/main" id="{CB76497B-9366-452B-91B9-5786EDEC05BA}"/>
              </a:ext>
            </a:extLst>
          </p:cNvPr>
          <p:cNvCxnSpPr>
            <a:cxnSpLocks/>
          </p:cNvCxnSpPr>
          <p:nvPr/>
        </p:nvCxnSpPr>
        <p:spPr bwMode="auto">
          <a:xfrm flipV="1">
            <a:off x="5410199" y="2879398"/>
            <a:ext cx="0" cy="625802"/>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cxnSp>
        <p:nvCxnSpPr>
          <p:cNvPr id="13" name="Straight Arrow Connector 12">
            <a:extLst>
              <a:ext uri="{FF2B5EF4-FFF2-40B4-BE49-F238E27FC236}">
                <a16:creationId xmlns:a16="http://schemas.microsoft.com/office/drawing/2014/main" id="{F033857B-221E-4923-BCF1-DBD3490D0B88}"/>
              </a:ext>
            </a:extLst>
          </p:cNvPr>
          <p:cNvCxnSpPr>
            <a:cxnSpLocks/>
          </p:cNvCxnSpPr>
          <p:nvPr/>
        </p:nvCxnSpPr>
        <p:spPr bwMode="auto">
          <a:xfrm>
            <a:off x="4724400" y="2708563"/>
            <a:ext cx="609600" cy="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15" name="TextBox 14">
            <a:extLst>
              <a:ext uri="{FF2B5EF4-FFF2-40B4-BE49-F238E27FC236}">
                <a16:creationId xmlns:a16="http://schemas.microsoft.com/office/drawing/2014/main" id="{BBEF5F15-63DE-43C3-8783-0AE380222510}"/>
              </a:ext>
            </a:extLst>
          </p:cNvPr>
          <p:cNvSpPr txBox="1"/>
          <p:nvPr/>
        </p:nvSpPr>
        <p:spPr>
          <a:xfrm>
            <a:off x="4724400" y="2651941"/>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BN</a:t>
            </a:r>
          </a:p>
        </p:txBody>
      </p:sp>
      <p:sp>
        <p:nvSpPr>
          <p:cNvPr id="16" name="TextBox 15">
            <a:extLst>
              <a:ext uri="{FF2B5EF4-FFF2-40B4-BE49-F238E27FC236}">
                <a16:creationId xmlns:a16="http://schemas.microsoft.com/office/drawing/2014/main" id="{F22B548A-3028-4827-B8EC-5AE2ACF3A0AE}"/>
              </a:ext>
            </a:extLst>
          </p:cNvPr>
          <p:cNvSpPr txBox="1"/>
          <p:nvPr/>
        </p:nvSpPr>
        <p:spPr>
          <a:xfrm>
            <a:off x="4876800" y="3056204"/>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CN</a:t>
            </a:r>
          </a:p>
        </p:txBody>
      </p:sp>
      <p:pic>
        <p:nvPicPr>
          <p:cNvPr id="14" name="Picture Placeholder 5" descr="The figure illustrates a single-phase equivalent circuit between two y-circuits.&#10;Long description is available in notes, Press F6.">
            <a:extLst>
              <a:ext uri="{FF2B5EF4-FFF2-40B4-BE49-F238E27FC236}">
                <a16:creationId xmlns:a16="http://schemas.microsoft.com/office/drawing/2014/main" id="{10D2F71D-3522-4D7D-801A-211FE1AE2A6E}"/>
              </a:ext>
            </a:extLst>
          </p:cNvPr>
          <p:cNvPicPr>
            <a:picLocks noChangeAspect="1"/>
          </p:cNvPicPr>
          <p:nvPr/>
        </p:nvPicPr>
        <p:blipFill>
          <a:blip r:embed="rId4"/>
          <a:stretch>
            <a:fillRect/>
          </a:stretch>
        </p:blipFill>
        <p:spPr>
          <a:xfrm>
            <a:off x="422344" y="4115293"/>
            <a:ext cx="5626801" cy="2125680"/>
          </a:xfrm>
          <a:prstGeom prst="rect">
            <a:avLst/>
          </a:prstGeom>
        </p:spPr>
      </p:pic>
      <p:cxnSp>
        <p:nvCxnSpPr>
          <p:cNvPr id="17" name="Straight Arrow Connector 16">
            <a:extLst>
              <a:ext uri="{FF2B5EF4-FFF2-40B4-BE49-F238E27FC236}">
                <a16:creationId xmlns:a16="http://schemas.microsoft.com/office/drawing/2014/main" id="{6C3DF74F-5423-4A40-B8F5-7DF5427CEB75}"/>
              </a:ext>
            </a:extLst>
          </p:cNvPr>
          <p:cNvCxnSpPr/>
          <p:nvPr/>
        </p:nvCxnSpPr>
        <p:spPr bwMode="auto">
          <a:xfrm>
            <a:off x="5334000" y="4985729"/>
            <a:ext cx="0" cy="457200"/>
          </a:xfrm>
          <a:prstGeom prst="straightConnector1">
            <a:avLst/>
          </a:prstGeom>
          <a:solidFill>
            <a:schemeClr val="accent1"/>
          </a:solidFill>
          <a:ln w="25400" cap="flat" cmpd="sng" algn="ctr">
            <a:solidFill>
              <a:srgbClr val="0070C0"/>
            </a:solidFill>
            <a:prstDash val="solid"/>
            <a:round/>
            <a:headEnd type="none" w="sm" len="sm"/>
            <a:tailEnd type="triangle"/>
          </a:ln>
          <a:effectLst/>
        </p:spPr>
      </p:cxnSp>
      <p:sp>
        <p:nvSpPr>
          <p:cNvPr id="18" name="TextBox 17">
            <a:extLst>
              <a:ext uri="{FF2B5EF4-FFF2-40B4-BE49-F238E27FC236}">
                <a16:creationId xmlns:a16="http://schemas.microsoft.com/office/drawing/2014/main" id="{49624AFA-B5B6-4D22-BCD7-2662ED4C1C37}"/>
              </a:ext>
            </a:extLst>
          </p:cNvPr>
          <p:cNvSpPr txBox="1"/>
          <p:nvPr/>
        </p:nvSpPr>
        <p:spPr>
          <a:xfrm>
            <a:off x="4876800" y="4908296"/>
            <a:ext cx="533399" cy="369332"/>
          </a:xfrm>
          <a:prstGeom prst="rect">
            <a:avLst/>
          </a:prstGeom>
          <a:noFill/>
        </p:spPr>
        <p:txBody>
          <a:bodyPr wrap="square" rtlCol="0">
            <a:spAutoFit/>
          </a:bodyPr>
          <a:lstStyle/>
          <a:p>
            <a:r>
              <a:rPr lang="en-US" sz="1800" b="1" i="1" dirty="0">
                <a:solidFill>
                  <a:srgbClr val="0070C0"/>
                </a:solidFill>
              </a:rPr>
              <a:t>I</a:t>
            </a:r>
            <a:r>
              <a:rPr lang="en-US" sz="1800" i="1" baseline="-25000" dirty="0">
                <a:solidFill>
                  <a:srgbClr val="0070C0"/>
                </a:solidFill>
              </a:rPr>
              <a:t>AN</a:t>
            </a:r>
          </a:p>
        </p:txBody>
      </p:sp>
    </p:spTree>
    <p:extLst>
      <p:ext uri="{BB962C8B-B14F-4D97-AF65-F5344CB8AC3E}">
        <p14:creationId xmlns:p14="http://schemas.microsoft.com/office/powerpoint/2010/main" val="389959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Line and Phase Voltages</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378207" y="863649"/>
            <a:ext cx="4595137" cy="2252343"/>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400" dirty="0"/>
              <a:t>For the Y-Y connection, we can use standard vector arithmetic to show that there is a relationship between the line voltages and the phase voltages, depending on the sequence.</a:t>
            </a:r>
            <a:endParaRPr lang="en-US" sz="2400" kern="0" dirty="0"/>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105497" y="774952"/>
            <a:ext cx="4161703" cy="2451366"/>
          </a:xfrm>
          <a:prstGeom prst="rect">
            <a:avLst/>
          </a:prstGeom>
        </p:spPr>
      </p:pic>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70656" y="3485324"/>
            <a:ext cx="8802688" cy="3198358"/>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20" name="Content Placeholder 2">
            <a:extLst>
              <a:ext uri="{FF2B5EF4-FFF2-40B4-BE49-F238E27FC236}">
                <a16:creationId xmlns:a16="http://schemas.microsoft.com/office/drawing/2014/main" id="{E1C15920-4AC1-4CF8-8A31-CBBB2698539F}"/>
              </a:ext>
            </a:extLst>
          </p:cNvPr>
          <p:cNvSpPr txBox="1">
            <a:spLocks/>
          </p:cNvSpPr>
          <p:nvPr/>
        </p:nvSpPr>
        <p:spPr bwMode="auto">
          <a:xfrm>
            <a:off x="647195" y="3485324"/>
            <a:ext cx="2517509" cy="313350"/>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1800"/>
              <a:t>Positive (abc) sequence:</a:t>
            </a:r>
            <a:endParaRPr lang="en-US" altLang="en-US" sz="1800" dirty="0"/>
          </a:p>
        </p:txBody>
      </p:sp>
      <p:graphicFrame>
        <p:nvGraphicFramePr>
          <p:cNvPr id="21" name="Object 20" descr="V subscript A B Baseline equals V subscript A N Baseline plus V subscript N B&#10;">
            <a:extLst>
              <a:ext uri="{FF2B5EF4-FFF2-40B4-BE49-F238E27FC236}">
                <a16:creationId xmlns:a16="http://schemas.microsoft.com/office/drawing/2014/main" id="{A8540BE6-AA32-43DC-91B5-BC452EC2D982}"/>
              </a:ext>
            </a:extLst>
          </p:cNvPr>
          <p:cNvGraphicFramePr>
            <a:graphicFrameLocks noChangeAspect="1"/>
          </p:cNvGraphicFramePr>
          <p:nvPr>
            <p:extLst>
              <p:ext uri="{D42A27DB-BD31-4B8C-83A1-F6EECF244321}">
                <p14:modId xmlns:p14="http://schemas.microsoft.com/office/powerpoint/2010/main" val="1504388394"/>
              </p:ext>
            </p:extLst>
          </p:nvPr>
        </p:nvGraphicFramePr>
        <p:xfrm>
          <a:off x="629205" y="3872564"/>
          <a:ext cx="1621612" cy="342427"/>
        </p:xfrm>
        <a:graphic>
          <a:graphicData uri="http://schemas.openxmlformats.org/presentationml/2006/ole">
            <mc:AlternateContent xmlns:mc="http://schemas.openxmlformats.org/markup-compatibility/2006">
              <mc:Choice xmlns:v="urn:schemas-microsoft-com:vml" Requires="v">
                <p:oleObj name="Equation" r:id="rId4" imgW="1066680" imgH="228600" progId="Equation.DSMT4">
                  <p:embed/>
                </p:oleObj>
              </mc:Choice>
              <mc:Fallback>
                <p:oleObj name="Equation" r:id="rId4" imgW="1066680" imgH="228600" progId="Equation.DSMT4">
                  <p:embed/>
                  <p:pic>
                    <p:nvPicPr>
                      <p:cNvPr id="21" name="Object 20" descr="V subscript A B Baseline equals V subscript A N Baseline plus V subscript N B&#10;">
                        <a:extLst>
                          <a:ext uri="{FF2B5EF4-FFF2-40B4-BE49-F238E27FC236}">
                            <a16:creationId xmlns:a16="http://schemas.microsoft.com/office/drawing/2014/main" id="{A8540BE6-AA32-43DC-91B5-BC452EC2D982}"/>
                          </a:ext>
                        </a:extLst>
                      </p:cNvPr>
                      <p:cNvPicPr>
                        <a:picLocks noChangeAspect="1" noChangeArrowheads="1"/>
                      </p:cNvPicPr>
                      <p:nvPr/>
                    </p:nvPicPr>
                    <p:blipFill>
                      <a:blip r:embed="rId5"/>
                      <a:srcRect/>
                      <a:stretch>
                        <a:fillRect/>
                      </a:stretch>
                    </p:blipFill>
                    <p:spPr bwMode="auto">
                      <a:xfrm>
                        <a:off x="629205" y="3872564"/>
                        <a:ext cx="1621612" cy="3424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descr="Equals V subscript A N Baseline minus V subscript B N&#10;">
            <a:extLst>
              <a:ext uri="{FF2B5EF4-FFF2-40B4-BE49-F238E27FC236}">
                <a16:creationId xmlns:a16="http://schemas.microsoft.com/office/drawing/2014/main" id="{65A98643-6151-4613-9A05-74AD1E957AA0}"/>
              </a:ext>
            </a:extLst>
          </p:cNvPr>
          <p:cNvGraphicFramePr>
            <a:graphicFrameLocks noChangeAspect="1"/>
          </p:cNvGraphicFramePr>
          <p:nvPr>
            <p:extLst>
              <p:ext uri="{D42A27DB-BD31-4B8C-83A1-F6EECF244321}">
                <p14:modId xmlns:p14="http://schemas.microsoft.com/office/powerpoint/2010/main" val="1970440149"/>
              </p:ext>
            </p:extLst>
          </p:nvPr>
        </p:nvGraphicFramePr>
        <p:xfrm>
          <a:off x="1043289" y="4282465"/>
          <a:ext cx="1198563" cy="342900"/>
        </p:xfrm>
        <a:graphic>
          <a:graphicData uri="http://schemas.openxmlformats.org/presentationml/2006/ole">
            <mc:AlternateContent xmlns:mc="http://schemas.openxmlformats.org/markup-compatibility/2006">
              <mc:Choice xmlns:v="urn:schemas-microsoft-com:vml" Requires="v">
                <p:oleObj name="Equation" r:id="rId6" imgW="787320" imgH="228600" progId="Equation.DSMT4">
                  <p:embed/>
                </p:oleObj>
              </mc:Choice>
              <mc:Fallback>
                <p:oleObj name="Equation" r:id="rId6" imgW="787320" imgH="228600" progId="Equation.DSMT4">
                  <p:embed/>
                  <p:pic>
                    <p:nvPicPr>
                      <p:cNvPr id="22" name="Object 21" descr="Equals V subscript A N Baseline minus V subscript B N&#10;">
                        <a:extLst>
                          <a:ext uri="{FF2B5EF4-FFF2-40B4-BE49-F238E27FC236}">
                            <a16:creationId xmlns:a16="http://schemas.microsoft.com/office/drawing/2014/main" id="{65A98643-6151-4613-9A05-74AD1E957AA0}"/>
                          </a:ext>
                        </a:extLst>
                      </p:cNvPr>
                      <p:cNvPicPr>
                        <a:picLocks noChangeAspect="1" noChangeArrowheads="1"/>
                      </p:cNvPicPr>
                      <p:nvPr/>
                    </p:nvPicPr>
                    <p:blipFill>
                      <a:blip r:embed="rId7"/>
                      <a:srcRect/>
                      <a:stretch>
                        <a:fillRect/>
                      </a:stretch>
                    </p:blipFill>
                    <p:spPr bwMode="auto">
                      <a:xfrm>
                        <a:off x="1043289" y="4282465"/>
                        <a:ext cx="119856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descr="Equals StartRoot 3 EndRoot V subscript A N Baseline angle V subscript A N Baseline plus 30 degrees.&#10;">
            <a:extLst>
              <a:ext uri="{FF2B5EF4-FFF2-40B4-BE49-F238E27FC236}">
                <a16:creationId xmlns:a16="http://schemas.microsoft.com/office/drawing/2014/main" id="{58DF7510-BB4A-4C42-88BD-954F48B3205E}"/>
              </a:ext>
            </a:extLst>
          </p:cNvPr>
          <p:cNvGraphicFramePr>
            <a:graphicFrameLocks noChangeAspect="1"/>
          </p:cNvGraphicFramePr>
          <p:nvPr>
            <p:extLst>
              <p:ext uri="{D42A27DB-BD31-4B8C-83A1-F6EECF244321}">
                <p14:modId xmlns:p14="http://schemas.microsoft.com/office/powerpoint/2010/main" val="2888161521"/>
              </p:ext>
            </p:extLst>
          </p:nvPr>
        </p:nvGraphicFramePr>
        <p:xfrm>
          <a:off x="1040987" y="4674200"/>
          <a:ext cx="1990725" cy="381000"/>
        </p:xfrm>
        <a:graphic>
          <a:graphicData uri="http://schemas.openxmlformats.org/presentationml/2006/ole">
            <mc:AlternateContent xmlns:mc="http://schemas.openxmlformats.org/markup-compatibility/2006">
              <mc:Choice xmlns:v="urn:schemas-microsoft-com:vml" Requires="v">
                <p:oleObj name="Equation" r:id="rId8" imgW="1307880" imgH="253800" progId="Equation.DSMT4">
                  <p:embed/>
                </p:oleObj>
              </mc:Choice>
              <mc:Fallback>
                <p:oleObj name="Equation" r:id="rId8" imgW="1307880" imgH="253800" progId="Equation.DSMT4">
                  <p:embed/>
                  <p:pic>
                    <p:nvPicPr>
                      <p:cNvPr id="23" name="Object 22" descr="Equals StartRoot 3 EndRoot V subscript A N Baseline angle V subscript A N Baseline plus 30 degrees.&#10;">
                        <a:extLst>
                          <a:ext uri="{FF2B5EF4-FFF2-40B4-BE49-F238E27FC236}">
                            <a16:creationId xmlns:a16="http://schemas.microsoft.com/office/drawing/2014/main" id="{58DF7510-BB4A-4C42-88BD-954F48B3205E}"/>
                          </a:ext>
                        </a:extLst>
                      </p:cNvPr>
                      <p:cNvPicPr>
                        <a:picLocks noChangeAspect="1" noChangeArrowheads="1"/>
                      </p:cNvPicPr>
                      <p:nvPr/>
                    </p:nvPicPr>
                    <p:blipFill>
                      <a:blip r:embed="rId9"/>
                      <a:srcRect/>
                      <a:stretch>
                        <a:fillRect/>
                      </a:stretch>
                    </p:blipFill>
                    <p:spPr bwMode="auto">
                      <a:xfrm>
                        <a:off x="1040987" y="4674200"/>
                        <a:ext cx="19907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4" name="Picture 23" descr="A phasor diagram shows an arrow V sub A B from a point acting upward to the right at 30 degrees from the horizontal. An arrow V sub C A acts upward to the left at approximately 30 degrees from the negative horizontal. An arrow V sub B C acts downward from the same point. V sub A N is a short arrow to the right along the positive horizontal. V sub C N is another short arrow that acts upward to the left at 30 degrees from V sub C A. V sub B N is another short arrow that acts downward to the left at 30 degrees from V sub B C.">
            <a:extLst>
              <a:ext uri="{FF2B5EF4-FFF2-40B4-BE49-F238E27FC236}">
                <a16:creationId xmlns:a16="http://schemas.microsoft.com/office/drawing/2014/main" id="{47E73060-5C87-463B-AEBC-21BE06E80AA9}"/>
              </a:ext>
            </a:extLst>
          </p:cNvPr>
          <p:cNvPicPr>
            <a:picLocks noChangeAspect="1"/>
          </p:cNvPicPr>
          <p:nvPr/>
        </p:nvPicPr>
        <p:blipFill rotWithShape="1">
          <a:blip r:embed="rId10"/>
          <a:srcRect b="50249"/>
          <a:stretch/>
        </p:blipFill>
        <p:spPr>
          <a:xfrm>
            <a:off x="1219200" y="5182017"/>
            <a:ext cx="1634296" cy="1349489"/>
          </a:xfrm>
          <a:prstGeom prst="rect">
            <a:avLst/>
          </a:prstGeom>
        </p:spPr>
      </p:pic>
      <p:sp>
        <p:nvSpPr>
          <p:cNvPr id="25" name="Content Placeholder 3">
            <a:extLst>
              <a:ext uri="{FF2B5EF4-FFF2-40B4-BE49-F238E27FC236}">
                <a16:creationId xmlns:a16="http://schemas.microsoft.com/office/drawing/2014/main" id="{7D769671-508E-4350-AE23-CA60C694791C}"/>
              </a:ext>
            </a:extLst>
          </p:cNvPr>
          <p:cNvSpPr txBox="1">
            <a:spLocks/>
          </p:cNvSpPr>
          <p:nvPr/>
        </p:nvSpPr>
        <p:spPr>
          <a:xfrm>
            <a:off x="5316032" y="3520132"/>
            <a:ext cx="2608768" cy="313350"/>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1800" kern="0"/>
              <a:t>Negative (acb) sequence:</a:t>
            </a:r>
            <a:endParaRPr lang="en-US" sz="1800" kern="0" dirty="0"/>
          </a:p>
        </p:txBody>
      </p:sp>
      <p:graphicFrame>
        <p:nvGraphicFramePr>
          <p:cNvPr id="26" name="Object 25" descr="V subscript A B Baseline equals V subscript A N Baseline plus V subscript N B.&#10;">
            <a:extLst>
              <a:ext uri="{FF2B5EF4-FFF2-40B4-BE49-F238E27FC236}">
                <a16:creationId xmlns:a16="http://schemas.microsoft.com/office/drawing/2014/main" id="{A15AF7FB-276D-4788-BB7E-FAC68ECA892F}"/>
              </a:ext>
            </a:extLst>
          </p:cNvPr>
          <p:cNvGraphicFramePr>
            <a:graphicFrameLocks noChangeAspect="1"/>
          </p:cNvGraphicFramePr>
          <p:nvPr>
            <p:extLst>
              <p:ext uri="{D42A27DB-BD31-4B8C-83A1-F6EECF244321}">
                <p14:modId xmlns:p14="http://schemas.microsoft.com/office/powerpoint/2010/main" val="2649049051"/>
              </p:ext>
            </p:extLst>
          </p:nvPr>
        </p:nvGraphicFramePr>
        <p:xfrm>
          <a:off x="5307067" y="3908852"/>
          <a:ext cx="1621612" cy="342427"/>
        </p:xfrm>
        <a:graphic>
          <a:graphicData uri="http://schemas.openxmlformats.org/presentationml/2006/ole">
            <mc:AlternateContent xmlns:mc="http://schemas.openxmlformats.org/markup-compatibility/2006">
              <mc:Choice xmlns:v="urn:schemas-microsoft-com:vml" Requires="v">
                <p:oleObj name="Equation" r:id="rId4" imgW="1066680" imgH="228600" progId="Equation.DSMT4">
                  <p:embed/>
                </p:oleObj>
              </mc:Choice>
              <mc:Fallback>
                <p:oleObj name="Equation" r:id="rId4" imgW="1066680" imgH="228600" progId="Equation.DSMT4">
                  <p:embed/>
                  <p:pic>
                    <p:nvPicPr>
                      <p:cNvPr id="26" name="Object 25" descr="V subscript A B Baseline equals V subscript A N Baseline plus V subscript N B.&#10;">
                        <a:extLst>
                          <a:ext uri="{FF2B5EF4-FFF2-40B4-BE49-F238E27FC236}">
                            <a16:creationId xmlns:a16="http://schemas.microsoft.com/office/drawing/2014/main" id="{A15AF7FB-276D-4788-BB7E-FAC68ECA892F}"/>
                          </a:ext>
                        </a:extLst>
                      </p:cNvPr>
                      <p:cNvPicPr>
                        <a:picLocks noChangeAspect="1" noChangeArrowheads="1"/>
                      </p:cNvPicPr>
                      <p:nvPr/>
                    </p:nvPicPr>
                    <p:blipFill>
                      <a:blip r:embed="rId5"/>
                      <a:srcRect/>
                      <a:stretch>
                        <a:fillRect/>
                      </a:stretch>
                    </p:blipFill>
                    <p:spPr bwMode="auto">
                      <a:xfrm>
                        <a:off x="5307067" y="3908852"/>
                        <a:ext cx="1621612" cy="3424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26" descr="Equals V subscript A N Baseline minus V subscript B N.&#10;">
            <a:extLst>
              <a:ext uri="{FF2B5EF4-FFF2-40B4-BE49-F238E27FC236}">
                <a16:creationId xmlns:a16="http://schemas.microsoft.com/office/drawing/2014/main" id="{6184ECC7-E52A-4AE2-A93C-2C32CB40E0D6}"/>
              </a:ext>
            </a:extLst>
          </p:cNvPr>
          <p:cNvGraphicFramePr>
            <a:graphicFrameLocks noChangeAspect="1"/>
          </p:cNvGraphicFramePr>
          <p:nvPr>
            <p:extLst>
              <p:ext uri="{D42A27DB-BD31-4B8C-83A1-F6EECF244321}">
                <p14:modId xmlns:p14="http://schemas.microsoft.com/office/powerpoint/2010/main" val="2223010623"/>
              </p:ext>
            </p:extLst>
          </p:nvPr>
        </p:nvGraphicFramePr>
        <p:xfrm>
          <a:off x="5731231" y="4299758"/>
          <a:ext cx="1198563" cy="342900"/>
        </p:xfrm>
        <a:graphic>
          <a:graphicData uri="http://schemas.openxmlformats.org/presentationml/2006/ole">
            <mc:AlternateContent xmlns:mc="http://schemas.openxmlformats.org/markup-compatibility/2006">
              <mc:Choice xmlns:v="urn:schemas-microsoft-com:vml" Requires="v">
                <p:oleObj name="Equation" r:id="rId11" imgW="787320" imgH="228600" progId="Equation.DSMT4">
                  <p:embed/>
                </p:oleObj>
              </mc:Choice>
              <mc:Fallback>
                <p:oleObj name="Equation" r:id="rId11" imgW="787320" imgH="228600" progId="Equation.DSMT4">
                  <p:embed/>
                  <p:pic>
                    <p:nvPicPr>
                      <p:cNvPr id="27" name="Object 26" descr="Equals V subscript A N Baseline minus V subscript B N.&#10;">
                        <a:extLst>
                          <a:ext uri="{FF2B5EF4-FFF2-40B4-BE49-F238E27FC236}">
                            <a16:creationId xmlns:a16="http://schemas.microsoft.com/office/drawing/2014/main" id="{6184ECC7-E52A-4AE2-A93C-2C32CB40E0D6}"/>
                          </a:ext>
                        </a:extLst>
                      </p:cNvPr>
                      <p:cNvPicPr>
                        <a:picLocks noChangeAspect="1" noChangeArrowheads="1"/>
                      </p:cNvPicPr>
                      <p:nvPr/>
                    </p:nvPicPr>
                    <p:blipFill>
                      <a:blip r:embed="rId12"/>
                      <a:srcRect/>
                      <a:stretch>
                        <a:fillRect/>
                      </a:stretch>
                    </p:blipFill>
                    <p:spPr bwMode="auto">
                      <a:xfrm>
                        <a:off x="5731231" y="4299758"/>
                        <a:ext cx="119856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7" descr="Equals StartRoot EndRoot 3 V subscript A N Baseline angle V subscript A N Baseline minus 30 degrees.&#10;">
            <a:extLst>
              <a:ext uri="{FF2B5EF4-FFF2-40B4-BE49-F238E27FC236}">
                <a16:creationId xmlns:a16="http://schemas.microsoft.com/office/drawing/2014/main" id="{9B49C7D6-F999-4CA1-A64C-39F77188DABF}"/>
              </a:ext>
            </a:extLst>
          </p:cNvPr>
          <p:cNvGraphicFramePr>
            <a:graphicFrameLocks noChangeAspect="1"/>
          </p:cNvGraphicFramePr>
          <p:nvPr>
            <p:extLst>
              <p:ext uri="{D42A27DB-BD31-4B8C-83A1-F6EECF244321}">
                <p14:modId xmlns:p14="http://schemas.microsoft.com/office/powerpoint/2010/main" val="1115487593"/>
              </p:ext>
            </p:extLst>
          </p:nvPr>
        </p:nvGraphicFramePr>
        <p:xfrm>
          <a:off x="5741015" y="4689469"/>
          <a:ext cx="1990725" cy="381000"/>
        </p:xfrm>
        <a:graphic>
          <a:graphicData uri="http://schemas.openxmlformats.org/presentationml/2006/ole">
            <mc:AlternateContent xmlns:mc="http://schemas.openxmlformats.org/markup-compatibility/2006">
              <mc:Choice xmlns:v="urn:schemas-microsoft-com:vml" Requires="v">
                <p:oleObj name="Equation" r:id="rId13" imgW="1307880" imgH="253800" progId="Equation.DSMT4">
                  <p:embed/>
                </p:oleObj>
              </mc:Choice>
              <mc:Fallback>
                <p:oleObj name="Equation" r:id="rId13" imgW="1307880" imgH="253800" progId="Equation.DSMT4">
                  <p:embed/>
                  <p:pic>
                    <p:nvPicPr>
                      <p:cNvPr id="28" name="Object 27" descr="Equals StartRoot EndRoot 3 V subscript A N Baseline angle V subscript A N Baseline minus 30 degrees.&#10;">
                        <a:extLst>
                          <a:ext uri="{FF2B5EF4-FFF2-40B4-BE49-F238E27FC236}">
                            <a16:creationId xmlns:a16="http://schemas.microsoft.com/office/drawing/2014/main" id="{9B49C7D6-F999-4CA1-A64C-39F77188DABF}"/>
                          </a:ext>
                        </a:extLst>
                      </p:cNvPr>
                      <p:cNvPicPr>
                        <a:picLocks noChangeAspect="1" noChangeArrowheads="1"/>
                      </p:cNvPicPr>
                      <p:nvPr/>
                    </p:nvPicPr>
                    <p:blipFill>
                      <a:blip r:embed="rId14"/>
                      <a:srcRect/>
                      <a:stretch>
                        <a:fillRect/>
                      </a:stretch>
                    </p:blipFill>
                    <p:spPr bwMode="auto">
                      <a:xfrm>
                        <a:off x="5741015" y="4689469"/>
                        <a:ext cx="19907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9" name="Picture 28" descr="A phasor diagram shows an arrow V sub A B from a point acting downward to the right at 30 degrees from the horizontal. An arrow V sub C A acts downward to the left at approximately 30 degrees from the negative horizontal. An arrow V sub B C acts upward from the same point. V sub A N is a short arrow to the right along the positive horizontal. V sub C N is another short arrow that acts downward to the left at an angle of 30 degrees from V sub C A in anticlockwise direction. V sub B N is another short arrow that acts upward to the left at 30 degrees from V sub B C.">
            <a:extLst>
              <a:ext uri="{FF2B5EF4-FFF2-40B4-BE49-F238E27FC236}">
                <a16:creationId xmlns:a16="http://schemas.microsoft.com/office/drawing/2014/main" id="{7C2E7008-5750-4A5A-9C89-7BA048C34891}"/>
              </a:ext>
            </a:extLst>
          </p:cNvPr>
          <p:cNvPicPr>
            <a:picLocks noChangeAspect="1"/>
          </p:cNvPicPr>
          <p:nvPr/>
        </p:nvPicPr>
        <p:blipFill rotWithShape="1">
          <a:blip r:embed="rId10"/>
          <a:srcRect t="51496"/>
          <a:stretch/>
        </p:blipFill>
        <p:spPr>
          <a:xfrm>
            <a:off x="5788333" y="5144237"/>
            <a:ext cx="1726151" cy="1389601"/>
          </a:xfrm>
          <a:prstGeom prst="rect">
            <a:avLst/>
          </a:prstGeom>
        </p:spPr>
      </p:pic>
    </p:spTree>
    <p:extLst>
      <p:ext uri="{BB962C8B-B14F-4D97-AF65-F5344CB8AC3E}">
        <p14:creationId xmlns:p14="http://schemas.microsoft.com/office/powerpoint/2010/main" val="49049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Line and Phase Voltages</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378207" y="759568"/>
            <a:ext cx="4595137" cy="2621675"/>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The notation below means the following:  The magnitude of the line voltage is the square-root of three times the magnitude of the phase voltage.   </a:t>
            </a:r>
            <a:endParaRPr lang="en-US" sz="2800" kern="0" dirty="0"/>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105497" y="774952"/>
            <a:ext cx="4161703" cy="2451366"/>
          </a:xfrm>
          <a:prstGeom prst="rect">
            <a:avLst/>
          </a:prstGeom>
        </p:spPr>
      </p:pic>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70656" y="3485324"/>
            <a:ext cx="8802688" cy="3198358"/>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20" name="Content Placeholder 2">
            <a:extLst>
              <a:ext uri="{FF2B5EF4-FFF2-40B4-BE49-F238E27FC236}">
                <a16:creationId xmlns:a16="http://schemas.microsoft.com/office/drawing/2014/main" id="{E1C15920-4AC1-4CF8-8A31-CBBB2698539F}"/>
              </a:ext>
            </a:extLst>
          </p:cNvPr>
          <p:cNvSpPr txBox="1">
            <a:spLocks/>
          </p:cNvSpPr>
          <p:nvPr/>
        </p:nvSpPr>
        <p:spPr bwMode="auto">
          <a:xfrm>
            <a:off x="647195" y="3485324"/>
            <a:ext cx="2517509" cy="313350"/>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1800"/>
              <a:t>Positive (abc) sequence:</a:t>
            </a:r>
            <a:endParaRPr lang="en-US" altLang="en-US" sz="1800" dirty="0"/>
          </a:p>
        </p:txBody>
      </p:sp>
      <p:graphicFrame>
        <p:nvGraphicFramePr>
          <p:cNvPr id="21" name="Object 20" descr="V subscript A B Baseline equals V subscript A N Baseline plus V subscript N B&#10;">
            <a:extLst>
              <a:ext uri="{FF2B5EF4-FFF2-40B4-BE49-F238E27FC236}">
                <a16:creationId xmlns:a16="http://schemas.microsoft.com/office/drawing/2014/main" id="{A8540BE6-AA32-43DC-91B5-BC452EC2D982}"/>
              </a:ext>
            </a:extLst>
          </p:cNvPr>
          <p:cNvGraphicFramePr>
            <a:graphicFrameLocks noChangeAspect="1"/>
          </p:cNvGraphicFramePr>
          <p:nvPr/>
        </p:nvGraphicFramePr>
        <p:xfrm>
          <a:off x="629205" y="3872564"/>
          <a:ext cx="1621612" cy="342427"/>
        </p:xfrm>
        <a:graphic>
          <a:graphicData uri="http://schemas.openxmlformats.org/presentationml/2006/ole">
            <mc:AlternateContent xmlns:mc="http://schemas.openxmlformats.org/markup-compatibility/2006">
              <mc:Choice xmlns:v="urn:schemas-microsoft-com:vml" Requires="v">
                <p:oleObj name="Equation" r:id="rId4" imgW="1066680" imgH="228600" progId="Equation.DSMT4">
                  <p:embed/>
                </p:oleObj>
              </mc:Choice>
              <mc:Fallback>
                <p:oleObj name="Equation" r:id="rId4" imgW="1066680" imgH="228600" progId="Equation.DSMT4">
                  <p:embed/>
                  <p:pic>
                    <p:nvPicPr>
                      <p:cNvPr id="21" name="Object 20" descr="V subscript A B Baseline equals V subscript A N Baseline plus V subscript N B&#10;">
                        <a:extLst>
                          <a:ext uri="{FF2B5EF4-FFF2-40B4-BE49-F238E27FC236}">
                            <a16:creationId xmlns:a16="http://schemas.microsoft.com/office/drawing/2014/main" id="{A8540BE6-AA32-43DC-91B5-BC452EC2D982}"/>
                          </a:ext>
                        </a:extLst>
                      </p:cNvPr>
                      <p:cNvPicPr>
                        <a:picLocks noChangeAspect="1" noChangeArrowheads="1"/>
                      </p:cNvPicPr>
                      <p:nvPr/>
                    </p:nvPicPr>
                    <p:blipFill>
                      <a:blip r:embed="rId5"/>
                      <a:srcRect/>
                      <a:stretch>
                        <a:fillRect/>
                      </a:stretch>
                    </p:blipFill>
                    <p:spPr bwMode="auto">
                      <a:xfrm>
                        <a:off x="629205" y="3872564"/>
                        <a:ext cx="1621612" cy="3424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descr="Equals V subscript A N Baseline minus V subscript B N&#10;">
            <a:extLst>
              <a:ext uri="{FF2B5EF4-FFF2-40B4-BE49-F238E27FC236}">
                <a16:creationId xmlns:a16="http://schemas.microsoft.com/office/drawing/2014/main" id="{65A98643-6151-4613-9A05-74AD1E957AA0}"/>
              </a:ext>
            </a:extLst>
          </p:cNvPr>
          <p:cNvGraphicFramePr>
            <a:graphicFrameLocks noChangeAspect="1"/>
          </p:cNvGraphicFramePr>
          <p:nvPr/>
        </p:nvGraphicFramePr>
        <p:xfrm>
          <a:off x="1043289" y="4282465"/>
          <a:ext cx="1198563" cy="342900"/>
        </p:xfrm>
        <a:graphic>
          <a:graphicData uri="http://schemas.openxmlformats.org/presentationml/2006/ole">
            <mc:AlternateContent xmlns:mc="http://schemas.openxmlformats.org/markup-compatibility/2006">
              <mc:Choice xmlns:v="urn:schemas-microsoft-com:vml" Requires="v">
                <p:oleObj name="Equation" r:id="rId6" imgW="787320" imgH="228600" progId="Equation.DSMT4">
                  <p:embed/>
                </p:oleObj>
              </mc:Choice>
              <mc:Fallback>
                <p:oleObj name="Equation" r:id="rId6" imgW="787320" imgH="228600" progId="Equation.DSMT4">
                  <p:embed/>
                  <p:pic>
                    <p:nvPicPr>
                      <p:cNvPr id="22" name="Object 21" descr="Equals V subscript A N Baseline minus V subscript B N&#10;">
                        <a:extLst>
                          <a:ext uri="{FF2B5EF4-FFF2-40B4-BE49-F238E27FC236}">
                            <a16:creationId xmlns:a16="http://schemas.microsoft.com/office/drawing/2014/main" id="{65A98643-6151-4613-9A05-74AD1E957AA0}"/>
                          </a:ext>
                        </a:extLst>
                      </p:cNvPr>
                      <p:cNvPicPr>
                        <a:picLocks noChangeAspect="1" noChangeArrowheads="1"/>
                      </p:cNvPicPr>
                      <p:nvPr/>
                    </p:nvPicPr>
                    <p:blipFill>
                      <a:blip r:embed="rId7"/>
                      <a:srcRect/>
                      <a:stretch>
                        <a:fillRect/>
                      </a:stretch>
                    </p:blipFill>
                    <p:spPr bwMode="auto">
                      <a:xfrm>
                        <a:off x="1043289" y="4282465"/>
                        <a:ext cx="119856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descr="Equals StartRoot 3 EndRoot V subscript A N Baseline angle V subscript A N Baseline plus 30 degrees.&#10;">
            <a:extLst>
              <a:ext uri="{FF2B5EF4-FFF2-40B4-BE49-F238E27FC236}">
                <a16:creationId xmlns:a16="http://schemas.microsoft.com/office/drawing/2014/main" id="{58DF7510-BB4A-4C42-88BD-954F48B3205E}"/>
              </a:ext>
            </a:extLst>
          </p:cNvPr>
          <p:cNvGraphicFramePr>
            <a:graphicFrameLocks noChangeAspect="1"/>
          </p:cNvGraphicFramePr>
          <p:nvPr/>
        </p:nvGraphicFramePr>
        <p:xfrm>
          <a:off x="1040987" y="4674200"/>
          <a:ext cx="1990725" cy="381000"/>
        </p:xfrm>
        <a:graphic>
          <a:graphicData uri="http://schemas.openxmlformats.org/presentationml/2006/ole">
            <mc:AlternateContent xmlns:mc="http://schemas.openxmlformats.org/markup-compatibility/2006">
              <mc:Choice xmlns:v="urn:schemas-microsoft-com:vml" Requires="v">
                <p:oleObj name="Equation" r:id="rId8" imgW="1307880" imgH="253800" progId="Equation.DSMT4">
                  <p:embed/>
                </p:oleObj>
              </mc:Choice>
              <mc:Fallback>
                <p:oleObj name="Equation" r:id="rId8" imgW="1307880" imgH="253800" progId="Equation.DSMT4">
                  <p:embed/>
                  <p:pic>
                    <p:nvPicPr>
                      <p:cNvPr id="23" name="Object 22" descr="Equals StartRoot 3 EndRoot V subscript A N Baseline angle V subscript A N Baseline plus 30 degrees.&#10;">
                        <a:extLst>
                          <a:ext uri="{FF2B5EF4-FFF2-40B4-BE49-F238E27FC236}">
                            <a16:creationId xmlns:a16="http://schemas.microsoft.com/office/drawing/2014/main" id="{58DF7510-BB4A-4C42-88BD-954F48B3205E}"/>
                          </a:ext>
                        </a:extLst>
                      </p:cNvPr>
                      <p:cNvPicPr>
                        <a:picLocks noChangeAspect="1" noChangeArrowheads="1"/>
                      </p:cNvPicPr>
                      <p:nvPr/>
                    </p:nvPicPr>
                    <p:blipFill>
                      <a:blip r:embed="rId9"/>
                      <a:srcRect/>
                      <a:stretch>
                        <a:fillRect/>
                      </a:stretch>
                    </p:blipFill>
                    <p:spPr bwMode="auto">
                      <a:xfrm>
                        <a:off x="1040987" y="4674200"/>
                        <a:ext cx="19907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4" name="Picture 23" descr="A phasor diagram shows an arrow V sub A B from a point acting upward to the right at 30 degrees from the horizontal. An arrow V sub C A acts upward to the left at approximately 30 degrees from the negative horizontal. An arrow V sub B C acts downward from the same point. V sub A N is a short arrow to the right along the positive horizontal. V sub C N is another short arrow that acts upward to the left at 30 degrees from V sub C A. V sub B N is another short arrow that acts downward to the left at 30 degrees from V sub B C.">
            <a:extLst>
              <a:ext uri="{FF2B5EF4-FFF2-40B4-BE49-F238E27FC236}">
                <a16:creationId xmlns:a16="http://schemas.microsoft.com/office/drawing/2014/main" id="{47E73060-5C87-463B-AEBC-21BE06E80AA9}"/>
              </a:ext>
            </a:extLst>
          </p:cNvPr>
          <p:cNvPicPr>
            <a:picLocks noChangeAspect="1"/>
          </p:cNvPicPr>
          <p:nvPr/>
        </p:nvPicPr>
        <p:blipFill rotWithShape="1">
          <a:blip r:embed="rId10"/>
          <a:srcRect b="50249"/>
          <a:stretch/>
        </p:blipFill>
        <p:spPr>
          <a:xfrm>
            <a:off x="1219200" y="5182017"/>
            <a:ext cx="1634296" cy="1349489"/>
          </a:xfrm>
          <a:prstGeom prst="rect">
            <a:avLst/>
          </a:prstGeom>
        </p:spPr>
      </p:pic>
      <p:sp>
        <p:nvSpPr>
          <p:cNvPr id="25" name="Content Placeholder 3">
            <a:extLst>
              <a:ext uri="{FF2B5EF4-FFF2-40B4-BE49-F238E27FC236}">
                <a16:creationId xmlns:a16="http://schemas.microsoft.com/office/drawing/2014/main" id="{7D769671-508E-4350-AE23-CA60C694791C}"/>
              </a:ext>
            </a:extLst>
          </p:cNvPr>
          <p:cNvSpPr txBox="1">
            <a:spLocks/>
          </p:cNvSpPr>
          <p:nvPr/>
        </p:nvSpPr>
        <p:spPr>
          <a:xfrm>
            <a:off x="5316032" y="3520132"/>
            <a:ext cx="2608768" cy="313350"/>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1800" kern="0"/>
              <a:t>Negative (acb) sequence:</a:t>
            </a:r>
            <a:endParaRPr lang="en-US" sz="1800" kern="0" dirty="0"/>
          </a:p>
        </p:txBody>
      </p:sp>
      <p:graphicFrame>
        <p:nvGraphicFramePr>
          <p:cNvPr id="26" name="Object 25" descr="V subscript A B Baseline equals V subscript A N Baseline plus V subscript N B.&#10;">
            <a:extLst>
              <a:ext uri="{FF2B5EF4-FFF2-40B4-BE49-F238E27FC236}">
                <a16:creationId xmlns:a16="http://schemas.microsoft.com/office/drawing/2014/main" id="{A15AF7FB-276D-4788-BB7E-FAC68ECA892F}"/>
              </a:ext>
            </a:extLst>
          </p:cNvPr>
          <p:cNvGraphicFramePr>
            <a:graphicFrameLocks noChangeAspect="1"/>
          </p:cNvGraphicFramePr>
          <p:nvPr/>
        </p:nvGraphicFramePr>
        <p:xfrm>
          <a:off x="5307067" y="3908852"/>
          <a:ext cx="1621612" cy="342427"/>
        </p:xfrm>
        <a:graphic>
          <a:graphicData uri="http://schemas.openxmlformats.org/presentationml/2006/ole">
            <mc:AlternateContent xmlns:mc="http://schemas.openxmlformats.org/markup-compatibility/2006">
              <mc:Choice xmlns:v="urn:schemas-microsoft-com:vml" Requires="v">
                <p:oleObj name="Equation" r:id="rId4" imgW="1066680" imgH="228600" progId="Equation.DSMT4">
                  <p:embed/>
                </p:oleObj>
              </mc:Choice>
              <mc:Fallback>
                <p:oleObj name="Equation" r:id="rId4" imgW="1066680" imgH="228600" progId="Equation.DSMT4">
                  <p:embed/>
                  <p:pic>
                    <p:nvPicPr>
                      <p:cNvPr id="26" name="Object 25" descr="V subscript A B Baseline equals V subscript A N Baseline plus V subscript N B.&#10;">
                        <a:extLst>
                          <a:ext uri="{FF2B5EF4-FFF2-40B4-BE49-F238E27FC236}">
                            <a16:creationId xmlns:a16="http://schemas.microsoft.com/office/drawing/2014/main" id="{A15AF7FB-276D-4788-BB7E-FAC68ECA892F}"/>
                          </a:ext>
                        </a:extLst>
                      </p:cNvPr>
                      <p:cNvPicPr>
                        <a:picLocks noChangeAspect="1" noChangeArrowheads="1"/>
                      </p:cNvPicPr>
                      <p:nvPr/>
                    </p:nvPicPr>
                    <p:blipFill>
                      <a:blip r:embed="rId5"/>
                      <a:srcRect/>
                      <a:stretch>
                        <a:fillRect/>
                      </a:stretch>
                    </p:blipFill>
                    <p:spPr bwMode="auto">
                      <a:xfrm>
                        <a:off x="5307067" y="3908852"/>
                        <a:ext cx="1621612" cy="3424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26" descr="Equals V subscript A N Baseline minus V subscript B N.&#10;">
            <a:extLst>
              <a:ext uri="{FF2B5EF4-FFF2-40B4-BE49-F238E27FC236}">
                <a16:creationId xmlns:a16="http://schemas.microsoft.com/office/drawing/2014/main" id="{6184ECC7-E52A-4AE2-A93C-2C32CB40E0D6}"/>
              </a:ext>
            </a:extLst>
          </p:cNvPr>
          <p:cNvGraphicFramePr>
            <a:graphicFrameLocks noChangeAspect="1"/>
          </p:cNvGraphicFramePr>
          <p:nvPr/>
        </p:nvGraphicFramePr>
        <p:xfrm>
          <a:off x="5731231" y="4299758"/>
          <a:ext cx="1198563" cy="342900"/>
        </p:xfrm>
        <a:graphic>
          <a:graphicData uri="http://schemas.openxmlformats.org/presentationml/2006/ole">
            <mc:AlternateContent xmlns:mc="http://schemas.openxmlformats.org/markup-compatibility/2006">
              <mc:Choice xmlns:v="urn:schemas-microsoft-com:vml" Requires="v">
                <p:oleObj name="Equation" r:id="rId11" imgW="787320" imgH="228600" progId="Equation.DSMT4">
                  <p:embed/>
                </p:oleObj>
              </mc:Choice>
              <mc:Fallback>
                <p:oleObj name="Equation" r:id="rId11" imgW="787320" imgH="228600" progId="Equation.DSMT4">
                  <p:embed/>
                  <p:pic>
                    <p:nvPicPr>
                      <p:cNvPr id="27" name="Object 26" descr="Equals V subscript A N Baseline minus V subscript B N.&#10;">
                        <a:extLst>
                          <a:ext uri="{FF2B5EF4-FFF2-40B4-BE49-F238E27FC236}">
                            <a16:creationId xmlns:a16="http://schemas.microsoft.com/office/drawing/2014/main" id="{6184ECC7-E52A-4AE2-A93C-2C32CB40E0D6}"/>
                          </a:ext>
                        </a:extLst>
                      </p:cNvPr>
                      <p:cNvPicPr>
                        <a:picLocks noChangeAspect="1" noChangeArrowheads="1"/>
                      </p:cNvPicPr>
                      <p:nvPr/>
                    </p:nvPicPr>
                    <p:blipFill>
                      <a:blip r:embed="rId12"/>
                      <a:srcRect/>
                      <a:stretch>
                        <a:fillRect/>
                      </a:stretch>
                    </p:blipFill>
                    <p:spPr bwMode="auto">
                      <a:xfrm>
                        <a:off x="5731231" y="4299758"/>
                        <a:ext cx="119856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7" descr="Equals StartRoot EndRoot 3 V subscript A N Baseline angle V subscript A N Baseline minus 30 degrees.&#10;">
            <a:extLst>
              <a:ext uri="{FF2B5EF4-FFF2-40B4-BE49-F238E27FC236}">
                <a16:creationId xmlns:a16="http://schemas.microsoft.com/office/drawing/2014/main" id="{9B49C7D6-F999-4CA1-A64C-39F77188DABF}"/>
              </a:ext>
            </a:extLst>
          </p:cNvPr>
          <p:cNvGraphicFramePr>
            <a:graphicFrameLocks noChangeAspect="1"/>
          </p:cNvGraphicFramePr>
          <p:nvPr/>
        </p:nvGraphicFramePr>
        <p:xfrm>
          <a:off x="5741015" y="4689469"/>
          <a:ext cx="1990725" cy="381000"/>
        </p:xfrm>
        <a:graphic>
          <a:graphicData uri="http://schemas.openxmlformats.org/presentationml/2006/ole">
            <mc:AlternateContent xmlns:mc="http://schemas.openxmlformats.org/markup-compatibility/2006">
              <mc:Choice xmlns:v="urn:schemas-microsoft-com:vml" Requires="v">
                <p:oleObj name="Equation" r:id="rId13" imgW="1307880" imgH="253800" progId="Equation.DSMT4">
                  <p:embed/>
                </p:oleObj>
              </mc:Choice>
              <mc:Fallback>
                <p:oleObj name="Equation" r:id="rId13" imgW="1307880" imgH="253800" progId="Equation.DSMT4">
                  <p:embed/>
                  <p:pic>
                    <p:nvPicPr>
                      <p:cNvPr id="28" name="Object 27" descr="Equals StartRoot EndRoot 3 V subscript A N Baseline angle V subscript A N Baseline minus 30 degrees.&#10;">
                        <a:extLst>
                          <a:ext uri="{FF2B5EF4-FFF2-40B4-BE49-F238E27FC236}">
                            <a16:creationId xmlns:a16="http://schemas.microsoft.com/office/drawing/2014/main" id="{9B49C7D6-F999-4CA1-A64C-39F77188DABF}"/>
                          </a:ext>
                        </a:extLst>
                      </p:cNvPr>
                      <p:cNvPicPr>
                        <a:picLocks noChangeAspect="1" noChangeArrowheads="1"/>
                      </p:cNvPicPr>
                      <p:nvPr/>
                    </p:nvPicPr>
                    <p:blipFill>
                      <a:blip r:embed="rId14"/>
                      <a:srcRect/>
                      <a:stretch>
                        <a:fillRect/>
                      </a:stretch>
                    </p:blipFill>
                    <p:spPr bwMode="auto">
                      <a:xfrm>
                        <a:off x="5741015" y="4689469"/>
                        <a:ext cx="19907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9" name="Picture 28" descr="A phasor diagram shows an arrow V sub A B from a point acting downward to the right at 30 degrees from the horizontal. An arrow V sub C A acts downward to the left at approximately 30 degrees from the negative horizontal. An arrow V sub B C acts upward from the same point. V sub A N is a short arrow to the right along the positive horizontal. V sub C N is another short arrow that acts downward to the left at an angle of 30 degrees from V sub C A in anticlockwise direction. V sub B N is another short arrow that acts upward to the left at 30 degrees from V sub B C.">
            <a:extLst>
              <a:ext uri="{FF2B5EF4-FFF2-40B4-BE49-F238E27FC236}">
                <a16:creationId xmlns:a16="http://schemas.microsoft.com/office/drawing/2014/main" id="{7C2E7008-5750-4A5A-9C89-7BA048C34891}"/>
              </a:ext>
            </a:extLst>
          </p:cNvPr>
          <p:cNvPicPr>
            <a:picLocks noChangeAspect="1"/>
          </p:cNvPicPr>
          <p:nvPr/>
        </p:nvPicPr>
        <p:blipFill rotWithShape="1">
          <a:blip r:embed="rId10"/>
          <a:srcRect t="51496"/>
          <a:stretch/>
        </p:blipFill>
        <p:spPr>
          <a:xfrm>
            <a:off x="5788333" y="5144237"/>
            <a:ext cx="1726151" cy="1389601"/>
          </a:xfrm>
          <a:prstGeom prst="rect">
            <a:avLst/>
          </a:prstGeom>
        </p:spPr>
      </p:pic>
    </p:spTree>
    <p:extLst>
      <p:ext uri="{BB962C8B-B14F-4D97-AF65-F5344CB8AC3E}">
        <p14:creationId xmlns:p14="http://schemas.microsoft.com/office/powerpoint/2010/main" val="13958839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38400" y="0"/>
            <a:ext cx="6629400" cy="685800"/>
          </a:xfrm>
        </p:spPr>
        <p:txBody>
          <a:bodyPr/>
          <a:lstStyle/>
          <a:p>
            <a:r>
              <a:rPr lang="en-US" sz="3600" dirty="0"/>
              <a:t>Line and Phase Voltages</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4378207" y="759569"/>
            <a:ext cx="4595137" cy="2621675"/>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The notation below means the following:  The phase of the line voltage is the 30  plus or minus that of the corresponding phase of the phase voltage.   </a:t>
            </a:r>
            <a:endParaRPr lang="en-US" sz="2800" kern="0" dirty="0"/>
          </a:p>
        </p:txBody>
      </p:sp>
      <p:pic>
        <p:nvPicPr>
          <p:cNvPr id="12" name="Picture 11"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ED964203-4E2D-41CB-B0C6-0CAC0EE36E8D}"/>
              </a:ext>
            </a:extLst>
          </p:cNvPr>
          <p:cNvPicPr>
            <a:picLocks noChangeAspect="1"/>
          </p:cNvPicPr>
          <p:nvPr/>
        </p:nvPicPr>
        <p:blipFill>
          <a:blip r:embed="rId3"/>
          <a:stretch>
            <a:fillRect/>
          </a:stretch>
        </p:blipFill>
        <p:spPr>
          <a:xfrm>
            <a:off x="105497" y="774952"/>
            <a:ext cx="4161703" cy="2451366"/>
          </a:xfrm>
          <a:prstGeom prst="rect">
            <a:avLst/>
          </a:prstGeom>
        </p:spPr>
      </p:pic>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70656" y="3485324"/>
            <a:ext cx="8802688" cy="3198358"/>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20" name="Content Placeholder 2">
            <a:extLst>
              <a:ext uri="{FF2B5EF4-FFF2-40B4-BE49-F238E27FC236}">
                <a16:creationId xmlns:a16="http://schemas.microsoft.com/office/drawing/2014/main" id="{E1C15920-4AC1-4CF8-8A31-CBBB2698539F}"/>
              </a:ext>
            </a:extLst>
          </p:cNvPr>
          <p:cNvSpPr txBox="1">
            <a:spLocks/>
          </p:cNvSpPr>
          <p:nvPr/>
        </p:nvSpPr>
        <p:spPr bwMode="auto">
          <a:xfrm>
            <a:off x="647195" y="3485324"/>
            <a:ext cx="2517509" cy="313350"/>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1800"/>
              <a:t>Positive (abc) sequence:</a:t>
            </a:r>
            <a:endParaRPr lang="en-US" altLang="en-US" sz="1800" dirty="0"/>
          </a:p>
        </p:txBody>
      </p:sp>
      <p:graphicFrame>
        <p:nvGraphicFramePr>
          <p:cNvPr id="21" name="Object 20" descr="V subscript A B Baseline equals V subscript A N Baseline plus V subscript N B&#10;">
            <a:extLst>
              <a:ext uri="{FF2B5EF4-FFF2-40B4-BE49-F238E27FC236}">
                <a16:creationId xmlns:a16="http://schemas.microsoft.com/office/drawing/2014/main" id="{A8540BE6-AA32-43DC-91B5-BC452EC2D982}"/>
              </a:ext>
            </a:extLst>
          </p:cNvPr>
          <p:cNvGraphicFramePr>
            <a:graphicFrameLocks noChangeAspect="1"/>
          </p:cNvGraphicFramePr>
          <p:nvPr/>
        </p:nvGraphicFramePr>
        <p:xfrm>
          <a:off x="629205" y="3872564"/>
          <a:ext cx="1621612" cy="342427"/>
        </p:xfrm>
        <a:graphic>
          <a:graphicData uri="http://schemas.openxmlformats.org/presentationml/2006/ole">
            <mc:AlternateContent xmlns:mc="http://schemas.openxmlformats.org/markup-compatibility/2006">
              <mc:Choice xmlns:v="urn:schemas-microsoft-com:vml" Requires="v">
                <p:oleObj name="Equation" r:id="rId4" imgW="1066680" imgH="228600" progId="Equation.DSMT4">
                  <p:embed/>
                </p:oleObj>
              </mc:Choice>
              <mc:Fallback>
                <p:oleObj name="Equation" r:id="rId4" imgW="1066680" imgH="228600" progId="Equation.DSMT4">
                  <p:embed/>
                  <p:pic>
                    <p:nvPicPr>
                      <p:cNvPr id="21" name="Object 20" descr="V subscript A B Baseline equals V subscript A N Baseline plus V subscript N B&#10;">
                        <a:extLst>
                          <a:ext uri="{FF2B5EF4-FFF2-40B4-BE49-F238E27FC236}">
                            <a16:creationId xmlns:a16="http://schemas.microsoft.com/office/drawing/2014/main" id="{A8540BE6-AA32-43DC-91B5-BC452EC2D982}"/>
                          </a:ext>
                        </a:extLst>
                      </p:cNvPr>
                      <p:cNvPicPr>
                        <a:picLocks noChangeAspect="1" noChangeArrowheads="1"/>
                      </p:cNvPicPr>
                      <p:nvPr/>
                    </p:nvPicPr>
                    <p:blipFill>
                      <a:blip r:embed="rId5"/>
                      <a:srcRect/>
                      <a:stretch>
                        <a:fillRect/>
                      </a:stretch>
                    </p:blipFill>
                    <p:spPr bwMode="auto">
                      <a:xfrm>
                        <a:off x="629205" y="3872564"/>
                        <a:ext cx="1621612" cy="3424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descr="Equals V subscript A N Baseline minus V subscript B N&#10;">
            <a:extLst>
              <a:ext uri="{FF2B5EF4-FFF2-40B4-BE49-F238E27FC236}">
                <a16:creationId xmlns:a16="http://schemas.microsoft.com/office/drawing/2014/main" id="{65A98643-6151-4613-9A05-74AD1E957AA0}"/>
              </a:ext>
            </a:extLst>
          </p:cNvPr>
          <p:cNvGraphicFramePr>
            <a:graphicFrameLocks noChangeAspect="1"/>
          </p:cNvGraphicFramePr>
          <p:nvPr/>
        </p:nvGraphicFramePr>
        <p:xfrm>
          <a:off x="1043289" y="4282465"/>
          <a:ext cx="1198563" cy="342900"/>
        </p:xfrm>
        <a:graphic>
          <a:graphicData uri="http://schemas.openxmlformats.org/presentationml/2006/ole">
            <mc:AlternateContent xmlns:mc="http://schemas.openxmlformats.org/markup-compatibility/2006">
              <mc:Choice xmlns:v="urn:schemas-microsoft-com:vml" Requires="v">
                <p:oleObj name="Equation" r:id="rId6" imgW="787320" imgH="228600" progId="Equation.DSMT4">
                  <p:embed/>
                </p:oleObj>
              </mc:Choice>
              <mc:Fallback>
                <p:oleObj name="Equation" r:id="rId6" imgW="787320" imgH="228600" progId="Equation.DSMT4">
                  <p:embed/>
                  <p:pic>
                    <p:nvPicPr>
                      <p:cNvPr id="22" name="Object 21" descr="Equals V subscript A N Baseline minus V subscript B N&#10;">
                        <a:extLst>
                          <a:ext uri="{FF2B5EF4-FFF2-40B4-BE49-F238E27FC236}">
                            <a16:creationId xmlns:a16="http://schemas.microsoft.com/office/drawing/2014/main" id="{65A98643-6151-4613-9A05-74AD1E957AA0}"/>
                          </a:ext>
                        </a:extLst>
                      </p:cNvPr>
                      <p:cNvPicPr>
                        <a:picLocks noChangeAspect="1" noChangeArrowheads="1"/>
                      </p:cNvPicPr>
                      <p:nvPr/>
                    </p:nvPicPr>
                    <p:blipFill>
                      <a:blip r:embed="rId7"/>
                      <a:srcRect/>
                      <a:stretch>
                        <a:fillRect/>
                      </a:stretch>
                    </p:blipFill>
                    <p:spPr bwMode="auto">
                      <a:xfrm>
                        <a:off x="1043289" y="4282465"/>
                        <a:ext cx="119856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descr="Equals StartRoot 3 EndRoot V subscript A N Baseline angle V subscript A N Baseline plus 30 degrees.&#10;">
            <a:extLst>
              <a:ext uri="{FF2B5EF4-FFF2-40B4-BE49-F238E27FC236}">
                <a16:creationId xmlns:a16="http://schemas.microsoft.com/office/drawing/2014/main" id="{58DF7510-BB4A-4C42-88BD-954F48B3205E}"/>
              </a:ext>
            </a:extLst>
          </p:cNvPr>
          <p:cNvGraphicFramePr>
            <a:graphicFrameLocks noChangeAspect="1"/>
          </p:cNvGraphicFramePr>
          <p:nvPr/>
        </p:nvGraphicFramePr>
        <p:xfrm>
          <a:off x="1040987" y="4674200"/>
          <a:ext cx="1990725" cy="381000"/>
        </p:xfrm>
        <a:graphic>
          <a:graphicData uri="http://schemas.openxmlformats.org/presentationml/2006/ole">
            <mc:AlternateContent xmlns:mc="http://schemas.openxmlformats.org/markup-compatibility/2006">
              <mc:Choice xmlns:v="urn:schemas-microsoft-com:vml" Requires="v">
                <p:oleObj name="Equation" r:id="rId8" imgW="1307880" imgH="253800" progId="Equation.DSMT4">
                  <p:embed/>
                </p:oleObj>
              </mc:Choice>
              <mc:Fallback>
                <p:oleObj name="Equation" r:id="rId8" imgW="1307880" imgH="253800" progId="Equation.DSMT4">
                  <p:embed/>
                  <p:pic>
                    <p:nvPicPr>
                      <p:cNvPr id="23" name="Object 22" descr="Equals StartRoot 3 EndRoot V subscript A N Baseline angle V subscript A N Baseline plus 30 degrees.&#10;">
                        <a:extLst>
                          <a:ext uri="{FF2B5EF4-FFF2-40B4-BE49-F238E27FC236}">
                            <a16:creationId xmlns:a16="http://schemas.microsoft.com/office/drawing/2014/main" id="{58DF7510-BB4A-4C42-88BD-954F48B3205E}"/>
                          </a:ext>
                        </a:extLst>
                      </p:cNvPr>
                      <p:cNvPicPr>
                        <a:picLocks noChangeAspect="1" noChangeArrowheads="1"/>
                      </p:cNvPicPr>
                      <p:nvPr/>
                    </p:nvPicPr>
                    <p:blipFill>
                      <a:blip r:embed="rId9"/>
                      <a:srcRect/>
                      <a:stretch>
                        <a:fillRect/>
                      </a:stretch>
                    </p:blipFill>
                    <p:spPr bwMode="auto">
                      <a:xfrm>
                        <a:off x="1040987" y="4674200"/>
                        <a:ext cx="19907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4" name="Picture 23" descr="A phasor diagram shows an arrow V sub A B from a point acting upward to the right at 30 degrees from the horizontal. An arrow V sub C A acts upward to the left at approximately 30 degrees from the negative horizontal. An arrow V sub B C acts downward from the same point. V sub A N is a short arrow to the right along the positive horizontal. V sub C N is another short arrow that acts upward to the left at 30 degrees from V sub C A. V sub B N is another short arrow that acts downward to the left at 30 degrees from V sub B C.">
            <a:extLst>
              <a:ext uri="{FF2B5EF4-FFF2-40B4-BE49-F238E27FC236}">
                <a16:creationId xmlns:a16="http://schemas.microsoft.com/office/drawing/2014/main" id="{47E73060-5C87-463B-AEBC-21BE06E80AA9}"/>
              </a:ext>
            </a:extLst>
          </p:cNvPr>
          <p:cNvPicPr>
            <a:picLocks noChangeAspect="1"/>
          </p:cNvPicPr>
          <p:nvPr/>
        </p:nvPicPr>
        <p:blipFill rotWithShape="1">
          <a:blip r:embed="rId10"/>
          <a:srcRect b="50249"/>
          <a:stretch/>
        </p:blipFill>
        <p:spPr>
          <a:xfrm>
            <a:off x="1219200" y="5182017"/>
            <a:ext cx="1634296" cy="1349489"/>
          </a:xfrm>
          <a:prstGeom prst="rect">
            <a:avLst/>
          </a:prstGeom>
        </p:spPr>
      </p:pic>
      <p:sp>
        <p:nvSpPr>
          <p:cNvPr id="25" name="Content Placeholder 3">
            <a:extLst>
              <a:ext uri="{FF2B5EF4-FFF2-40B4-BE49-F238E27FC236}">
                <a16:creationId xmlns:a16="http://schemas.microsoft.com/office/drawing/2014/main" id="{7D769671-508E-4350-AE23-CA60C694791C}"/>
              </a:ext>
            </a:extLst>
          </p:cNvPr>
          <p:cNvSpPr txBox="1">
            <a:spLocks/>
          </p:cNvSpPr>
          <p:nvPr/>
        </p:nvSpPr>
        <p:spPr>
          <a:xfrm>
            <a:off x="5316032" y="3520132"/>
            <a:ext cx="2608768" cy="313350"/>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1800" kern="0"/>
              <a:t>Negative (acb) sequence:</a:t>
            </a:r>
            <a:endParaRPr lang="en-US" sz="1800" kern="0" dirty="0"/>
          </a:p>
        </p:txBody>
      </p:sp>
      <p:graphicFrame>
        <p:nvGraphicFramePr>
          <p:cNvPr id="26" name="Object 25" descr="V subscript A B Baseline equals V subscript A N Baseline plus V subscript N B.&#10;">
            <a:extLst>
              <a:ext uri="{FF2B5EF4-FFF2-40B4-BE49-F238E27FC236}">
                <a16:creationId xmlns:a16="http://schemas.microsoft.com/office/drawing/2014/main" id="{A15AF7FB-276D-4788-BB7E-FAC68ECA892F}"/>
              </a:ext>
            </a:extLst>
          </p:cNvPr>
          <p:cNvGraphicFramePr>
            <a:graphicFrameLocks noChangeAspect="1"/>
          </p:cNvGraphicFramePr>
          <p:nvPr/>
        </p:nvGraphicFramePr>
        <p:xfrm>
          <a:off x="5307067" y="3908852"/>
          <a:ext cx="1621612" cy="342427"/>
        </p:xfrm>
        <a:graphic>
          <a:graphicData uri="http://schemas.openxmlformats.org/presentationml/2006/ole">
            <mc:AlternateContent xmlns:mc="http://schemas.openxmlformats.org/markup-compatibility/2006">
              <mc:Choice xmlns:v="urn:schemas-microsoft-com:vml" Requires="v">
                <p:oleObj name="Equation" r:id="rId4" imgW="1066680" imgH="228600" progId="Equation.DSMT4">
                  <p:embed/>
                </p:oleObj>
              </mc:Choice>
              <mc:Fallback>
                <p:oleObj name="Equation" r:id="rId4" imgW="1066680" imgH="228600" progId="Equation.DSMT4">
                  <p:embed/>
                  <p:pic>
                    <p:nvPicPr>
                      <p:cNvPr id="26" name="Object 25" descr="V subscript A B Baseline equals V subscript A N Baseline plus V subscript N B.&#10;">
                        <a:extLst>
                          <a:ext uri="{FF2B5EF4-FFF2-40B4-BE49-F238E27FC236}">
                            <a16:creationId xmlns:a16="http://schemas.microsoft.com/office/drawing/2014/main" id="{A15AF7FB-276D-4788-BB7E-FAC68ECA892F}"/>
                          </a:ext>
                        </a:extLst>
                      </p:cNvPr>
                      <p:cNvPicPr>
                        <a:picLocks noChangeAspect="1" noChangeArrowheads="1"/>
                      </p:cNvPicPr>
                      <p:nvPr/>
                    </p:nvPicPr>
                    <p:blipFill>
                      <a:blip r:embed="rId5"/>
                      <a:srcRect/>
                      <a:stretch>
                        <a:fillRect/>
                      </a:stretch>
                    </p:blipFill>
                    <p:spPr bwMode="auto">
                      <a:xfrm>
                        <a:off x="5307067" y="3908852"/>
                        <a:ext cx="1621612" cy="3424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26" descr="Equals V subscript A N Baseline minus V subscript B N.&#10;">
            <a:extLst>
              <a:ext uri="{FF2B5EF4-FFF2-40B4-BE49-F238E27FC236}">
                <a16:creationId xmlns:a16="http://schemas.microsoft.com/office/drawing/2014/main" id="{6184ECC7-E52A-4AE2-A93C-2C32CB40E0D6}"/>
              </a:ext>
            </a:extLst>
          </p:cNvPr>
          <p:cNvGraphicFramePr>
            <a:graphicFrameLocks noChangeAspect="1"/>
          </p:cNvGraphicFramePr>
          <p:nvPr/>
        </p:nvGraphicFramePr>
        <p:xfrm>
          <a:off x="5731231" y="4299758"/>
          <a:ext cx="1198563" cy="342900"/>
        </p:xfrm>
        <a:graphic>
          <a:graphicData uri="http://schemas.openxmlformats.org/presentationml/2006/ole">
            <mc:AlternateContent xmlns:mc="http://schemas.openxmlformats.org/markup-compatibility/2006">
              <mc:Choice xmlns:v="urn:schemas-microsoft-com:vml" Requires="v">
                <p:oleObj name="Equation" r:id="rId11" imgW="787320" imgH="228600" progId="Equation.DSMT4">
                  <p:embed/>
                </p:oleObj>
              </mc:Choice>
              <mc:Fallback>
                <p:oleObj name="Equation" r:id="rId11" imgW="787320" imgH="228600" progId="Equation.DSMT4">
                  <p:embed/>
                  <p:pic>
                    <p:nvPicPr>
                      <p:cNvPr id="27" name="Object 26" descr="Equals V subscript A N Baseline minus V subscript B N.&#10;">
                        <a:extLst>
                          <a:ext uri="{FF2B5EF4-FFF2-40B4-BE49-F238E27FC236}">
                            <a16:creationId xmlns:a16="http://schemas.microsoft.com/office/drawing/2014/main" id="{6184ECC7-E52A-4AE2-A93C-2C32CB40E0D6}"/>
                          </a:ext>
                        </a:extLst>
                      </p:cNvPr>
                      <p:cNvPicPr>
                        <a:picLocks noChangeAspect="1" noChangeArrowheads="1"/>
                      </p:cNvPicPr>
                      <p:nvPr/>
                    </p:nvPicPr>
                    <p:blipFill>
                      <a:blip r:embed="rId12"/>
                      <a:srcRect/>
                      <a:stretch>
                        <a:fillRect/>
                      </a:stretch>
                    </p:blipFill>
                    <p:spPr bwMode="auto">
                      <a:xfrm>
                        <a:off x="5731231" y="4299758"/>
                        <a:ext cx="119856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7" descr="Equals StartRoot EndRoot 3 V subscript A N Baseline angle V subscript A N Baseline minus 30 degrees.&#10;">
            <a:extLst>
              <a:ext uri="{FF2B5EF4-FFF2-40B4-BE49-F238E27FC236}">
                <a16:creationId xmlns:a16="http://schemas.microsoft.com/office/drawing/2014/main" id="{9B49C7D6-F999-4CA1-A64C-39F77188DABF}"/>
              </a:ext>
            </a:extLst>
          </p:cNvPr>
          <p:cNvGraphicFramePr>
            <a:graphicFrameLocks noChangeAspect="1"/>
          </p:cNvGraphicFramePr>
          <p:nvPr/>
        </p:nvGraphicFramePr>
        <p:xfrm>
          <a:off x="5741015" y="4689469"/>
          <a:ext cx="1990725" cy="381000"/>
        </p:xfrm>
        <a:graphic>
          <a:graphicData uri="http://schemas.openxmlformats.org/presentationml/2006/ole">
            <mc:AlternateContent xmlns:mc="http://schemas.openxmlformats.org/markup-compatibility/2006">
              <mc:Choice xmlns:v="urn:schemas-microsoft-com:vml" Requires="v">
                <p:oleObj name="Equation" r:id="rId13" imgW="1307880" imgH="253800" progId="Equation.DSMT4">
                  <p:embed/>
                </p:oleObj>
              </mc:Choice>
              <mc:Fallback>
                <p:oleObj name="Equation" r:id="rId13" imgW="1307880" imgH="253800" progId="Equation.DSMT4">
                  <p:embed/>
                  <p:pic>
                    <p:nvPicPr>
                      <p:cNvPr id="28" name="Object 27" descr="Equals StartRoot EndRoot 3 V subscript A N Baseline angle V subscript A N Baseline minus 30 degrees.&#10;">
                        <a:extLst>
                          <a:ext uri="{FF2B5EF4-FFF2-40B4-BE49-F238E27FC236}">
                            <a16:creationId xmlns:a16="http://schemas.microsoft.com/office/drawing/2014/main" id="{9B49C7D6-F999-4CA1-A64C-39F77188DABF}"/>
                          </a:ext>
                        </a:extLst>
                      </p:cNvPr>
                      <p:cNvPicPr>
                        <a:picLocks noChangeAspect="1" noChangeArrowheads="1"/>
                      </p:cNvPicPr>
                      <p:nvPr/>
                    </p:nvPicPr>
                    <p:blipFill>
                      <a:blip r:embed="rId14"/>
                      <a:srcRect/>
                      <a:stretch>
                        <a:fillRect/>
                      </a:stretch>
                    </p:blipFill>
                    <p:spPr bwMode="auto">
                      <a:xfrm>
                        <a:off x="5741015" y="4689469"/>
                        <a:ext cx="19907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9" name="Picture 28" descr="A phasor diagram shows an arrow V sub A B from a point acting downward to the right at 30 degrees from the horizontal. An arrow V sub C A acts downward to the left at approximately 30 degrees from the negative horizontal. An arrow V sub B C acts upward from the same point. V sub A N is a short arrow to the right along the positive horizontal. V sub C N is another short arrow that acts downward to the left at an angle of 30 degrees from V sub C A in anticlockwise direction. V sub B N is another short arrow that acts upward to the left at 30 degrees from V sub B C.">
            <a:extLst>
              <a:ext uri="{FF2B5EF4-FFF2-40B4-BE49-F238E27FC236}">
                <a16:creationId xmlns:a16="http://schemas.microsoft.com/office/drawing/2014/main" id="{7C2E7008-5750-4A5A-9C89-7BA048C34891}"/>
              </a:ext>
            </a:extLst>
          </p:cNvPr>
          <p:cNvPicPr>
            <a:picLocks noChangeAspect="1"/>
          </p:cNvPicPr>
          <p:nvPr/>
        </p:nvPicPr>
        <p:blipFill rotWithShape="1">
          <a:blip r:embed="rId10"/>
          <a:srcRect t="51496"/>
          <a:stretch/>
        </p:blipFill>
        <p:spPr>
          <a:xfrm>
            <a:off x="5788333" y="5144237"/>
            <a:ext cx="1726151" cy="1389601"/>
          </a:xfrm>
          <a:prstGeom prst="rect">
            <a:avLst/>
          </a:prstGeom>
        </p:spPr>
      </p:pic>
    </p:spTree>
    <p:extLst>
      <p:ext uri="{BB962C8B-B14F-4D97-AF65-F5344CB8AC3E}">
        <p14:creationId xmlns:p14="http://schemas.microsoft.com/office/powerpoint/2010/main" val="2081644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426315" y="0"/>
            <a:ext cx="6629400" cy="1117771"/>
          </a:xfrm>
        </p:spPr>
        <p:txBody>
          <a:bodyPr/>
          <a:lstStyle/>
          <a:p>
            <a:r>
              <a:rPr lang="en-US" sz="3600" dirty="0"/>
              <a:t>Y-Y Balanced Three Phase Circuits</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170656" y="854675"/>
            <a:ext cx="4595137" cy="467239"/>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So, we can do the following:</a:t>
            </a:r>
            <a:endParaRPr lang="en-US" sz="2800" kern="0" dirty="0"/>
          </a:p>
        </p:txBody>
      </p:sp>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70656" y="1468998"/>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6" name="Content Placeholder 2">
            <a:extLst>
              <a:ext uri="{FF2B5EF4-FFF2-40B4-BE49-F238E27FC236}">
                <a16:creationId xmlns:a16="http://schemas.microsoft.com/office/drawing/2014/main" id="{E8B75015-F5BD-41F9-A9C3-0C4FA7873F1F}"/>
              </a:ext>
            </a:extLst>
          </p:cNvPr>
          <p:cNvSpPr txBox="1">
            <a:spLocks/>
          </p:cNvSpPr>
          <p:nvPr/>
        </p:nvSpPr>
        <p:spPr bwMode="auto">
          <a:xfrm>
            <a:off x="432828" y="1468998"/>
            <a:ext cx="2714695"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2000"/>
              <a:t>Analyze a balanced Y-Y</a:t>
            </a:r>
            <a:endParaRPr lang="en-US" sz="2000" dirty="0"/>
          </a:p>
        </p:txBody>
      </p:sp>
      <p:graphicFrame>
        <p:nvGraphicFramePr>
          <p:cNvPr id="17" name="Object 16" descr="3 minus phi.&#10;">
            <a:extLst>
              <a:ext uri="{FF2B5EF4-FFF2-40B4-BE49-F238E27FC236}">
                <a16:creationId xmlns:a16="http://schemas.microsoft.com/office/drawing/2014/main" id="{D45D5B30-FF84-4BE9-A929-2EBD67545BB7}"/>
              </a:ext>
            </a:extLst>
          </p:cNvPr>
          <p:cNvGraphicFramePr>
            <a:graphicFrameLocks noChangeAspect="1"/>
          </p:cNvGraphicFramePr>
          <p:nvPr/>
        </p:nvGraphicFramePr>
        <p:xfrm>
          <a:off x="3202871" y="1514228"/>
          <a:ext cx="393517" cy="310926"/>
        </p:xfrm>
        <a:graphic>
          <a:graphicData uri="http://schemas.openxmlformats.org/presentationml/2006/ole">
            <mc:AlternateContent xmlns:mc="http://schemas.openxmlformats.org/markup-compatibility/2006">
              <mc:Choice xmlns:v="urn:schemas-microsoft-com:vml" Requires="v">
                <p:oleObj name="Equation" r:id="rId3" imgW="253800" imgH="203040" progId="Equation.DSMT4">
                  <p:embed/>
                </p:oleObj>
              </mc:Choice>
              <mc:Fallback>
                <p:oleObj name="Equation" r:id="rId3" imgW="253800" imgH="203040" progId="Equation.DSMT4">
                  <p:embed/>
                  <p:pic>
                    <p:nvPicPr>
                      <p:cNvPr id="17" name="Object 16" descr="3 minus phi.&#10;">
                        <a:extLst>
                          <a:ext uri="{FF2B5EF4-FFF2-40B4-BE49-F238E27FC236}">
                            <a16:creationId xmlns:a16="http://schemas.microsoft.com/office/drawing/2014/main" id="{D45D5B30-FF84-4BE9-A929-2EBD67545BB7}"/>
                          </a:ext>
                        </a:extLst>
                      </p:cNvPr>
                      <p:cNvPicPr>
                        <a:picLocks noChangeAspect="1" noChangeArrowheads="1"/>
                      </p:cNvPicPr>
                      <p:nvPr/>
                    </p:nvPicPr>
                    <p:blipFill>
                      <a:blip r:embed="rId4"/>
                      <a:srcRect/>
                      <a:stretch>
                        <a:fillRect/>
                      </a:stretch>
                    </p:blipFill>
                    <p:spPr bwMode="auto">
                      <a:xfrm>
                        <a:off x="3202871" y="1514228"/>
                        <a:ext cx="393517" cy="3109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Content Placeholder 3">
            <a:extLst>
              <a:ext uri="{FF2B5EF4-FFF2-40B4-BE49-F238E27FC236}">
                <a16:creationId xmlns:a16="http://schemas.microsoft.com/office/drawing/2014/main" id="{AEFC72C2-D1D7-4B93-935F-2515BAF58E9D}"/>
              </a:ext>
            </a:extLst>
          </p:cNvPr>
          <p:cNvSpPr txBox="1">
            <a:spLocks/>
          </p:cNvSpPr>
          <p:nvPr/>
        </p:nvSpPr>
        <p:spPr>
          <a:xfrm>
            <a:off x="3651736" y="1468998"/>
            <a:ext cx="3317629"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a:t>circuit using just the a-phase!</a:t>
            </a:r>
            <a:endParaRPr lang="en-US" sz="2000" kern="0" dirty="0"/>
          </a:p>
        </p:txBody>
      </p:sp>
      <p:pic>
        <p:nvPicPr>
          <p:cNvPr id="30" name="Picture 29" descr="A circuit diagram shows the positive terminal of a voltage source V sub a prime n connected to a terminal small a prime. This terminal a prime is connected to an impedance of Z sub g a that is connected to terminal small a on the other side. Terminal small a is connected to Z sub small I small a. This impedance Z sub small i small a is connected to another impedance of Z sub A through a terminal cap A. Z sub A is connected to terminal cap N that is connected to terminal small n. this terminal small n is connected to the negative terminal of V sub a prime n. Current I sub small a cap A flows through Z sub small i small a, to the right.">
            <a:extLst>
              <a:ext uri="{FF2B5EF4-FFF2-40B4-BE49-F238E27FC236}">
                <a16:creationId xmlns:a16="http://schemas.microsoft.com/office/drawing/2014/main" id="{50CE62C9-610D-412F-BF91-02B6556F9462}"/>
              </a:ext>
            </a:extLst>
          </p:cNvPr>
          <p:cNvPicPr>
            <a:picLocks noChangeAspect="1"/>
          </p:cNvPicPr>
          <p:nvPr/>
        </p:nvPicPr>
        <p:blipFill>
          <a:blip r:embed="rId5"/>
          <a:stretch>
            <a:fillRect/>
          </a:stretch>
        </p:blipFill>
        <p:spPr>
          <a:xfrm>
            <a:off x="3084718" y="1919045"/>
            <a:ext cx="2992493" cy="1119386"/>
          </a:xfrm>
          <a:prstGeom prst="rect">
            <a:avLst/>
          </a:prstGeom>
        </p:spPr>
      </p:pic>
      <p:sp>
        <p:nvSpPr>
          <p:cNvPr id="31" name="Content Placeholder 4">
            <a:extLst>
              <a:ext uri="{FF2B5EF4-FFF2-40B4-BE49-F238E27FC236}">
                <a16:creationId xmlns:a16="http://schemas.microsoft.com/office/drawing/2014/main" id="{B1328C6E-2708-45FF-A9ED-E85AC7A343CA}"/>
              </a:ext>
            </a:extLst>
          </p:cNvPr>
          <p:cNvSpPr txBox="1">
            <a:spLocks/>
          </p:cNvSpPr>
          <p:nvPr/>
        </p:nvSpPr>
        <p:spPr>
          <a:xfrm>
            <a:off x="430305" y="3138663"/>
            <a:ext cx="4410636"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Analyze the a-phase circuit to calculate</a:t>
            </a:r>
            <a:endParaRPr lang="en-US" sz="2000" kern="0" dirty="0"/>
          </a:p>
        </p:txBody>
      </p:sp>
      <p:sp>
        <p:nvSpPr>
          <p:cNvPr id="32" name="Content Placeholder 5">
            <a:extLst>
              <a:ext uri="{FF2B5EF4-FFF2-40B4-BE49-F238E27FC236}">
                <a16:creationId xmlns:a16="http://schemas.microsoft.com/office/drawing/2014/main" id="{C40A0402-B624-40FC-8967-98AD380F1FF1}"/>
              </a:ext>
            </a:extLst>
          </p:cNvPr>
          <p:cNvSpPr txBox="1">
            <a:spLocks/>
          </p:cNvSpPr>
          <p:nvPr/>
        </p:nvSpPr>
        <p:spPr>
          <a:xfrm>
            <a:off x="430306" y="3556647"/>
            <a:ext cx="1604682"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sz="2000" kern="0"/>
              <a:t>line current</a:t>
            </a:r>
            <a:endParaRPr lang="en-US" sz="2000" kern="0" dirty="0"/>
          </a:p>
        </p:txBody>
      </p:sp>
      <p:graphicFrame>
        <p:nvGraphicFramePr>
          <p:cNvPr id="33" name="Object 32" descr="(I subscript lowercase a uppercase A).&#10;">
            <a:extLst>
              <a:ext uri="{FF2B5EF4-FFF2-40B4-BE49-F238E27FC236}">
                <a16:creationId xmlns:a16="http://schemas.microsoft.com/office/drawing/2014/main" id="{98C993B7-B8C2-48DB-9CB9-08C67CD7818B}"/>
              </a:ext>
            </a:extLst>
          </p:cNvPr>
          <p:cNvGraphicFramePr>
            <a:graphicFrameLocks noChangeAspect="1"/>
          </p:cNvGraphicFramePr>
          <p:nvPr/>
        </p:nvGraphicFramePr>
        <p:xfrm>
          <a:off x="2070848" y="3590928"/>
          <a:ext cx="473075" cy="347663"/>
        </p:xfrm>
        <a:graphic>
          <a:graphicData uri="http://schemas.openxmlformats.org/presentationml/2006/ole">
            <mc:AlternateContent xmlns:mc="http://schemas.openxmlformats.org/markup-compatibility/2006">
              <mc:Choice xmlns:v="urn:schemas-microsoft-com:vml" Requires="v">
                <p:oleObj name="Equation" r:id="rId6" imgW="304560" imgH="228600" progId="Equation.DSMT4">
                  <p:embed/>
                </p:oleObj>
              </mc:Choice>
              <mc:Fallback>
                <p:oleObj name="Equation" r:id="rId6" imgW="304560" imgH="228600" progId="Equation.DSMT4">
                  <p:embed/>
                  <p:pic>
                    <p:nvPicPr>
                      <p:cNvPr id="33" name="Object 32" descr="(I subscript lowercase a uppercase A).&#10;">
                        <a:extLst>
                          <a:ext uri="{FF2B5EF4-FFF2-40B4-BE49-F238E27FC236}">
                            <a16:creationId xmlns:a16="http://schemas.microsoft.com/office/drawing/2014/main" id="{98C993B7-B8C2-48DB-9CB9-08C67CD7818B}"/>
                          </a:ext>
                        </a:extLst>
                      </p:cNvPr>
                      <p:cNvPicPr>
                        <a:picLocks noChangeAspect="1" noChangeArrowheads="1"/>
                      </p:cNvPicPr>
                      <p:nvPr/>
                    </p:nvPicPr>
                    <p:blipFill>
                      <a:blip r:embed="rId7"/>
                      <a:srcRect/>
                      <a:stretch>
                        <a:fillRect/>
                      </a:stretch>
                    </p:blipFill>
                    <p:spPr bwMode="auto">
                      <a:xfrm>
                        <a:off x="2070848" y="3590928"/>
                        <a:ext cx="473075" cy="347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Content Placeholder 6">
            <a:extLst>
              <a:ext uri="{FF2B5EF4-FFF2-40B4-BE49-F238E27FC236}">
                <a16:creationId xmlns:a16="http://schemas.microsoft.com/office/drawing/2014/main" id="{8BB2AF4E-AE06-4061-8855-66087328C88F}"/>
              </a:ext>
            </a:extLst>
          </p:cNvPr>
          <p:cNvSpPr txBox="1">
            <a:spLocks/>
          </p:cNvSpPr>
          <p:nvPr/>
        </p:nvSpPr>
        <p:spPr>
          <a:xfrm>
            <a:off x="430305" y="3986251"/>
            <a:ext cx="190051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sz="2000" kern="0"/>
              <a:t>phase current</a:t>
            </a:r>
            <a:endParaRPr lang="en-US" sz="2000" kern="0" dirty="0"/>
          </a:p>
        </p:txBody>
      </p:sp>
      <p:graphicFrame>
        <p:nvGraphicFramePr>
          <p:cNvPr id="35" name="Object 34" descr="(I subscript A N).&#10;">
            <a:extLst>
              <a:ext uri="{FF2B5EF4-FFF2-40B4-BE49-F238E27FC236}">
                <a16:creationId xmlns:a16="http://schemas.microsoft.com/office/drawing/2014/main" id="{114E2FC7-565D-4067-B046-B41110EBEEA2}"/>
              </a:ext>
            </a:extLst>
          </p:cNvPr>
          <p:cNvGraphicFramePr>
            <a:graphicFrameLocks noChangeAspect="1"/>
          </p:cNvGraphicFramePr>
          <p:nvPr/>
        </p:nvGraphicFramePr>
        <p:xfrm>
          <a:off x="2351088" y="4021606"/>
          <a:ext cx="492125" cy="347663"/>
        </p:xfrm>
        <a:graphic>
          <a:graphicData uri="http://schemas.openxmlformats.org/presentationml/2006/ole">
            <mc:AlternateContent xmlns:mc="http://schemas.openxmlformats.org/markup-compatibility/2006">
              <mc:Choice xmlns:v="urn:schemas-microsoft-com:vml" Requires="v">
                <p:oleObj name="Equation" r:id="rId8" imgW="317160" imgH="228600" progId="Equation.DSMT4">
                  <p:embed/>
                </p:oleObj>
              </mc:Choice>
              <mc:Fallback>
                <p:oleObj name="Equation" r:id="rId8" imgW="317160" imgH="228600" progId="Equation.DSMT4">
                  <p:embed/>
                  <p:pic>
                    <p:nvPicPr>
                      <p:cNvPr id="35" name="Object 34" descr="(I subscript A N).&#10;">
                        <a:extLst>
                          <a:ext uri="{FF2B5EF4-FFF2-40B4-BE49-F238E27FC236}">
                            <a16:creationId xmlns:a16="http://schemas.microsoft.com/office/drawing/2014/main" id="{114E2FC7-565D-4067-B046-B41110EBEEA2}"/>
                          </a:ext>
                        </a:extLst>
                      </p:cNvPr>
                      <p:cNvPicPr>
                        <a:picLocks noChangeAspect="1" noChangeArrowheads="1"/>
                      </p:cNvPicPr>
                      <p:nvPr/>
                    </p:nvPicPr>
                    <p:blipFill>
                      <a:blip r:embed="rId9"/>
                      <a:srcRect/>
                      <a:stretch>
                        <a:fillRect/>
                      </a:stretch>
                    </p:blipFill>
                    <p:spPr bwMode="auto">
                      <a:xfrm>
                        <a:off x="2351088" y="4021606"/>
                        <a:ext cx="492125" cy="347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Content Placeholder 7">
            <a:extLst>
              <a:ext uri="{FF2B5EF4-FFF2-40B4-BE49-F238E27FC236}">
                <a16:creationId xmlns:a16="http://schemas.microsoft.com/office/drawing/2014/main" id="{B185F5BE-E4C6-430B-BB46-DBFD483B6C06}"/>
              </a:ext>
            </a:extLst>
          </p:cNvPr>
          <p:cNvSpPr txBox="1">
            <a:spLocks/>
          </p:cNvSpPr>
          <p:nvPr/>
        </p:nvSpPr>
        <p:spPr>
          <a:xfrm>
            <a:off x="430305" y="4398391"/>
            <a:ext cx="1936377"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sz="2000" kern="0"/>
              <a:t>phase voltage</a:t>
            </a:r>
            <a:endParaRPr lang="en-US" sz="2000" kern="0" dirty="0"/>
          </a:p>
        </p:txBody>
      </p:sp>
      <p:graphicFrame>
        <p:nvGraphicFramePr>
          <p:cNvPr id="37" name="Object 36" descr="(V subscript A N).&#10;">
            <a:extLst>
              <a:ext uri="{FF2B5EF4-FFF2-40B4-BE49-F238E27FC236}">
                <a16:creationId xmlns:a16="http://schemas.microsoft.com/office/drawing/2014/main" id="{A3F883D0-EEA7-49B8-95B5-7EA81BCCEB4F}"/>
              </a:ext>
            </a:extLst>
          </p:cNvPr>
          <p:cNvGraphicFramePr>
            <a:graphicFrameLocks noChangeAspect="1"/>
          </p:cNvGraphicFramePr>
          <p:nvPr/>
        </p:nvGraphicFramePr>
        <p:xfrm>
          <a:off x="2394788" y="4443065"/>
          <a:ext cx="592137" cy="347663"/>
        </p:xfrm>
        <a:graphic>
          <a:graphicData uri="http://schemas.openxmlformats.org/presentationml/2006/ole">
            <mc:AlternateContent xmlns:mc="http://schemas.openxmlformats.org/markup-compatibility/2006">
              <mc:Choice xmlns:v="urn:schemas-microsoft-com:vml" Requires="v">
                <p:oleObj name="Equation" r:id="rId10" imgW="380880" imgH="228600" progId="Equation.DSMT4">
                  <p:embed/>
                </p:oleObj>
              </mc:Choice>
              <mc:Fallback>
                <p:oleObj name="Equation" r:id="rId10" imgW="380880" imgH="228600" progId="Equation.DSMT4">
                  <p:embed/>
                  <p:pic>
                    <p:nvPicPr>
                      <p:cNvPr id="37" name="Object 36" descr="(V subscript A N).&#10;">
                        <a:extLst>
                          <a:ext uri="{FF2B5EF4-FFF2-40B4-BE49-F238E27FC236}">
                            <a16:creationId xmlns:a16="http://schemas.microsoft.com/office/drawing/2014/main" id="{A3F883D0-EEA7-49B8-95B5-7EA81BCCEB4F}"/>
                          </a:ext>
                        </a:extLst>
                      </p:cNvPr>
                      <p:cNvPicPr>
                        <a:picLocks noChangeAspect="1" noChangeArrowheads="1"/>
                      </p:cNvPicPr>
                      <p:nvPr/>
                    </p:nvPicPr>
                    <p:blipFill>
                      <a:blip r:embed="rId11"/>
                      <a:srcRect/>
                      <a:stretch>
                        <a:fillRect/>
                      </a:stretch>
                    </p:blipFill>
                    <p:spPr bwMode="auto">
                      <a:xfrm>
                        <a:off x="2394788" y="4443065"/>
                        <a:ext cx="592137" cy="347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Content Placeholder 8">
            <a:extLst>
              <a:ext uri="{FF2B5EF4-FFF2-40B4-BE49-F238E27FC236}">
                <a16:creationId xmlns:a16="http://schemas.microsoft.com/office/drawing/2014/main" id="{3238F4ED-C0FF-40C2-A56A-21F9EB779576}"/>
              </a:ext>
            </a:extLst>
          </p:cNvPr>
          <p:cNvSpPr txBox="1">
            <a:spLocks/>
          </p:cNvSpPr>
          <p:nvPr/>
        </p:nvSpPr>
        <p:spPr>
          <a:xfrm>
            <a:off x="430305" y="4829537"/>
            <a:ext cx="310178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Calculate line voltage using</a:t>
            </a:r>
            <a:endParaRPr lang="en-US" sz="2000" kern="0" dirty="0"/>
          </a:p>
        </p:txBody>
      </p:sp>
      <p:graphicFrame>
        <p:nvGraphicFramePr>
          <p:cNvPr id="39" name="Object 38" descr="V subscript A B Baseline equals StartRoot 3 EndRoot V subscript A N Baseline angle V subscript A N Baseline plus or minus 30 degrees.&#10;">
            <a:extLst>
              <a:ext uri="{FF2B5EF4-FFF2-40B4-BE49-F238E27FC236}">
                <a16:creationId xmlns:a16="http://schemas.microsoft.com/office/drawing/2014/main" id="{17571E09-6D84-446C-BC97-B05D7A839B69}"/>
              </a:ext>
            </a:extLst>
          </p:cNvPr>
          <p:cNvGraphicFramePr>
            <a:graphicFrameLocks noChangeAspect="1"/>
          </p:cNvGraphicFramePr>
          <p:nvPr/>
        </p:nvGraphicFramePr>
        <p:xfrm>
          <a:off x="3580017" y="4820935"/>
          <a:ext cx="2525712" cy="387350"/>
        </p:xfrm>
        <a:graphic>
          <a:graphicData uri="http://schemas.openxmlformats.org/presentationml/2006/ole">
            <mc:AlternateContent xmlns:mc="http://schemas.openxmlformats.org/markup-compatibility/2006">
              <mc:Choice xmlns:v="urn:schemas-microsoft-com:vml" Requires="v">
                <p:oleObj name="Equation" r:id="rId12" imgW="1625400" imgH="253800" progId="Equation.DSMT4">
                  <p:embed/>
                </p:oleObj>
              </mc:Choice>
              <mc:Fallback>
                <p:oleObj name="Equation" r:id="rId12" imgW="1625400" imgH="253800" progId="Equation.DSMT4">
                  <p:embed/>
                  <p:pic>
                    <p:nvPicPr>
                      <p:cNvPr id="39" name="Object 38" descr="V subscript A B Baseline equals StartRoot 3 EndRoot V subscript A N Baseline angle V subscript A N Baseline plus or minus 30 degrees.&#10;">
                        <a:extLst>
                          <a:ext uri="{FF2B5EF4-FFF2-40B4-BE49-F238E27FC236}">
                            <a16:creationId xmlns:a16="http://schemas.microsoft.com/office/drawing/2014/main" id="{17571E09-6D84-446C-BC97-B05D7A839B69}"/>
                          </a:ext>
                        </a:extLst>
                      </p:cNvPr>
                      <p:cNvPicPr>
                        <a:picLocks noChangeAspect="1" noChangeArrowheads="1"/>
                      </p:cNvPicPr>
                      <p:nvPr/>
                    </p:nvPicPr>
                    <p:blipFill>
                      <a:blip r:embed="rId13"/>
                      <a:srcRect/>
                      <a:stretch>
                        <a:fillRect/>
                      </a:stretch>
                    </p:blipFill>
                    <p:spPr bwMode="auto">
                      <a:xfrm>
                        <a:off x="3580017" y="4820935"/>
                        <a:ext cx="252571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Content Placeholder 9">
            <a:extLst>
              <a:ext uri="{FF2B5EF4-FFF2-40B4-BE49-F238E27FC236}">
                <a16:creationId xmlns:a16="http://schemas.microsoft.com/office/drawing/2014/main" id="{CC5E9C92-28D2-4B33-94D1-6F4ECF8A73AF}"/>
              </a:ext>
            </a:extLst>
          </p:cNvPr>
          <p:cNvSpPr txBox="1">
            <a:spLocks/>
          </p:cNvSpPr>
          <p:nvPr/>
        </p:nvSpPr>
        <p:spPr>
          <a:xfrm>
            <a:off x="6153652" y="4829537"/>
            <a:ext cx="1357778"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a:t>
            </a:r>
            <a:r>
              <a:rPr lang="en-US" sz="2000" kern="0" spc="-300" dirty="0"/>
              <a:t>a b </a:t>
            </a:r>
            <a:r>
              <a:rPr lang="en-US" sz="2000" kern="0" dirty="0"/>
              <a:t>c or </a:t>
            </a:r>
            <a:r>
              <a:rPr lang="en-US" sz="2000" kern="0" spc="-300" dirty="0"/>
              <a:t>a c </a:t>
            </a:r>
            <a:r>
              <a:rPr lang="en-US" sz="2000" kern="0" dirty="0"/>
              <a:t>b)</a:t>
            </a:r>
          </a:p>
        </p:txBody>
      </p:sp>
      <p:sp>
        <p:nvSpPr>
          <p:cNvPr id="41" name="Content Placeholder 10">
            <a:extLst>
              <a:ext uri="{FF2B5EF4-FFF2-40B4-BE49-F238E27FC236}">
                <a16:creationId xmlns:a16="http://schemas.microsoft.com/office/drawing/2014/main" id="{C360C806-BFC3-4B3A-A4EC-10EDAC9E1F6F}"/>
              </a:ext>
            </a:extLst>
          </p:cNvPr>
          <p:cNvSpPr txBox="1">
            <a:spLocks/>
          </p:cNvSpPr>
          <p:nvPr/>
        </p:nvSpPr>
        <p:spPr>
          <a:xfrm>
            <a:off x="432827" y="5284388"/>
            <a:ext cx="8238097"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Calculate b-phase and c-phase voltages and currents by adding or</a:t>
            </a:r>
            <a:endParaRPr lang="en-US" sz="2000" kern="0" dirty="0"/>
          </a:p>
        </p:txBody>
      </p:sp>
      <p:sp>
        <p:nvSpPr>
          <p:cNvPr id="42" name="Content Placeholder 11">
            <a:extLst>
              <a:ext uri="{FF2B5EF4-FFF2-40B4-BE49-F238E27FC236}">
                <a16:creationId xmlns:a16="http://schemas.microsoft.com/office/drawing/2014/main" id="{4DCC6D24-2E25-4B36-82D4-BFCDF4F96DA4}"/>
              </a:ext>
            </a:extLst>
          </p:cNvPr>
          <p:cNvSpPr txBox="1">
            <a:spLocks/>
          </p:cNvSpPr>
          <p:nvPr/>
        </p:nvSpPr>
        <p:spPr>
          <a:xfrm>
            <a:off x="432828" y="5673340"/>
            <a:ext cx="1249133"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subtracting</a:t>
            </a:r>
            <a:endParaRPr lang="en-US" sz="2000" kern="0" dirty="0"/>
          </a:p>
        </p:txBody>
      </p:sp>
      <p:graphicFrame>
        <p:nvGraphicFramePr>
          <p:cNvPr id="43" name="Object 42" descr="120 degree">
            <a:extLst>
              <a:ext uri="{FF2B5EF4-FFF2-40B4-BE49-F238E27FC236}">
                <a16:creationId xmlns:a16="http://schemas.microsoft.com/office/drawing/2014/main" id="{09FCAFEB-857C-46B5-8142-E7694E10E329}"/>
              </a:ext>
            </a:extLst>
          </p:cNvPr>
          <p:cNvGraphicFramePr>
            <a:graphicFrameLocks noChangeAspect="1"/>
          </p:cNvGraphicFramePr>
          <p:nvPr/>
        </p:nvGraphicFramePr>
        <p:xfrm>
          <a:off x="1713939" y="5710613"/>
          <a:ext cx="552450" cy="288925"/>
        </p:xfrm>
        <a:graphic>
          <a:graphicData uri="http://schemas.openxmlformats.org/presentationml/2006/ole">
            <mc:AlternateContent xmlns:mc="http://schemas.openxmlformats.org/markup-compatibility/2006">
              <mc:Choice xmlns:v="urn:schemas-microsoft-com:vml" Requires="v">
                <p:oleObj name="Equation" r:id="rId14" imgW="355320" imgH="190440" progId="Equation.DSMT4">
                  <p:embed/>
                </p:oleObj>
              </mc:Choice>
              <mc:Fallback>
                <p:oleObj name="Equation" r:id="rId14" imgW="355320" imgH="190440" progId="Equation.DSMT4">
                  <p:embed/>
                  <p:pic>
                    <p:nvPicPr>
                      <p:cNvPr id="43" name="Object 42" descr="120 degree">
                        <a:extLst>
                          <a:ext uri="{FF2B5EF4-FFF2-40B4-BE49-F238E27FC236}">
                            <a16:creationId xmlns:a16="http://schemas.microsoft.com/office/drawing/2014/main" id="{09FCAFEB-857C-46B5-8142-E7694E10E329}"/>
                          </a:ext>
                        </a:extLst>
                      </p:cNvPr>
                      <p:cNvPicPr>
                        <a:picLocks noChangeAspect="1" noChangeArrowheads="1"/>
                      </p:cNvPicPr>
                      <p:nvPr/>
                    </p:nvPicPr>
                    <p:blipFill>
                      <a:blip r:embed="rId15"/>
                      <a:srcRect/>
                      <a:stretch>
                        <a:fillRect/>
                      </a:stretch>
                    </p:blipFill>
                    <p:spPr bwMode="auto">
                      <a:xfrm>
                        <a:off x="1713939" y="5710613"/>
                        <a:ext cx="552450"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Content Placeholder 12">
            <a:extLst>
              <a:ext uri="{FF2B5EF4-FFF2-40B4-BE49-F238E27FC236}">
                <a16:creationId xmlns:a16="http://schemas.microsoft.com/office/drawing/2014/main" id="{65C85898-41AC-4FDF-BAED-CDEAEC7ABE27}"/>
              </a:ext>
            </a:extLst>
          </p:cNvPr>
          <p:cNvSpPr txBox="1">
            <a:spLocks/>
          </p:cNvSpPr>
          <p:nvPr/>
        </p:nvSpPr>
        <p:spPr>
          <a:xfrm>
            <a:off x="2298367" y="5673340"/>
            <a:ext cx="6215299"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from the phase angle of the a-phase values, depending</a:t>
            </a:r>
            <a:endParaRPr lang="en-US" sz="2000" kern="0" dirty="0"/>
          </a:p>
        </p:txBody>
      </p:sp>
      <p:sp>
        <p:nvSpPr>
          <p:cNvPr id="45" name="Content Placeholder 13">
            <a:extLst>
              <a:ext uri="{FF2B5EF4-FFF2-40B4-BE49-F238E27FC236}">
                <a16:creationId xmlns:a16="http://schemas.microsoft.com/office/drawing/2014/main" id="{34F91D2C-D71B-4110-B7DC-21F6CF1AB9C2}"/>
              </a:ext>
            </a:extLst>
          </p:cNvPr>
          <p:cNvSpPr txBox="1">
            <a:spLocks/>
          </p:cNvSpPr>
          <p:nvPr/>
        </p:nvSpPr>
        <p:spPr>
          <a:xfrm>
            <a:off x="430024" y="6076852"/>
            <a:ext cx="8240902"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on whether the phase sequence is positive or negative</a:t>
            </a:r>
            <a:endParaRPr lang="en-US" sz="2000" kern="0" dirty="0"/>
          </a:p>
        </p:txBody>
      </p:sp>
    </p:spTree>
    <p:extLst>
      <p:ext uri="{BB962C8B-B14F-4D97-AF65-F5344CB8AC3E}">
        <p14:creationId xmlns:p14="http://schemas.microsoft.com/office/powerpoint/2010/main" val="1613257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133600" y="1"/>
            <a:ext cx="6922115" cy="990600"/>
          </a:xfrm>
        </p:spPr>
        <p:txBody>
          <a:bodyPr/>
          <a:lstStyle/>
          <a:p>
            <a:r>
              <a:rPr lang="en-US" sz="2800" dirty="0"/>
              <a:t>Does the Single-phase Equivalent Circuit Work?</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170656" y="854675"/>
            <a:ext cx="4595137" cy="467239"/>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Wait, can we do that?</a:t>
            </a:r>
            <a:endParaRPr lang="en-US" sz="2800" kern="0" dirty="0"/>
          </a:p>
        </p:txBody>
      </p:sp>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46411" y="1499941"/>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6" name="Content Placeholder 2">
            <a:extLst>
              <a:ext uri="{FF2B5EF4-FFF2-40B4-BE49-F238E27FC236}">
                <a16:creationId xmlns:a16="http://schemas.microsoft.com/office/drawing/2014/main" id="{E8B75015-F5BD-41F9-A9C3-0C4FA7873F1F}"/>
              </a:ext>
            </a:extLst>
          </p:cNvPr>
          <p:cNvSpPr txBox="1">
            <a:spLocks/>
          </p:cNvSpPr>
          <p:nvPr/>
        </p:nvSpPr>
        <p:spPr bwMode="auto">
          <a:xfrm>
            <a:off x="432828" y="1468998"/>
            <a:ext cx="4436370"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2000" dirty="0"/>
              <a:t>Can we analyze a balanced Y-Y</a:t>
            </a:r>
            <a:endParaRPr lang="en-US" sz="2000" dirty="0"/>
          </a:p>
        </p:txBody>
      </p:sp>
      <p:graphicFrame>
        <p:nvGraphicFramePr>
          <p:cNvPr id="17" name="Object 16" descr="3 minus phi.&#10;">
            <a:extLst>
              <a:ext uri="{FF2B5EF4-FFF2-40B4-BE49-F238E27FC236}">
                <a16:creationId xmlns:a16="http://schemas.microsoft.com/office/drawing/2014/main" id="{D45D5B30-FF84-4BE9-A929-2EBD67545BB7}"/>
              </a:ext>
            </a:extLst>
          </p:cNvPr>
          <p:cNvGraphicFramePr>
            <a:graphicFrameLocks noChangeAspect="1"/>
          </p:cNvGraphicFramePr>
          <p:nvPr>
            <p:extLst>
              <p:ext uri="{D42A27DB-BD31-4B8C-83A1-F6EECF244321}">
                <p14:modId xmlns:p14="http://schemas.microsoft.com/office/powerpoint/2010/main" val="2959777484"/>
              </p:ext>
            </p:extLst>
          </p:nvPr>
        </p:nvGraphicFramePr>
        <p:xfrm>
          <a:off x="4934612" y="1534577"/>
          <a:ext cx="393517" cy="310926"/>
        </p:xfrm>
        <a:graphic>
          <a:graphicData uri="http://schemas.openxmlformats.org/presentationml/2006/ole">
            <mc:AlternateContent xmlns:mc="http://schemas.openxmlformats.org/markup-compatibility/2006">
              <mc:Choice xmlns:v="urn:schemas-microsoft-com:vml" Requires="v">
                <p:oleObj name="Equation" r:id="rId3" imgW="253800" imgH="203040" progId="Equation.DSMT4">
                  <p:embed/>
                </p:oleObj>
              </mc:Choice>
              <mc:Fallback>
                <p:oleObj name="Equation" r:id="rId3" imgW="253800" imgH="203040" progId="Equation.DSMT4">
                  <p:embed/>
                  <p:pic>
                    <p:nvPicPr>
                      <p:cNvPr id="17" name="Object 16" descr="3 minus phi.&#10;">
                        <a:extLst>
                          <a:ext uri="{FF2B5EF4-FFF2-40B4-BE49-F238E27FC236}">
                            <a16:creationId xmlns:a16="http://schemas.microsoft.com/office/drawing/2014/main" id="{D45D5B30-FF84-4BE9-A929-2EBD67545BB7}"/>
                          </a:ext>
                        </a:extLst>
                      </p:cNvPr>
                      <p:cNvPicPr>
                        <a:picLocks noChangeAspect="1" noChangeArrowheads="1"/>
                      </p:cNvPicPr>
                      <p:nvPr/>
                    </p:nvPicPr>
                    <p:blipFill>
                      <a:blip r:embed="rId4"/>
                      <a:srcRect/>
                      <a:stretch>
                        <a:fillRect/>
                      </a:stretch>
                    </p:blipFill>
                    <p:spPr bwMode="auto">
                      <a:xfrm>
                        <a:off x="4934612" y="1534577"/>
                        <a:ext cx="393517" cy="3109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Content Placeholder 3">
            <a:extLst>
              <a:ext uri="{FF2B5EF4-FFF2-40B4-BE49-F238E27FC236}">
                <a16:creationId xmlns:a16="http://schemas.microsoft.com/office/drawing/2014/main" id="{AEFC72C2-D1D7-4B93-935F-2515BAF58E9D}"/>
              </a:ext>
            </a:extLst>
          </p:cNvPr>
          <p:cNvSpPr txBox="1">
            <a:spLocks/>
          </p:cNvSpPr>
          <p:nvPr/>
        </p:nvSpPr>
        <p:spPr>
          <a:xfrm>
            <a:off x="5393543" y="1468998"/>
            <a:ext cx="3579801"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dirty="0"/>
              <a:t>circuit using just the a-phase?</a:t>
            </a:r>
            <a:endParaRPr lang="en-US" sz="2000" kern="0" dirty="0"/>
          </a:p>
        </p:txBody>
      </p:sp>
      <p:pic>
        <p:nvPicPr>
          <p:cNvPr id="30" name="Picture 29" descr="A circuit diagram shows the positive terminal of a voltage source V sub a prime n connected to a terminal small a prime. This terminal a prime is connected to an impedance of Z sub g a that is connected to terminal small a on the other side. Terminal small a is connected to Z sub small I small a. This impedance Z sub small i small a is connected to another impedance of Z sub A through a terminal cap A. Z sub A is connected to terminal cap N that is connected to terminal small n. this terminal small n is connected to the negative terminal of V sub a prime n. Current I sub small a cap A flows through Z sub small i small a, to the right.">
            <a:extLst>
              <a:ext uri="{FF2B5EF4-FFF2-40B4-BE49-F238E27FC236}">
                <a16:creationId xmlns:a16="http://schemas.microsoft.com/office/drawing/2014/main" id="{50CE62C9-610D-412F-BF91-02B6556F9462}"/>
              </a:ext>
            </a:extLst>
          </p:cNvPr>
          <p:cNvPicPr>
            <a:picLocks noChangeAspect="1"/>
          </p:cNvPicPr>
          <p:nvPr/>
        </p:nvPicPr>
        <p:blipFill>
          <a:blip r:embed="rId5"/>
          <a:stretch>
            <a:fillRect/>
          </a:stretch>
        </p:blipFill>
        <p:spPr>
          <a:xfrm>
            <a:off x="4657618" y="2164353"/>
            <a:ext cx="4059071" cy="1518355"/>
          </a:xfrm>
          <a:prstGeom prst="rect">
            <a:avLst/>
          </a:prstGeom>
        </p:spPr>
      </p:pic>
      <p:sp>
        <p:nvSpPr>
          <p:cNvPr id="31" name="Content Placeholder 4">
            <a:extLst>
              <a:ext uri="{FF2B5EF4-FFF2-40B4-BE49-F238E27FC236}">
                <a16:creationId xmlns:a16="http://schemas.microsoft.com/office/drawing/2014/main" id="{B1328C6E-2708-45FF-A9ED-E85AC7A343CA}"/>
              </a:ext>
            </a:extLst>
          </p:cNvPr>
          <p:cNvSpPr txBox="1">
            <a:spLocks/>
          </p:cNvSpPr>
          <p:nvPr/>
        </p:nvSpPr>
        <p:spPr>
          <a:xfrm>
            <a:off x="432828" y="4370410"/>
            <a:ext cx="7951696" cy="219078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800" kern="0" dirty="0"/>
              <a:t>Can we analyze the a-phase circuit to calculate the line current </a:t>
            </a:r>
            <a:r>
              <a:rPr lang="en-US" sz="2800"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aA</a:t>
            </a:r>
            <a:r>
              <a:rPr lang="en-US" sz="2800" kern="0" dirty="0"/>
              <a:t>?  Can we take just one mesh from a circuit, and write KVL to get the current flowing in that mesh?  Does that ever work?  Does it work here?  </a:t>
            </a:r>
          </a:p>
        </p:txBody>
      </p:sp>
      <p:pic>
        <p:nvPicPr>
          <p:cNvPr id="24" name="Picture 23"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F58F24D5-C04F-4C72-AAFF-3E4E1EBCD9C5}"/>
              </a:ext>
            </a:extLst>
          </p:cNvPr>
          <p:cNvPicPr>
            <a:picLocks noChangeAspect="1"/>
          </p:cNvPicPr>
          <p:nvPr/>
        </p:nvPicPr>
        <p:blipFill>
          <a:blip r:embed="rId6"/>
          <a:stretch>
            <a:fillRect/>
          </a:stretch>
        </p:blipFill>
        <p:spPr>
          <a:xfrm>
            <a:off x="345463" y="1919044"/>
            <a:ext cx="4161703" cy="2451366"/>
          </a:xfrm>
          <a:prstGeom prst="rect">
            <a:avLst/>
          </a:prstGeom>
        </p:spPr>
      </p:pic>
    </p:spTree>
    <p:extLst>
      <p:ext uri="{BB962C8B-B14F-4D97-AF65-F5344CB8AC3E}">
        <p14:creationId xmlns:p14="http://schemas.microsoft.com/office/powerpoint/2010/main" val="3761478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133600" y="1"/>
            <a:ext cx="6922115" cy="990600"/>
          </a:xfrm>
        </p:spPr>
        <p:txBody>
          <a:bodyPr/>
          <a:lstStyle/>
          <a:p>
            <a:r>
              <a:rPr lang="en-US" sz="2800" dirty="0"/>
              <a:t>Does the Single-phase Equivalent Circuit Work?</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170656" y="854675"/>
            <a:ext cx="4595137" cy="467239"/>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Wait, can we do that?</a:t>
            </a:r>
            <a:endParaRPr lang="en-US" sz="2800" kern="0" dirty="0"/>
          </a:p>
        </p:txBody>
      </p:sp>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46411" y="1499941"/>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31" name="Content Placeholder 4">
            <a:extLst>
              <a:ext uri="{FF2B5EF4-FFF2-40B4-BE49-F238E27FC236}">
                <a16:creationId xmlns:a16="http://schemas.microsoft.com/office/drawing/2014/main" id="{B1328C6E-2708-45FF-A9ED-E85AC7A343CA}"/>
              </a:ext>
            </a:extLst>
          </p:cNvPr>
          <p:cNvSpPr txBox="1">
            <a:spLocks/>
          </p:cNvSpPr>
          <p:nvPr/>
        </p:nvSpPr>
        <p:spPr>
          <a:xfrm>
            <a:off x="571907" y="1621492"/>
            <a:ext cx="7951696" cy="219078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800" kern="0" dirty="0"/>
              <a:t>Can we take just one mesh from a circuit, and write KVL to get the current flowing in that mesh? Let us try it using a different circuit, and see what happens. Can we solve for </a:t>
            </a:r>
            <a:r>
              <a:rPr lang="en-US" sz="2800" i="1" kern="0" dirty="0">
                <a:latin typeface="Times New Roman" panose="02020603050405020304" pitchFamily="18" charset="0"/>
                <a:cs typeface="Times New Roman" panose="02020603050405020304" pitchFamily="18" charset="0"/>
              </a:rPr>
              <a:t>i</a:t>
            </a:r>
            <a:r>
              <a:rPr lang="en-US" sz="2800" i="1" kern="0" baseline="-25000" dirty="0">
                <a:latin typeface="Times New Roman" panose="02020603050405020304" pitchFamily="18" charset="0"/>
                <a:cs typeface="Times New Roman" panose="02020603050405020304" pitchFamily="18" charset="0"/>
              </a:rPr>
              <a:t>X</a:t>
            </a:r>
            <a:r>
              <a:rPr lang="en-US" sz="2800" kern="0" dirty="0"/>
              <a:t> in the left-hand circuit, by writing KVL in the right-hand circuit?   </a:t>
            </a:r>
          </a:p>
        </p:txBody>
      </p:sp>
      <p:pic>
        <p:nvPicPr>
          <p:cNvPr id="3" name="Picture 2">
            <a:extLst>
              <a:ext uri="{FF2B5EF4-FFF2-40B4-BE49-F238E27FC236}">
                <a16:creationId xmlns:a16="http://schemas.microsoft.com/office/drawing/2014/main" id="{0006D821-520E-43B4-A722-148DBBC39301}"/>
              </a:ext>
            </a:extLst>
          </p:cNvPr>
          <p:cNvPicPr>
            <a:picLocks noChangeAspect="1"/>
          </p:cNvPicPr>
          <p:nvPr/>
        </p:nvPicPr>
        <p:blipFill>
          <a:blip r:embed="rId3"/>
          <a:stretch>
            <a:fillRect/>
          </a:stretch>
        </p:blipFill>
        <p:spPr>
          <a:xfrm>
            <a:off x="362744" y="3901293"/>
            <a:ext cx="8610600" cy="2609850"/>
          </a:xfrm>
          <a:prstGeom prst="rect">
            <a:avLst/>
          </a:prstGeom>
        </p:spPr>
      </p:pic>
    </p:spTree>
    <p:extLst>
      <p:ext uri="{BB962C8B-B14F-4D97-AF65-F5344CB8AC3E}">
        <p14:creationId xmlns:p14="http://schemas.microsoft.com/office/powerpoint/2010/main" val="1501780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133600" y="1"/>
            <a:ext cx="6922115" cy="990600"/>
          </a:xfrm>
        </p:spPr>
        <p:txBody>
          <a:bodyPr/>
          <a:lstStyle/>
          <a:p>
            <a:r>
              <a:rPr lang="en-US" sz="2800" dirty="0"/>
              <a:t>Does the Single-phase Equivalent Circuit Work?</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170656" y="854675"/>
            <a:ext cx="4595137" cy="467239"/>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Wait, can we do that?</a:t>
            </a:r>
            <a:endParaRPr lang="en-US" sz="2800" kern="0" dirty="0"/>
          </a:p>
        </p:txBody>
      </p:sp>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46411" y="1499941"/>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31" name="Content Placeholder 4">
            <a:extLst>
              <a:ext uri="{FF2B5EF4-FFF2-40B4-BE49-F238E27FC236}">
                <a16:creationId xmlns:a16="http://schemas.microsoft.com/office/drawing/2014/main" id="{B1328C6E-2708-45FF-A9ED-E85AC7A343CA}"/>
              </a:ext>
            </a:extLst>
          </p:cNvPr>
          <p:cNvSpPr txBox="1">
            <a:spLocks/>
          </p:cNvSpPr>
          <p:nvPr/>
        </p:nvSpPr>
        <p:spPr>
          <a:xfrm>
            <a:off x="571907" y="1678858"/>
            <a:ext cx="7951696" cy="126745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Can we take just one mesh from a circuit, and write KVL to get the current flowing in that mesh? Let us try it using a different circuit, and see what happens. Can we solve for </a:t>
            </a:r>
            <a:r>
              <a:rPr lang="en-US" sz="2000" i="1" kern="0" dirty="0">
                <a:latin typeface="Times New Roman" panose="02020603050405020304" pitchFamily="18" charset="0"/>
                <a:cs typeface="Times New Roman" panose="02020603050405020304" pitchFamily="18" charset="0"/>
              </a:rPr>
              <a:t>i</a:t>
            </a:r>
            <a:r>
              <a:rPr lang="en-US" sz="2000" i="1" kern="0" baseline="-25000" dirty="0">
                <a:latin typeface="Times New Roman" panose="02020603050405020304" pitchFamily="18" charset="0"/>
                <a:cs typeface="Times New Roman" panose="02020603050405020304" pitchFamily="18" charset="0"/>
              </a:rPr>
              <a:t>X</a:t>
            </a:r>
            <a:r>
              <a:rPr lang="en-US" sz="2000" kern="0" dirty="0"/>
              <a:t> in the left-hand circuit, by writing KVL in the right-hand circuit?   The answer is generally “NO!”</a:t>
            </a:r>
          </a:p>
        </p:txBody>
      </p:sp>
      <p:pic>
        <p:nvPicPr>
          <p:cNvPr id="3" name="Picture 2">
            <a:extLst>
              <a:ext uri="{FF2B5EF4-FFF2-40B4-BE49-F238E27FC236}">
                <a16:creationId xmlns:a16="http://schemas.microsoft.com/office/drawing/2014/main" id="{0006D821-520E-43B4-A722-148DBBC39301}"/>
              </a:ext>
            </a:extLst>
          </p:cNvPr>
          <p:cNvPicPr>
            <a:picLocks noChangeAspect="1"/>
          </p:cNvPicPr>
          <p:nvPr/>
        </p:nvPicPr>
        <p:blipFill>
          <a:blip r:embed="rId3"/>
          <a:stretch>
            <a:fillRect/>
          </a:stretch>
        </p:blipFill>
        <p:spPr>
          <a:xfrm>
            <a:off x="362744" y="3901293"/>
            <a:ext cx="8610600" cy="2609850"/>
          </a:xfrm>
          <a:prstGeom prst="rect">
            <a:avLst/>
          </a:prstGeom>
        </p:spPr>
      </p:pic>
      <p:sp>
        <p:nvSpPr>
          <p:cNvPr id="7" name="Content Placeholder 4">
            <a:extLst>
              <a:ext uri="{FF2B5EF4-FFF2-40B4-BE49-F238E27FC236}">
                <a16:creationId xmlns:a16="http://schemas.microsoft.com/office/drawing/2014/main" id="{2C33D2F3-327F-47BD-8633-4F46D3286802}"/>
              </a:ext>
            </a:extLst>
          </p:cNvPr>
          <p:cNvSpPr txBox="1">
            <a:spLocks/>
          </p:cNvSpPr>
          <p:nvPr/>
        </p:nvSpPr>
        <p:spPr>
          <a:xfrm>
            <a:off x="661023" y="3129703"/>
            <a:ext cx="4027803" cy="651905"/>
          </a:xfrm>
          <a:prstGeom prst="rect">
            <a:avLst/>
          </a:prstGeom>
          <a:solidFill>
            <a:srgbClr val="00B050"/>
          </a:solidFill>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When we solve for </a:t>
            </a:r>
            <a:r>
              <a:rPr lang="en-US" sz="2000" i="1" kern="0" dirty="0">
                <a:latin typeface="Times New Roman" panose="02020603050405020304" pitchFamily="18" charset="0"/>
                <a:cs typeface="Times New Roman" panose="02020603050405020304" pitchFamily="18" charset="0"/>
              </a:rPr>
              <a:t>i</a:t>
            </a:r>
            <a:r>
              <a:rPr lang="en-US" sz="2000" i="1" kern="0" baseline="-25000" dirty="0">
                <a:latin typeface="Times New Roman" panose="02020603050405020304" pitchFamily="18" charset="0"/>
                <a:cs typeface="Times New Roman" panose="02020603050405020304" pitchFamily="18" charset="0"/>
              </a:rPr>
              <a:t>X</a:t>
            </a:r>
            <a:r>
              <a:rPr lang="en-US" sz="2000" kern="0" dirty="0"/>
              <a:t> in the left-hand circuit, we get </a:t>
            </a:r>
            <a:r>
              <a:rPr lang="en-US" sz="2000" i="1" kern="0" dirty="0">
                <a:latin typeface="Times New Roman" panose="02020603050405020304" pitchFamily="18" charset="0"/>
                <a:cs typeface="Times New Roman" panose="02020603050405020304" pitchFamily="18" charset="0"/>
              </a:rPr>
              <a:t>i</a:t>
            </a:r>
            <a:r>
              <a:rPr lang="en-US" sz="2000" i="1" kern="0" baseline="-25000" dirty="0">
                <a:latin typeface="Times New Roman" panose="02020603050405020304" pitchFamily="18" charset="0"/>
                <a:cs typeface="Times New Roman" panose="02020603050405020304" pitchFamily="18" charset="0"/>
              </a:rPr>
              <a:t>X</a:t>
            </a:r>
            <a:r>
              <a:rPr lang="en-US" sz="2000" kern="0" dirty="0"/>
              <a:t> = -3.63[A].   </a:t>
            </a:r>
          </a:p>
        </p:txBody>
      </p:sp>
      <p:sp>
        <p:nvSpPr>
          <p:cNvPr id="8" name="Content Placeholder 4">
            <a:extLst>
              <a:ext uri="{FF2B5EF4-FFF2-40B4-BE49-F238E27FC236}">
                <a16:creationId xmlns:a16="http://schemas.microsoft.com/office/drawing/2014/main" id="{684F5CEB-1BA0-4B1C-B308-479525BC4A57}"/>
              </a:ext>
            </a:extLst>
          </p:cNvPr>
          <p:cNvSpPr txBox="1">
            <a:spLocks/>
          </p:cNvSpPr>
          <p:nvPr/>
        </p:nvSpPr>
        <p:spPr>
          <a:xfrm>
            <a:off x="5943600" y="2975815"/>
            <a:ext cx="2846533" cy="959681"/>
          </a:xfrm>
          <a:prstGeom prst="rect">
            <a:avLst/>
          </a:prstGeom>
          <a:solidFill>
            <a:srgbClr val="00B050"/>
          </a:solidFill>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When we solve for </a:t>
            </a:r>
            <a:r>
              <a:rPr lang="en-US" sz="2000" i="1" kern="0" dirty="0">
                <a:latin typeface="Times New Roman" panose="02020603050405020304" pitchFamily="18" charset="0"/>
                <a:cs typeface="Times New Roman" panose="02020603050405020304" pitchFamily="18" charset="0"/>
              </a:rPr>
              <a:t>i</a:t>
            </a:r>
            <a:r>
              <a:rPr lang="en-US" sz="2000" i="1" kern="0" baseline="-25000" dirty="0">
                <a:latin typeface="Times New Roman" panose="02020603050405020304" pitchFamily="18" charset="0"/>
                <a:cs typeface="Times New Roman" panose="02020603050405020304" pitchFamily="18" charset="0"/>
              </a:rPr>
              <a:t>X</a:t>
            </a:r>
            <a:r>
              <a:rPr lang="en-US" sz="2000" kern="0" dirty="0"/>
              <a:t> in the right-hand circuit, we get </a:t>
            </a:r>
            <a:r>
              <a:rPr lang="en-US" sz="2000" i="1" kern="0" dirty="0">
                <a:latin typeface="Times New Roman" panose="02020603050405020304" pitchFamily="18" charset="0"/>
                <a:cs typeface="Times New Roman" panose="02020603050405020304" pitchFamily="18" charset="0"/>
              </a:rPr>
              <a:t>i</a:t>
            </a:r>
            <a:r>
              <a:rPr lang="en-US" sz="2000" i="1" kern="0" baseline="-25000" dirty="0">
                <a:latin typeface="Times New Roman" panose="02020603050405020304" pitchFamily="18" charset="0"/>
                <a:cs typeface="Times New Roman" panose="02020603050405020304" pitchFamily="18" charset="0"/>
              </a:rPr>
              <a:t>X</a:t>
            </a:r>
            <a:r>
              <a:rPr lang="en-US" sz="2000" kern="0" dirty="0"/>
              <a:t> = +1.00[A].   </a:t>
            </a:r>
          </a:p>
        </p:txBody>
      </p:sp>
    </p:spTree>
    <p:extLst>
      <p:ext uri="{BB962C8B-B14F-4D97-AF65-F5344CB8AC3E}">
        <p14:creationId xmlns:p14="http://schemas.microsoft.com/office/powerpoint/2010/main" val="5925953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133600" y="1"/>
            <a:ext cx="6922115" cy="990600"/>
          </a:xfrm>
        </p:spPr>
        <p:txBody>
          <a:bodyPr/>
          <a:lstStyle/>
          <a:p>
            <a:r>
              <a:rPr lang="en-US" sz="2800" dirty="0"/>
              <a:t>Does the Single-phase Equivalent Circuit Work?</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170656" y="854675"/>
            <a:ext cx="4595137" cy="467239"/>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Wait, can we do that?</a:t>
            </a:r>
            <a:endParaRPr lang="en-US" sz="2800" kern="0" dirty="0"/>
          </a:p>
        </p:txBody>
      </p:sp>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46411" y="1499941"/>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6" name="Content Placeholder 2">
            <a:extLst>
              <a:ext uri="{FF2B5EF4-FFF2-40B4-BE49-F238E27FC236}">
                <a16:creationId xmlns:a16="http://schemas.microsoft.com/office/drawing/2014/main" id="{E8B75015-F5BD-41F9-A9C3-0C4FA7873F1F}"/>
              </a:ext>
            </a:extLst>
          </p:cNvPr>
          <p:cNvSpPr txBox="1">
            <a:spLocks/>
          </p:cNvSpPr>
          <p:nvPr/>
        </p:nvSpPr>
        <p:spPr bwMode="auto">
          <a:xfrm>
            <a:off x="432828" y="1468998"/>
            <a:ext cx="4436370"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2000" dirty="0"/>
              <a:t>Can we analyze a balanced Y-Y</a:t>
            </a:r>
            <a:endParaRPr lang="en-US" sz="2000" dirty="0"/>
          </a:p>
        </p:txBody>
      </p:sp>
      <p:graphicFrame>
        <p:nvGraphicFramePr>
          <p:cNvPr id="17" name="Object 16" descr="3 minus phi.&#10;">
            <a:extLst>
              <a:ext uri="{FF2B5EF4-FFF2-40B4-BE49-F238E27FC236}">
                <a16:creationId xmlns:a16="http://schemas.microsoft.com/office/drawing/2014/main" id="{D45D5B30-FF84-4BE9-A929-2EBD67545BB7}"/>
              </a:ext>
            </a:extLst>
          </p:cNvPr>
          <p:cNvGraphicFramePr>
            <a:graphicFrameLocks noChangeAspect="1"/>
          </p:cNvGraphicFramePr>
          <p:nvPr/>
        </p:nvGraphicFramePr>
        <p:xfrm>
          <a:off x="4934612" y="1534577"/>
          <a:ext cx="393517" cy="310926"/>
        </p:xfrm>
        <a:graphic>
          <a:graphicData uri="http://schemas.openxmlformats.org/presentationml/2006/ole">
            <mc:AlternateContent xmlns:mc="http://schemas.openxmlformats.org/markup-compatibility/2006">
              <mc:Choice xmlns:v="urn:schemas-microsoft-com:vml" Requires="v">
                <p:oleObj name="Equation" r:id="rId3" imgW="253800" imgH="203040" progId="Equation.DSMT4">
                  <p:embed/>
                </p:oleObj>
              </mc:Choice>
              <mc:Fallback>
                <p:oleObj name="Equation" r:id="rId3" imgW="253800" imgH="203040" progId="Equation.DSMT4">
                  <p:embed/>
                  <p:pic>
                    <p:nvPicPr>
                      <p:cNvPr id="17" name="Object 16" descr="3 minus phi.&#10;">
                        <a:extLst>
                          <a:ext uri="{FF2B5EF4-FFF2-40B4-BE49-F238E27FC236}">
                            <a16:creationId xmlns:a16="http://schemas.microsoft.com/office/drawing/2014/main" id="{D45D5B30-FF84-4BE9-A929-2EBD67545BB7}"/>
                          </a:ext>
                        </a:extLst>
                      </p:cNvPr>
                      <p:cNvPicPr>
                        <a:picLocks noChangeAspect="1" noChangeArrowheads="1"/>
                      </p:cNvPicPr>
                      <p:nvPr/>
                    </p:nvPicPr>
                    <p:blipFill>
                      <a:blip r:embed="rId4"/>
                      <a:srcRect/>
                      <a:stretch>
                        <a:fillRect/>
                      </a:stretch>
                    </p:blipFill>
                    <p:spPr bwMode="auto">
                      <a:xfrm>
                        <a:off x="4934612" y="1534577"/>
                        <a:ext cx="393517" cy="3109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Content Placeholder 3">
            <a:extLst>
              <a:ext uri="{FF2B5EF4-FFF2-40B4-BE49-F238E27FC236}">
                <a16:creationId xmlns:a16="http://schemas.microsoft.com/office/drawing/2014/main" id="{AEFC72C2-D1D7-4B93-935F-2515BAF58E9D}"/>
              </a:ext>
            </a:extLst>
          </p:cNvPr>
          <p:cNvSpPr txBox="1">
            <a:spLocks/>
          </p:cNvSpPr>
          <p:nvPr/>
        </p:nvSpPr>
        <p:spPr>
          <a:xfrm>
            <a:off x="5393543" y="1468998"/>
            <a:ext cx="3579801"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dirty="0"/>
              <a:t>circuit using just the a-phase?</a:t>
            </a:r>
            <a:endParaRPr lang="en-US" sz="2000" kern="0" dirty="0"/>
          </a:p>
        </p:txBody>
      </p:sp>
      <p:pic>
        <p:nvPicPr>
          <p:cNvPr id="30" name="Picture 29" descr="A circuit diagram shows the positive terminal of a voltage source V sub a prime n connected to a terminal small a prime. This terminal a prime is connected to an impedance of Z sub g a that is connected to terminal small a on the other side. Terminal small a is connected to Z sub small I small a. This impedance Z sub small i small a is connected to another impedance of Z sub A through a terminal cap A. Z sub A is connected to terminal cap N that is connected to terminal small n. this terminal small n is connected to the negative terminal of V sub a prime n. Current I sub small a cap A flows through Z sub small i small a, to the right.">
            <a:extLst>
              <a:ext uri="{FF2B5EF4-FFF2-40B4-BE49-F238E27FC236}">
                <a16:creationId xmlns:a16="http://schemas.microsoft.com/office/drawing/2014/main" id="{50CE62C9-610D-412F-BF91-02B6556F9462}"/>
              </a:ext>
            </a:extLst>
          </p:cNvPr>
          <p:cNvPicPr>
            <a:picLocks noChangeAspect="1"/>
          </p:cNvPicPr>
          <p:nvPr/>
        </p:nvPicPr>
        <p:blipFill>
          <a:blip r:embed="rId5"/>
          <a:stretch>
            <a:fillRect/>
          </a:stretch>
        </p:blipFill>
        <p:spPr>
          <a:xfrm>
            <a:off x="4657618" y="2164353"/>
            <a:ext cx="4059071" cy="1518355"/>
          </a:xfrm>
          <a:prstGeom prst="rect">
            <a:avLst/>
          </a:prstGeom>
        </p:spPr>
      </p:pic>
      <p:sp>
        <p:nvSpPr>
          <p:cNvPr id="31" name="Content Placeholder 4">
            <a:extLst>
              <a:ext uri="{FF2B5EF4-FFF2-40B4-BE49-F238E27FC236}">
                <a16:creationId xmlns:a16="http://schemas.microsoft.com/office/drawing/2014/main" id="{B1328C6E-2708-45FF-A9ED-E85AC7A343CA}"/>
              </a:ext>
            </a:extLst>
          </p:cNvPr>
          <p:cNvSpPr txBox="1">
            <a:spLocks/>
          </p:cNvSpPr>
          <p:nvPr/>
        </p:nvSpPr>
        <p:spPr>
          <a:xfrm>
            <a:off x="432828" y="4801298"/>
            <a:ext cx="7951696" cy="132901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800" kern="0" dirty="0"/>
              <a:t>Can we analyze the a-phase circuit to calculate the line current </a:t>
            </a:r>
            <a:r>
              <a:rPr lang="en-US" sz="2800" i="1" kern="0" dirty="0" err="1">
                <a:latin typeface="Times New Roman" panose="02020603050405020304" pitchFamily="18" charset="0"/>
                <a:cs typeface="Times New Roman" panose="02020603050405020304" pitchFamily="18" charset="0"/>
              </a:rPr>
              <a:t>I</a:t>
            </a:r>
            <a:r>
              <a:rPr lang="en-US" sz="2800" i="1" kern="0" baseline="-25000" dirty="0" err="1">
                <a:latin typeface="Times New Roman" panose="02020603050405020304" pitchFamily="18" charset="0"/>
                <a:cs typeface="Times New Roman" panose="02020603050405020304" pitchFamily="18" charset="0"/>
              </a:rPr>
              <a:t>aA</a:t>
            </a:r>
            <a:r>
              <a:rPr lang="en-US" sz="2800" kern="0" dirty="0"/>
              <a:t>?  What is special about this circuit?</a:t>
            </a:r>
          </a:p>
        </p:txBody>
      </p:sp>
      <p:pic>
        <p:nvPicPr>
          <p:cNvPr id="24" name="Picture 23"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F58F24D5-C04F-4C72-AAFF-3E4E1EBCD9C5}"/>
              </a:ext>
            </a:extLst>
          </p:cNvPr>
          <p:cNvPicPr>
            <a:picLocks noChangeAspect="1"/>
          </p:cNvPicPr>
          <p:nvPr/>
        </p:nvPicPr>
        <p:blipFill>
          <a:blip r:embed="rId6"/>
          <a:stretch>
            <a:fillRect/>
          </a:stretch>
        </p:blipFill>
        <p:spPr>
          <a:xfrm>
            <a:off x="345463" y="1919044"/>
            <a:ext cx="4161703" cy="2451366"/>
          </a:xfrm>
          <a:prstGeom prst="rect">
            <a:avLst/>
          </a:prstGeom>
        </p:spPr>
      </p:pic>
    </p:spTree>
    <p:extLst>
      <p:ext uri="{BB962C8B-B14F-4D97-AF65-F5344CB8AC3E}">
        <p14:creationId xmlns:p14="http://schemas.microsoft.com/office/powerpoint/2010/main" val="10478313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a:xfrm>
            <a:off x="2133600" y="1"/>
            <a:ext cx="6922115" cy="990600"/>
          </a:xfrm>
        </p:spPr>
        <p:txBody>
          <a:bodyPr/>
          <a:lstStyle/>
          <a:p>
            <a:r>
              <a:rPr lang="en-US" sz="2800" dirty="0"/>
              <a:t>Does the Single-phase Equivalent Circuit Work?</a:t>
            </a:r>
          </a:p>
        </p:txBody>
      </p:sp>
      <p:sp>
        <p:nvSpPr>
          <p:cNvPr id="6" name="Content Placeholder 44">
            <a:extLst>
              <a:ext uri="{FF2B5EF4-FFF2-40B4-BE49-F238E27FC236}">
                <a16:creationId xmlns:a16="http://schemas.microsoft.com/office/drawing/2014/main" id="{EB558186-F333-4E3B-80CB-61717F93E4AE}"/>
              </a:ext>
            </a:extLst>
          </p:cNvPr>
          <p:cNvSpPr txBox="1">
            <a:spLocks/>
          </p:cNvSpPr>
          <p:nvPr/>
        </p:nvSpPr>
        <p:spPr bwMode="auto">
          <a:xfrm>
            <a:off x="163729" y="947580"/>
            <a:ext cx="7068344" cy="467239"/>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800" dirty="0"/>
              <a:t>Wait, can we do that?  The answer is yes.  </a:t>
            </a:r>
            <a:endParaRPr lang="en-US" sz="2800" kern="0" dirty="0"/>
          </a:p>
        </p:txBody>
      </p:sp>
      <p:sp>
        <p:nvSpPr>
          <p:cNvPr id="19" name="Rectangle 6">
            <a:extLst>
              <a:ext uri="{FF2B5EF4-FFF2-40B4-BE49-F238E27FC236}">
                <a16:creationId xmlns:a16="http://schemas.microsoft.com/office/drawing/2014/main" id="{735E55C4-FBB1-41CC-8C3C-4175CA232A99}"/>
              </a:ext>
            </a:extLst>
          </p:cNvPr>
          <p:cNvSpPr>
            <a:spLocks noChangeArrowheads="1"/>
          </p:cNvSpPr>
          <p:nvPr/>
        </p:nvSpPr>
        <p:spPr bwMode="auto">
          <a:xfrm>
            <a:off x="146411" y="1499941"/>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6" name="Content Placeholder 2">
            <a:extLst>
              <a:ext uri="{FF2B5EF4-FFF2-40B4-BE49-F238E27FC236}">
                <a16:creationId xmlns:a16="http://schemas.microsoft.com/office/drawing/2014/main" id="{E8B75015-F5BD-41F9-A9C3-0C4FA7873F1F}"/>
              </a:ext>
            </a:extLst>
          </p:cNvPr>
          <p:cNvSpPr txBox="1">
            <a:spLocks/>
          </p:cNvSpPr>
          <p:nvPr/>
        </p:nvSpPr>
        <p:spPr bwMode="auto">
          <a:xfrm>
            <a:off x="432828" y="1468998"/>
            <a:ext cx="4436370"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2000" dirty="0"/>
              <a:t>Can we analyze a balanced Y-Y</a:t>
            </a:r>
            <a:endParaRPr lang="en-US" sz="2000" dirty="0"/>
          </a:p>
        </p:txBody>
      </p:sp>
      <p:graphicFrame>
        <p:nvGraphicFramePr>
          <p:cNvPr id="17" name="Object 16" descr="3 minus phi.&#10;">
            <a:extLst>
              <a:ext uri="{FF2B5EF4-FFF2-40B4-BE49-F238E27FC236}">
                <a16:creationId xmlns:a16="http://schemas.microsoft.com/office/drawing/2014/main" id="{D45D5B30-FF84-4BE9-A929-2EBD67545BB7}"/>
              </a:ext>
            </a:extLst>
          </p:cNvPr>
          <p:cNvGraphicFramePr>
            <a:graphicFrameLocks noChangeAspect="1"/>
          </p:cNvGraphicFramePr>
          <p:nvPr/>
        </p:nvGraphicFramePr>
        <p:xfrm>
          <a:off x="4934612" y="1534577"/>
          <a:ext cx="393517" cy="310926"/>
        </p:xfrm>
        <a:graphic>
          <a:graphicData uri="http://schemas.openxmlformats.org/presentationml/2006/ole">
            <mc:AlternateContent xmlns:mc="http://schemas.openxmlformats.org/markup-compatibility/2006">
              <mc:Choice xmlns:v="urn:schemas-microsoft-com:vml" Requires="v">
                <p:oleObj name="Equation" r:id="rId3" imgW="253800" imgH="203040" progId="Equation.DSMT4">
                  <p:embed/>
                </p:oleObj>
              </mc:Choice>
              <mc:Fallback>
                <p:oleObj name="Equation" r:id="rId3" imgW="253800" imgH="203040" progId="Equation.DSMT4">
                  <p:embed/>
                  <p:pic>
                    <p:nvPicPr>
                      <p:cNvPr id="17" name="Object 16" descr="3 minus phi.&#10;">
                        <a:extLst>
                          <a:ext uri="{FF2B5EF4-FFF2-40B4-BE49-F238E27FC236}">
                            <a16:creationId xmlns:a16="http://schemas.microsoft.com/office/drawing/2014/main" id="{D45D5B30-FF84-4BE9-A929-2EBD67545BB7}"/>
                          </a:ext>
                        </a:extLst>
                      </p:cNvPr>
                      <p:cNvPicPr>
                        <a:picLocks noChangeAspect="1" noChangeArrowheads="1"/>
                      </p:cNvPicPr>
                      <p:nvPr/>
                    </p:nvPicPr>
                    <p:blipFill>
                      <a:blip r:embed="rId4"/>
                      <a:srcRect/>
                      <a:stretch>
                        <a:fillRect/>
                      </a:stretch>
                    </p:blipFill>
                    <p:spPr bwMode="auto">
                      <a:xfrm>
                        <a:off x="4934612" y="1534577"/>
                        <a:ext cx="393517" cy="3109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Content Placeholder 3">
            <a:extLst>
              <a:ext uri="{FF2B5EF4-FFF2-40B4-BE49-F238E27FC236}">
                <a16:creationId xmlns:a16="http://schemas.microsoft.com/office/drawing/2014/main" id="{AEFC72C2-D1D7-4B93-935F-2515BAF58E9D}"/>
              </a:ext>
            </a:extLst>
          </p:cNvPr>
          <p:cNvSpPr txBox="1">
            <a:spLocks/>
          </p:cNvSpPr>
          <p:nvPr/>
        </p:nvSpPr>
        <p:spPr>
          <a:xfrm>
            <a:off x="5393543" y="1468998"/>
            <a:ext cx="3579801"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dirty="0"/>
              <a:t>circuit using just the a-phase?</a:t>
            </a:r>
            <a:endParaRPr lang="en-US" sz="2000" kern="0" dirty="0"/>
          </a:p>
        </p:txBody>
      </p:sp>
      <p:pic>
        <p:nvPicPr>
          <p:cNvPr id="30" name="Picture 29" descr="A circuit diagram shows the positive terminal of a voltage source V sub a prime n connected to a terminal small a prime. This terminal a prime is connected to an impedance of Z sub g a that is connected to terminal small a on the other side. Terminal small a is connected to Z sub small I small a. This impedance Z sub small i small a is connected to another impedance of Z sub A through a terminal cap A. Z sub A is connected to terminal cap N that is connected to terminal small n. this terminal small n is connected to the negative terminal of V sub a prime n. Current I sub small a cap A flows through Z sub small i small a, to the right.">
            <a:extLst>
              <a:ext uri="{FF2B5EF4-FFF2-40B4-BE49-F238E27FC236}">
                <a16:creationId xmlns:a16="http://schemas.microsoft.com/office/drawing/2014/main" id="{50CE62C9-610D-412F-BF91-02B6556F9462}"/>
              </a:ext>
            </a:extLst>
          </p:cNvPr>
          <p:cNvPicPr>
            <a:picLocks noChangeAspect="1"/>
          </p:cNvPicPr>
          <p:nvPr/>
        </p:nvPicPr>
        <p:blipFill>
          <a:blip r:embed="rId5"/>
          <a:stretch>
            <a:fillRect/>
          </a:stretch>
        </p:blipFill>
        <p:spPr>
          <a:xfrm>
            <a:off x="4657618" y="2164353"/>
            <a:ext cx="4059071" cy="1518355"/>
          </a:xfrm>
          <a:prstGeom prst="rect">
            <a:avLst/>
          </a:prstGeom>
        </p:spPr>
      </p:pic>
      <p:sp>
        <p:nvSpPr>
          <p:cNvPr id="31" name="Content Placeholder 4">
            <a:extLst>
              <a:ext uri="{FF2B5EF4-FFF2-40B4-BE49-F238E27FC236}">
                <a16:creationId xmlns:a16="http://schemas.microsoft.com/office/drawing/2014/main" id="{B1328C6E-2708-45FF-A9ED-E85AC7A343CA}"/>
              </a:ext>
            </a:extLst>
          </p:cNvPr>
          <p:cNvSpPr txBox="1">
            <a:spLocks/>
          </p:cNvSpPr>
          <p:nvPr/>
        </p:nvSpPr>
        <p:spPr>
          <a:xfrm>
            <a:off x="432828" y="4524301"/>
            <a:ext cx="8365708" cy="1883011"/>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400" kern="0" dirty="0"/>
              <a:t>Can we analyze the a-phase circuit to calculate the line current </a:t>
            </a:r>
            <a:r>
              <a:rPr lang="en-US" sz="2400" i="1" kern="0" dirty="0" err="1">
                <a:latin typeface="Times New Roman" panose="02020603050405020304" pitchFamily="18" charset="0"/>
                <a:cs typeface="Times New Roman" panose="02020603050405020304" pitchFamily="18" charset="0"/>
              </a:rPr>
              <a:t>I</a:t>
            </a:r>
            <a:r>
              <a:rPr lang="en-US" sz="2400" i="1" kern="0" baseline="-25000" dirty="0" err="1">
                <a:latin typeface="Times New Roman" panose="02020603050405020304" pitchFamily="18" charset="0"/>
                <a:cs typeface="Times New Roman" panose="02020603050405020304" pitchFamily="18" charset="0"/>
              </a:rPr>
              <a:t>aA</a:t>
            </a:r>
            <a:r>
              <a:rPr lang="en-US" sz="2400" kern="0" dirty="0"/>
              <a:t>?  What is special about this circuit?  The special thing is that this is a </a:t>
            </a:r>
            <a:r>
              <a:rPr lang="en-US" sz="2400" b="1" kern="0" dirty="0"/>
              <a:t>balanced three-phase circuit</a:t>
            </a:r>
            <a:r>
              <a:rPr lang="en-US" sz="2400" kern="0" dirty="0"/>
              <a:t>, so we know that </a:t>
            </a:r>
            <a:r>
              <a:rPr lang="en-US" sz="2400" i="1" kern="0" dirty="0">
                <a:latin typeface="Times New Roman" panose="02020603050405020304" pitchFamily="18" charset="0"/>
                <a:cs typeface="Times New Roman" panose="02020603050405020304" pitchFamily="18" charset="0"/>
              </a:rPr>
              <a:t>I</a:t>
            </a:r>
            <a:r>
              <a:rPr lang="en-US" sz="2400" i="1" kern="0" baseline="-25000" dirty="0">
                <a:latin typeface="Times New Roman" panose="02020603050405020304" pitchFamily="18" charset="0"/>
                <a:cs typeface="Times New Roman" panose="02020603050405020304" pitchFamily="18" charset="0"/>
              </a:rPr>
              <a:t>O</a:t>
            </a:r>
            <a:r>
              <a:rPr lang="en-US" sz="2400" kern="0" dirty="0"/>
              <a:t> is zero, and the voltage across </a:t>
            </a:r>
            <a:r>
              <a:rPr lang="en-US" sz="2400" i="1" kern="0" dirty="0">
                <a:latin typeface="Times New Roman" panose="02020603050405020304" pitchFamily="18" charset="0"/>
                <a:cs typeface="Times New Roman" panose="02020603050405020304" pitchFamily="18" charset="0"/>
              </a:rPr>
              <a:t>Z</a:t>
            </a:r>
            <a:r>
              <a:rPr lang="en-US" sz="2400" i="1" kern="0" baseline="-25000" dirty="0">
                <a:latin typeface="Times New Roman" panose="02020603050405020304" pitchFamily="18" charset="0"/>
                <a:cs typeface="Times New Roman" panose="02020603050405020304" pitchFamily="18" charset="0"/>
              </a:rPr>
              <a:t>O</a:t>
            </a:r>
            <a:r>
              <a:rPr lang="en-US" sz="2400" kern="0" dirty="0"/>
              <a:t> is zero.  That is why this works.  </a:t>
            </a:r>
          </a:p>
        </p:txBody>
      </p:sp>
      <p:pic>
        <p:nvPicPr>
          <p:cNvPr id="24" name="Picture 23" descr="A circuit diagram of a Y-Y connection shows the positive terminal of a voltage source V sub a prime n connected to an impedance Z sub g a. The negative terminal of this voltage source is connected to terminal 1 below it. This impedance is connected to a terminal small a that on the other side is connected to an impedance Z sub 1 a. Z sub 1 a is connected to a terminal cap A. Current I sub small a cap A flows to the right through the circuit between Z sub 1 a and the terminal cap A. Terminal cap A is connected to an impedance Z sub A. Z sub A is connected to terminal 2. From terminal 2, the circuit is connected to an impedance Z sub C that is again connected to a terminal cap C. Terminal cap C is connected to an impedance Z sub 1 c that is connected to another terminal small c. Current of I sub small c cap C flows to the right from Z sub 1 c to terminal cap C. Terminal small c is connected to impedance Z sub g c that is connected again to the positive terminal of a voltage source V sub c prime n. Negative terminal of this voltage source is connected to terminal 1. &#10;A connection from terminal 1 is made with impedance Z sub 0 through a terminal small n. Current I sub 0 flows to the left in the circuit between terminal small n and Z sub 0. Z sub 0 is connected to terminal cap N that is in turn connected to terminal 2. &#10;The negative terminal of a voltage source V sub b prime n is connected to terminal 1, and its positive terminal is connected to an impedance of Z sub b g. This impedance is connected to terminal small b that is connected to terminal cap B.  An impedance Z sub B is connected to terminal cap B on one side and to terminal 2 on the other side. Current I sub small b cap B flows to the right through the circuit between Z sub 1 b and the terminal cap B.&#10;">
            <a:extLst>
              <a:ext uri="{FF2B5EF4-FFF2-40B4-BE49-F238E27FC236}">
                <a16:creationId xmlns:a16="http://schemas.microsoft.com/office/drawing/2014/main" id="{F58F24D5-C04F-4C72-AAFF-3E4E1EBCD9C5}"/>
              </a:ext>
            </a:extLst>
          </p:cNvPr>
          <p:cNvPicPr>
            <a:picLocks noChangeAspect="1"/>
          </p:cNvPicPr>
          <p:nvPr/>
        </p:nvPicPr>
        <p:blipFill>
          <a:blip r:embed="rId6"/>
          <a:stretch>
            <a:fillRect/>
          </a:stretch>
        </p:blipFill>
        <p:spPr>
          <a:xfrm>
            <a:off x="345463" y="1919044"/>
            <a:ext cx="4161703" cy="2451366"/>
          </a:xfrm>
          <a:prstGeom prst="rect">
            <a:avLst/>
          </a:prstGeom>
        </p:spPr>
      </p:pic>
    </p:spTree>
    <p:extLst>
      <p:ext uri="{BB962C8B-B14F-4D97-AF65-F5344CB8AC3E}">
        <p14:creationId xmlns:p14="http://schemas.microsoft.com/office/powerpoint/2010/main" val="384087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a:xfrm>
            <a:off x="2514600" y="152400"/>
            <a:ext cx="6324600" cy="685800"/>
          </a:xfrm>
        </p:spPr>
        <p:txBody>
          <a:bodyPr/>
          <a:lstStyle/>
          <a:p>
            <a:pPr eaLnBrk="1" hangingPunct="1"/>
            <a:r>
              <a:rPr lang="en-US" altLang="en-US" sz="3600"/>
              <a:t>Sample Problem 1</a:t>
            </a:r>
          </a:p>
        </p:txBody>
      </p:sp>
      <p:sp>
        <p:nvSpPr>
          <p:cNvPr id="4" name="Rectangle 6">
            <a:extLst>
              <a:ext uri="{FF2B5EF4-FFF2-40B4-BE49-F238E27FC236}">
                <a16:creationId xmlns:a16="http://schemas.microsoft.com/office/drawing/2014/main" id="{7C5B72DA-5D04-4B97-8A32-9CE0CA5111F9}"/>
              </a:ext>
            </a:extLst>
          </p:cNvPr>
          <p:cNvSpPr>
            <a:spLocks noChangeArrowheads="1"/>
          </p:cNvSpPr>
          <p:nvPr/>
        </p:nvSpPr>
        <p:spPr bwMode="auto">
          <a:xfrm>
            <a:off x="170656" y="1468998"/>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5" name="Content Placeholder 2">
            <a:extLst>
              <a:ext uri="{FF2B5EF4-FFF2-40B4-BE49-F238E27FC236}">
                <a16:creationId xmlns:a16="http://schemas.microsoft.com/office/drawing/2014/main" id="{8F47B805-94B7-42DE-B5FD-06D711C9FCD3}"/>
              </a:ext>
            </a:extLst>
          </p:cNvPr>
          <p:cNvSpPr txBox="1">
            <a:spLocks/>
          </p:cNvSpPr>
          <p:nvPr/>
        </p:nvSpPr>
        <p:spPr bwMode="auto">
          <a:xfrm>
            <a:off x="427875" y="1713280"/>
            <a:ext cx="8240620"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ts val="600"/>
              </a:spcBef>
              <a:tabLst>
                <a:tab pos="231775" algn="l"/>
              </a:tabLst>
            </a:pPr>
            <a:r>
              <a:rPr lang="en-US" altLang="en-US" sz="2000" dirty="0"/>
              <a:t>A balanced </a:t>
            </a:r>
            <a:r>
              <a:rPr lang="en-US" altLang="en-US" sz="2000" dirty="0" err="1"/>
              <a:t>wye-wye</a:t>
            </a:r>
            <a:r>
              <a:rPr lang="en-US" altLang="en-US" sz="2000" dirty="0"/>
              <a:t> three phase circuit has the following characteristics:</a:t>
            </a:r>
            <a:endParaRPr lang="en-US" sz="2000" dirty="0"/>
          </a:p>
        </p:txBody>
      </p:sp>
      <p:sp>
        <p:nvSpPr>
          <p:cNvPr id="7" name="Content Placeholder 3">
            <a:extLst>
              <a:ext uri="{FF2B5EF4-FFF2-40B4-BE49-F238E27FC236}">
                <a16:creationId xmlns:a16="http://schemas.microsoft.com/office/drawing/2014/main" id="{6A1C82BC-1779-4F6F-8652-055B96FBD7E9}"/>
              </a:ext>
            </a:extLst>
          </p:cNvPr>
          <p:cNvSpPr txBox="1">
            <a:spLocks/>
          </p:cNvSpPr>
          <p:nvPr/>
        </p:nvSpPr>
        <p:spPr>
          <a:xfrm>
            <a:off x="430305" y="2158903"/>
            <a:ext cx="4572001" cy="651905"/>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source has positive phase sequence, with a rms magnitude of:</a:t>
            </a:r>
            <a:endParaRPr lang="en-US" sz="2000" kern="0" dirty="0"/>
          </a:p>
        </p:txBody>
      </p:sp>
      <p:graphicFrame>
        <p:nvGraphicFramePr>
          <p:cNvPr id="8" name="Object 7" descr="120 Volt per phi.&#10;">
            <a:extLst>
              <a:ext uri="{FF2B5EF4-FFF2-40B4-BE49-F238E27FC236}">
                <a16:creationId xmlns:a16="http://schemas.microsoft.com/office/drawing/2014/main" id="{366A6014-5AD1-4112-8D1A-F7403E318F75}"/>
              </a:ext>
            </a:extLst>
          </p:cNvPr>
          <p:cNvGraphicFramePr>
            <a:graphicFrameLocks noChangeAspect="1"/>
          </p:cNvGraphicFramePr>
          <p:nvPr>
            <p:extLst>
              <p:ext uri="{D42A27DB-BD31-4B8C-83A1-F6EECF244321}">
                <p14:modId xmlns:p14="http://schemas.microsoft.com/office/powerpoint/2010/main" val="2106883758"/>
              </p:ext>
            </p:extLst>
          </p:nvPr>
        </p:nvGraphicFramePr>
        <p:xfrm>
          <a:off x="4951413" y="2320925"/>
          <a:ext cx="1141412" cy="387350"/>
        </p:xfrm>
        <a:graphic>
          <a:graphicData uri="http://schemas.openxmlformats.org/presentationml/2006/ole">
            <mc:AlternateContent xmlns:mc="http://schemas.openxmlformats.org/markup-compatibility/2006">
              <mc:Choice xmlns:v="urn:schemas-microsoft-com:vml" Requires="v">
                <p:oleObj name="Equation" r:id="rId3" imgW="736560" imgH="253800" progId="Equation.DSMT4">
                  <p:embed/>
                </p:oleObj>
              </mc:Choice>
              <mc:Fallback>
                <p:oleObj name="Equation" r:id="rId3" imgW="736560" imgH="253800" progId="Equation.DSMT4">
                  <p:embed/>
                  <p:pic>
                    <p:nvPicPr>
                      <p:cNvPr id="8" name="Object 7" descr="120 Volt per phi.&#10;">
                        <a:extLst>
                          <a:ext uri="{FF2B5EF4-FFF2-40B4-BE49-F238E27FC236}">
                            <a16:creationId xmlns:a16="http://schemas.microsoft.com/office/drawing/2014/main" id="{366A6014-5AD1-4112-8D1A-F7403E318F75}"/>
                          </a:ext>
                        </a:extLst>
                      </p:cNvPr>
                      <p:cNvPicPr>
                        <a:picLocks noChangeAspect="1" noChangeArrowheads="1"/>
                      </p:cNvPicPr>
                      <p:nvPr/>
                    </p:nvPicPr>
                    <p:blipFill>
                      <a:blip r:embed="rId4"/>
                      <a:srcRect/>
                      <a:stretch>
                        <a:fillRect/>
                      </a:stretch>
                    </p:blipFill>
                    <p:spPr bwMode="auto">
                      <a:xfrm>
                        <a:off x="4951413" y="2320925"/>
                        <a:ext cx="114141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4">
            <a:extLst>
              <a:ext uri="{FF2B5EF4-FFF2-40B4-BE49-F238E27FC236}">
                <a16:creationId xmlns:a16="http://schemas.microsoft.com/office/drawing/2014/main" id="{F4AF8F94-49C6-4D46-B7E7-FE9D46EA8E3A}"/>
              </a:ext>
            </a:extLst>
          </p:cNvPr>
          <p:cNvSpPr txBox="1">
            <a:spLocks/>
          </p:cNvSpPr>
          <p:nvPr/>
        </p:nvSpPr>
        <p:spPr>
          <a:xfrm>
            <a:off x="3958431" y="2889482"/>
            <a:ext cx="2019396" cy="651905"/>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dirty="0"/>
              <a:t>and a source impedance of:</a:t>
            </a:r>
            <a:endParaRPr lang="en-US" sz="2000" kern="0" dirty="0"/>
          </a:p>
        </p:txBody>
      </p:sp>
      <p:graphicFrame>
        <p:nvGraphicFramePr>
          <p:cNvPr id="10" name="Object 9" descr="0.2 plus j 0.5 Ohm per phi.&#10;">
            <a:extLst>
              <a:ext uri="{FF2B5EF4-FFF2-40B4-BE49-F238E27FC236}">
                <a16:creationId xmlns:a16="http://schemas.microsoft.com/office/drawing/2014/main" id="{7058BBEE-28B7-4FD9-A6BB-2E714611971E}"/>
              </a:ext>
            </a:extLst>
          </p:cNvPr>
          <p:cNvGraphicFramePr>
            <a:graphicFrameLocks noChangeAspect="1"/>
          </p:cNvGraphicFramePr>
          <p:nvPr>
            <p:extLst>
              <p:ext uri="{D42A27DB-BD31-4B8C-83A1-F6EECF244321}">
                <p14:modId xmlns:p14="http://schemas.microsoft.com/office/powerpoint/2010/main" val="2654077486"/>
              </p:ext>
            </p:extLst>
          </p:nvPr>
        </p:nvGraphicFramePr>
        <p:xfrm>
          <a:off x="5715000" y="3085860"/>
          <a:ext cx="1928812" cy="385762"/>
        </p:xfrm>
        <a:graphic>
          <a:graphicData uri="http://schemas.openxmlformats.org/presentationml/2006/ole">
            <mc:AlternateContent xmlns:mc="http://schemas.openxmlformats.org/markup-compatibility/2006">
              <mc:Choice xmlns:v="urn:schemas-microsoft-com:vml" Requires="v">
                <p:oleObj name="Equation" r:id="rId5" imgW="1244520" imgH="253800" progId="Equation.DSMT4">
                  <p:embed/>
                </p:oleObj>
              </mc:Choice>
              <mc:Fallback>
                <p:oleObj name="Equation" r:id="rId5" imgW="1244520" imgH="253800" progId="Equation.DSMT4">
                  <p:embed/>
                  <p:pic>
                    <p:nvPicPr>
                      <p:cNvPr id="10" name="Object 9" descr="0.2 plus j 0.5 Ohm per phi.&#10;">
                        <a:extLst>
                          <a:ext uri="{FF2B5EF4-FFF2-40B4-BE49-F238E27FC236}">
                            <a16:creationId xmlns:a16="http://schemas.microsoft.com/office/drawing/2014/main" id="{7058BBEE-28B7-4FD9-A6BB-2E714611971E}"/>
                          </a:ext>
                        </a:extLst>
                      </p:cNvPr>
                      <p:cNvPicPr>
                        <a:picLocks noChangeAspect="1" noChangeArrowheads="1"/>
                      </p:cNvPicPr>
                      <p:nvPr/>
                    </p:nvPicPr>
                    <p:blipFill>
                      <a:blip r:embed="rId6"/>
                      <a:srcRect/>
                      <a:stretch>
                        <a:fillRect/>
                      </a:stretch>
                    </p:blipFill>
                    <p:spPr bwMode="auto">
                      <a:xfrm>
                        <a:off x="5715000" y="3085860"/>
                        <a:ext cx="1928812"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5">
            <a:extLst>
              <a:ext uri="{FF2B5EF4-FFF2-40B4-BE49-F238E27FC236}">
                <a16:creationId xmlns:a16="http://schemas.microsoft.com/office/drawing/2014/main" id="{4D6B4556-878E-4C66-85E8-D485426CAAE7}"/>
              </a:ext>
            </a:extLst>
          </p:cNvPr>
          <p:cNvSpPr txBox="1">
            <a:spLocks/>
          </p:cNvSpPr>
          <p:nvPr/>
        </p:nvSpPr>
        <p:spPr>
          <a:xfrm>
            <a:off x="550570" y="3819608"/>
            <a:ext cx="402142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impedance of the load is:</a:t>
            </a:r>
            <a:endParaRPr lang="en-US" sz="2000" kern="0" dirty="0"/>
          </a:p>
        </p:txBody>
      </p:sp>
      <p:graphicFrame>
        <p:nvGraphicFramePr>
          <p:cNvPr id="12" name="Object 11" descr="39 plus j 28 Ohm per phi.&#10;">
            <a:extLst>
              <a:ext uri="{FF2B5EF4-FFF2-40B4-BE49-F238E27FC236}">
                <a16:creationId xmlns:a16="http://schemas.microsoft.com/office/drawing/2014/main" id="{962CDDC7-410B-4E15-8416-9588DFB524C8}"/>
              </a:ext>
            </a:extLst>
          </p:cNvPr>
          <p:cNvGraphicFramePr>
            <a:graphicFrameLocks noChangeAspect="1"/>
          </p:cNvGraphicFramePr>
          <p:nvPr>
            <p:extLst>
              <p:ext uri="{D42A27DB-BD31-4B8C-83A1-F6EECF244321}">
                <p14:modId xmlns:p14="http://schemas.microsoft.com/office/powerpoint/2010/main" val="1959677869"/>
              </p:ext>
            </p:extLst>
          </p:nvPr>
        </p:nvGraphicFramePr>
        <p:xfrm>
          <a:off x="4652348" y="3872335"/>
          <a:ext cx="1811337" cy="387350"/>
        </p:xfrm>
        <a:graphic>
          <a:graphicData uri="http://schemas.openxmlformats.org/presentationml/2006/ole">
            <mc:AlternateContent xmlns:mc="http://schemas.openxmlformats.org/markup-compatibility/2006">
              <mc:Choice xmlns:v="urn:schemas-microsoft-com:vml" Requires="v">
                <p:oleObj name="Equation" r:id="rId7" imgW="1168200" imgH="253800" progId="Equation.DSMT4">
                  <p:embed/>
                </p:oleObj>
              </mc:Choice>
              <mc:Fallback>
                <p:oleObj name="Equation" r:id="rId7" imgW="1168200" imgH="253800" progId="Equation.DSMT4">
                  <p:embed/>
                  <p:pic>
                    <p:nvPicPr>
                      <p:cNvPr id="12" name="Object 11" descr="39 plus j 28 Ohm per phi.&#10;">
                        <a:extLst>
                          <a:ext uri="{FF2B5EF4-FFF2-40B4-BE49-F238E27FC236}">
                            <a16:creationId xmlns:a16="http://schemas.microsoft.com/office/drawing/2014/main" id="{962CDDC7-410B-4E15-8416-9588DFB524C8}"/>
                          </a:ext>
                        </a:extLst>
                      </p:cNvPr>
                      <p:cNvPicPr>
                        <a:picLocks noChangeAspect="1" noChangeArrowheads="1"/>
                      </p:cNvPicPr>
                      <p:nvPr/>
                    </p:nvPicPr>
                    <p:blipFill>
                      <a:blip r:embed="rId8"/>
                      <a:srcRect/>
                      <a:stretch>
                        <a:fillRect/>
                      </a:stretch>
                    </p:blipFill>
                    <p:spPr bwMode="auto">
                      <a:xfrm>
                        <a:off x="4652348" y="3872335"/>
                        <a:ext cx="1811337"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6">
            <a:extLst>
              <a:ext uri="{FF2B5EF4-FFF2-40B4-BE49-F238E27FC236}">
                <a16:creationId xmlns:a16="http://schemas.microsoft.com/office/drawing/2014/main" id="{7C19BCEF-F4C0-42BE-A996-0E9BFC0F8B7F}"/>
              </a:ext>
            </a:extLst>
          </p:cNvPr>
          <p:cNvSpPr txBox="1">
            <a:spLocks/>
          </p:cNvSpPr>
          <p:nvPr/>
        </p:nvSpPr>
        <p:spPr>
          <a:xfrm>
            <a:off x="427875" y="4582876"/>
            <a:ext cx="3991725"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impedance of the line is:</a:t>
            </a:r>
            <a:endParaRPr lang="en-US" sz="2000" kern="0" dirty="0"/>
          </a:p>
        </p:txBody>
      </p:sp>
      <p:graphicFrame>
        <p:nvGraphicFramePr>
          <p:cNvPr id="14" name="Object 13" descr="0.8 plus j 1.5 Ohm per phi.&#10;">
            <a:extLst>
              <a:ext uri="{FF2B5EF4-FFF2-40B4-BE49-F238E27FC236}">
                <a16:creationId xmlns:a16="http://schemas.microsoft.com/office/drawing/2014/main" id="{42527E2B-D20B-4A83-B87D-696A81CA1FA5}"/>
              </a:ext>
            </a:extLst>
          </p:cNvPr>
          <p:cNvGraphicFramePr>
            <a:graphicFrameLocks noChangeAspect="1"/>
          </p:cNvGraphicFramePr>
          <p:nvPr>
            <p:extLst>
              <p:ext uri="{D42A27DB-BD31-4B8C-83A1-F6EECF244321}">
                <p14:modId xmlns:p14="http://schemas.microsoft.com/office/powerpoint/2010/main" val="4080876858"/>
              </p:ext>
            </p:extLst>
          </p:nvPr>
        </p:nvGraphicFramePr>
        <p:xfrm>
          <a:off x="4222750" y="4559300"/>
          <a:ext cx="1909763" cy="387350"/>
        </p:xfrm>
        <a:graphic>
          <a:graphicData uri="http://schemas.openxmlformats.org/presentationml/2006/ole">
            <mc:AlternateContent xmlns:mc="http://schemas.openxmlformats.org/markup-compatibility/2006">
              <mc:Choice xmlns:v="urn:schemas-microsoft-com:vml" Requires="v">
                <p:oleObj name="Equation" r:id="rId9" imgW="1231560" imgH="253800" progId="Equation.DSMT4">
                  <p:embed/>
                </p:oleObj>
              </mc:Choice>
              <mc:Fallback>
                <p:oleObj name="Equation" r:id="rId9" imgW="1231560" imgH="253800" progId="Equation.DSMT4">
                  <p:embed/>
                  <p:pic>
                    <p:nvPicPr>
                      <p:cNvPr id="14" name="Object 13" descr="0.8 plus j 1.5 Ohm per phi.&#10;">
                        <a:extLst>
                          <a:ext uri="{FF2B5EF4-FFF2-40B4-BE49-F238E27FC236}">
                            <a16:creationId xmlns:a16="http://schemas.microsoft.com/office/drawing/2014/main" id="{42527E2B-D20B-4A83-B87D-696A81CA1FA5}"/>
                          </a:ext>
                        </a:extLst>
                      </p:cNvPr>
                      <p:cNvPicPr>
                        <a:picLocks noChangeAspect="1" noChangeArrowheads="1"/>
                      </p:cNvPicPr>
                      <p:nvPr/>
                    </p:nvPicPr>
                    <p:blipFill>
                      <a:blip r:embed="rId10"/>
                      <a:srcRect/>
                      <a:stretch>
                        <a:fillRect/>
                      </a:stretch>
                    </p:blipFill>
                    <p:spPr bwMode="auto">
                      <a:xfrm>
                        <a:off x="4222750" y="4559300"/>
                        <a:ext cx="1909763"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7">
            <a:extLst>
              <a:ext uri="{FF2B5EF4-FFF2-40B4-BE49-F238E27FC236}">
                <a16:creationId xmlns:a16="http://schemas.microsoft.com/office/drawing/2014/main" id="{A7BDE516-E270-4245-BA4B-7133EED6CE09}"/>
              </a:ext>
            </a:extLst>
          </p:cNvPr>
          <p:cNvSpPr txBox="1">
            <a:spLocks/>
          </p:cNvSpPr>
          <p:nvPr/>
        </p:nvSpPr>
        <p:spPr>
          <a:xfrm>
            <a:off x="550571" y="5341697"/>
            <a:ext cx="8238190" cy="959681"/>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Calculate the line currents, the phase voltages at the load, the line voltages at the load, the phase voltages at the terminals of the generator, and the line voltages at the terminals of the generator.</a:t>
            </a:r>
          </a:p>
        </p:txBody>
      </p:sp>
      <p:sp>
        <p:nvSpPr>
          <p:cNvPr id="16" name="Content Placeholder 44">
            <a:extLst>
              <a:ext uri="{FF2B5EF4-FFF2-40B4-BE49-F238E27FC236}">
                <a16:creationId xmlns:a16="http://schemas.microsoft.com/office/drawing/2014/main" id="{C8FDC56A-2BD8-4B5B-9830-B4BFEBFDDC7D}"/>
              </a:ext>
            </a:extLst>
          </p:cNvPr>
          <p:cNvSpPr txBox="1">
            <a:spLocks/>
          </p:cNvSpPr>
          <p:nvPr/>
        </p:nvSpPr>
        <p:spPr bwMode="auto">
          <a:xfrm>
            <a:off x="170656" y="885453"/>
            <a:ext cx="8668544" cy="405683"/>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400" dirty="0"/>
              <a:t>Here is an example problem, that we will solve together.  </a:t>
            </a:r>
            <a:endParaRPr lang="en-US" sz="2400" kern="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a:xfrm>
            <a:off x="2514600" y="152400"/>
            <a:ext cx="6324600" cy="685800"/>
          </a:xfrm>
        </p:spPr>
        <p:txBody>
          <a:bodyPr/>
          <a:lstStyle/>
          <a:p>
            <a:pPr eaLnBrk="1" hangingPunct="1"/>
            <a:r>
              <a:rPr lang="en-US" altLang="en-US" sz="3600"/>
              <a:t>Sample Problem 1</a:t>
            </a:r>
          </a:p>
        </p:txBody>
      </p:sp>
      <p:sp>
        <p:nvSpPr>
          <p:cNvPr id="4" name="Rectangle 6">
            <a:extLst>
              <a:ext uri="{FF2B5EF4-FFF2-40B4-BE49-F238E27FC236}">
                <a16:creationId xmlns:a16="http://schemas.microsoft.com/office/drawing/2014/main" id="{7C5B72DA-5D04-4B97-8A32-9CE0CA5111F9}"/>
              </a:ext>
            </a:extLst>
          </p:cNvPr>
          <p:cNvSpPr>
            <a:spLocks noChangeArrowheads="1"/>
          </p:cNvSpPr>
          <p:nvPr/>
        </p:nvSpPr>
        <p:spPr bwMode="auto">
          <a:xfrm>
            <a:off x="170656" y="1468998"/>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5" name="Content Placeholder 2">
            <a:extLst>
              <a:ext uri="{FF2B5EF4-FFF2-40B4-BE49-F238E27FC236}">
                <a16:creationId xmlns:a16="http://schemas.microsoft.com/office/drawing/2014/main" id="{8F47B805-94B7-42DE-B5FD-06D711C9FCD3}"/>
              </a:ext>
            </a:extLst>
          </p:cNvPr>
          <p:cNvSpPr txBox="1">
            <a:spLocks/>
          </p:cNvSpPr>
          <p:nvPr/>
        </p:nvSpPr>
        <p:spPr bwMode="auto">
          <a:xfrm>
            <a:off x="427875" y="1713280"/>
            <a:ext cx="8240620"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ts val="600"/>
              </a:spcBef>
              <a:tabLst>
                <a:tab pos="231775" algn="l"/>
              </a:tabLst>
            </a:pPr>
            <a:r>
              <a:rPr lang="en-US" altLang="en-US" sz="2000" dirty="0"/>
              <a:t>A balanced </a:t>
            </a:r>
            <a:r>
              <a:rPr lang="en-US" altLang="en-US" sz="2000" dirty="0" err="1"/>
              <a:t>wye-wye</a:t>
            </a:r>
            <a:r>
              <a:rPr lang="en-US" altLang="en-US" sz="2000" dirty="0"/>
              <a:t> three phase circuit has the following characteristics:</a:t>
            </a:r>
            <a:endParaRPr lang="en-US" sz="2000" dirty="0"/>
          </a:p>
        </p:txBody>
      </p:sp>
      <p:sp>
        <p:nvSpPr>
          <p:cNvPr id="7" name="Content Placeholder 3">
            <a:extLst>
              <a:ext uri="{FF2B5EF4-FFF2-40B4-BE49-F238E27FC236}">
                <a16:creationId xmlns:a16="http://schemas.microsoft.com/office/drawing/2014/main" id="{6A1C82BC-1779-4F6F-8652-055B96FBD7E9}"/>
              </a:ext>
            </a:extLst>
          </p:cNvPr>
          <p:cNvSpPr txBox="1">
            <a:spLocks/>
          </p:cNvSpPr>
          <p:nvPr/>
        </p:nvSpPr>
        <p:spPr>
          <a:xfrm>
            <a:off x="430305" y="2158903"/>
            <a:ext cx="4572001" cy="651905"/>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source has positive phase sequence, with a rms magnitude of:</a:t>
            </a:r>
            <a:endParaRPr lang="en-US" sz="2000" kern="0" dirty="0"/>
          </a:p>
        </p:txBody>
      </p:sp>
      <p:graphicFrame>
        <p:nvGraphicFramePr>
          <p:cNvPr id="8" name="Object 7" descr="120 Volt per phi.&#10;">
            <a:extLst>
              <a:ext uri="{FF2B5EF4-FFF2-40B4-BE49-F238E27FC236}">
                <a16:creationId xmlns:a16="http://schemas.microsoft.com/office/drawing/2014/main" id="{366A6014-5AD1-4112-8D1A-F7403E318F75}"/>
              </a:ext>
            </a:extLst>
          </p:cNvPr>
          <p:cNvGraphicFramePr>
            <a:graphicFrameLocks noChangeAspect="1"/>
          </p:cNvGraphicFramePr>
          <p:nvPr/>
        </p:nvGraphicFramePr>
        <p:xfrm>
          <a:off x="4951413" y="2320925"/>
          <a:ext cx="1141412" cy="387350"/>
        </p:xfrm>
        <a:graphic>
          <a:graphicData uri="http://schemas.openxmlformats.org/presentationml/2006/ole">
            <mc:AlternateContent xmlns:mc="http://schemas.openxmlformats.org/markup-compatibility/2006">
              <mc:Choice xmlns:v="urn:schemas-microsoft-com:vml" Requires="v">
                <p:oleObj name="Equation" r:id="rId3" imgW="736560" imgH="253800" progId="Equation.DSMT4">
                  <p:embed/>
                </p:oleObj>
              </mc:Choice>
              <mc:Fallback>
                <p:oleObj name="Equation" r:id="rId3" imgW="736560" imgH="253800" progId="Equation.DSMT4">
                  <p:embed/>
                  <p:pic>
                    <p:nvPicPr>
                      <p:cNvPr id="8" name="Object 7" descr="120 Volt per phi.&#10;">
                        <a:extLst>
                          <a:ext uri="{FF2B5EF4-FFF2-40B4-BE49-F238E27FC236}">
                            <a16:creationId xmlns:a16="http://schemas.microsoft.com/office/drawing/2014/main" id="{366A6014-5AD1-4112-8D1A-F7403E318F75}"/>
                          </a:ext>
                        </a:extLst>
                      </p:cNvPr>
                      <p:cNvPicPr>
                        <a:picLocks noChangeAspect="1" noChangeArrowheads="1"/>
                      </p:cNvPicPr>
                      <p:nvPr/>
                    </p:nvPicPr>
                    <p:blipFill>
                      <a:blip r:embed="rId4"/>
                      <a:srcRect/>
                      <a:stretch>
                        <a:fillRect/>
                      </a:stretch>
                    </p:blipFill>
                    <p:spPr bwMode="auto">
                      <a:xfrm>
                        <a:off x="4951413" y="2320925"/>
                        <a:ext cx="114141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4">
            <a:extLst>
              <a:ext uri="{FF2B5EF4-FFF2-40B4-BE49-F238E27FC236}">
                <a16:creationId xmlns:a16="http://schemas.microsoft.com/office/drawing/2014/main" id="{F4AF8F94-49C6-4D46-B7E7-FE9D46EA8E3A}"/>
              </a:ext>
            </a:extLst>
          </p:cNvPr>
          <p:cNvSpPr txBox="1">
            <a:spLocks/>
          </p:cNvSpPr>
          <p:nvPr/>
        </p:nvSpPr>
        <p:spPr>
          <a:xfrm>
            <a:off x="3958431" y="2889482"/>
            <a:ext cx="2019396" cy="651905"/>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dirty="0"/>
              <a:t>and a source impedance of:</a:t>
            </a:r>
            <a:endParaRPr lang="en-US" sz="2000" kern="0" dirty="0"/>
          </a:p>
        </p:txBody>
      </p:sp>
      <p:graphicFrame>
        <p:nvGraphicFramePr>
          <p:cNvPr id="10" name="Object 9" descr="0.2 plus j 0.5 Ohm per phi.&#10;">
            <a:extLst>
              <a:ext uri="{FF2B5EF4-FFF2-40B4-BE49-F238E27FC236}">
                <a16:creationId xmlns:a16="http://schemas.microsoft.com/office/drawing/2014/main" id="{7058BBEE-28B7-4FD9-A6BB-2E714611971E}"/>
              </a:ext>
            </a:extLst>
          </p:cNvPr>
          <p:cNvGraphicFramePr>
            <a:graphicFrameLocks noChangeAspect="1"/>
          </p:cNvGraphicFramePr>
          <p:nvPr/>
        </p:nvGraphicFramePr>
        <p:xfrm>
          <a:off x="5715000" y="3085860"/>
          <a:ext cx="1928812" cy="385762"/>
        </p:xfrm>
        <a:graphic>
          <a:graphicData uri="http://schemas.openxmlformats.org/presentationml/2006/ole">
            <mc:AlternateContent xmlns:mc="http://schemas.openxmlformats.org/markup-compatibility/2006">
              <mc:Choice xmlns:v="urn:schemas-microsoft-com:vml" Requires="v">
                <p:oleObj name="Equation" r:id="rId5" imgW="1244520" imgH="253800" progId="Equation.DSMT4">
                  <p:embed/>
                </p:oleObj>
              </mc:Choice>
              <mc:Fallback>
                <p:oleObj name="Equation" r:id="rId5" imgW="1244520" imgH="253800" progId="Equation.DSMT4">
                  <p:embed/>
                  <p:pic>
                    <p:nvPicPr>
                      <p:cNvPr id="10" name="Object 9" descr="0.2 plus j 0.5 Ohm per phi.&#10;">
                        <a:extLst>
                          <a:ext uri="{FF2B5EF4-FFF2-40B4-BE49-F238E27FC236}">
                            <a16:creationId xmlns:a16="http://schemas.microsoft.com/office/drawing/2014/main" id="{7058BBEE-28B7-4FD9-A6BB-2E714611971E}"/>
                          </a:ext>
                        </a:extLst>
                      </p:cNvPr>
                      <p:cNvPicPr>
                        <a:picLocks noChangeAspect="1" noChangeArrowheads="1"/>
                      </p:cNvPicPr>
                      <p:nvPr/>
                    </p:nvPicPr>
                    <p:blipFill>
                      <a:blip r:embed="rId6"/>
                      <a:srcRect/>
                      <a:stretch>
                        <a:fillRect/>
                      </a:stretch>
                    </p:blipFill>
                    <p:spPr bwMode="auto">
                      <a:xfrm>
                        <a:off x="5715000" y="3085860"/>
                        <a:ext cx="1928812"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5">
            <a:extLst>
              <a:ext uri="{FF2B5EF4-FFF2-40B4-BE49-F238E27FC236}">
                <a16:creationId xmlns:a16="http://schemas.microsoft.com/office/drawing/2014/main" id="{4D6B4556-878E-4C66-85E8-D485426CAAE7}"/>
              </a:ext>
            </a:extLst>
          </p:cNvPr>
          <p:cNvSpPr txBox="1">
            <a:spLocks/>
          </p:cNvSpPr>
          <p:nvPr/>
        </p:nvSpPr>
        <p:spPr>
          <a:xfrm>
            <a:off x="550570" y="3819608"/>
            <a:ext cx="402142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impedance of the load is:</a:t>
            </a:r>
            <a:endParaRPr lang="en-US" sz="2000" kern="0" dirty="0"/>
          </a:p>
        </p:txBody>
      </p:sp>
      <p:graphicFrame>
        <p:nvGraphicFramePr>
          <p:cNvPr id="12" name="Object 11" descr="39 plus j 28 Ohm per phi.&#10;">
            <a:extLst>
              <a:ext uri="{FF2B5EF4-FFF2-40B4-BE49-F238E27FC236}">
                <a16:creationId xmlns:a16="http://schemas.microsoft.com/office/drawing/2014/main" id="{962CDDC7-410B-4E15-8416-9588DFB524C8}"/>
              </a:ext>
            </a:extLst>
          </p:cNvPr>
          <p:cNvGraphicFramePr>
            <a:graphicFrameLocks noChangeAspect="1"/>
          </p:cNvGraphicFramePr>
          <p:nvPr/>
        </p:nvGraphicFramePr>
        <p:xfrm>
          <a:off x="4652348" y="3872335"/>
          <a:ext cx="1811337" cy="387350"/>
        </p:xfrm>
        <a:graphic>
          <a:graphicData uri="http://schemas.openxmlformats.org/presentationml/2006/ole">
            <mc:AlternateContent xmlns:mc="http://schemas.openxmlformats.org/markup-compatibility/2006">
              <mc:Choice xmlns:v="urn:schemas-microsoft-com:vml" Requires="v">
                <p:oleObj name="Equation" r:id="rId7" imgW="1168200" imgH="253800" progId="Equation.DSMT4">
                  <p:embed/>
                </p:oleObj>
              </mc:Choice>
              <mc:Fallback>
                <p:oleObj name="Equation" r:id="rId7" imgW="1168200" imgH="253800" progId="Equation.DSMT4">
                  <p:embed/>
                  <p:pic>
                    <p:nvPicPr>
                      <p:cNvPr id="12" name="Object 11" descr="39 plus j 28 Ohm per phi.&#10;">
                        <a:extLst>
                          <a:ext uri="{FF2B5EF4-FFF2-40B4-BE49-F238E27FC236}">
                            <a16:creationId xmlns:a16="http://schemas.microsoft.com/office/drawing/2014/main" id="{962CDDC7-410B-4E15-8416-9588DFB524C8}"/>
                          </a:ext>
                        </a:extLst>
                      </p:cNvPr>
                      <p:cNvPicPr>
                        <a:picLocks noChangeAspect="1" noChangeArrowheads="1"/>
                      </p:cNvPicPr>
                      <p:nvPr/>
                    </p:nvPicPr>
                    <p:blipFill>
                      <a:blip r:embed="rId8"/>
                      <a:srcRect/>
                      <a:stretch>
                        <a:fillRect/>
                      </a:stretch>
                    </p:blipFill>
                    <p:spPr bwMode="auto">
                      <a:xfrm>
                        <a:off x="4652348" y="3872335"/>
                        <a:ext cx="1811337"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6">
            <a:extLst>
              <a:ext uri="{FF2B5EF4-FFF2-40B4-BE49-F238E27FC236}">
                <a16:creationId xmlns:a16="http://schemas.microsoft.com/office/drawing/2014/main" id="{7C19BCEF-F4C0-42BE-A996-0E9BFC0F8B7F}"/>
              </a:ext>
            </a:extLst>
          </p:cNvPr>
          <p:cNvSpPr txBox="1">
            <a:spLocks/>
          </p:cNvSpPr>
          <p:nvPr/>
        </p:nvSpPr>
        <p:spPr>
          <a:xfrm>
            <a:off x="427875" y="4582876"/>
            <a:ext cx="3991725"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impedance of the line is:</a:t>
            </a:r>
            <a:endParaRPr lang="en-US" sz="2000" kern="0" dirty="0"/>
          </a:p>
        </p:txBody>
      </p:sp>
      <p:graphicFrame>
        <p:nvGraphicFramePr>
          <p:cNvPr id="14" name="Object 13" descr="0.8 plus j 1.5 Ohm per phi.&#10;">
            <a:extLst>
              <a:ext uri="{FF2B5EF4-FFF2-40B4-BE49-F238E27FC236}">
                <a16:creationId xmlns:a16="http://schemas.microsoft.com/office/drawing/2014/main" id="{42527E2B-D20B-4A83-B87D-696A81CA1FA5}"/>
              </a:ext>
            </a:extLst>
          </p:cNvPr>
          <p:cNvGraphicFramePr>
            <a:graphicFrameLocks noChangeAspect="1"/>
          </p:cNvGraphicFramePr>
          <p:nvPr/>
        </p:nvGraphicFramePr>
        <p:xfrm>
          <a:off x="4222750" y="4559300"/>
          <a:ext cx="1909763" cy="387350"/>
        </p:xfrm>
        <a:graphic>
          <a:graphicData uri="http://schemas.openxmlformats.org/presentationml/2006/ole">
            <mc:AlternateContent xmlns:mc="http://schemas.openxmlformats.org/markup-compatibility/2006">
              <mc:Choice xmlns:v="urn:schemas-microsoft-com:vml" Requires="v">
                <p:oleObj name="Equation" r:id="rId9" imgW="1231560" imgH="253800" progId="Equation.DSMT4">
                  <p:embed/>
                </p:oleObj>
              </mc:Choice>
              <mc:Fallback>
                <p:oleObj name="Equation" r:id="rId9" imgW="1231560" imgH="253800" progId="Equation.DSMT4">
                  <p:embed/>
                  <p:pic>
                    <p:nvPicPr>
                      <p:cNvPr id="14" name="Object 13" descr="0.8 plus j 1.5 Ohm per phi.&#10;">
                        <a:extLst>
                          <a:ext uri="{FF2B5EF4-FFF2-40B4-BE49-F238E27FC236}">
                            <a16:creationId xmlns:a16="http://schemas.microsoft.com/office/drawing/2014/main" id="{42527E2B-D20B-4A83-B87D-696A81CA1FA5}"/>
                          </a:ext>
                        </a:extLst>
                      </p:cNvPr>
                      <p:cNvPicPr>
                        <a:picLocks noChangeAspect="1" noChangeArrowheads="1"/>
                      </p:cNvPicPr>
                      <p:nvPr/>
                    </p:nvPicPr>
                    <p:blipFill>
                      <a:blip r:embed="rId10"/>
                      <a:srcRect/>
                      <a:stretch>
                        <a:fillRect/>
                      </a:stretch>
                    </p:blipFill>
                    <p:spPr bwMode="auto">
                      <a:xfrm>
                        <a:off x="4222750" y="4559300"/>
                        <a:ext cx="1909763"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7">
            <a:extLst>
              <a:ext uri="{FF2B5EF4-FFF2-40B4-BE49-F238E27FC236}">
                <a16:creationId xmlns:a16="http://schemas.microsoft.com/office/drawing/2014/main" id="{A7BDE516-E270-4245-BA4B-7133EED6CE09}"/>
              </a:ext>
            </a:extLst>
          </p:cNvPr>
          <p:cNvSpPr txBox="1">
            <a:spLocks/>
          </p:cNvSpPr>
          <p:nvPr/>
        </p:nvSpPr>
        <p:spPr>
          <a:xfrm>
            <a:off x="550571" y="5341697"/>
            <a:ext cx="8238190" cy="959681"/>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Calculate the line currents, the phase voltages at the load, the line voltages at the load, the phase voltages at the terminals of the generator, and the line voltages at the terminals of the generator.</a:t>
            </a:r>
          </a:p>
        </p:txBody>
      </p:sp>
      <p:sp>
        <p:nvSpPr>
          <p:cNvPr id="6" name="TextBox 5"/>
          <p:cNvSpPr txBox="1"/>
          <p:nvPr/>
        </p:nvSpPr>
        <p:spPr>
          <a:xfrm>
            <a:off x="427875" y="791228"/>
            <a:ext cx="8411325" cy="707886"/>
          </a:xfrm>
          <a:prstGeom prst="rect">
            <a:avLst/>
          </a:prstGeom>
          <a:solidFill>
            <a:srgbClr val="00B050"/>
          </a:solidFill>
        </p:spPr>
        <p:txBody>
          <a:bodyPr wrap="square" rtlCol="0">
            <a:spAutoFit/>
          </a:bodyPr>
          <a:lstStyle/>
          <a:p>
            <a:r>
              <a:rPr lang="en-US" sz="2000" dirty="0">
                <a:latin typeface="+mn-lt"/>
              </a:rPr>
              <a:t>This problem is solved in the textbook on pages 420 and 421.  It is called Example 11.1.  However, we will solve it together in class.  </a:t>
            </a:r>
          </a:p>
        </p:txBody>
      </p:sp>
    </p:spTree>
    <p:extLst>
      <p:ext uri="{BB962C8B-B14F-4D97-AF65-F5344CB8AC3E}">
        <p14:creationId xmlns:p14="http://schemas.microsoft.com/office/powerpoint/2010/main" val="3545832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a:xfrm>
            <a:off x="2514600" y="152400"/>
            <a:ext cx="6324600" cy="685800"/>
          </a:xfrm>
        </p:spPr>
        <p:txBody>
          <a:bodyPr/>
          <a:lstStyle/>
          <a:p>
            <a:pPr eaLnBrk="1" hangingPunct="1"/>
            <a:r>
              <a:rPr lang="en-US" altLang="en-US" sz="3600"/>
              <a:t>Sample Problem 1</a:t>
            </a:r>
          </a:p>
        </p:txBody>
      </p:sp>
      <p:sp>
        <p:nvSpPr>
          <p:cNvPr id="4" name="Rectangle 6">
            <a:extLst>
              <a:ext uri="{FF2B5EF4-FFF2-40B4-BE49-F238E27FC236}">
                <a16:creationId xmlns:a16="http://schemas.microsoft.com/office/drawing/2014/main" id="{7C5B72DA-5D04-4B97-8A32-9CE0CA5111F9}"/>
              </a:ext>
            </a:extLst>
          </p:cNvPr>
          <p:cNvSpPr>
            <a:spLocks noChangeArrowheads="1"/>
          </p:cNvSpPr>
          <p:nvPr/>
        </p:nvSpPr>
        <p:spPr bwMode="auto">
          <a:xfrm>
            <a:off x="170656" y="1468998"/>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5" name="Content Placeholder 2">
            <a:extLst>
              <a:ext uri="{FF2B5EF4-FFF2-40B4-BE49-F238E27FC236}">
                <a16:creationId xmlns:a16="http://schemas.microsoft.com/office/drawing/2014/main" id="{8F47B805-94B7-42DE-B5FD-06D711C9FCD3}"/>
              </a:ext>
            </a:extLst>
          </p:cNvPr>
          <p:cNvSpPr txBox="1">
            <a:spLocks/>
          </p:cNvSpPr>
          <p:nvPr/>
        </p:nvSpPr>
        <p:spPr bwMode="auto">
          <a:xfrm>
            <a:off x="427875" y="1713280"/>
            <a:ext cx="8240620"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ts val="600"/>
              </a:spcBef>
              <a:tabLst>
                <a:tab pos="231775" algn="l"/>
              </a:tabLst>
            </a:pPr>
            <a:r>
              <a:rPr lang="en-US" altLang="en-US" sz="2000" dirty="0"/>
              <a:t>A balanced </a:t>
            </a:r>
            <a:r>
              <a:rPr lang="en-US" altLang="en-US" sz="2000" dirty="0" err="1"/>
              <a:t>wye-wye</a:t>
            </a:r>
            <a:r>
              <a:rPr lang="en-US" altLang="en-US" sz="2000" dirty="0"/>
              <a:t> three phase circuit has the following characteristics:</a:t>
            </a:r>
            <a:endParaRPr lang="en-US" sz="2000" dirty="0"/>
          </a:p>
        </p:txBody>
      </p:sp>
      <p:sp>
        <p:nvSpPr>
          <p:cNvPr id="7" name="Content Placeholder 3">
            <a:extLst>
              <a:ext uri="{FF2B5EF4-FFF2-40B4-BE49-F238E27FC236}">
                <a16:creationId xmlns:a16="http://schemas.microsoft.com/office/drawing/2014/main" id="{6A1C82BC-1779-4F6F-8652-055B96FBD7E9}"/>
              </a:ext>
            </a:extLst>
          </p:cNvPr>
          <p:cNvSpPr txBox="1">
            <a:spLocks/>
          </p:cNvSpPr>
          <p:nvPr/>
        </p:nvSpPr>
        <p:spPr>
          <a:xfrm>
            <a:off x="430305" y="2158903"/>
            <a:ext cx="4572001" cy="651905"/>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source has positive phase sequence, with a rms magnitude of:</a:t>
            </a:r>
            <a:endParaRPr lang="en-US" sz="2000" kern="0" dirty="0"/>
          </a:p>
        </p:txBody>
      </p:sp>
      <p:graphicFrame>
        <p:nvGraphicFramePr>
          <p:cNvPr id="8" name="Object 7" descr="120 Volt per phi.&#10;">
            <a:extLst>
              <a:ext uri="{FF2B5EF4-FFF2-40B4-BE49-F238E27FC236}">
                <a16:creationId xmlns:a16="http://schemas.microsoft.com/office/drawing/2014/main" id="{366A6014-5AD1-4112-8D1A-F7403E318F75}"/>
              </a:ext>
            </a:extLst>
          </p:cNvPr>
          <p:cNvGraphicFramePr>
            <a:graphicFrameLocks noChangeAspect="1"/>
          </p:cNvGraphicFramePr>
          <p:nvPr>
            <p:extLst>
              <p:ext uri="{D42A27DB-BD31-4B8C-83A1-F6EECF244321}">
                <p14:modId xmlns:p14="http://schemas.microsoft.com/office/powerpoint/2010/main" val="3041554991"/>
              </p:ext>
            </p:extLst>
          </p:nvPr>
        </p:nvGraphicFramePr>
        <p:xfrm>
          <a:off x="4951413" y="2320925"/>
          <a:ext cx="1141412" cy="387350"/>
        </p:xfrm>
        <a:graphic>
          <a:graphicData uri="http://schemas.openxmlformats.org/presentationml/2006/ole">
            <mc:AlternateContent xmlns:mc="http://schemas.openxmlformats.org/markup-compatibility/2006">
              <mc:Choice xmlns:v="urn:schemas-microsoft-com:vml" Requires="v">
                <p:oleObj name="Equation" r:id="rId3" imgW="736560" imgH="253800" progId="Equation.DSMT4">
                  <p:embed/>
                </p:oleObj>
              </mc:Choice>
              <mc:Fallback>
                <p:oleObj name="Equation" r:id="rId3" imgW="736560" imgH="253800" progId="Equation.DSMT4">
                  <p:embed/>
                  <p:pic>
                    <p:nvPicPr>
                      <p:cNvPr id="8" name="Object 7" descr="120 Volt per phi.&#10;">
                        <a:extLst>
                          <a:ext uri="{FF2B5EF4-FFF2-40B4-BE49-F238E27FC236}">
                            <a16:creationId xmlns:a16="http://schemas.microsoft.com/office/drawing/2014/main" id="{366A6014-5AD1-4112-8D1A-F7403E318F75}"/>
                          </a:ext>
                        </a:extLst>
                      </p:cNvPr>
                      <p:cNvPicPr>
                        <a:picLocks noChangeAspect="1" noChangeArrowheads="1"/>
                      </p:cNvPicPr>
                      <p:nvPr/>
                    </p:nvPicPr>
                    <p:blipFill>
                      <a:blip r:embed="rId4"/>
                      <a:srcRect/>
                      <a:stretch>
                        <a:fillRect/>
                      </a:stretch>
                    </p:blipFill>
                    <p:spPr bwMode="auto">
                      <a:xfrm>
                        <a:off x="4951413" y="2320925"/>
                        <a:ext cx="114141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4">
            <a:extLst>
              <a:ext uri="{FF2B5EF4-FFF2-40B4-BE49-F238E27FC236}">
                <a16:creationId xmlns:a16="http://schemas.microsoft.com/office/drawing/2014/main" id="{F4AF8F94-49C6-4D46-B7E7-FE9D46EA8E3A}"/>
              </a:ext>
            </a:extLst>
          </p:cNvPr>
          <p:cNvSpPr txBox="1">
            <a:spLocks/>
          </p:cNvSpPr>
          <p:nvPr/>
        </p:nvSpPr>
        <p:spPr>
          <a:xfrm>
            <a:off x="3958431" y="2889482"/>
            <a:ext cx="2019396" cy="651905"/>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dirty="0"/>
              <a:t>and a source impedance of:</a:t>
            </a:r>
            <a:endParaRPr lang="en-US" sz="2000" kern="0" dirty="0"/>
          </a:p>
        </p:txBody>
      </p:sp>
      <p:graphicFrame>
        <p:nvGraphicFramePr>
          <p:cNvPr id="10" name="Object 9" descr="0.2 plus j 0.5 Ohm per phi.&#10;">
            <a:extLst>
              <a:ext uri="{FF2B5EF4-FFF2-40B4-BE49-F238E27FC236}">
                <a16:creationId xmlns:a16="http://schemas.microsoft.com/office/drawing/2014/main" id="{7058BBEE-28B7-4FD9-A6BB-2E714611971E}"/>
              </a:ext>
            </a:extLst>
          </p:cNvPr>
          <p:cNvGraphicFramePr>
            <a:graphicFrameLocks noChangeAspect="1"/>
          </p:cNvGraphicFramePr>
          <p:nvPr/>
        </p:nvGraphicFramePr>
        <p:xfrm>
          <a:off x="5715000" y="3085860"/>
          <a:ext cx="1928812" cy="385762"/>
        </p:xfrm>
        <a:graphic>
          <a:graphicData uri="http://schemas.openxmlformats.org/presentationml/2006/ole">
            <mc:AlternateContent xmlns:mc="http://schemas.openxmlformats.org/markup-compatibility/2006">
              <mc:Choice xmlns:v="urn:schemas-microsoft-com:vml" Requires="v">
                <p:oleObj name="Equation" r:id="rId5" imgW="1244520" imgH="253800" progId="Equation.DSMT4">
                  <p:embed/>
                </p:oleObj>
              </mc:Choice>
              <mc:Fallback>
                <p:oleObj name="Equation" r:id="rId5" imgW="1244520" imgH="253800" progId="Equation.DSMT4">
                  <p:embed/>
                  <p:pic>
                    <p:nvPicPr>
                      <p:cNvPr id="10" name="Object 9" descr="0.2 plus j 0.5 Ohm per phi.&#10;">
                        <a:extLst>
                          <a:ext uri="{FF2B5EF4-FFF2-40B4-BE49-F238E27FC236}">
                            <a16:creationId xmlns:a16="http://schemas.microsoft.com/office/drawing/2014/main" id="{7058BBEE-28B7-4FD9-A6BB-2E714611971E}"/>
                          </a:ext>
                        </a:extLst>
                      </p:cNvPr>
                      <p:cNvPicPr>
                        <a:picLocks noChangeAspect="1" noChangeArrowheads="1"/>
                      </p:cNvPicPr>
                      <p:nvPr/>
                    </p:nvPicPr>
                    <p:blipFill>
                      <a:blip r:embed="rId6"/>
                      <a:srcRect/>
                      <a:stretch>
                        <a:fillRect/>
                      </a:stretch>
                    </p:blipFill>
                    <p:spPr bwMode="auto">
                      <a:xfrm>
                        <a:off x="5715000" y="3085860"/>
                        <a:ext cx="1928812"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5">
            <a:extLst>
              <a:ext uri="{FF2B5EF4-FFF2-40B4-BE49-F238E27FC236}">
                <a16:creationId xmlns:a16="http://schemas.microsoft.com/office/drawing/2014/main" id="{4D6B4556-878E-4C66-85E8-D485426CAAE7}"/>
              </a:ext>
            </a:extLst>
          </p:cNvPr>
          <p:cNvSpPr txBox="1">
            <a:spLocks/>
          </p:cNvSpPr>
          <p:nvPr/>
        </p:nvSpPr>
        <p:spPr>
          <a:xfrm>
            <a:off x="550570" y="3819608"/>
            <a:ext cx="402142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impedance of the load is:</a:t>
            </a:r>
            <a:endParaRPr lang="en-US" sz="2000" kern="0" dirty="0"/>
          </a:p>
        </p:txBody>
      </p:sp>
      <p:graphicFrame>
        <p:nvGraphicFramePr>
          <p:cNvPr id="12" name="Object 11" descr="39 plus j 28 Ohm per phi.&#10;">
            <a:extLst>
              <a:ext uri="{FF2B5EF4-FFF2-40B4-BE49-F238E27FC236}">
                <a16:creationId xmlns:a16="http://schemas.microsoft.com/office/drawing/2014/main" id="{962CDDC7-410B-4E15-8416-9588DFB524C8}"/>
              </a:ext>
            </a:extLst>
          </p:cNvPr>
          <p:cNvGraphicFramePr>
            <a:graphicFrameLocks noChangeAspect="1"/>
          </p:cNvGraphicFramePr>
          <p:nvPr/>
        </p:nvGraphicFramePr>
        <p:xfrm>
          <a:off x="4652348" y="3872335"/>
          <a:ext cx="1811337" cy="387350"/>
        </p:xfrm>
        <a:graphic>
          <a:graphicData uri="http://schemas.openxmlformats.org/presentationml/2006/ole">
            <mc:AlternateContent xmlns:mc="http://schemas.openxmlformats.org/markup-compatibility/2006">
              <mc:Choice xmlns:v="urn:schemas-microsoft-com:vml" Requires="v">
                <p:oleObj name="Equation" r:id="rId7" imgW="1168200" imgH="253800" progId="Equation.DSMT4">
                  <p:embed/>
                </p:oleObj>
              </mc:Choice>
              <mc:Fallback>
                <p:oleObj name="Equation" r:id="rId7" imgW="1168200" imgH="253800" progId="Equation.DSMT4">
                  <p:embed/>
                  <p:pic>
                    <p:nvPicPr>
                      <p:cNvPr id="12" name="Object 11" descr="39 plus j 28 Ohm per phi.&#10;">
                        <a:extLst>
                          <a:ext uri="{FF2B5EF4-FFF2-40B4-BE49-F238E27FC236}">
                            <a16:creationId xmlns:a16="http://schemas.microsoft.com/office/drawing/2014/main" id="{962CDDC7-410B-4E15-8416-9588DFB524C8}"/>
                          </a:ext>
                        </a:extLst>
                      </p:cNvPr>
                      <p:cNvPicPr>
                        <a:picLocks noChangeAspect="1" noChangeArrowheads="1"/>
                      </p:cNvPicPr>
                      <p:nvPr/>
                    </p:nvPicPr>
                    <p:blipFill>
                      <a:blip r:embed="rId8"/>
                      <a:srcRect/>
                      <a:stretch>
                        <a:fillRect/>
                      </a:stretch>
                    </p:blipFill>
                    <p:spPr bwMode="auto">
                      <a:xfrm>
                        <a:off x="4652348" y="3872335"/>
                        <a:ext cx="1811337"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6">
            <a:extLst>
              <a:ext uri="{FF2B5EF4-FFF2-40B4-BE49-F238E27FC236}">
                <a16:creationId xmlns:a16="http://schemas.microsoft.com/office/drawing/2014/main" id="{7C19BCEF-F4C0-42BE-A996-0E9BFC0F8B7F}"/>
              </a:ext>
            </a:extLst>
          </p:cNvPr>
          <p:cNvSpPr txBox="1">
            <a:spLocks/>
          </p:cNvSpPr>
          <p:nvPr/>
        </p:nvSpPr>
        <p:spPr>
          <a:xfrm>
            <a:off x="427875" y="4582876"/>
            <a:ext cx="3991725"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impedance of the line is:</a:t>
            </a:r>
            <a:endParaRPr lang="en-US" sz="2000" kern="0" dirty="0"/>
          </a:p>
        </p:txBody>
      </p:sp>
      <p:graphicFrame>
        <p:nvGraphicFramePr>
          <p:cNvPr id="14" name="Object 13" descr="0.8 plus j 1.5 Ohm per phi.&#10;">
            <a:extLst>
              <a:ext uri="{FF2B5EF4-FFF2-40B4-BE49-F238E27FC236}">
                <a16:creationId xmlns:a16="http://schemas.microsoft.com/office/drawing/2014/main" id="{42527E2B-D20B-4A83-B87D-696A81CA1FA5}"/>
              </a:ext>
            </a:extLst>
          </p:cNvPr>
          <p:cNvGraphicFramePr>
            <a:graphicFrameLocks noChangeAspect="1"/>
          </p:cNvGraphicFramePr>
          <p:nvPr/>
        </p:nvGraphicFramePr>
        <p:xfrm>
          <a:off x="4222750" y="4559300"/>
          <a:ext cx="1909763" cy="387350"/>
        </p:xfrm>
        <a:graphic>
          <a:graphicData uri="http://schemas.openxmlformats.org/presentationml/2006/ole">
            <mc:AlternateContent xmlns:mc="http://schemas.openxmlformats.org/markup-compatibility/2006">
              <mc:Choice xmlns:v="urn:schemas-microsoft-com:vml" Requires="v">
                <p:oleObj name="Equation" r:id="rId9" imgW="1231560" imgH="253800" progId="Equation.DSMT4">
                  <p:embed/>
                </p:oleObj>
              </mc:Choice>
              <mc:Fallback>
                <p:oleObj name="Equation" r:id="rId9" imgW="1231560" imgH="253800" progId="Equation.DSMT4">
                  <p:embed/>
                  <p:pic>
                    <p:nvPicPr>
                      <p:cNvPr id="14" name="Object 13" descr="0.8 plus j 1.5 Ohm per phi.&#10;">
                        <a:extLst>
                          <a:ext uri="{FF2B5EF4-FFF2-40B4-BE49-F238E27FC236}">
                            <a16:creationId xmlns:a16="http://schemas.microsoft.com/office/drawing/2014/main" id="{42527E2B-D20B-4A83-B87D-696A81CA1FA5}"/>
                          </a:ext>
                        </a:extLst>
                      </p:cNvPr>
                      <p:cNvPicPr>
                        <a:picLocks noChangeAspect="1" noChangeArrowheads="1"/>
                      </p:cNvPicPr>
                      <p:nvPr/>
                    </p:nvPicPr>
                    <p:blipFill>
                      <a:blip r:embed="rId10"/>
                      <a:srcRect/>
                      <a:stretch>
                        <a:fillRect/>
                      </a:stretch>
                    </p:blipFill>
                    <p:spPr bwMode="auto">
                      <a:xfrm>
                        <a:off x="4222750" y="4559300"/>
                        <a:ext cx="1909763"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7">
            <a:extLst>
              <a:ext uri="{FF2B5EF4-FFF2-40B4-BE49-F238E27FC236}">
                <a16:creationId xmlns:a16="http://schemas.microsoft.com/office/drawing/2014/main" id="{A7BDE516-E270-4245-BA4B-7133EED6CE09}"/>
              </a:ext>
            </a:extLst>
          </p:cNvPr>
          <p:cNvSpPr txBox="1">
            <a:spLocks/>
          </p:cNvSpPr>
          <p:nvPr/>
        </p:nvSpPr>
        <p:spPr>
          <a:xfrm>
            <a:off x="550571" y="5341697"/>
            <a:ext cx="8238190" cy="959681"/>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Calculate the line currents, the phase voltages at the load, the line voltages at the load, the phase voltages at the terminals of the generator, and the line voltages at the terminals of the generator.</a:t>
            </a:r>
          </a:p>
        </p:txBody>
      </p:sp>
      <p:sp>
        <p:nvSpPr>
          <p:cNvPr id="6" name="TextBox 5"/>
          <p:cNvSpPr txBox="1"/>
          <p:nvPr/>
        </p:nvSpPr>
        <p:spPr>
          <a:xfrm>
            <a:off x="427875" y="791228"/>
            <a:ext cx="8411325" cy="1015663"/>
          </a:xfrm>
          <a:prstGeom prst="rect">
            <a:avLst/>
          </a:prstGeom>
          <a:solidFill>
            <a:srgbClr val="00B050"/>
          </a:solidFill>
        </p:spPr>
        <p:txBody>
          <a:bodyPr wrap="square" rtlCol="0">
            <a:spAutoFit/>
          </a:bodyPr>
          <a:lstStyle/>
          <a:p>
            <a:r>
              <a:rPr lang="en-US" sz="2000" dirty="0">
                <a:latin typeface="+mn-lt"/>
              </a:rPr>
              <a:t>We should explain the notation used in the units in this problem statement.  The expression                  means that there is 120[V] for the magnitude of the voltage for each phase.  </a:t>
            </a:r>
          </a:p>
        </p:txBody>
      </p:sp>
      <p:graphicFrame>
        <p:nvGraphicFramePr>
          <p:cNvPr id="16" name="Object 15" descr="120 Volt per phi.&#10;">
            <a:extLst>
              <a:ext uri="{FF2B5EF4-FFF2-40B4-BE49-F238E27FC236}">
                <a16:creationId xmlns:a16="http://schemas.microsoft.com/office/drawing/2014/main" id="{AB7D060B-CB85-418F-8A58-8896D3B0EF42}"/>
              </a:ext>
            </a:extLst>
          </p:cNvPr>
          <p:cNvGraphicFramePr>
            <a:graphicFrameLocks noChangeAspect="1"/>
          </p:cNvGraphicFramePr>
          <p:nvPr>
            <p:extLst>
              <p:ext uri="{D42A27DB-BD31-4B8C-83A1-F6EECF244321}">
                <p14:modId xmlns:p14="http://schemas.microsoft.com/office/powerpoint/2010/main" val="194048317"/>
              </p:ext>
            </p:extLst>
          </p:nvPr>
        </p:nvGraphicFramePr>
        <p:xfrm>
          <a:off x="3652044" y="1143209"/>
          <a:ext cx="1141412" cy="387350"/>
        </p:xfrm>
        <a:graphic>
          <a:graphicData uri="http://schemas.openxmlformats.org/presentationml/2006/ole">
            <mc:AlternateContent xmlns:mc="http://schemas.openxmlformats.org/markup-compatibility/2006">
              <mc:Choice xmlns:v="urn:schemas-microsoft-com:vml" Requires="v">
                <p:oleObj name="Equation" r:id="rId3" imgW="736560" imgH="253800" progId="Equation.DSMT4">
                  <p:embed/>
                </p:oleObj>
              </mc:Choice>
              <mc:Fallback>
                <p:oleObj name="Equation" r:id="rId3" imgW="736560" imgH="253800" progId="Equation.DSMT4">
                  <p:embed/>
                  <p:pic>
                    <p:nvPicPr>
                      <p:cNvPr id="16" name="Object 15" descr="120 Volt per phi.&#10;">
                        <a:extLst>
                          <a:ext uri="{FF2B5EF4-FFF2-40B4-BE49-F238E27FC236}">
                            <a16:creationId xmlns:a16="http://schemas.microsoft.com/office/drawing/2014/main" id="{AB7D060B-CB85-418F-8A58-8896D3B0EF42}"/>
                          </a:ext>
                        </a:extLst>
                      </p:cNvPr>
                      <p:cNvPicPr>
                        <a:picLocks noChangeAspect="1" noChangeArrowheads="1"/>
                      </p:cNvPicPr>
                      <p:nvPr/>
                    </p:nvPicPr>
                    <p:blipFill>
                      <a:blip r:embed="rId4"/>
                      <a:srcRect/>
                      <a:stretch>
                        <a:fillRect/>
                      </a:stretch>
                    </p:blipFill>
                    <p:spPr bwMode="auto">
                      <a:xfrm>
                        <a:off x="3652044" y="1143209"/>
                        <a:ext cx="114141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074512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a:xfrm>
            <a:off x="2895600" y="152400"/>
            <a:ext cx="5943600" cy="685800"/>
          </a:xfrm>
        </p:spPr>
        <p:txBody>
          <a:bodyPr/>
          <a:lstStyle/>
          <a:p>
            <a:pPr eaLnBrk="1" hangingPunct="1"/>
            <a:r>
              <a:rPr lang="en-US" altLang="en-US" sz="3600" dirty="0"/>
              <a:t>Sample Problem 1</a:t>
            </a:r>
          </a:p>
        </p:txBody>
      </p:sp>
      <p:sp>
        <p:nvSpPr>
          <p:cNvPr id="4" name="Rectangle 6">
            <a:extLst>
              <a:ext uri="{FF2B5EF4-FFF2-40B4-BE49-F238E27FC236}">
                <a16:creationId xmlns:a16="http://schemas.microsoft.com/office/drawing/2014/main" id="{7C5B72DA-5D04-4B97-8A32-9CE0CA5111F9}"/>
              </a:ext>
            </a:extLst>
          </p:cNvPr>
          <p:cNvSpPr>
            <a:spLocks noChangeArrowheads="1"/>
          </p:cNvSpPr>
          <p:nvPr/>
        </p:nvSpPr>
        <p:spPr bwMode="auto">
          <a:xfrm>
            <a:off x="170656" y="1468998"/>
            <a:ext cx="8802688" cy="5235882"/>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5" name="Content Placeholder 2">
            <a:extLst>
              <a:ext uri="{FF2B5EF4-FFF2-40B4-BE49-F238E27FC236}">
                <a16:creationId xmlns:a16="http://schemas.microsoft.com/office/drawing/2014/main" id="{8F47B805-94B7-42DE-B5FD-06D711C9FCD3}"/>
              </a:ext>
            </a:extLst>
          </p:cNvPr>
          <p:cNvSpPr txBox="1">
            <a:spLocks/>
          </p:cNvSpPr>
          <p:nvPr/>
        </p:nvSpPr>
        <p:spPr bwMode="auto">
          <a:xfrm>
            <a:off x="427875" y="1713280"/>
            <a:ext cx="8240620"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ts val="600"/>
              </a:spcBef>
              <a:tabLst>
                <a:tab pos="231775" algn="l"/>
              </a:tabLst>
            </a:pPr>
            <a:r>
              <a:rPr lang="en-US" altLang="en-US" sz="2000" dirty="0"/>
              <a:t>A balanced </a:t>
            </a:r>
            <a:r>
              <a:rPr lang="en-US" altLang="en-US" sz="2000" dirty="0" err="1"/>
              <a:t>wye-wye</a:t>
            </a:r>
            <a:r>
              <a:rPr lang="en-US" altLang="en-US" sz="2000" dirty="0"/>
              <a:t> three phase circuit has the following characteristics:</a:t>
            </a:r>
            <a:endParaRPr lang="en-US" sz="2000" dirty="0"/>
          </a:p>
        </p:txBody>
      </p:sp>
      <p:sp>
        <p:nvSpPr>
          <p:cNvPr id="7" name="Content Placeholder 3">
            <a:extLst>
              <a:ext uri="{FF2B5EF4-FFF2-40B4-BE49-F238E27FC236}">
                <a16:creationId xmlns:a16="http://schemas.microsoft.com/office/drawing/2014/main" id="{6A1C82BC-1779-4F6F-8652-055B96FBD7E9}"/>
              </a:ext>
            </a:extLst>
          </p:cNvPr>
          <p:cNvSpPr txBox="1">
            <a:spLocks/>
          </p:cNvSpPr>
          <p:nvPr/>
        </p:nvSpPr>
        <p:spPr>
          <a:xfrm>
            <a:off x="430305" y="2158903"/>
            <a:ext cx="4572001" cy="651905"/>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source has positive phase sequence, with a rms magnitude of:</a:t>
            </a:r>
            <a:endParaRPr lang="en-US" sz="2000" kern="0" dirty="0"/>
          </a:p>
        </p:txBody>
      </p:sp>
      <p:graphicFrame>
        <p:nvGraphicFramePr>
          <p:cNvPr id="8" name="Object 7" descr="120 Volt per phi.&#10;">
            <a:extLst>
              <a:ext uri="{FF2B5EF4-FFF2-40B4-BE49-F238E27FC236}">
                <a16:creationId xmlns:a16="http://schemas.microsoft.com/office/drawing/2014/main" id="{366A6014-5AD1-4112-8D1A-F7403E318F75}"/>
              </a:ext>
            </a:extLst>
          </p:cNvPr>
          <p:cNvGraphicFramePr>
            <a:graphicFrameLocks noChangeAspect="1"/>
          </p:cNvGraphicFramePr>
          <p:nvPr/>
        </p:nvGraphicFramePr>
        <p:xfrm>
          <a:off x="4951413" y="2320925"/>
          <a:ext cx="1141412" cy="387350"/>
        </p:xfrm>
        <a:graphic>
          <a:graphicData uri="http://schemas.openxmlformats.org/presentationml/2006/ole">
            <mc:AlternateContent xmlns:mc="http://schemas.openxmlformats.org/markup-compatibility/2006">
              <mc:Choice xmlns:v="urn:schemas-microsoft-com:vml" Requires="v">
                <p:oleObj name="Equation" r:id="rId3" imgW="736560" imgH="253800" progId="Equation.DSMT4">
                  <p:embed/>
                </p:oleObj>
              </mc:Choice>
              <mc:Fallback>
                <p:oleObj name="Equation" r:id="rId3" imgW="736560" imgH="253800" progId="Equation.DSMT4">
                  <p:embed/>
                  <p:pic>
                    <p:nvPicPr>
                      <p:cNvPr id="8" name="Object 7" descr="120 Volt per phi.&#10;">
                        <a:extLst>
                          <a:ext uri="{FF2B5EF4-FFF2-40B4-BE49-F238E27FC236}">
                            <a16:creationId xmlns:a16="http://schemas.microsoft.com/office/drawing/2014/main" id="{366A6014-5AD1-4112-8D1A-F7403E318F75}"/>
                          </a:ext>
                        </a:extLst>
                      </p:cNvPr>
                      <p:cNvPicPr>
                        <a:picLocks noChangeAspect="1" noChangeArrowheads="1"/>
                      </p:cNvPicPr>
                      <p:nvPr/>
                    </p:nvPicPr>
                    <p:blipFill>
                      <a:blip r:embed="rId4"/>
                      <a:srcRect/>
                      <a:stretch>
                        <a:fillRect/>
                      </a:stretch>
                    </p:blipFill>
                    <p:spPr bwMode="auto">
                      <a:xfrm>
                        <a:off x="4951413" y="2320925"/>
                        <a:ext cx="114141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4">
            <a:extLst>
              <a:ext uri="{FF2B5EF4-FFF2-40B4-BE49-F238E27FC236}">
                <a16:creationId xmlns:a16="http://schemas.microsoft.com/office/drawing/2014/main" id="{F4AF8F94-49C6-4D46-B7E7-FE9D46EA8E3A}"/>
              </a:ext>
            </a:extLst>
          </p:cNvPr>
          <p:cNvSpPr txBox="1">
            <a:spLocks/>
          </p:cNvSpPr>
          <p:nvPr/>
        </p:nvSpPr>
        <p:spPr>
          <a:xfrm>
            <a:off x="3958431" y="2889482"/>
            <a:ext cx="2019396" cy="651905"/>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dirty="0"/>
              <a:t>and a source impedance of:</a:t>
            </a:r>
            <a:endParaRPr lang="en-US" sz="2000" kern="0" dirty="0"/>
          </a:p>
        </p:txBody>
      </p:sp>
      <p:graphicFrame>
        <p:nvGraphicFramePr>
          <p:cNvPr id="10" name="Object 9" descr="0.2 plus j 0.5 Ohm per phi.&#10;">
            <a:extLst>
              <a:ext uri="{FF2B5EF4-FFF2-40B4-BE49-F238E27FC236}">
                <a16:creationId xmlns:a16="http://schemas.microsoft.com/office/drawing/2014/main" id="{7058BBEE-28B7-4FD9-A6BB-2E714611971E}"/>
              </a:ext>
            </a:extLst>
          </p:cNvPr>
          <p:cNvGraphicFramePr>
            <a:graphicFrameLocks noChangeAspect="1"/>
          </p:cNvGraphicFramePr>
          <p:nvPr>
            <p:extLst>
              <p:ext uri="{D42A27DB-BD31-4B8C-83A1-F6EECF244321}">
                <p14:modId xmlns:p14="http://schemas.microsoft.com/office/powerpoint/2010/main" val="1657126935"/>
              </p:ext>
            </p:extLst>
          </p:nvPr>
        </p:nvGraphicFramePr>
        <p:xfrm>
          <a:off x="5715000" y="3085860"/>
          <a:ext cx="1928812" cy="385762"/>
        </p:xfrm>
        <a:graphic>
          <a:graphicData uri="http://schemas.openxmlformats.org/presentationml/2006/ole">
            <mc:AlternateContent xmlns:mc="http://schemas.openxmlformats.org/markup-compatibility/2006">
              <mc:Choice xmlns:v="urn:schemas-microsoft-com:vml" Requires="v">
                <p:oleObj name="Equation" r:id="rId5" imgW="1244520" imgH="253800" progId="Equation.DSMT4">
                  <p:embed/>
                </p:oleObj>
              </mc:Choice>
              <mc:Fallback>
                <p:oleObj name="Equation" r:id="rId5" imgW="1244520" imgH="253800" progId="Equation.DSMT4">
                  <p:embed/>
                  <p:pic>
                    <p:nvPicPr>
                      <p:cNvPr id="10" name="Object 9" descr="0.2 plus j 0.5 Ohm per phi.&#10;">
                        <a:extLst>
                          <a:ext uri="{FF2B5EF4-FFF2-40B4-BE49-F238E27FC236}">
                            <a16:creationId xmlns:a16="http://schemas.microsoft.com/office/drawing/2014/main" id="{7058BBEE-28B7-4FD9-A6BB-2E714611971E}"/>
                          </a:ext>
                        </a:extLst>
                      </p:cNvPr>
                      <p:cNvPicPr>
                        <a:picLocks noChangeAspect="1" noChangeArrowheads="1"/>
                      </p:cNvPicPr>
                      <p:nvPr/>
                    </p:nvPicPr>
                    <p:blipFill>
                      <a:blip r:embed="rId6"/>
                      <a:srcRect/>
                      <a:stretch>
                        <a:fillRect/>
                      </a:stretch>
                    </p:blipFill>
                    <p:spPr bwMode="auto">
                      <a:xfrm>
                        <a:off x="5715000" y="3085860"/>
                        <a:ext cx="1928812"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5">
            <a:extLst>
              <a:ext uri="{FF2B5EF4-FFF2-40B4-BE49-F238E27FC236}">
                <a16:creationId xmlns:a16="http://schemas.microsoft.com/office/drawing/2014/main" id="{4D6B4556-878E-4C66-85E8-D485426CAAE7}"/>
              </a:ext>
            </a:extLst>
          </p:cNvPr>
          <p:cNvSpPr txBox="1">
            <a:spLocks/>
          </p:cNvSpPr>
          <p:nvPr/>
        </p:nvSpPr>
        <p:spPr>
          <a:xfrm>
            <a:off x="550570" y="3819608"/>
            <a:ext cx="402142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impedance of the load is:</a:t>
            </a:r>
            <a:endParaRPr lang="en-US" sz="2000" kern="0" dirty="0"/>
          </a:p>
        </p:txBody>
      </p:sp>
      <p:graphicFrame>
        <p:nvGraphicFramePr>
          <p:cNvPr id="12" name="Object 11" descr="39 plus j 28 Ohm per phi.&#10;">
            <a:extLst>
              <a:ext uri="{FF2B5EF4-FFF2-40B4-BE49-F238E27FC236}">
                <a16:creationId xmlns:a16="http://schemas.microsoft.com/office/drawing/2014/main" id="{962CDDC7-410B-4E15-8416-9588DFB524C8}"/>
              </a:ext>
            </a:extLst>
          </p:cNvPr>
          <p:cNvGraphicFramePr>
            <a:graphicFrameLocks noChangeAspect="1"/>
          </p:cNvGraphicFramePr>
          <p:nvPr/>
        </p:nvGraphicFramePr>
        <p:xfrm>
          <a:off x="4652348" y="3872335"/>
          <a:ext cx="1811337" cy="387350"/>
        </p:xfrm>
        <a:graphic>
          <a:graphicData uri="http://schemas.openxmlformats.org/presentationml/2006/ole">
            <mc:AlternateContent xmlns:mc="http://schemas.openxmlformats.org/markup-compatibility/2006">
              <mc:Choice xmlns:v="urn:schemas-microsoft-com:vml" Requires="v">
                <p:oleObj name="Equation" r:id="rId7" imgW="1168200" imgH="253800" progId="Equation.DSMT4">
                  <p:embed/>
                </p:oleObj>
              </mc:Choice>
              <mc:Fallback>
                <p:oleObj name="Equation" r:id="rId7" imgW="1168200" imgH="253800" progId="Equation.DSMT4">
                  <p:embed/>
                  <p:pic>
                    <p:nvPicPr>
                      <p:cNvPr id="12" name="Object 11" descr="39 plus j 28 Ohm per phi.&#10;">
                        <a:extLst>
                          <a:ext uri="{FF2B5EF4-FFF2-40B4-BE49-F238E27FC236}">
                            <a16:creationId xmlns:a16="http://schemas.microsoft.com/office/drawing/2014/main" id="{962CDDC7-410B-4E15-8416-9588DFB524C8}"/>
                          </a:ext>
                        </a:extLst>
                      </p:cNvPr>
                      <p:cNvPicPr>
                        <a:picLocks noChangeAspect="1" noChangeArrowheads="1"/>
                      </p:cNvPicPr>
                      <p:nvPr/>
                    </p:nvPicPr>
                    <p:blipFill>
                      <a:blip r:embed="rId8"/>
                      <a:srcRect/>
                      <a:stretch>
                        <a:fillRect/>
                      </a:stretch>
                    </p:blipFill>
                    <p:spPr bwMode="auto">
                      <a:xfrm>
                        <a:off x="4652348" y="3872335"/>
                        <a:ext cx="1811337"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6">
            <a:extLst>
              <a:ext uri="{FF2B5EF4-FFF2-40B4-BE49-F238E27FC236}">
                <a16:creationId xmlns:a16="http://schemas.microsoft.com/office/drawing/2014/main" id="{7C19BCEF-F4C0-42BE-A996-0E9BFC0F8B7F}"/>
              </a:ext>
            </a:extLst>
          </p:cNvPr>
          <p:cNvSpPr txBox="1">
            <a:spLocks/>
          </p:cNvSpPr>
          <p:nvPr/>
        </p:nvSpPr>
        <p:spPr>
          <a:xfrm>
            <a:off x="427875" y="4582876"/>
            <a:ext cx="3991725"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dirty="0"/>
              <a:t>The impedance of the line is:</a:t>
            </a:r>
            <a:endParaRPr lang="en-US" sz="2000" kern="0" dirty="0"/>
          </a:p>
        </p:txBody>
      </p:sp>
      <p:graphicFrame>
        <p:nvGraphicFramePr>
          <p:cNvPr id="14" name="Object 13" descr="0.8 plus j 1.5 Ohm per phi.&#10;">
            <a:extLst>
              <a:ext uri="{FF2B5EF4-FFF2-40B4-BE49-F238E27FC236}">
                <a16:creationId xmlns:a16="http://schemas.microsoft.com/office/drawing/2014/main" id="{42527E2B-D20B-4A83-B87D-696A81CA1FA5}"/>
              </a:ext>
            </a:extLst>
          </p:cNvPr>
          <p:cNvGraphicFramePr>
            <a:graphicFrameLocks noChangeAspect="1"/>
          </p:cNvGraphicFramePr>
          <p:nvPr/>
        </p:nvGraphicFramePr>
        <p:xfrm>
          <a:off x="4222750" y="4559300"/>
          <a:ext cx="1909763" cy="387350"/>
        </p:xfrm>
        <a:graphic>
          <a:graphicData uri="http://schemas.openxmlformats.org/presentationml/2006/ole">
            <mc:AlternateContent xmlns:mc="http://schemas.openxmlformats.org/markup-compatibility/2006">
              <mc:Choice xmlns:v="urn:schemas-microsoft-com:vml" Requires="v">
                <p:oleObj name="Equation" r:id="rId9" imgW="1231560" imgH="253800" progId="Equation.DSMT4">
                  <p:embed/>
                </p:oleObj>
              </mc:Choice>
              <mc:Fallback>
                <p:oleObj name="Equation" r:id="rId9" imgW="1231560" imgH="253800" progId="Equation.DSMT4">
                  <p:embed/>
                  <p:pic>
                    <p:nvPicPr>
                      <p:cNvPr id="14" name="Object 13" descr="0.8 plus j 1.5 Ohm per phi.&#10;">
                        <a:extLst>
                          <a:ext uri="{FF2B5EF4-FFF2-40B4-BE49-F238E27FC236}">
                            <a16:creationId xmlns:a16="http://schemas.microsoft.com/office/drawing/2014/main" id="{42527E2B-D20B-4A83-B87D-696A81CA1FA5}"/>
                          </a:ext>
                        </a:extLst>
                      </p:cNvPr>
                      <p:cNvPicPr>
                        <a:picLocks noChangeAspect="1" noChangeArrowheads="1"/>
                      </p:cNvPicPr>
                      <p:nvPr/>
                    </p:nvPicPr>
                    <p:blipFill>
                      <a:blip r:embed="rId10"/>
                      <a:srcRect/>
                      <a:stretch>
                        <a:fillRect/>
                      </a:stretch>
                    </p:blipFill>
                    <p:spPr bwMode="auto">
                      <a:xfrm>
                        <a:off x="4222750" y="4559300"/>
                        <a:ext cx="1909763"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7">
            <a:extLst>
              <a:ext uri="{FF2B5EF4-FFF2-40B4-BE49-F238E27FC236}">
                <a16:creationId xmlns:a16="http://schemas.microsoft.com/office/drawing/2014/main" id="{A7BDE516-E270-4245-BA4B-7133EED6CE09}"/>
              </a:ext>
            </a:extLst>
          </p:cNvPr>
          <p:cNvSpPr txBox="1">
            <a:spLocks/>
          </p:cNvSpPr>
          <p:nvPr/>
        </p:nvSpPr>
        <p:spPr>
          <a:xfrm>
            <a:off x="550571" y="5341697"/>
            <a:ext cx="8238190" cy="959681"/>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Calculate the line currents, the phase voltages at the load, the line voltages at the load, the phase voltages at the terminals of the generator, and the line voltages at the terminals of the generator.</a:t>
            </a:r>
          </a:p>
        </p:txBody>
      </p:sp>
      <p:sp>
        <p:nvSpPr>
          <p:cNvPr id="6" name="TextBox 5"/>
          <p:cNvSpPr txBox="1"/>
          <p:nvPr/>
        </p:nvSpPr>
        <p:spPr>
          <a:xfrm>
            <a:off x="427875" y="791228"/>
            <a:ext cx="8411325" cy="1015663"/>
          </a:xfrm>
          <a:prstGeom prst="rect">
            <a:avLst/>
          </a:prstGeom>
          <a:solidFill>
            <a:srgbClr val="00B050"/>
          </a:solidFill>
        </p:spPr>
        <p:txBody>
          <a:bodyPr wrap="square" rtlCol="0">
            <a:spAutoFit/>
          </a:bodyPr>
          <a:lstStyle/>
          <a:p>
            <a:r>
              <a:rPr lang="en-US" sz="2000" dirty="0">
                <a:latin typeface="+mn-lt"/>
              </a:rPr>
              <a:t>We should explain the notation used in the units in this problem statement.  The expression                              means each specified impedance has that value for each phase.  </a:t>
            </a:r>
          </a:p>
        </p:txBody>
      </p:sp>
      <p:graphicFrame>
        <p:nvGraphicFramePr>
          <p:cNvPr id="17" name="Object 16" descr="0.2 plus j 0.5 Ohm per phi.&#10;">
            <a:extLst>
              <a:ext uri="{FF2B5EF4-FFF2-40B4-BE49-F238E27FC236}">
                <a16:creationId xmlns:a16="http://schemas.microsoft.com/office/drawing/2014/main" id="{9608052A-0BB4-4302-A9AA-4FE651870C12}"/>
              </a:ext>
            </a:extLst>
          </p:cNvPr>
          <p:cNvGraphicFramePr>
            <a:graphicFrameLocks noChangeAspect="1"/>
          </p:cNvGraphicFramePr>
          <p:nvPr>
            <p:extLst>
              <p:ext uri="{D42A27DB-BD31-4B8C-83A1-F6EECF244321}">
                <p14:modId xmlns:p14="http://schemas.microsoft.com/office/powerpoint/2010/main" val="2550186316"/>
              </p:ext>
            </p:extLst>
          </p:nvPr>
        </p:nvGraphicFramePr>
        <p:xfrm>
          <a:off x="3607593" y="1159545"/>
          <a:ext cx="1928812" cy="385762"/>
        </p:xfrm>
        <a:graphic>
          <a:graphicData uri="http://schemas.openxmlformats.org/presentationml/2006/ole">
            <mc:AlternateContent xmlns:mc="http://schemas.openxmlformats.org/markup-compatibility/2006">
              <mc:Choice xmlns:v="urn:schemas-microsoft-com:vml" Requires="v">
                <p:oleObj name="Equation" r:id="rId11" imgW="1244520" imgH="253800" progId="Equation.DSMT4">
                  <p:embed/>
                </p:oleObj>
              </mc:Choice>
              <mc:Fallback>
                <p:oleObj name="Equation" r:id="rId11" imgW="1244520" imgH="253800" progId="Equation.DSMT4">
                  <p:embed/>
                  <p:pic>
                    <p:nvPicPr>
                      <p:cNvPr id="17" name="Object 16" descr="0.2 plus j 0.5 Ohm per phi.&#10;">
                        <a:extLst>
                          <a:ext uri="{FF2B5EF4-FFF2-40B4-BE49-F238E27FC236}">
                            <a16:creationId xmlns:a16="http://schemas.microsoft.com/office/drawing/2014/main" id="{9608052A-0BB4-4302-A9AA-4FE651870C12}"/>
                          </a:ext>
                        </a:extLst>
                      </p:cNvPr>
                      <p:cNvPicPr>
                        <a:picLocks noChangeAspect="1" noChangeArrowheads="1"/>
                      </p:cNvPicPr>
                      <p:nvPr/>
                    </p:nvPicPr>
                    <p:blipFill>
                      <a:blip r:embed="rId12"/>
                      <a:srcRect/>
                      <a:stretch>
                        <a:fillRect/>
                      </a:stretch>
                    </p:blipFill>
                    <p:spPr bwMode="auto">
                      <a:xfrm>
                        <a:off x="3607593" y="1159545"/>
                        <a:ext cx="1928812"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67674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514600" y="54806"/>
            <a:ext cx="6340072" cy="707194"/>
          </a:xfrm>
        </p:spPr>
        <p:txBody>
          <a:bodyPr/>
          <a:lstStyle/>
          <a:p>
            <a:r>
              <a:rPr lang="en-US" sz="2800" dirty="0"/>
              <a:t>A Balanced Three Phase Y-</a:t>
            </a:r>
            <a:r>
              <a:rPr lang="en-US" sz="2800" dirty="0">
                <a:latin typeface="Symbol" panose="05050102010706020507" pitchFamily="18" charset="2"/>
              </a:rPr>
              <a:t>D</a:t>
            </a:r>
            <a:r>
              <a:rPr lang="en-US" sz="2800" dirty="0"/>
              <a:t> System</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8995B099-3C47-4CE3-818C-83A86E4185BA}"/>
              </a:ext>
            </a:extLst>
          </p:cNvPr>
          <p:cNvSpPr txBox="1"/>
          <p:nvPr/>
        </p:nvSpPr>
        <p:spPr>
          <a:xfrm>
            <a:off x="397226" y="5147288"/>
            <a:ext cx="5461826" cy="1569660"/>
          </a:xfrm>
          <a:prstGeom prst="rect">
            <a:avLst/>
          </a:prstGeom>
          <a:noFill/>
        </p:spPr>
        <p:txBody>
          <a:bodyPr wrap="square" rtlCol="0">
            <a:spAutoFit/>
          </a:bodyPr>
          <a:lstStyle/>
          <a:p>
            <a:r>
              <a:rPr lang="en-US" dirty="0">
                <a:latin typeface="+mn-lt"/>
              </a:rPr>
              <a:t>We will use this diagram to consider balanced Three-Phase circuits, with source in the Y-configuration and the load in the </a:t>
            </a:r>
            <a:r>
              <a:rPr lang="en-US" dirty="0">
                <a:latin typeface="Symbol" panose="05050102010706020507" pitchFamily="18" charset="2"/>
              </a:rPr>
              <a:t>D</a:t>
            </a:r>
            <a:r>
              <a:rPr lang="en-US" dirty="0">
                <a:latin typeface="+mn-lt"/>
              </a:rPr>
              <a:t>-configuration.</a:t>
            </a:r>
          </a:p>
        </p:txBody>
      </p:sp>
      <p:sp>
        <p:nvSpPr>
          <p:cNvPr id="2" name="TextBox 1">
            <a:extLst>
              <a:ext uri="{FF2B5EF4-FFF2-40B4-BE49-F238E27FC236}">
                <a16:creationId xmlns:a16="http://schemas.microsoft.com/office/drawing/2014/main" id="{6B93E953-D4C3-470A-BC0D-3FF098AEADD6}"/>
              </a:ext>
            </a:extLst>
          </p:cNvPr>
          <p:cNvSpPr txBox="1"/>
          <p:nvPr/>
        </p:nvSpPr>
        <p:spPr>
          <a:xfrm>
            <a:off x="5943600" y="5736808"/>
            <a:ext cx="2998217" cy="923330"/>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11.11 in the Nilsson and Reidel textbook, 12</a:t>
            </a:r>
            <a:r>
              <a:rPr lang="en-US" baseline="30000" dirty="0"/>
              <a:t>th</a:t>
            </a:r>
            <a:r>
              <a:rPr lang="en-US" dirty="0"/>
              <a:t>   Ed.  </a:t>
            </a:r>
          </a:p>
        </p:txBody>
      </p:sp>
      <p:pic>
        <p:nvPicPr>
          <p:cNvPr id="9" name="Picture Placeholder 5" descr="The figure illustrates a balanced three-phase Y-Delta system.&#10;Long description is available in notes, Press F6.">
            <a:extLst>
              <a:ext uri="{FF2B5EF4-FFF2-40B4-BE49-F238E27FC236}">
                <a16:creationId xmlns:a16="http://schemas.microsoft.com/office/drawing/2014/main" id="{25F2A95D-72E9-40E6-B8D9-7B37C59010C8}"/>
              </a:ext>
            </a:extLst>
          </p:cNvPr>
          <p:cNvPicPr>
            <a:picLocks noChangeAspect="1"/>
          </p:cNvPicPr>
          <p:nvPr/>
        </p:nvPicPr>
        <p:blipFill>
          <a:blip r:embed="rId5"/>
          <a:stretch>
            <a:fillRect/>
          </a:stretch>
        </p:blipFill>
        <p:spPr>
          <a:xfrm>
            <a:off x="410896" y="938286"/>
            <a:ext cx="7626564" cy="4163722"/>
          </a:xfrm>
          <a:prstGeom prst="rect">
            <a:avLst/>
          </a:prstGeom>
        </p:spPr>
      </p:pic>
    </p:spTree>
    <p:extLst>
      <p:ext uri="{BB962C8B-B14F-4D97-AF65-F5344CB8AC3E}">
        <p14:creationId xmlns:p14="http://schemas.microsoft.com/office/powerpoint/2010/main" val="1002643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6">
            <a:extLst>
              <a:ext uri="{FF2B5EF4-FFF2-40B4-BE49-F238E27FC236}">
                <a16:creationId xmlns:a16="http://schemas.microsoft.com/office/drawing/2014/main" id="{BCC8C7D3-4954-48A4-904C-222887D8F806}"/>
              </a:ext>
            </a:extLst>
          </p:cNvPr>
          <p:cNvSpPr>
            <a:spLocks noChangeArrowheads="1"/>
          </p:cNvSpPr>
          <p:nvPr/>
        </p:nvSpPr>
        <p:spPr bwMode="auto">
          <a:xfrm>
            <a:off x="170656" y="4176712"/>
            <a:ext cx="8802688" cy="2528167"/>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19234" name="Rectangle 2"/>
          <p:cNvSpPr>
            <a:spLocks noGrp="1" noChangeArrowheads="1"/>
          </p:cNvSpPr>
          <p:nvPr>
            <p:ph type="title"/>
          </p:nvPr>
        </p:nvSpPr>
        <p:spPr>
          <a:xfrm>
            <a:off x="2209800" y="54806"/>
            <a:ext cx="6858000" cy="707194"/>
          </a:xfrm>
        </p:spPr>
        <p:txBody>
          <a:bodyPr/>
          <a:lstStyle/>
          <a:p>
            <a:r>
              <a:rPr lang="en-US" sz="2400" dirty="0"/>
              <a:t>Terminology for Three Phase Y-</a:t>
            </a:r>
            <a:r>
              <a:rPr lang="en-US" sz="2400" dirty="0">
                <a:latin typeface="Symbol" panose="05050102010706020507" pitchFamily="18" charset="2"/>
              </a:rPr>
              <a:t>D</a:t>
            </a:r>
            <a:r>
              <a:rPr lang="en-US" sz="2400" dirty="0"/>
              <a:t> Systems</a:t>
            </a:r>
          </a:p>
        </p:txBody>
      </p:sp>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B93E953-D4C3-470A-BC0D-3FF098AEADD6}"/>
              </a:ext>
            </a:extLst>
          </p:cNvPr>
          <p:cNvSpPr txBox="1"/>
          <p:nvPr/>
        </p:nvSpPr>
        <p:spPr>
          <a:xfrm>
            <a:off x="7162800" y="1248370"/>
            <a:ext cx="1691872" cy="1754326"/>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11.11 in the Nilsson and Reidel textbook, 12</a:t>
            </a:r>
            <a:r>
              <a:rPr lang="en-US" baseline="30000" dirty="0"/>
              <a:t>th</a:t>
            </a:r>
            <a:r>
              <a:rPr lang="en-US" dirty="0"/>
              <a:t>   Ed.  </a:t>
            </a:r>
          </a:p>
        </p:txBody>
      </p:sp>
      <p:pic>
        <p:nvPicPr>
          <p:cNvPr id="9" name="Picture Placeholder 5" descr="The figure illustrates a balanced three-phase Y-Delta system.&#10;Long description is available in notes, Press F6.">
            <a:extLst>
              <a:ext uri="{FF2B5EF4-FFF2-40B4-BE49-F238E27FC236}">
                <a16:creationId xmlns:a16="http://schemas.microsoft.com/office/drawing/2014/main" id="{25F2A95D-72E9-40E6-B8D9-7B37C59010C8}"/>
              </a:ext>
            </a:extLst>
          </p:cNvPr>
          <p:cNvPicPr>
            <a:picLocks noChangeAspect="1"/>
          </p:cNvPicPr>
          <p:nvPr/>
        </p:nvPicPr>
        <p:blipFill>
          <a:blip r:embed="rId3"/>
          <a:stretch>
            <a:fillRect/>
          </a:stretch>
        </p:blipFill>
        <p:spPr>
          <a:xfrm>
            <a:off x="647821" y="787971"/>
            <a:ext cx="6095689" cy="3327941"/>
          </a:xfrm>
          <a:prstGeom prst="rect">
            <a:avLst/>
          </a:prstGeom>
        </p:spPr>
      </p:pic>
      <p:sp>
        <p:nvSpPr>
          <p:cNvPr id="11" name="Content Placeholder 15">
            <a:extLst>
              <a:ext uri="{FF2B5EF4-FFF2-40B4-BE49-F238E27FC236}">
                <a16:creationId xmlns:a16="http://schemas.microsoft.com/office/drawing/2014/main" id="{B3699014-4384-45A4-A57F-2F9A7D6C2FF5}"/>
              </a:ext>
            </a:extLst>
          </p:cNvPr>
          <p:cNvSpPr txBox="1">
            <a:spLocks/>
          </p:cNvSpPr>
          <p:nvPr/>
        </p:nvSpPr>
        <p:spPr>
          <a:xfrm>
            <a:off x="706629" y="4204989"/>
            <a:ext cx="555811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a:t>Line voltage – voltage drop between two lines:</a:t>
            </a:r>
            <a:endParaRPr lang="en-US" sz="2000" kern="0" dirty="0"/>
          </a:p>
        </p:txBody>
      </p:sp>
      <p:graphicFrame>
        <p:nvGraphicFramePr>
          <p:cNvPr id="13" name="Object 12" descr="V subscript A B BaseLine, V subscript B C BaseLine, V subscript C A BaseLine.&#10;">
            <a:extLst>
              <a:ext uri="{FF2B5EF4-FFF2-40B4-BE49-F238E27FC236}">
                <a16:creationId xmlns:a16="http://schemas.microsoft.com/office/drawing/2014/main" id="{0CCFB923-213F-46CA-A401-DF73A23650C7}"/>
              </a:ext>
            </a:extLst>
          </p:cNvPr>
          <p:cNvGraphicFramePr>
            <a:graphicFrameLocks noChangeAspect="1"/>
          </p:cNvGraphicFramePr>
          <p:nvPr>
            <p:extLst>
              <p:ext uri="{D42A27DB-BD31-4B8C-83A1-F6EECF244321}">
                <p14:modId xmlns:p14="http://schemas.microsoft.com/office/powerpoint/2010/main" val="2686145093"/>
              </p:ext>
            </p:extLst>
          </p:nvPr>
        </p:nvGraphicFramePr>
        <p:xfrm>
          <a:off x="6313880" y="4244423"/>
          <a:ext cx="1333746" cy="342961"/>
        </p:xfrm>
        <a:graphic>
          <a:graphicData uri="http://schemas.openxmlformats.org/presentationml/2006/ole">
            <mc:AlternateContent xmlns:mc="http://schemas.openxmlformats.org/markup-compatibility/2006">
              <mc:Choice xmlns:v="urn:schemas-microsoft-com:vml" Requires="v">
                <p:oleObj name="Equation" r:id="rId4" imgW="876240" imgH="228600" progId="Equation.DSMT4">
                  <p:embed/>
                </p:oleObj>
              </mc:Choice>
              <mc:Fallback>
                <p:oleObj name="Equation" r:id="rId4" imgW="876240" imgH="228600" progId="Equation.DSMT4">
                  <p:embed/>
                  <p:pic>
                    <p:nvPicPr>
                      <p:cNvPr id="13" name="Object 12" descr="V subscript A B BaseLine, V subscript B C BaseLine, V subscript C A BaseLine.&#10;">
                        <a:extLst>
                          <a:ext uri="{FF2B5EF4-FFF2-40B4-BE49-F238E27FC236}">
                            <a16:creationId xmlns:a16="http://schemas.microsoft.com/office/drawing/2014/main" id="{0CCFB923-213F-46CA-A401-DF73A23650C7}"/>
                          </a:ext>
                        </a:extLst>
                      </p:cNvPr>
                      <p:cNvPicPr>
                        <a:picLocks noChangeAspect="1" noChangeArrowheads="1"/>
                      </p:cNvPicPr>
                      <p:nvPr/>
                    </p:nvPicPr>
                    <p:blipFill>
                      <a:blip r:embed="rId5"/>
                      <a:srcRect/>
                      <a:stretch>
                        <a:fillRect/>
                      </a:stretch>
                    </p:blipFill>
                    <p:spPr bwMode="auto">
                      <a:xfrm>
                        <a:off x="6313880" y="4244423"/>
                        <a:ext cx="1333746" cy="3429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Content Placeholder 16">
            <a:extLst>
              <a:ext uri="{FF2B5EF4-FFF2-40B4-BE49-F238E27FC236}">
                <a16:creationId xmlns:a16="http://schemas.microsoft.com/office/drawing/2014/main" id="{F5D985D3-4B05-4AA3-B0F1-E56FA6898BD5}"/>
              </a:ext>
            </a:extLst>
          </p:cNvPr>
          <p:cNvSpPr txBox="1">
            <a:spLocks/>
          </p:cNvSpPr>
          <p:nvPr/>
        </p:nvSpPr>
        <p:spPr>
          <a:xfrm>
            <a:off x="706629" y="4634174"/>
            <a:ext cx="6239436"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a:t>Phase voltage – voltage drop across a single phase:</a:t>
            </a:r>
            <a:endParaRPr lang="en-US" sz="2000" kern="0" dirty="0"/>
          </a:p>
        </p:txBody>
      </p:sp>
      <p:graphicFrame>
        <p:nvGraphicFramePr>
          <p:cNvPr id="15" name="Object 14" descr="V subscript A B BaseLine, V subscript B C BaseLine, V subscript C A BaseLine.&#10;">
            <a:extLst>
              <a:ext uri="{FF2B5EF4-FFF2-40B4-BE49-F238E27FC236}">
                <a16:creationId xmlns:a16="http://schemas.microsoft.com/office/drawing/2014/main" id="{FF4351FC-4CEC-4F97-9D26-3493BC24C37E}"/>
              </a:ext>
            </a:extLst>
          </p:cNvPr>
          <p:cNvGraphicFramePr>
            <a:graphicFrameLocks noChangeAspect="1"/>
          </p:cNvGraphicFramePr>
          <p:nvPr>
            <p:extLst>
              <p:ext uri="{D42A27DB-BD31-4B8C-83A1-F6EECF244321}">
                <p14:modId xmlns:p14="http://schemas.microsoft.com/office/powerpoint/2010/main" val="1646033413"/>
              </p:ext>
            </p:extLst>
          </p:nvPr>
        </p:nvGraphicFramePr>
        <p:xfrm>
          <a:off x="6983067" y="4670557"/>
          <a:ext cx="1333746" cy="342961"/>
        </p:xfrm>
        <a:graphic>
          <a:graphicData uri="http://schemas.openxmlformats.org/presentationml/2006/ole">
            <mc:AlternateContent xmlns:mc="http://schemas.openxmlformats.org/markup-compatibility/2006">
              <mc:Choice xmlns:v="urn:schemas-microsoft-com:vml" Requires="v">
                <p:oleObj name="Equation" r:id="rId6" imgW="876240" imgH="228600" progId="Equation.DSMT4">
                  <p:embed/>
                </p:oleObj>
              </mc:Choice>
              <mc:Fallback>
                <p:oleObj name="Equation" r:id="rId6" imgW="876240" imgH="228600" progId="Equation.DSMT4">
                  <p:embed/>
                  <p:pic>
                    <p:nvPicPr>
                      <p:cNvPr id="15" name="Object 14" descr="V subscript A B BaseLine, V subscript B C BaseLine, V subscript C A BaseLine.&#10;">
                        <a:extLst>
                          <a:ext uri="{FF2B5EF4-FFF2-40B4-BE49-F238E27FC236}">
                            <a16:creationId xmlns:a16="http://schemas.microsoft.com/office/drawing/2014/main" id="{FF4351FC-4CEC-4F97-9D26-3493BC24C37E}"/>
                          </a:ext>
                        </a:extLst>
                      </p:cNvPr>
                      <p:cNvPicPr>
                        <a:picLocks noChangeAspect="1" noChangeArrowheads="1"/>
                      </p:cNvPicPr>
                      <p:nvPr/>
                    </p:nvPicPr>
                    <p:blipFill>
                      <a:blip r:embed="rId7"/>
                      <a:srcRect/>
                      <a:stretch>
                        <a:fillRect/>
                      </a:stretch>
                    </p:blipFill>
                    <p:spPr bwMode="auto">
                      <a:xfrm>
                        <a:off x="6983067" y="4670557"/>
                        <a:ext cx="1333746" cy="3429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Content Placeholder 17">
            <a:extLst>
              <a:ext uri="{FF2B5EF4-FFF2-40B4-BE49-F238E27FC236}">
                <a16:creationId xmlns:a16="http://schemas.microsoft.com/office/drawing/2014/main" id="{E7741AA7-B64D-447D-A5BD-C4622C1FEC87}"/>
              </a:ext>
            </a:extLst>
          </p:cNvPr>
          <p:cNvSpPr txBox="1">
            <a:spLocks/>
          </p:cNvSpPr>
          <p:nvPr/>
        </p:nvSpPr>
        <p:spPr>
          <a:xfrm>
            <a:off x="706629" y="5054396"/>
            <a:ext cx="4518213"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a:t>Line current – current in a single line:</a:t>
            </a:r>
            <a:endParaRPr lang="en-US" sz="2000" kern="0" dirty="0"/>
          </a:p>
        </p:txBody>
      </p:sp>
      <p:graphicFrame>
        <p:nvGraphicFramePr>
          <p:cNvPr id="17" name="Object 16" descr="I subscript lowercase-a uppercase A BaseLine, I subscript Lowercase b uppercase B BaseLine, I subscript Lowercase c uppercase C BaseLine.&#10;">
            <a:extLst>
              <a:ext uri="{FF2B5EF4-FFF2-40B4-BE49-F238E27FC236}">
                <a16:creationId xmlns:a16="http://schemas.microsoft.com/office/drawing/2014/main" id="{7267EFAA-C513-4583-BA2B-C713A650F25D}"/>
              </a:ext>
            </a:extLst>
          </p:cNvPr>
          <p:cNvGraphicFramePr>
            <a:graphicFrameLocks noChangeAspect="1"/>
          </p:cNvGraphicFramePr>
          <p:nvPr>
            <p:extLst>
              <p:ext uri="{D42A27DB-BD31-4B8C-83A1-F6EECF244321}">
                <p14:modId xmlns:p14="http://schemas.microsoft.com/office/powerpoint/2010/main" val="1884694283"/>
              </p:ext>
            </p:extLst>
          </p:nvPr>
        </p:nvGraphicFramePr>
        <p:xfrm>
          <a:off x="5273132" y="5098443"/>
          <a:ext cx="1004888" cy="342900"/>
        </p:xfrm>
        <a:graphic>
          <a:graphicData uri="http://schemas.openxmlformats.org/presentationml/2006/ole">
            <mc:AlternateContent xmlns:mc="http://schemas.openxmlformats.org/markup-compatibility/2006">
              <mc:Choice xmlns:v="urn:schemas-microsoft-com:vml" Requires="v">
                <p:oleObj name="Equation" r:id="rId8" imgW="660240" imgH="228600" progId="Equation.DSMT4">
                  <p:embed/>
                </p:oleObj>
              </mc:Choice>
              <mc:Fallback>
                <p:oleObj name="Equation" r:id="rId8" imgW="660240" imgH="228600" progId="Equation.DSMT4">
                  <p:embed/>
                  <p:pic>
                    <p:nvPicPr>
                      <p:cNvPr id="17" name="Object 16" descr="I subscript lowercase-a uppercase A BaseLine, I subscript Lowercase b uppercase B BaseLine, I subscript Lowercase c uppercase C BaseLine.&#10;">
                        <a:extLst>
                          <a:ext uri="{FF2B5EF4-FFF2-40B4-BE49-F238E27FC236}">
                            <a16:creationId xmlns:a16="http://schemas.microsoft.com/office/drawing/2014/main" id="{7267EFAA-C513-4583-BA2B-C713A650F25D}"/>
                          </a:ext>
                        </a:extLst>
                      </p:cNvPr>
                      <p:cNvPicPr>
                        <a:picLocks noChangeAspect="1" noChangeArrowheads="1"/>
                      </p:cNvPicPr>
                      <p:nvPr/>
                    </p:nvPicPr>
                    <p:blipFill>
                      <a:blip r:embed="rId9"/>
                      <a:srcRect/>
                      <a:stretch>
                        <a:fillRect/>
                      </a:stretch>
                    </p:blipFill>
                    <p:spPr bwMode="auto">
                      <a:xfrm>
                        <a:off x="5273132" y="5098443"/>
                        <a:ext cx="1004888"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Content Placeholder 18">
            <a:extLst>
              <a:ext uri="{FF2B5EF4-FFF2-40B4-BE49-F238E27FC236}">
                <a16:creationId xmlns:a16="http://schemas.microsoft.com/office/drawing/2014/main" id="{9468EE9E-C3D2-4FA4-AE73-D949922CC0BA}"/>
              </a:ext>
            </a:extLst>
          </p:cNvPr>
          <p:cNvSpPr txBox="1">
            <a:spLocks/>
          </p:cNvSpPr>
          <p:nvPr/>
        </p:nvSpPr>
        <p:spPr>
          <a:xfrm>
            <a:off x="706629" y="5492965"/>
            <a:ext cx="5047130"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altLang="en-US" sz="2000" kern="0"/>
              <a:t>Phase current – current in a single phase:</a:t>
            </a:r>
            <a:endParaRPr lang="en-US" sz="2000" kern="0" dirty="0"/>
          </a:p>
        </p:txBody>
      </p:sp>
      <p:graphicFrame>
        <p:nvGraphicFramePr>
          <p:cNvPr id="19" name="Object 18" descr=" I subscript A B BaseLine, I subscript B C BaseLine, I subscript C A BaseLine.&#10;">
            <a:extLst>
              <a:ext uri="{FF2B5EF4-FFF2-40B4-BE49-F238E27FC236}">
                <a16:creationId xmlns:a16="http://schemas.microsoft.com/office/drawing/2014/main" id="{8A7EC501-62EA-4D67-8AA3-9DD745672E69}"/>
              </a:ext>
            </a:extLst>
          </p:cNvPr>
          <p:cNvGraphicFramePr>
            <a:graphicFrameLocks noChangeAspect="1"/>
          </p:cNvGraphicFramePr>
          <p:nvPr>
            <p:extLst>
              <p:ext uri="{D42A27DB-BD31-4B8C-83A1-F6EECF244321}">
                <p14:modId xmlns:p14="http://schemas.microsoft.com/office/powerpoint/2010/main" val="1428679971"/>
              </p:ext>
            </p:extLst>
          </p:nvPr>
        </p:nvGraphicFramePr>
        <p:xfrm>
          <a:off x="5810257" y="5534589"/>
          <a:ext cx="1063625" cy="342900"/>
        </p:xfrm>
        <a:graphic>
          <a:graphicData uri="http://schemas.openxmlformats.org/presentationml/2006/ole">
            <mc:AlternateContent xmlns:mc="http://schemas.openxmlformats.org/markup-compatibility/2006">
              <mc:Choice xmlns:v="urn:schemas-microsoft-com:vml" Requires="v">
                <p:oleObj name="Equation" r:id="rId10" imgW="698400" imgH="228600" progId="Equation.DSMT4">
                  <p:embed/>
                </p:oleObj>
              </mc:Choice>
              <mc:Fallback>
                <p:oleObj name="Equation" r:id="rId10" imgW="698400" imgH="228600" progId="Equation.DSMT4">
                  <p:embed/>
                  <p:pic>
                    <p:nvPicPr>
                      <p:cNvPr id="19" name="Object 18" descr=" I subscript A B BaseLine, I subscript B C BaseLine, I subscript C A BaseLine.&#10;">
                        <a:extLst>
                          <a:ext uri="{FF2B5EF4-FFF2-40B4-BE49-F238E27FC236}">
                            <a16:creationId xmlns:a16="http://schemas.microsoft.com/office/drawing/2014/main" id="{8A7EC501-62EA-4D67-8AA3-9DD745672E69}"/>
                          </a:ext>
                        </a:extLst>
                      </p:cNvPr>
                      <p:cNvPicPr>
                        <a:picLocks noChangeAspect="1" noChangeArrowheads="1"/>
                      </p:cNvPicPr>
                      <p:nvPr/>
                    </p:nvPicPr>
                    <p:blipFill>
                      <a:blip r:embed="rId11"/>
                      <a:srcRect/>
                      <a:stretch>
                        <a:fillRect/>
                      </a:stretch>
                    </p:blipFill>
                    <p:spPr bwMode="auto">
                      <a:xfrm>
                        <a:off x="5810257" y="5534589"/>
                        <a:ext cx="106362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Content Placeholder 19">
            <a:extLst>
              <a:ext uri="{FF2B5EF4-FFF2-40B4-BE49-F238E27FC236}">
                <a16:creationId xmlns:a16="http://schemas.microsoft.com/office/drawing/2014/main" id="{FC7D0F8F-D3B9-4D05-A4CF-79E2E2FF7BBB}"/>
              </a:ext>
            </a:extLst>
          </p:cNvPr>
          <p:cNvSpPr txBox="1">
            <a:spLocks/>
          </p:cNvSpPr>
          <p:nvPr/>
        </p:nvSpPr>
        <p:spPr>
          <a:xfrm>
            <a:off x="706629" y="5914950"/>
            <a:ext cx="422330"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In a</a:t>
            </a:r>
            <a:endParaRPr lang="en-US" sz="2000" kern="0" dirty="0"/>
          </a:p>
        </p:txBody>
      </p:sp>
      <p:graphicFrame>
        <p:nvGraphicFramePr>
          <p:cNvPr id="21" name="Object 20" descr="Y Minus Delta.&#10;">
            <a:extLst>
              <a:ext uri="{FF2B5EF4-FFF2-40B4-BE49-F238E27FC236}">
                <a16:creationId xmlns:a16="http://schemas.microsoft.com/office/drawing/2014/main" id="{BE3D2D7B-2271-4EBC-BCDB-524318054BDB}"/>
              </a:ext>
            </a:extLst>
          </p:cNvPr>
          <p:cNvGraphicFramePr>
            <a:graphicFrameLocks noChangeAspect="1"/>
          </p:cNvGraphicFramePr>
          <p:nvPr>
            <p:extLst>
              <p:ext uri="{D42A27DB-BD31-4B8C-83A1-F6EECF244321}">
                <p14:modId xmlns:p14="http://schemas.microsoft.com/office/powerpoint/2010/main" val="2216548031"/>
              </p:ext>
            </p:extLst>
          </p:nvPr>
        </p:nvGraphicFramePr>
        <p:xfrm>
          <a:off x="1175844" y="5976374"/>
          <a:ext cx="444500" cy="247650"/>
        </p:xfrm>
        <a:graphic>
          <a:graphicData uri="http://schemas.openxmlformats.org/presentationml/2006/ole">
            <mc:AlternateContent xmlns:mc="http://schemas.openxmlformats.org/markup-compatibility/2006">
              <mc:Choice xmlns:v="urn:schemas-microsoft-com:vml" Requires="v">
                <p:oleObj name="Equation" r:id="rId12" imgW="291960" imgH="164880" progId="Equation.DSMT4">
                  <p:embed/>
                </p:oleObj>
              </mc:Choice>
              <mc:Fallback>
                <p:oleObj name="Equation" r:id="rId12" imgW="291960" imgH="164880" progId="Equation.DSMT4">
                  <p:embed/>
                  <p:pic>
                    <p:nvPicPr>
                      <p:cNvPr id="21" name="Object 20" descr="Y Minus Delta.&#10;">
                        <a:extLst>
                          <a:ext uri="{FF2B5EF4-FFF2-40B4-BE49-F238E27FC236}">
                            <a16:creationId xmlns:a16="http://schemas.microsoft.com/office/drawing/2014/main" id="{BE3D2D7B-2271-4EBC-BCDB-524318054BDB}"/>
                          </a:ext>
                        </a:extLst>
                      </p:cNvPr>
                      <p:cNvPicPr>
                        <a:picLocks noChangeAspect="1" noChangeArrowheads="1"/>
                      </p:cNvPicPr>
                      <p:nvPr/>
                    </p:nvPicPr>
                    <p:blipFill>
                      <a:blip r:embed="rId13"/>
                      <a:srcRect/>
                      <a:stretch>
                        <a:fillRect/>
                      </a:stretch>
                    </p:blipFill>
                    <p:spPr bwMode="auto">
                      <a:xfrm>
                        <a:off x="1175844" y="5976374"/>
                        <a:ext cx="444500"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Content Placeholder 20">
            <a:extLst>
              <a:ext uri="{FF2B5EF4-FFF2-40B4-BE49-F238E27FC236}">
                <a16:creationId xmlns:a16="http://schemas.microsoft.com/office/drawing/2014/main" id="{F3ABA1E8-A491-46E4-B233-32141D98F302}"/>
              </a:ext>
            </a:extLst>
          </p:cNvPr>
          <p:cNvSpPr txBox="1">
            <a:spLocks/>
          </p:cNvSpPr>
          <p:nvPr/>
        </p:nvSpPr>
        <p:spPr>
          <a:xfrm>
            <a:off x="1667229" y="5923124"/>
            <a:ext cx="6291885"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circuit, the line voltage and phase voltage are the same.</a:t>
            </a:r>
            <a:endParaRPr lang="en-US" sz="2000" kern="0" dirty="0"/>
          </a:p>
        </p:txBody>
      </p:sp>
      <p:sp>
        <p:nvSpPr>
          <p:cNvPr id="23" name="Content Placeholder 21">
            <a:extLst>
              <a:ext uri="{FF2B5EF4-FFF2-40B4-BE49-F238E27FC236}">
                <a16:creationId xmlns:a16="http://schemas.microsoft.com/office/drawing/2014/main" id="{2603F1F7-C2AC-4ECF-84CD-BD6AA6C63568}"/>
              </a:ext>
            </a:extLst>
          </p:cNvPr>
          <p:cNvSpPr txBox="1">
            <a:spLocks/>
          </p:cNvSpPr>
          <p:nvPr/>
        </p:nvSpPr>
        <p:spPr>
          <a:xfrm>
            <a:off x="705433" y="6309833"/>
            <a:ext cx="435127"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In a</a:t>
            </a:r>
            <a:endParaRPr lang="en-US" sz="2000" kern="0" dirty="0"/>
          </a:p>
        </p:txBody>
      </p:sp>
      <p:graphicFrame>
        <p:nvGraphicFramePr>
          <p:cNvPr id="24" name="Object 23" descr="Y Minus Delta.&#10;">
            <a:extLst>
              <a:ext uri="{FF2B5EF4-FFF2-40B4-BE49-F238E27FC236}">
                <a16:creationId xmlns:a16="http://schemas.microsoft.com/office/drawing/2014/main" id="{6A7CAB6E-E48F-452B-9226-6F075B4113D7}"/>
              </a:ext>
            </a:extLst>
          </p:cNvPr>
          <p:cNvGraphicFramePr>
            <a:graphicFrameLocks noChangeAspect="1"/>
          </p:cNvGraphicFramePr>
          <p:nvPr>
            <p:extLst>
              <p:ext uri="{D42A27DB-BD31-4B8C-83A1-F6EECF244321}">
                <p14:modId xmlns:p14="http://schemas.microsoft.com/office/powerpoint/2010/main" val="2890813735"/>
              </p:ext>
            </p:extLst>
          </p:nvPr>
        </p:nvGraphicFramePr>
        <p:xfrm>
          <a:off x="1175844" y="6364650"/>
          <a:ext cx="444500" cy="247650"/>
        </p:xfrm>
        <a:graphic>
          <a:graphicData uri="http://schemas.openxmlformats.org/presentationml/2006/ole">
            <mc:AlternateContent xmlns:mc="http://schemas.openxmlformats.org/markup-compatibility/2006">
              <mc:Choice xmlns:v="urn:schemas-microsoft-com:vml" Requires="v">
                <p:oleObj name="Equation" r:id="rId12" imgW="291960" imgH="164880" progId="Equation.DSMT4">
                  <p:embed/>
                </p:oleObj>
              </mc:Choice>
              <mc:Fallback>
                <p:oleObj name="Equation" r:id="rId12" imgW="291960" imgH="164880" progId="Equation.DSMT4">
                  <p:embed/>
                  <p:pic>
                    <p:nvPicPr>
                      <p:cNvPr id="24" name="Object 23" descr="Y Minus Delta.&#10;">
                        <a:extLst>
                          <a:ext uri="{FF2B5EF4-FFF2-40B4-BE49-F238E27FC236}">
                            <a16:creationId xmlns:a16="http://schemas.microsoft.com/office/drawing/2014/main" id="{6A7CAB6E-E48F-452B-9226-6F075B4113D7}"/>
                          </a:ext>
                        </a:extLst>
                      </p:cNvPr>
                      <p:cNvPicPr>
                        <a:picLocks noChangeAspect="1" noChangeArrowheads="1"/>
                      </p:cNvPicPr>
                      <p:nvPr/>
                    </p:nvPicPr>
                    <p:blipFill>
                      <a:blip r:embed="rId13"/>
                      <a:srcRect/>
                      <a:stretch>
                        <a:fillRect/>
                      </a:stretch>
                    </p:blipFill>
                    <p:spPr bwMode="auto">
                      <a:xfrm>
                        <a:off x="1175844" y="6364650"/>
                        <a:ext cx="444500"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Content Placeholder 22">
            <a:extLst>
              <a:ext uri="{FF2B5EF4-FFF2-40B4-BE49-F238E27FC236}">
                <a16:creationId xmlns:a16="http://schemas.microsoft.com/office/drawing/2014/main" id="{246E8972-0E1C-4CB9-9431-1B1A5CF979BC}"/>
              </a:ext>
            </a:extLst>
          </p:cNvPr>
          <p:cNvSpPr txBox="1">
            <a:spLocks/>
          </p:cNvSpPr>
          <p:nvPr/>
        </p:nvSpPr>
        <p:spPr>
          <a:xfrm>
            <a:off x="1660704" y="6304420"/>
            <a:ext cx="6029432"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circuit, the line current and phase current are different</a:t>
            </a:r>
            <a:endParaRPr lang="en-US" sz="2000" kern="0" dirty="0"/>
          </a:p>
        </p:txBody>
      </p:sp>
    </p:spTree>
    <p:extLst>
      <p:ext uri="{BB962C8B-B14F-4D97-AF65-F5344CB8AC3E}">
        <p14:creationId xmlns:p14="http://schemas.microsoft.com/office/powerpoint/2010/main" val="20862783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6">
            <a:extLst>
              <a:ext uri="{FF2B5EF4-FFF2-40B4-BE49-F238E27FC236}">
                <a16:creationId xmlns:a16="http://schemas.microsoft.com/office/drawing/2014/main" id="{BCC8C7D3-4954-48A4-904C-222887D8F806}"/>
              </a:ext>
            </a:extLst>
          </p:cNvPr>
          <p:cNvSpPr>
            <a:spLocks noChangeArrowheads="1"/>
          </p:cNvSpPr>
          <p:nvPr/>
        </p:nvSpPr>
        <p:spPr bwMode="auto">
          <a:xfrm>
            <a:off x="170656" y="4176712"/>
            <a:ext cx="8802688" cy="2528167"/>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19234" name="Rectangle 2"/>
          <p:cNvSpPr>
            <a:spLocks noGrp="1" noChangeArrowheads="1"/>
          </p:cNvSpPr>
          <p:nvPr>
            <p:ph type="title"/>
          </p:nvPr>
        </p:nvSpPr>
        <p:spPr>
          <a:xfrm>
            <a:off x="2209800" y="54806"/>
            <a:ext cx="6858000" cy="707194"/>
          </a:xfrm>
        </p:spPr>
        <p:txBody>
          <a:bodyPr/>
          <a:lstStyle/>
          <a:p>
            <a:r>
              <a:rPr lang="en-US" sz="2400" dirty="0"/>
              <a:t>Line Currents and Phase Currents </a:t>
            </a:r>
            <a:br>
              <a:rPr lang="en-US" sz="2400" dirty="0"/>
            </a:br>
            <a:r>
              <a:rPr lang="en-US" sz="2400" dirty="0"/>
              <a:t>for Three Phase Y-</a:t>
            </a:r>
            <a:r>
              <a:rPr lang="en-US" sz="2400" dirty="0">
                <a:latin typeface="Symbol" panose="05050102010706020507" pitchFamily="18" charset="2"/>
              </a:rPr>
              <a:t>D</a:t>
            </a:r>
            <a:r>
              <a:rPr lang="en-US" sz="2400" dirty="0"/>
              <a:t> Systems</a:t>
            </a:r>
          </a:p>
        </p:txBody>
      </p:sp>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B93E953-D4C3-470A-BC0D-3FF098AEADD6}"/>
              </a:ext>
            </a:extLst>
          </p:cNvPr>
          <p:cNvSpPr txBox="1"/>
          <p:nvPr/>
        </p:nvSpPr>
        <p:spPr>
          <a:xfrm>
            <a:off x="7281472" y="2670717"/>
            <a:ext cx="1691872" cy="1754326"/>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11.11 in the Nilsson and Reidel textbook, 12</a:t>
            </a:r>
            <a:r>
              <a:rPr lang="en-US" baseline="30000" dirty="0"/>
              <a:t>th</a:t>
            </a:r>
            <a:r>
              <a:rPr lang="en-US" dirty="0"/>
              <a:t>   Ed.  </a:t>
            </a:r>
          </a:p>
        </p:txBody>
      </p:sp>
      <p:pic>
        <p:nvPicPr>
          <p:cNvPr id="9" name="Picture Placeholder 5" descr="The figure illustrates a balanced three-phase Y-Delta system.&#10;Long description is available in notes, Press F6.">
            <a:extLst>
              <a:ext uri="{FF2B5EF4-FFF2-40B4-BE49-F238E27FC236}">
                <a16:creationId xmlns:a16="http://schemas.microsoft.com/office/drawing/2014/main" id="{25F2A95D-72E9-40E6-B8D9-7B37C59010C8}"/>
              </a:ext>
            </a:extLst>
          </p:cNvPr>
          <p:cNvPicPr>
            <a:picLocks noChangeAspect="1"/>
          </p:cNvPicPr>
          <p:nvPr/>
        </p:nvPicPr>
        <p:blipFill>
          <a:blip r:embed="rId3"/>
          <a:stretch>
            <a:fillRect/>
          </a:stretch>
        </p:blipFill>
        <p:spPr>
          <a:xfrm>
            <a:off x="21571" y="799878"/>
            <a:ext cx="4985256" cy="2721700"/>
          </a:xfrm>
          <a:prstGeom prst="rect">
            <a:avLst/>
          </a:prstGeom>
        </p:spPr>
      </p:pic>
      <p:sp>
        <p:nvSpPr>
          <p:cNvPr id="27" name="Content Placeholder 2">
            <a:extLst>
              <a:ext uri="{FF2B5EF4-FFF2-40B4-BE49-F238E27FC236}">
                <a16:creationId xmlns:a16="http://schemas.microsoft.com/office/drawing/2014/main" id="{BCA4867C-FD10-48A3-991F-1B3B3384271F}"/>
              </a:ext>
            </a:extLst>
          </p:cNvPr>
          <p:cNvSpPr txBox="1">
            <a:spLocks/>
          </p:cNvSpPr>
          <p:nvPr/>
        </p:nvSpPr>
        <p:spPr bwMode="auto">
          <a:xfrm>
            <a:off x="430305" y="4305136"/>
            <a:ext cx="2785250"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2000" dirty="0"/>
              <a:t>Positive (</a:t>
            </a:r>
            <a:r>
              <a:rPr lang="en-US" altLang="en-US" sz="2000" dirty="0" err="1"/>
              <a:t>abc</a:t>
            </a:r>
            <a:r>
              <a:rPr lang="en-US" altLang="en-US" sz="2000" dirty="0"/>
              <a:t>) sequence:</a:t>
            </a:r>
            <a:endParaRPr lang="en-US" sz="2000" dirty="0"/>
          </a:p>
        </p:txBody>
      </p:sp>
      <p:graphicFrame>
        <p:nvGraphicFramePr>
          <p:cNvPr id="28" name="Object 27" descr="I subscript lowercase-a UpperCase A BaseLine equals I subscript Uppercase A B BaseLine plus I subscript Uppercase A C BaseLine.&#10;">
            <a:extLst>
              <a:ext uri="{FF2B5EF4-FFF2-40B4-BE49-F238E27FC236}">
                <a16:creationId xmlns:a16="http://schemas.microsoft.com/office/drawing/2014/main" id="{7C8DEAF8-556B-419F-9AC9-CF25C912553A}"/>
              </a:ext>
            </a:extLst>
          </p:cNvPr>
          <p:cNvGraphicFramePr>
            <a:graphicFrameLocks noChangeAspect="1"/>
          </p:cNvGraphicFramePr>
          <p:nvPr>
            <p:extLst>
              <p:ext uri="{D42A27DB-BD31-4B8C-83A1-F6EECF244321}">
                <p14:modId xmlns:p14="http://schemas.microsoft.com/office/powerpoint/2010/main" val="4027869725"/>
              </p:ext>
            </p:extLst>
          </p:nvPr>
        </p:nvGraphicFramePr>
        <p:xfrm>
          <a:off x="430305" y="5041497"/>
          <a:ext cx="1333746" cy="342961"/>
        </p:xfrm>
        <a:graphic>
          <a:graphicData uri="http://schemas.openxmlformats.org/presentationml/2006/ole">
            <mc:AlternateContent xmlns:mc="http://schemas.openxmlformats.org/markup-compatibility/2006">
              <mc:Choice xmlns:v="urn:schemas-microsoft-com:vml" Requires="v">
                <p:oleObj name="Equation" r:id="rId4" imgW="876240" imgH="228600" progId="Equation.DSMT4">
                  <p:embed/>
                </p:oleObj>
              </mc:Choice>
              <mc:Fallback>
                <p:oleObj name="Equation" r:id="rId4" imgW="876240" imgH="228600" progId="Equation.DSMT4">
                  <p:embed/>
                  <p:pic>
                    <p:nvPicPr>
                      <p:cNvPr id="28" name="Object 27" descr="I subscript lowercase-a UpperCase A BaseLine equals I subscript Uppercase A B BaseLine plus I subscript Uppercase A C BaseLine.&#10;">
                        <a:extLst>
                          <a:ext uri="{FF2B5EF4-FFF2-40B4-BE49-F238E27FC236}">
                            <a16:creationId xmlns:a16="http://schemas.microsoft.com/office/drawing/2014/main" id="{7C8DEAF8-556B-419F-9AC9-CF25C912553A}"/>
                          </a:ext>
                        </a:extLst>
                      </p:cNvPr>
                      <p:cNvPicPr>
                        <a:picLocks noChangeAspect="1" noChangeArrowheads="1"/>
                      </p:cNvPicPr>
                      <p:nvPr/>
                    </p:nvPicPr>
                    <p:blipFill>
                      <a:blip r:embed="rId5"/>
                      <a:srcRect/>
                      <a:stretch>
                        <a:fillRect/>
                      </a:stretch>
                    </p:blipFill>
                    <p:spPr bwMode="auto">
                      <a:xfrm>
                        <a:off x="430305" y="5041497"/>
                        <a:ext cx="1333746" cy="3429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8" descr="Equals I subscript A B BaseLine Minus I subscript C A BaseLine.&#10;">
            <a:extLst>
              <a:ext uri="{FF2B5EF4-FFF2-40B4-BE49-F238E27FC236}">
                <a16:creationId xmlns:a16="http://schemas.microsoft.com/office/drawing/2014/main" id="{86F86AE7-3FC9-40CA-9924-CA62115E72FA}"/>
              </a:ext>
            </a:extLst>
          </p:cNvPr>
          <p:cNvGraphicFramePr>
            <a:graphicFrameLocks noChangeAspect="1"/>
          </p:cNvGraphicFramePr>
          <p:nvPr>
            <p:extLst>
              <p:ext uri="{D42A27DB-BD31-4B8C-83A1-F6EECF244321}">
                <p14:modId xmlns:p14="http://schemas.microsoft.com/office/powerpoint/2010/main" val="3815783282"/>
              </p:ext>
            </p:extLst>
          </p:nvPr>
        </p:nvGraphicFramePr>
        <p:xfrm>
          <a:off x="731149" y="5477047"/>
          <a:ext cx="1023937" cy="342900"/>
        </p:xfrm>
        <a:graphic>
          <a:graphicData uri="http://schemas.openxmlformats.org/presentationml/2006/ole">
            <mc:AlternateContent xmlns:mc="http://schemas.openxmlformats.org/markup-compatibility/2006">
              <mc:Choice xmlns:v="urn:schemas-microsoft-com:vml" Requires="v">
                <p:oleObj name="Equation" r:id="rId6" imgW="672840" imgH="228600" progId="Equation.DSMT4">
                  <p:embed/>
                </p:oleObj>
              </mc:Choice>
              <mc:Fallback>
                <p:oleObj name="Equation" r:id="rId6" imgW="672840" imgH="228600" progId="Equation.DSMT4">
                  <p:embed/>
                  <p:pic>
                    <p:nvPicPr>
                      <p:cNvPr id="29" name="Object 28" descr="Equals I subscript A B BaseLine Minus I subscript C A BaseLine.&#10;">
                        <a:extLst>
                          <a:ext uri="{FF2B5EF4-FFF2-40B4-BE49-F238E27FC236}">
                            <a16:creationId xmlns:a16="http://schemas.microsoft.com/office/drawing/2014/main" id="{86F86AE7-3FC9-40CA-9924-CA62115E72FA}"/>
                          </a:ext>
                        </a:extLst>
                      </p:cNvPr>
                      <p:cNvPicPr>
                        <a:picLocks noChangeAspect="1" noChangeArrowheads="1"/>
                      </p:cNvPicPr>
                      <p:nvPr/>
                    </p:nvPicPr>
                    <p:blipFill>
                      <a:blip r:embed="rId7"/>
                      <a:srcRect/>
                      <a:stretch>
                        <a:fillRect/>
                      </a:stretch>
                    </p:blipFill>
                    <p:spPr bwMode="auto">
                      <a:xfrm>
                        <a:off x="731149" y="5477047"/>
                        <a:ext cx="1023937"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29" descr="Equals StartRoot 3 EndRoot I subscript A B BaseLine at an angle of I subscript A B BaseLine Minus 30 degrees.&#10;">
            <a:extLst>
              <a:ext uri="{FF2B5EF4-FFF2-40B4-BE49-F238E27FC236}">
                <a16:creationId xmlns:a16="http://schemas.microsoft.com/office/drawing/2014/main" id="{EA543661-4045-42FB-AC01-0DBD433FD603}"/>
              </a:ext>
            </a:extLst>
          </p:cNvPr>
          <p:cNvGraphicFramePr>
            <a:graphicFrameLocks noChangeAspect="1"/>
          </p:cNvGraphicFramePr>
          <p:nvPr>
            <p:extLst>
              <p:ext uri="{D42A27DB-BD31-4B8C-83A1-F6EECF244321}">
                <p14:modId xmlns:p14="http://schemas.microsoft.com/office/powerpoint/2010/main" val="1025666346"/>
              </p:ext>
            </p:extLst>
          </p:nvPr>
        </p:nvGraphicFramePr>
        <p:xfrm>
          <a:off x="731149" y="5856739"/>
          <a:ext cx="1835150" cy="381000"/>
        </p:xfrm>
        <a:graphic>
          <a:graphicData uri="http://schemas.openxmlformats.org/presentationml/2006/ole">
            <mc:AlternateContent xmlns:mc="http://schemas.openxmlformats.org/markup-compatibility/2006">
              <mc:Choice xmlns:v="urn:schemas-microsoft-com:vml" Requires="v">
                <p:oleObj name="Equation" r:id="rId8" imgW="1206360" imgH="253800" progId="Equation.DSMT4">
                  <p:embed/>
                </p:oleObj>
              </mc:Choice>
              <mc:Fallback>
                <p:oleObj name="Equation" r:id="rId8" imgW="1206360" imgH="253800" progId="Equation.DSMT4">
                  <p:embed/>
                  <p:pic>
                    <p:nvPicPr>
                      <p:cNvPr id="30" name="Object 29" descr="Equals StartRoot 3 EndRoot I subscript A B BaseLine at an angle of I subscript A B BaseLine Minus 30 degrees.&#10;">
                        <a:extLst>
                          <a:ext uri="{FF2B5EF4-FFF2-40B4-BE49-F238E27FC236}">
                            <a16:creationId xmlns:a16="http://schemas.microsoft.com/office/drawing/2014/main" id="{EA543661-4045-42FB-AC01-0DBD433FD603}"/>
                          </a:ext>
                        </a:extLst>
                      </p:cNvPr>
                      <p:cNvPicPr>
                        <a:picLocks noChangeAspect="1" noChangeArrowheads="1"/>
                      </p:cNvPicPr>
                      <p:nvPr/>
                    </p:nvPicPr>
                    <p:blipFill>
                      <a:blip r:embed="rId9"/>
                      <a:srcRect/>
                      <a:stretch>
                        <a:fillRect/>
                      </a:stretch>
                    </p:blipFill>
                    <p:spPr bwMode="auto">
                      <a:xfrm>
                        <a:off x="731149" y="5856739"/>
                        <a:ext cx="18351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1" name="Picture 30" descr="A phasor diagram shows an arrow I sub small a cap A from a point acting downward to the right at 30 degrees from the horizontal. An arrow I sub small b cap B acts downward to the left at approximately 30 degrees from the negative horizontal. An arrow I sub small c cap C acts upward from the same point. I sub A B is a short arrow to the right along the positive horizontal. I sub B C is another short arrow that acts downward to the left at an angle of 30 degrees from I sub small b cap B in anticlockwise direction. I sub C A is another short arrow that acts upward to the left at 30 degrees from I sub small c cap C.">
            <a:extLst>
              <a:ext uri="{FF2B5EF4-FFF2-40B4-BE49-F238E27FC236}">
                <a16:creationId xmlns:a16="http://schemas.microsoft.com/office/drawing/2014/main" id="{D0B1861A-49DD-4E8A-9EC4-4563EB8CB025}"/>
              </a:ext>
            </a:extLst>
          </p:cNvPr>
          <p:cNvPicPr>
            <a:picLocks noChangeAspect="1"/>
          </p:cNvPicPr>
          <p:nvPr/>
        </p:nvPicPr>
        <p:blipFill rotWithShape="1">
          <a:blip r:embed="rId10"/>
          <a:srcRect b="56594"/>
          <a:stretch/>
        </p:blipFill>
        <p:spPr>
          <a:xfrm>
            <a:off x="2561855" y="4649264"/>
            <a:ext cx="2035058" cy="1861022"/>
          </a:xfrm>
          <a:prstGeom prst="rect">
            <a:avLst/>
          </a:prstGeom>
        </p:spPr>
      </p:pic>
      <p:sp>
        <p:nvSpPr>
          <p:cNvPr id="32" name="Content Placeholder 3">
            <a:extLst>
              <a:ext uri="{FF2B5EF4-FFF2-40B4-BE49-F238E27FC236}">
                <a16:creationId xmlns:a16="http://schemas.microsoft.com/office/drawing/2014/main" id="{CE5DD638-0208-42DC-9951-5B4AA5359EC7}"/>
              </a:ext>
            </a:extLst>
          </p:cNvPr>
          <p:cNvSpPr txBox="1">
            <a:spLocks/>
          </p:cNvSpPr>
          <p:nvPr/>
        </p:nvSpPr>
        <p:spPr>
          <a:xfrm>
            <a:off x="4609856" y="4259821"/>
            <a:ext cx="2910521"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a:t>Negative (</a:t>
            </a:r>
            <a:r>
              <a:rPr lang="en-US" sz="2000" kern="0" dirty="0" err="1"/>
              <a:t>acb</a:t>
            </a:r>
            <a:r>
              <a:rPr lang="en-US" sz="2000" kern="0" dirty="0"/>
              <a:t>) sequence:</a:t>
            </a:r>
          </a:p>
        </p:txBody>
      </p:sp>
      <p:graphicFrame>
        <p:nvGraphicFramePr>
          <p:cNvPr id="33" name="Object 32" descr="I subscript lowercase-a UpperCase A BaseLine equals I subscript Uppercase A B BaseLine plus I subscript Uppercase A C BaseLine.&#10;">
            <a:extLst>
              <a:ext uri="{FF2B5EF4-FFF2-40B4-BE49-F238E27FC236}">
                <a16:creationId xmlns:a16="http://schemas.microsoft.com/office/drawing/2014/main" id="{83648013-D6B9-40E1-9FE9-4BF41A2891B6}"/>
              </a:ext>
            </a:extLst>
          </p:cNvPr>
          <p:cNvGraphicFramePr>
            <a:graphicFrameLocks noChangeAspect="1"/>
          </p:cNvGraphicFramePr>
          <p:nvPr>
            <p:extLst>
              <p:ext uri="{D42A27DB-BD31-4B8C-83A1-F6EECF244321}">
                <p14:modId xmlns:p14="http://schemas.microsoft.com/office/powerpoint/2010/main" val="1237059479"/>
              </p:ext>
            </p:extLst>
          </p:nvPr>
        </p:nvGraphicFramePr>
        <p:xfrm>
          <a:off x="4580965" y="5045233"/>
          <a:ext cx="1333746" cy="342961"/>
        </p:xfrm>
        <a:graphic>
          <a:graphicData uri="http://schemas.openxmlformats.org/presentationml/2006/ole">
            <mc:AlternateContent xmlns:mc="http://schemas.openxmlformats.org/markup-compatibility/2006">
              <mc:Choice xmlns:v="urn:schemas-microsoft-com:vml" Requires="v">
                <p:oleObj name="Equation" r:id="rId11" imgW="876240" imgH="228600" progId="Equation.DSMT4">
                  <p:embed/>
                </p:oleObj>
              </mc:Choice>
              <mc:Fallback>
                <p:oleObj name="Equation" r:id="rId11" imgW="876240" imgH="228600" progId="Equation.DSMT4">
                  <p:embed/>
                  <p:pic>
                    <p:nvPicPr>
                      <p:cNvPr id="33" name="Object 32" descr="I subscript lowercase-a UpperCase A BaseLine equals I subscript Uppercase A B BaseLine plus I subscript Uppercase A C BaseLine.&#10;">
                        <a:extLst>
                          <a:ext uri="{FF2B5EF4-FFF2-40B4-BE49-F238E27FC236}">
                            <a16:creationId xmlns:a16="http://schemas.microsoft.com/office/drawing/2014/main" id="{83648013-D6B9-40E1-9FE9-4BF41A2891B6}"/>
                          </a:ext>
                        </a:extLst>
                      </p:cNvPr>
                      <p:cNvPicPr>
                        <a:picLocks noChangeAspect="1" noChangeArrowheads="1"/>
                      </p:cNvPicPr>
                      <p:nvPr/>
                    </p:nvPicPr>
                    <p:blipFill>
                      <a:blip r:embed="rId5"/>
                      <a:srcRect/>
                      <a:stretch>
                        <a:fillRect/>
                      </a:stretch>
                    </p:blipFill>
                    <p:spPr bwMode="auto">
                      <a:xfrm>
                        <a:off x="4580965" y="5045233"/>
                        <a:ext cx="1333746" cy="3429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33" descr="Equals I subscript A B BaseLine Minus I subscript C A BaseLine.&#10;">
            <a:extLst>
              <a:ext uri="{FF2B5EF4-FFF2-40B4-BE49-F238E27FC236}">
                <a16:creationId xmlns:a16="http://schemas.microsoft.com/office/drawing/2014/main" id="{089AEC41-8F44-41F4-9EEE-5EB480F3F286}"/>
              </a:ext>
            </a:extLst>
          </p:cNvPr>
          <p:cNvGraphicFramePr>
            <a:graphicFrameLocks noChangeAspect="1"/>
          </p:cNvGraphicFramePr>
          <p:nvPr>
            <p:extLst>
              <p:ext uri="{D42A27DB-BD31-4B8C-83A1-F6EECF244321}">
                <p14:modId xmlns:p14="http://schemas.microsoft.com/office/powerpoint/2010/main" val="4166363139"/>
              </p:ext>
            </p:extLst>
          </p:nvPr>
        </p:nvGraphicFramePr>
        <p:xfrm>
          <a:off x="4881809" y="5477047"/>
          <a:ext cx="1023937" cy="342900"/>
        </p:xfrm>
        <a:graphic>
          <a:graphicData uri="http://schemas.openxmlformats.org/presentationml/2006/ole">
            <mc:AlternateContent xmlns:mc="http://schemas.openxmlformats.org/markup-compatibility/2006">
              <mc:Choice xmlns:v="urn:schemas-microsoft-com:vml" Requires="v">
                <p:oleObj name="Equation" r:id="rId6" imgW="672840" imgH="228600" progId="Equation.DSMT4">
                  <p:embed/>
                </p:oleObj>
              </mc:Choice>
              <mc:Fallback>
                <p:oleObj name="Equation" r:id="rId6" imgW="672840" imgH="228600" progId="Equation.DSMT4">
                  <p:embed/>
                  <p:pic>
                    <p:nvPicPr>
                      <p:cNvPr id="34" name="Object 33" descr="Equals I subscript A B BaseLine Minus I subscript C A BaseLine.&#10;">
                        <a:extLst>
                          <a:ext uri="{FF2B5EF4-FFF2-40B4-BE49-F238E27FC236}">
                            <a16:creationId xmlns:a16="http://schemas.microsoft.com/office/drawing/2014/main" id="{089AEC41-8F44-41F4-9EEE-5EB480F3F286}"/>
                          </a:ext>
                        </a:extLst>
                      </p:cNvPr>
                      <p:cNvPicPr>
                        <a:picLocks noChangeAspect="1" noChangeArrowheads="1"/>
                      </p:cNvPicPr>
                      <p:nvPr/>
                    </p:nvPicPr>
                    <p:blipFill>
                      <a:blip r:embed="rId7"/>
                      <a:srcRect/>
                      <a:stretch>
                        <a:fillRect/>
                      </a:stretch>
                    </p:blipFill>
                    <p:spPr bwMode="auto">
                      <a:xfrm>
                        <a:off x="4881809" y="5477047"/>
                        <a:ext cx="1023937"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34" descr="Equals StartRoot 3 EndRoot I subscript A B BaseLine at an angle of I subscript A B BaseLine Plus 30 degrees.&#10;">
            <a:extLst>
              <a:ext uri="{FF2B5EF4-FFF2-40B4-BE49-F238E27FC236}">
                <a16:creationId xmlns:a16="http://schemas.microsoft.com/office/drawing/2014/main" id="{85ECB7AB-C417-44CF-866F-4D0B989A4BE9}"/>
              </a:ext>
            </a:extLst>
          </p:cNvPr>
          <p:cNvGraphicFramePr>
            <a:graphicFrameLocks noChangeAspect="1"/>
          </p:cNvGraphicFramePr>
          <p:nvPr>
            <p:extLst>
              <p:ext uri="{D42A27DB-BD31-4B8C-83A1-F6EECF244321}">
                <p14:modId xmlns:p14="http://schemas.microsoft.com/office/powerpoint/2010/main" val="2374127468"/>
              </p:ext>
            </p:extLst>
          </p:nvPr>
        </p:nvGraphicFramePr>
        <p:xfrm>
          <a:off x="4889968" y="5856288"/>
          <a:ext cx="1855787" cy="381000"/>
        </p:xfrm>
        <a:graphic>
          <a:graphicData uri="http://schemas.openxmlformats.org/presentationml/2006/ole">
            <mc:AlternateContent xmlns:mc="http://schemas.openxmlformats.org/markup-compatibility/2006">
              <mc:Choice xmlns:v="urn:schemas-microsoft-com:vml" Requires="v">
                <p:oleObj name="Equation" r:id="rId12" imgW="1218960" imgH="253800" progId="Equation.DSMT4">
                  <p:embed/>
                </p:oleObj>
              </mc:Choice>
              <mc:Fallback>
                <p:oleObj name="Equation" r:id="rId12" imgW="1218960" imgH="253800" progId="Equation.DSMT4">
                  <p:embed/>
                  <p:pic>
                    <p:nvPicPr>
                      <p:cNvPr id="35" name="Object 34" descr="Equals StartRoot 3 EndRoot I subscript A B BaseLine at an angle of I subscript A B BaseLine Plus 30 degrees.&#10;">
                        <a:extLst>
                          <a:ext uri="{FF2B5EF4-FFF2-40B4-BE49-F238E27FC236}">
                            <a16:creationId xmlns:a16="http://schemas.microsoft.com/office/drawing/2014/main" id="{85ECB7AB-C417-44CF-866F-4D0B989A4BE9}"/>
                          </a:ext>
                        </a:extLst>
                      </p:cNvPr>
                      <p:cNvPicPr>
                        <a:picLocks noChangeAspect="1" noChangeArrowheads="1"/>
                      </p:cNvPicPr>
                      <p:nvPr/>
                    </p:nvPicPr>
                    <p:blipFill>
                      <a:blip r:embed="rId13"/>
                      <a:srcRect/>
                      <a:stretch>
                        <a:fillRect/>
                      </a:stretch>
                    </p:blipFill>
                    <p:spPr bwMode="auto">
                      <a:xfrm>
                        <a:off x="4889968" y="5856288"/>
                        <a:ext cx="1855787"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6" name="Picture 35" descr="The phasor diagram for the abc sequence shows three phasors representing line currents, drawn as follows: I sub lowercase b upper case B pointing diagonally left upward, I sub lower case a upper case A pointing diagonally right upward, and I sub lower case c upper case C pointing downward. Three phasors representing phase currents are drawn at 30 degree angles to each of the line current phasors, as follows: I sub upper case AB below I sub lower case a upper case A, I sub upper case C upper case A to the left of I sub lower case c upper case C, and I sub upper case B upper case C to the right of I sub lower case b upper case B.">
            <a:extLst>
              <a:ext uri="{FF2B5EF4-FFF2-40B4-BE49-F238E27FC236}">
                <a16:creationId xmlns:a16="http://schemas.microsoft.com/office/drawing/2014/main" id="{9BE6926D-BB1A-47EE-8F09-7E8341033A6A}"/>
              </a:ext>
            </a:extLst>
          </p:cNvPr>
          <p:cNvPicPr>
            <a:picLocks noChangeAspect="1"/>
          </p:cNvPicPr>
          <p:nvPr/>
        </p:nvPicPr>
        <p:blipFill rotWithShape="1">
          <a:blip r:embed="rId10"/>
          <a:srcRect t="49546" b="5169"/>
          <a:stretch/>
        </p:blipFill>
        <p:spPr>
          <a:xfrm>
            <a:off x="6763545" y="4556387"/>
            <a:ext cx="1950636" cy="1861022"/>
          </a:xfrm>
          <a:prstGeom prst="rect">
            <a:avLst/>
          </a:prstGeom>
        </p:spPr>
      </p:pic>
      <p:sp>
        <p:nvSpPr>
          <p:cNvPr id="3" name="Content Placeholder 44">
            <a:extLst>
              <a:ext uri="{FF2B5EF4-FFF2-40B4-BE49-F238E27FC236}">
                <a16:creationId xmlns:a16="http://schemas.microsoft.com/office/drawing/2014/main" id="{0B78C607-633F-3949-C3B1-8856EFA65703}"/>
              </a:ext>
            </a:extLst>
          </p:cNvPr>
          <p:cNvSpPr txBox="1">
            <a:spLocks/>
          </p:cNvSpPr>
          <p:nvPr/>
        </p:nvSpPr>
        <p:spPr bwMode="auto">
          <a:xfrm>
            <a:off x="5101101" y="737236"/>
            <a:ext cx="3791744" cy="2252343"/>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spcBef>
                <a:spcPts val="600"/>
              </a:spcBef>
            </a:pPr>
            <a:r>
              <a:rPr lang="en-US" altLang="en-US" sz="2400" dirty="0"/>
              <a:t>For the Y-</a:t>
            </a:r>
            <a:r>
              <a:rPr lang="en-US" sz="2400" dirty="0">
                <a:latin typeface="Symbol" panose="05050102010706020507" pitchFamily="18" charset="2"/>
              </a:rPr>
              <a:t>D</a:t>
            </a:r>
            <a:r>
              <a:rPr lang="en-US" altLang="en-US" sz="2400" dirty="0"/>
              <a:t> connection, we can use vector arithmetic to show that there is a relationship between the line currents and the phase currents.</a:t>
            </a:r>
            <a:endParaRPr lang="en-US" sz="2400" kern="0" dirty="0"/>
          </a:p>
        </p:txBody>
      </p:sp>
    </p:spTree>
    <p:extLst>
      <p:ext uri="{BB962C8B-B14F-4D97-AF65-F5344CB8AC3E}">
        <p14:creationId xmlns:p14="http://schemas.microsoft.com/office/powerpoint/2010/main" val="3226926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469572" y="0"/>
            <a:ext cx="6340072" cy="922010"/>
          </a:xfrm>
        </p:spPr>
        <p:txBody>
          <a:bodyPr/>
          <a:lstStyle/>
          <a:p>
            <a:r>
              <a:rPr lang="en-US" sz="2800" dirty="0"/>
              <a:t>Review of Wye-to-Delta and </a:t>
            </a:r>
            <a:br>
              <a:rPr lang="en-US" sz="2800" dirty="0"/>
            </a:br>
            <a:r>
              <a:rPr lang="en-US" sz="2800" dirty="0"/>
              <a:t>Delta-to-Wye Transformations</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8995B099-3C47-4CE3-818C-83A86E4185BA}"/>
              </a:ext>
            </a:extLst>
          </p:cNvPr>
          <p:cNvSpPr txBox="1"/>
          <p:nvPr/>
        </p:nvSpPr>
        <p:spPr>
          <a:xfrm>
            <a:off x="736187" y="940466"/>
            <a:ext cx="5461826" cy="1938992"/>
          </a:xfrm>
          <a:prstGeom prst="rect">
            <a:avLst/>
          </a:prstGeom>
          <a:noFill/>
        </p:spPr>
        <p:txBody>
          <a:bodyPr wrap="square" rtlCol="0">
            <a:spAutoFit/>
          </a:bodyPr>
          <a:lstStyle/>
          <a:p>
            <a:r>
              <a:rPr lang="en-US" dirty="0">
                <a:latin typeface="+mn-lt"/>
              </a:rPr>
              <a:t>We review here the equations for transforming from Y-configuration to the </a:t>
            </a:r>
            <a:r>
              <a:rPr lang="en-US" dirty="0">
                <a:latin typeface="Symbol" panose="05050102010706020507" pitchFamily="18" charset="2"/>
              </a:rPr>
              <a:t>D</a:t>
            </a:r>
            <a:r>
              <a:rPr lang="en-US" dirty="0">
                <a:latin typeface="+mn-lt"/>
              </a:rPr>
              <a:t>-configuration and the reverse.  You should have seen these in a previous course.    </a:t>
            </a:r>
          </a:p>
        </p:txBody>
      </p:sp>
      <p:graphicFrame>
        <p:nvGraphicFramePr>
          <p:cNvPr id="10" name="Object 4">
            <a:extLst>
              <a:ext uri="{FF2B5EF4-FFF2-40B4-BE49-F238E27FC236}">
                <a16:creationId xmlns:a16="http://schemas.microsoft.com/office/drawing/2014/main" id="{55FD37F7-08EE-48A7-89D1-74C8CE3F6F65}"/>
              </a:ext>
            </a:extLst>
          </p:cNvPr>
          <p:cNvGraphicFramePr>
            <a:graphicFrameLocks noChangeAspect="1"/>
          </p:cNvGraphicFramePr>
          <p:nvPr>
            <p:extLst>
              <p:ext uri="{D42A27DB-BD31-4B8C-83A1-F6EECF244321}">
                <p14:modId xmlns:p14="http://schemas.microsoft.com/office/powerpoint/2010/main" val="2053638952"/>
              </p:ext>
            </p:extLst>
          </p:nvPr>
        </p:nvGraphicFramePr>
        <p:xfrm>
          <a:off x="152400" y="3429000"/>
          <a:ext cx="6400800" cy="3094038"/>
        </p:xfrm>
        <a:graphic>
          <a:graphicData uri="http://schemas.openxmlformats.org/presentationml/2006/ole">
            <mc:AlternateContent xmlns:mc="http://schemas.openxmlformats.org/markup-compatibility/2006">
              <mc:Choice xmlns:v="urn:schemas-microsoft-com:vml" Requires="v">
                <p:oleObj name="VISIO" r:id="rId5" imgW="9546120" imgH="4615920" progId="Visio.Drawing.6">
                  <p:embed/>
                </p:oleObj>
              </mc:Choice>
              <mc:Fallback>
                <p:oleObj name="VISIO" r:id="rId5" imgW="9546120" imgH="4615920" progId="Visio.Drawing.6">
                  <p:embed/>
                  <p:pic>
                    <p:nvPicPr>
                      <p:cNvPr id="10" name="Object 4">
                        <a:extLst>
                          <a:ext uri="{FF2B5EF4-FFF2-40B4-BE49-F238E27FC236}">
                            <a16:creationId xmlns:a16="http://schemas.microsoft.com/office/drawing/2014/main" id="{55FD37F7-08EE-48A7-89D1-74C8CE3F6F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3429000"/>
                        <a:ext cx="6400800" cy="3094038"/>
                      </a:xfrm>
                      <a:prstGeom prst="rect">
                        <a:avLst/>
                      </a:prstGeom>
                      <a:solidFill>
                        <a:schemeClr val="accent1"/>
                      </a:solidFill>
                      <a:ln>
                        <a:noFill/>
                      </a:ln>
                      <a:effectLst/>
                    </p:spPr>
                  </p:pic>
                </p:oleObj>
              </mc:Fallback>
            </mc:AlternateContent>
          </a:graphicData>
        </a:graphic>
      </p:graphicFrame>
      <p:graphicFrame>
        <p:nvGraphicFramePr>
          <p:cNvPr id="11" name="Object 5">
            <a:extLst>
              <a:ext uri="{FF2B5EF4-FFF2-40B4-BE49-F238E27FC236}">
                <a16:creationId xmlns:a16="http://schemas.microsoft.com/office/drawing/2014/main" id="{BB51A06F-9F92-4314-83AD-A6A04C39D1BA}"/>
              </a:ext>
            </a:extLst>
          </p:cNvPr>
          <p:cNvGraphicFramePr>
            <a:graphicFrameLocks noChangeAspect="1"/>
          </p:cNvGraphicFramePr>
          <p:nvPr>
            <p:extLst>
              <p:ext uri="{D42A27DB-BD31-4B8C-83A1-F6EECF244321}">
                <p14:modId xmlns:p14="http://schemas.microsoft.com/office/powerpoint/2010/main" val="1592985498"/>
              </p:ext>
            </p:extLst>
          </p:nvPr>
        </p:nvGraphicFramePr>
        <p:xfrm>
          <a:off x="6553200" y="4090797"/>
          <a:ext cx="2536039" cy="2198360"/>
        </p:xfrm>
        <a:graphic>
          <a:graphicData uri="http://schemas.openxmlformats.org/presentationml/2006/ole">
            <mc:AlternateContent xmlns:mc="http://schemas.openxmlformats.org/markup-compatibility/2006">
              <mc:Choice xmlns:v="urn:schemas-microsoft-com:vml" Requires="v">
                <p:oleObj name="Equation" r:id="rId7" imgW="1523880" imgH="1320480" progId="Equation.DSMT4">
                  <p:embed/>
                </p:oleObj>
              </mc:Choice>
              <mc:Fallback>
                <p:oleObj name="Equation" r:id="rId7" imgW="1523880" imgH="1320480" progId="Equation.DSMT4">
                  <p:embed/>
                  <p:pic>
                    <p:nvPicPr>
                      <p:cNvPr id="11" name="Object 5">
                        <a:extLst>
                          <a:ext uri="{FF2B5EF4-FFF2-40B4-BE49-F238E27FC236}">
                            <a16:creationId xmlns:a16="http://schemas.microsoft.com/office/drawing/2014/main" id="{BB51A06F-9F92-4314-83AD-A6A04C39D1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4090797"/>
                        <a:ext cx="2536039" cy="2198360"/>
                      </a:xfrm>
                      <a:prstGeom prst="rect">
                        <a:avLst/>
                      </a:prstGeom>
                      <a:solidFill>
                        <a:schemeClr val="accent1"/>
                      </a:solidFill>
                      <a:ln w="12700">
                        <a:solidFill>
                          <a:srgbClr val="000000"/>
                        </a:solidFill>
                        <a:miter lim="800000"/>
                        <a:headEnd/>
                        <a:tailEnd/>
                      </a:ln>
                      <a:effectLst/>
                    </p:spPr>
                  </p:pic>
                </p:oleObj>
              </mc:Fallback>
            </mc:AlternateContent>
          </a:graphicData>
        </a:graphic>
      </p:graphicFrame>
      <p:graphicFrame>
        <p:nvGraphicFramePr>
          <p:cNvPr id="13" name="Object 6">
            <a:extLst>
              <a:ext uri="{FF2B5EF4-FFF2-40B4-BE49-F238E27FC236}">
                <a16:creationId xmlns:a16="http://schemas.microsoft.com/office/drawing/2014/main" id="{34161188-E7BB-4399-B7E3-67333D523818}"/>
              </a:ext>
            </a:extLst>
          </p:cNvPr>
          <p:cNvGraphicFramePr>
            <a:graphicFrameLocks noChangeAspect="1"/>
          </p:cNvGraphicFramePr>
          <p:nvPr>
            <p:extLst>
              <p:ext uri="{D42A27DB-BD31-4B8C-83A1-F6EECF244321}">
                <p14:modId xmlns:p14="http://schemas.microsoft.com/office/powerpoint/2010/main" val="3055032982"/>
              </p:ext>
            </p:extLst>
          </p:nvPr>
        </p:nvGraphicFramePr>
        <p:xfrm>
          <a:off x="6878345" y="1431407"/>
          <a:ext cx="1955021" cy="2254762"/>
        </p:xfrm>
        <a:graphic>
          <a:graphicData uri="http://schemas.openxmlformats.org/presentationml/2006/ole">
            <mc:AlternateContent xmlns:mc="http://schemas.openxmlformats.org/markup-compatibility/2006">
              <mc:Choice xmlns:v="urn:schemas-microsoft-com:vml" Requires="v">
                <p:oleObj name="Equation" r:id="rId9" imgW="1155600" imgH="1333440" progId="Equation.DSMT4">
                  <p:embed/>
                </p:oleObj>
              </mc:Choice>
              <mc:Fallback>
                <p:oleObj name="Equation" r:id="rId9" imgW="1155600" imgH="1333440" progId="Equation.DSMT4">
                  <p:embed/>
                  <p:pic>
                    <p:nvPicPr>
                      <p:cNvPr id="13" name="Object 6">
                        <a:extLst>
                          <a:ext uri="{FF2B5EF4-FFF2-40B4-BE49-F238E27FC236}">
                            <a16:creationId xmlns:a16="http://schemas.microsoft.com/office/drawing/2014/main" id="{34161188-E7BB-4399-B7E3-67333D5238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78345" y="1431407"/>
                        <a:ext cx="1955021" cy="2254762"/>
                      </a:xfrm>
                      <a:prstGeom prst="rect">
                        <a:avLst/>
                      </a:prstGeom>
                      <a:solidFill>
                        <a:schemeClr val="accent1"/>
                      </a:solidFill>
                      <a:ln w="12700">
                        <a:solidFill>
                          <a:srgbClr val="000000"/>
                        </a:solidFill>
                        <a:miter lim="800000"/>
                        <a:headEnd/>
                        <a:tailEnd/>
                      </a:ln>
                      <a:effectLst/>
                    </p:spPr>
                  </p:pic>
                </p:oleObj>
              </mc:Fallback>
            </mc:AlternateContent>
          </a:graphicData>
        </a:graphic>
      </p:graphicFrame>
    </p:spTree>
    <p:extLst>
      <p:ext uri="{BB962C8B-B14F-4D97-AF65-F5344CB8AC3E}">
        <p14:creationId xmlns:p14="http://schemas.microsoft.com/office/powerpoint/2010/main" val="42444948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469572" y="0"/>
            <a:ext cx="6340072" cy="922010"/>
          </a:xfrm>
        </p:spPr>
        <p:txBody>
          <a:bodyPr/>
          <a:lstStyle/>
          <a:p>
            <a:r>
              <a:rPr lang="en-US" sz="2800" dirty="0"/>
              <a:t>Wye-to-Delta and Delta-to-Wye Transformations for Balanced Loads</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8995B099-3C47-4CE3-818C-83A86E4185BA}"/>
              </a:ext>
            </a:extLst>
          </p:cNvPr>
          <p:cNvSpPr txBox="1"/>
          <p:nvPr/>
        </p:nvSpPr>
        <p:spPr>
          <a:xfrm>
            <a:off x="736187" y="940466"/>
            <a:ext cx="5461826" cy="830997"/>
          </a:xfrm>
          <a:prstGeom prst="rect">
            <a:avLst/>
          </a:prstGeom>
          <a:noFill/>
        </p:spPr>
        <p:txBody>
          <a:bodyPr wrap="square" rtlCol="0">
            <a:spAutoFit/>
          </a:bodyPr>
          <a:lstStyle/>
          <a:p>
            <a:r>
              <a:rPr lang="en-US" dirty="0">
                <a:latin typeface="+mn-lt"/>
              </a:rPr>
              <a:t>To match the textbook, we will convert to the phasor domain.  </a:t>
            </a:r>
          </a:p>
        </p:txBody>
      </p:sp>
      <p:graphicFrame>
        <p:nvGraphicFramePr>
          <p:cNvPr id="11" name="Object 5">
            <a:extLst>
              <a:ext uri="{FF2B5EF4-FFF2-40B4-BE49-F238E27FC236}">
                <a16:creationId xmlns:a16="http://schemas.microsoft.com/office/drawing/2014/main" id="{BB51A06F-9F92-4314-83AD-A6A04C39D1BA}"/>
              </a:ext>
            </a:extLst>
          </p:cNvPr>
          <p:cNvGraphicFramePr>
            <a:graphicFrameLocks noChangeAspect="1"/>
          </p:cNvGraphicFramePr>
          <p:nvPr>
            <p:extLst>
              <p:ext uri="{D42A27DB-BD31-4B8C-83A1-F6EECF244321}">
                <p14:modId xmlns:p14="http://schemas.microsoft.com/office/powerpoint/2010/main" val="1484274757"/>
              </p:ext>
            </p:extLst>
          </p:nvPr>
        </p:nvGraphicFramePr>
        <p:xfrm>
          <a:off x="4375150" y="3294062"/>
          <a:ext cx="2559050" cy="2219325"/>
        </p:xfrm>
        <a:graphic>
          <a:graphicData uri="http://schemas.openxmlformats.org/presentationml/2006/ole">
            <mc:AlternateContent xmlns:mc="http://schemas.openxmlformats.org/markup-compatibility/2006">
              <mc:Choice xmlns:v="urn:schemas-microsoft-com:vml" Requires="v">
                <p:oleObj name="Equation" r:id="rId5" imgW="1536480" imgH="1333440" progId="Equation.DSMT4">
                  <p:embed/>
                </p:oleObj>
              </mc:Choice>
              <mc:Fallback>
                <p:oleObj name="Equation" r:id="rId5" imgW="1536480" imgH="1333440" progId="Equation.DSMT4">
                  <p:embed/>
                  <p:pic>
                    <p:nvPicPr>
                      <p:cNvPr id="11" name="Object 5">
                        <a:extLst>
                          <a:ext uri="{FF2B5EF4-FFF2-40B4-BE49-F238E27FC236}">
                            <a16:creationId xmlns:a16="http://schemas.microsoft.com/office/drawing/2014/main" id="{BB51A06F-9F92-4314-83AD-A6A04C39D1BA}"/>
                          </a:ext>
                        </a:extLst>
                      </p:cNvPr>
                      <p:cNvPicPr>
                        <a:picLocks noChangeAspect="1" noChangeArrowheads="1"/>
                      </p:cNvPicPr>
                      <p:nvPr/>
                    </p:nvPicPr>
                    <p:blipFill>
                      <a:blip r:embed="rId6"/>
                      <a:srcRect/>
                      <a:stretch>
                        <a:fillRect/>
                      </a:stretch>
                    </p:blipFill>
                    <p:spPr bwMode="auto">
                      <a:xfrm>
                        <a:off x="4375150" y="3294062"/>
                        <a:ext cx="2559050" cy="2219325"/>
                      </a:xfrm>
                      <a:prstGeom prst="rect">
                        <a:avLst/>
                      </a:prstGeom>
                      <a:solidFill>
                        <a:schemeClr val="accent1"/>
                      </a:solidFill>
                      <a:ln w="12700">
                        <a:solidFill>
                          <a:srgbClr val="000000"/>
                        </a:solidFill>
                        <a:miter lim="800000"/>
                        <a:headEnd/>
                        <a:tailEnd/>
                      </a:ln>
                      <a:effectLst/>
                    </p:spPr>
                  </p:pic>
                </p:oleObj>
              </mc:Fallback>
            </mc:AlternateContent>
          </a:graphicData>
        </a:graphic>
      </p:graphicFrame>
      <p:graphicFrame>
        <p:nvGraphicFramePr>
          <p:cNvPr id="13" name="Object 6">
            <a:extLst>
              <a:ext uri="{FF2B5EF4-FFF2-40B4-BE49-F238E27FC236}">
                <a16:creationId xmlns:a16="http://schemas.microsoft.com/office/drawing/2014/main" id="{34161188-E7BB-4399-B7E3-67333D523818}"/>
              </a:ext>
            </a:extLst>
          </p:cNvPr>
          <p:cNvGraphicFramePr>
            <a:graphicFrameLocks noChangeAspect="1"/>
          </p:cNvGraphicFramePr>
          <p:nvPr>
            <p:extLst>
              <p:ext uri="{D42A27DB-BD31-4B8C-83A1-F6EECF244321}">
                <p14:modId xmlns:p14="http://schemas.microsoft.com/office/powerpoint/2010/main" val="849903039"/>
              </p:ext>
            </p:extLst>
          </p:nvPr>
        </p:nvGraphicFramePr>
        <p:xfrm>
          <a:off x="994858" y="3276600"/>
          <a:ext cx="1974850" cy="2254250"/>
        </p:xfrm>
        <a:graphic>
          <a:graphicData uri="http://schemas.openxmlformats.org/presentationml/2006/ole">
            <mc:AlternateContent xmlns:mc="http://schemas.openxmlformats.org/markup-compatibility/2006">
              <mc:Choice xmlns:v="urn:schemas-microsoft-com:vml" Requires="v">
                <p:oleObj name="Equation" r:id="rId7" imgW="1168200" imgH="1333440" progId="Equation.DSMT4">
                  <p:embed/>
                </p:oleObj>
              </mc:Choice>
              <mc:Fallback>
                <p:oleObj name="Equation" r:id="rId7" imgW="1168200" imgH="1333440" progId="Equation.DSMT4">
                  <p:embed/>
                  <p:pic>
                    <p:nvPicPr>
                      <p:cNvPr id="13" name="Object 6">
                        <a:extLst>
                          <a:ext uri="{FF2B5EF4-FFF2-40B4-BE49-F238E27FC236}">
                            <a16:creationId xmlns:a16="http://schemas.microsoft.com/office/drawing/2014/main" id="{34161188-E7BB-4399-B7E3-67333D523818}"/>
                          </a:ext>
                        </a:extLst>
                      </p:cNvPr>
                      <p:cNvPicPr>
                        <a:picLocks noChangeAspect="1" noChangeArrowheads="1"/>
                      </p:cNvPicPr>
                      <p:nvPr/>
                    </p:nvPicPr>
                    <p:blipFill>
                      <a:blip r:embed="rId8"/>
                      <a:srcRect/>
                      <a:stretch>
                        <a:fillRect/>
                      </a:stretch>
                    </p:blipFill>
                    <p:spPr bwMode="auto">
                      <a:xfrm>
                        <a:off x="994858" y="3276600"/>
                        <a:ext cx="1974850" cy="2254250"/>
                      </a:xfrm>
                      <a:prstGeom prst="rect">
                        <a:avLst/>
                      </a:prstGeom>
                      <a:solidFill>
                        <a:schemeClr val="accent1"/>
                      </a:solidFill>
                      <a:ln w="12700">
                        <a:solidFill>
                          <a:srgbClr val="000000"/>
                        </a:solidFill>
                        <a:miter lim="800000"/>
                        <a:headEnd/>
                        <a:tailEnd/>
                      </a:ln>
                      <a:effectLst/>
                    </p:spPr>
                  </p:pic>
                </p:oleObj>
              </mc:Fallback>
            </mc:AlternateContent>
          </a:graphicData>
        </a:graphic>
      </p:graphicFrame>
    </p:spTree>
    <p:extLst>
      <p:ext uri="{BB962C8B-B14F-4D97-AF65-F5344CB8AC3E}">
        <p14:creationId xmlns:p14="http://schemas.microsoft.com/office/powerpoint/2010/main" val="8343475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2469572" y="0"/>
            <a:ext cx="6340072" cy="922010"/>
          </a:xfrm>
        </p:spPr>
        <p:txBody>
          <a:bodyPr/>
          <a:lstStyle/>
          <a:p>
            <a:r>
              <a:rPr lang="en-US" sz="2800" dirty="0"/>
              <a:t>Wye-to-Delta and Delta-to-Wye Transformations for Balanced Loads</a:t>
            </a:r>
          </a:p>
        </p:txBody>
      </p:sp>
      <p:graphicFrame>
        <p:nvGraphicFramePr>
          <p:cNvPr id="1119237" name="Object 5"/>
          <p:cNvGraphicFramePr>
            <a:graphicFrameLocks noChangeAspect="1"/>
          </p:cNvGraphicFramePr>
          <p:nvPr/>
        </p:nvGraphicFramePr>
        <p:xfrm>
          <a:off x="991394" y="2214563"/>
          <a:ext cx="3046412" cy="466725"/>
        </p:xfrm>
        <a:graphic>
          <a:graphicData uri="http://schemas.openxmlformats.org/presentationml/2006/ole">
            <mc:AlternateContent xmlns:mc="http://schemas.openxmlformats.org/markup-compatibility/2006">
              <mc:Choice xmlns:v="urn:schemas-microsoft-com:vml" Requires="v">
                <p:oleObj name="Equation" r:id="rId3" imgW="1574640" imgH="241200" progId="Equation.DSMT4">
                  <p:embed/>
                </p:oleObj>
              </mc:Choice>
              <mc:Fallback>
                <p:oleObj name="Equation" r:id="rId3" imgW="1574640" imgH="241200" progId="Equation.DSMT4">
                  <p:embed/>
                  <p:pic>
                    <p:nvPicPr>
                      <p:cNvPr id="1119237" name="Object 5"/>
                      <p:cNvPicPr>
                        <a:picLocks noChangeAspect="1" noChangeArrowheads="1"/>
                      </p:cNvPicPr>
                      <p:nvPr/>
                    </p:nvPicPr>
                    <p:blipFill>
                      <a:blip r:embed="rId4"/>
                      <a:srcRect/>
                      <a:stretch>
                        <a:fillRect/>
                      </a:stretch>
                    </p:blipFill>
                    <p:spPr bwMode="auto">
                      <a:xfrm>
                        <a:off x="991394" y="2214563"/>
                        <a:ext cx="304641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37AB130B-F2E9-4BC0-926D-49BDC1ECF188}"/>
              </a:ext>
            </a:extLst>
          </p:cNvPr>
          <p:cNvSpPr>
            <a:spLocks noChangeAspect="1" noChangeArrowheads="1"/>
          </p:cNvSpPr>
          <p:nvPr/>
        </p:nvSpPr>
        <p:spPr bwMode="auto">
          <a:xfrm>
            <a:off x="5774504" y="35814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8995B099-3C47-4CE3-818C-83A86E4185BA}"/>
              </a:ext>
            </a:extLst>
          </p:cNvPr>
          <p:cNvSpPr txBox="1"/>
          <p:nvPr/>
        </p:nvSpPr>
        <p:spPr>
          <a:xfrm>
            <a:off x="736186" y="940466"/>
            <a:ext cx="6731413" cy="1569660"/>
          </a:xfrm>
          <a:prstGeom prst="rect">
            <a:avLst/>
          </a:prstGeom>
          <a:noFill/>
        </p:spPr>
        <p:txBody>
          <a:bodyPr wrap="square" rtlCol="0">
            <a:spAutoFit/>
          </a:bodyPr>
          <a:lstStyle/>
          <a:p>
            <a:r>
              <a:rPr lang="en-US" dirty="0">
                <a:latin typeface="+mn-lt"/>
              </a:rPr>
              <a:t>For balanced loads the three impedances will be equal for each configuration.  This means that </a:t>
            </a:r>
            <a:r>
              <a:rPr lang="en-US" i="1" dirty="0">
                <a:latin typeface="+mn-lt"/>
              </a:rPr>
              <a:t>Z</a:t>
            </a:r>
            <a:r>
              <a:rPr lang="en-US" i="1" baseline="-25000" dirty="0">
                <a:latin typeface="+mn-lt"/>
              </a:rPr>
              <a:t>1</a:t>
            </a:r>
            <a:r>
              <a:rPr lang="en-US" i="1" dirty="0">
                <a:latin typeface="+mn-lt"/>
              </a:rPr>
              <a:t> = Z</a:t>
            </a:r>
            <a:r>
              <a:rPr lang="en-US" i="1" baseline="-25000" dirty="0">
                <a:latin typeface="+mn-lt"/>
              </a:rPr>
              <a:t>2</a:t>
            </a:r>
            <a:r>
              <a:rPr lang="en-US" i="1" dirty="0">
                <a:latin typeface="+mn-lt"/>
              </a:rPr>
              <a:t> = Z</a:t>
            </a:r>
            <a:r>
              <a:rPr lang="en-US" i="1" baseline="-25000" dirty="0">
                <a:latin typeface="+mn-lt"/>
              </a:rPr>
              <a:t>3</a:t>
            </a:r>
            <a:r>
              <a:rPr lang="en-US" i="1" dirty="0">
                <a:latin typeface="+mn-lt"/>
              </a:rPr>
              <a:t> = Z</a:t>
            </a:r>
            <a:r>
              <a:rPr lang="en-US" i="1" baseline="-25000" dirty="0">
                <a:latin typeface="+mn-lt"/>
              </a:rPr>
              <a:t>Y</a:t>
            </a:r>
            <a:r>
              <a:rPr lang="en-US" dirty="0">
                <a:latin typeface="+mn-lt"/>
              </a:rPr>
              <a:t>, and </a:t>
            </a:r>
            <a:r>
              <a:rPr lang="en-US" i="1" dirty="0">
                <a:latin typeface="+mn-lt"/>
              </a:rPr>
              <a:t>Z</a:t>
            </a:r>
            <a:r>
              <a:rPr lang="en-US" i="1" baseline="-25000" dirty="0">
                <a:latin typeface="+mn-lt"/>
              </a:rPr>
              <a:t>A</a:t>
            </a:r>
            <a:r>
              <a:rPr lang="en-US" i="1" dirty="0">
                <a:latin typeface="+mn-lt"/>
              </a:rPr>
              <a:t> = Z</a:t>
            </a:r>
            <a:r>
              <a:rPr lang="en-US" i="1" baseline="-25000" dirty="0">
                <a:latin typeface="+mn-lt"/>
              </a:rPr>
              <a:t>B</a:t>
            </a:r>
            <a:r>
              <a:rPr lang="en-US" i="1" dirty="0">
                <a:latin typeface="+mn-lt"/>
              </a:rPr>
              <a:t> = Z</a:t>
            </a:r>
            <a:r>
              <a:rPr lang="en-US" i="1" baseline="-25000" dirty="0">
                <a:latin typeface="+mn-lt"/>
              </a:rPr>
              <a:t>C</a:t>
            </a:r>
            <a:r>
              <a:rPr lang="en-US" i="1" dirty="0">
                <a:latin typeface="+mn-lt"/>
              </a:rPr>
              <a:t> = Z</a:t>
            </a:r>
            <a:r>
              <a:rPr lang="en-US" sz="2400" baseline="-25000" dirty="0">
                <a:latin typeface="Symbol" panose="05050102010706020507" pitchFamily="18" charset="2"/>
              </a:rPr>
              <a:t>D</a:t>
            </a:r>
            <a:r>
              <a:rPr lang="en-US" dirty="0">
                <a:latin typeface="+mn-lt"/>
              </a:rPr>
              <a:t> .  We then have the following.  </a:t>
            </a:r>
          </a:p>
        </p:txBody>
      </p:sp>
      <p:graphicFrame>
        <p:nvGraphicFramePr>
          <p:cNvPr id="11" name="Object 5">
            <a:extLst>
              <a:ext uri="{FF2B5EF4-FFF2-40B4-BE49-F238E27FC236}">
                <a16:creationId xmlns:a16="http://schemas.microsoft.com/office/drawing/2014/main" id="{BB51A06F-9F92-4314-83AD-A6A04C39D1BA}"/>
              </a:ext>
            </a:extLst>
          </p:cNvPr>
          <p:cNvGraphicFramePr>
            <a:graphicFrameLocks noChangeAspect="1"/>
          </p:cNvGraphicFramePr>
          <p:nvPr>
            <p:extLst>
              <p:ext uri="{D42A27DB-BD31-4B8C-83A1-F6EECF244321}">
                <p14:modId xmlns:p14="http://schemas.microsoft.com/office/powerpoint/2010/main" val="1029811928"/>
              </p:ext>
            </p:extLst>
          </p:nvPr>
        </p:nvGraphicFramePr>
        <p:xfrm>
          <a:off x="673100" y="5152648"/>
          <a:ext cx="4493940" cy="943352"/>
        </p:xfrm>
        <a:graphic>
          <a:graphicData uri="http://schemas.openxmlformats.org/presentationml/2006/ole">
            <mc:AlternateContent xmlns:mc="http://schemas.openxmlformats.org/markup-compatibility/2006">
              <mc:Choice xmlns:v="urn:schemas-microsoft-com:vml" Requires="v">
                <p:oleObj name="Equation" r:id="rId5" imgW="2057400" imgH="431640" progId="Equation.DSMT4">
                  <p:embed/>
                </p:oleObj>
              </mc:Choice>
              <mc:Fallback>
                <p:oleObj name="Equation" r:id="rId5" imgW="2057400" imgH="431640" progId="Equation.DSMT4">
                  <p:embed/>
                  <p:pic>
                    <p:nvPicPr>
                      <p:cNvPr id="11" name="Object 5">
                        <a:extLst>
                          <a:ext uri="{FF2B5EF4-FFF2-40B4-BE49-F238E27FC236}">
                            <a16:creationId xmlns:a16="http://schemas.microsoft.com/office/drawing/2014/main" id="{BB51A06F-9F92-4314-83AD-A6A04C39D1BA}"/>
                          </a:ext>
                        </a:extLst>
                      </p:cNvPr>
                      <p:cNvPicPr>
                        <a:picLocks noChangeAspect="1" noChangeArrowheads="1"/>
                      </p:cNvPicPr>
                      <p:nvPr/>
                    </p:nvPicPr>
                    <p:blipFill>
                      <a:blip r:embed="rId6"/>
                      <a:srcRect/>
                      <a:stretch>
                        <a:fillRect/>
                      </a:stretch>
                    </p:blipFill>
                    <p:spPr bwMode="auto">
                      <a:xfrm>
                        <a:off x="673100" y="5152648"/>
                        <a:ext cx="4493940" cy="943352"/>
                      </a:xfrm>
                      <a:prstGeom prst="rect">
                        <a:avLst/>
                      </a:prstGeom>
                      <a:solidFill>
                        <a:schemeClr val="accent1"/>
                      </a:solidFill>
                      <a:ln w="12700">
                        <a:solidFill>
                          <a:srgbClr val="000000"/>
                        </a:solidFill>
                        <a:miter lim="800000"/>
                        <a:headEnd/>
                        <a:tailEnd/>
                      </a:ln>
                      <a:effectLst/>
                    </p:spPr>
                  </p:pic>
                </p:oleObj>
              </mc:Fallback>
            </mc:AlternateContent>
          </a:graphicData>
        </a:graphic>
      </p:graphicFrame>
      <p:graphicFrame>
        <p:nvGraphicFramePr>
          <p:cNvPr id="13" name="Object 6">
            <a:extLst>
              <a:ext uri="{FF2B5EF4-FFF2-40B4-BE49-F238E27FC236}">
                <a16:creationId xmlns:a16="http://schemas.microsoft.com/office/drawing/2014/main" id="{34161188-E7BB-4399-B7E3-67333D523818}"/>
              </a:ext>
            </a:extLst>
          </p:cNvPr>
          <p:cNvGraphicFramePr>
            <a:graphicFrameLocks noChangeAspect="1"/>
          </p:cNvGraphicFramePr>
          <p:nvPr>
            <p:extLst>
              <p:ext uri="{D42A27DB-BD31-4B8C-83A1-F6EECF244321}">
                <p14:modId xmlns:p14="http://schemas.microsoft.com/office/powerpoint/2010/main" val="678776689"/>
              </p:ext>
            </p:extLst>
          </p:nvPr>
        </p:nvGraphicFramePr>
        <p:xfrm>
          <a:off x="673100" y="3784223"/>
          <a:ext cx="3531814" cy="984627"/>
        </p:xfrm>
        <a:graphic>
          <a:graphicData uri="http://schemas.openxmlformats.org/presentationml/2006/ole">
            <mc:AlternateContent xmlns:mc="http://schemas.openxmlformats.org/markup-compatibility/2006">
              <mc:Choice xmlns:v="urn:schemas-microsoft-com:vml" Requires="v">
                <p:oleObj name="Equation" r:id="rId7" imgW="1549080" imgH="431640" progId="Equation.DSMT4">
                  <p:embed/>
                </p:oleObj>
              </mc:Choice>
              <mc:Fallback>
                <p:oleObj name="Equation" r:id="rId7" imgW="1549080" imgH="431640" progId="Equation.DSMT4">
                  <p:embed/>
                  <p:pic>
                    <p:nvPicPr>
                      <p:cNvPr id="13" name="Object 6">
                        <a:extLst>
                          <a:ext uri="{FF2B5EF4-FFF2-40B4-BE49-F238E27FC236}">
                            <a16:creationId xmlns:a16="http://schemas.microsoft.com/office/drawing/2014/main" id="{34161188-E7BB-4399-B7E3-67333D523818}"/>
                          </a:ext>
                        </a:extLst>
                      </p:cNvPr>
                      <p:cNvPicPr>
                        <a:picLocks noChangeAspect="1" noChangeArrowheads="1"/>
                      </p:cNvPicPr>
                      <p:nvPr/>
                    </p:nvPicPr>
                    <p:blipFill>
                      <a:blip r:embed="rId8"/>
                      <a:srcRect/>
                      <a:stretch>
                        <a:fillRect/>
                      </a:stretch>
                    </p:blipFill>
                    <p:spPr bwMode="auto">
                      <a:xfrm>
                        <a:off x="673100" y="3784223"/>
                        <a:ext cx="3531814" cy="984627"/>
                      </a:xfrm>
                      <a:prstGeom prst="rect">
                        <a:avLst/>
                      </a:prstGeom>
                      <a:solidFill>
                        <a:schemeClr val="accent1"/>
                      </a:solidFill>
                      <a:ln w="12700">
                        <a:solidFill>
                          <a:srgbClr val="000000"/>
                        </a:solidFill>
                        <a:miter lim="800000"/>
                        <a:headEnd/>
                        <a:tailEnd/>
                      </a:ln>
                      <a:effectLst/>
                    </p:spPr>
                  </p:pic>
                </p:oleObj>
              </mc:Fallback>
            </mc:AlternateContent>
          </a:graphicData>
        </a:graphic>
      </p:graphicFrame>
      <p:sp>
        <p:nvSpPr>
          <p:cNvPr id="9" name="TextBox 8">
            <a:extLst>
              <a:ext uri="{FF2B5EF4-FFF2-40B4-BE49-F238E27FC236}">
                <a16:creationId xmlns:a16="http://schemas.microsoft.com/office/drawing/2014/main" id="{349F89E6-0512-45B3-B844-EC3114109190}"/>
              </a:ext>
            </a:extLst>
          </p:cNvPr>
          <p:cNvSpPr txBox="1"/>
          <p:nvPr/>
        </p:nvSpPr>
        <p:spPr>
          <a:xfrm>
            <a:off x="6019800" y="3852680"/>
            <a:ext cx="1691872" cy="2031325"/>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This result is given as Equation 11.9 in the Nilsson and Reidel textbook, 12</a:t>
            </a:r>
            <a:r>
              <a:rPr lang="en-US" baseline="30000" dirty="0"/>
              <a:t>th</a:t>
            </a:r>
            <a:r>
              <a:rPr lang="en-US" dirty="0"/>
              <a:t>   Ed.  </a:t>
            </a:r>
          </a:p>
        </p:txBody>
      </p:sp>
    </p:spTree>
    <p:extLst>
      <p:ext uri="{BB962C8B-B14F-4D97-AF65-F5344CB8AC3E}">
        <p14:creationId xmlns:p14="http://schemas.microsoft.com/office/powerpoint/2010/main" val="100113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6">
            <a:extLst>
              <a:ext uri="{FF2B5EF4-FFF2-40B4-BE49-F238E27FC236}">
                <a16:creationId xmlns:a16="http://schemas.microsoft.com/office/drawing/2014/main" id="{BCC8C7D3-4954-48A4-904C-222887D8F806}"/>
              </a:ext>
            </a:extLst>
          </p:cNvPr>
          <p:cNvSpPr>
            <a:spLocks noChangeArrowheads="1"/>
          </p:cNvSpPr>
          <p:nvPr/>
        </p:nvSpPr>
        <p:spPr bwMode="auto">
          <a:xfrm>
            <a:off x="170656" y="1255928"/>
            <a:ext cx="8802688" cy="5448951"/>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sp>
        <p:nvSpPr>
          <p:cNvPr id="1119234" name="Rectangle 2"/>
          <p:cNvSpPr>
            <a:spLocks noGrp="1" noChangeArrowheads="1"/>
          </p:cNvSpPr>
          <p:nvPr>
            <p:ph type="title"/>
          </p:nvPr>
        </p:nvSpPr>
        <p:spPr>
          <a:xfrm>
            <a:off x="2209800" y="54806"/>
            <a:ext cx="6858000" cy="707194"/>
          </a:xfrm>
        </p:spPr>
        <p:txBody>
          <a:bodyPr/>
          <a:lstStyle/>
          <a:p>
            <a:r>
              <a:rPr lang="en-US" sz="3200" dirty="0"/>
              <a:t>Solving Three-Phase Y-</a:t>
            </a:r>
            <a:r>
              <a:rPr lang="en-US" sz="3200" dirty="0">
                <a:latin typeface="Symbol" panose="05050102010706020507" pitchFamily="18" charset="2"/>
              </a:rPr>
              <a:t>D</a:t>
            </a:r>
            <a:r>
              <a:rPr lang="en-US" sz="3200" dirty="0"/>
              <a:t> Systems</a:t>
            </a:r>
          </a:p>
        </p:txBody>
      </p:sp>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27A80E07-0EAE-46F7-904B-9DEB85A22D1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Content Placeholder 2">
            <a:extLst>
              <a:ext uri="{FF2B5EF4-FFF2-40B4-BE49-F238E27FC236}">
                <a16:creationId xmlns:a16="http://schemas.microsoft.com/office/drawing/2014/main" id="{1E3E151C-8852-4B0F-95A3-61836EFEBE17}"/>
              </a:ext>
            </a:extLst>
          </p:cNvPr>
          <p:cNvSpPr txBox="1">
            <a:spLocks/>
          </p:cNvSpPr>
          <p:nvPr/>
        </p:nvSpPr>
        <p:spPr bwMode="auto">
          <a:xfrm>
            <a:off x="432828" y="1467844"/>
            <a:ext cx="2221337" cy="344128"/>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2000"/>
              <a:t>Analyze a balanced</a:t>
            </a:r>
            <a:endParaRPr lang="en-US" sz="2000" dirty="0"/>
          </a:p>
        </p:txBody>
      </p:sp>
      <p:graphicFrame>
        <p:nvGraphicFramePr>
          <p:cNvPr id="28" name="Object 27" descr="Y Minus Delta 3 Minus Phi.&#10;">
            <a:extLst>
              <a:ext uri="{FF2B5EF4-FFF2-40B4-BE49-F238E27FC236}">
                <a16:creationId xmlns:a16="http://schemas.microsoft.com/office/drawing/2014/main" id="{ADDD0761-36DE-4A6D-8E1E-DB66C9AE611C}"/>
              </a:ext>
            </a:extLst>
          </p:cNvPr>
          <p:cNvGraphicFramePr>
            <a:graphicFrameLocks noChangeAspect="1"/>
          </p:cNvGraphicFramePr>
          <p:nvPr>
            <p:extLst>
              <p:ext uri="{D42A27DB-BD31-4B8C-83A1-F6EECF244321}">
                <p14:modId xmlns:p14="http://schemas.microsoft.com/office/powerpoint/2010/main" val="66468843"/>
              </p:ext>
            </p:extLst>
          </p:nvPr>
        </p:nvGraphicFramePr>
        <p:xfrm>
          <a:off x="2690025" y="1525102"/>
          <a:ext cx="850900" cy="304800"/>
        </p:xfrm>
        <a:graphic>
          <a:graphicData uri="http://schemas.openxmlformats.org/presentationml/2006/ole">
            <mc:AlternateContent xmlns:mc="http://schemas.openxmlformats.org/markup-compatibility/2006">
              <mc:Choice xmlns:v="urn:schemas-microsoft-com:vml" Requires="v">
                <p:oleObj name="Equation" r:id="rId3" imgW="558720" imgH="203040" progId="Equation.DSMT4">
                  <p:embed/>
                </p:oleObj>
              </mc:Choice>
              <mc:Fallback>
                <p:oleObj name="Equation" r:id="rId3" imgW="558720" imgH="203040" progId="Equation.DSMT4">
                  <p:embed/>
                  <p:pic>
                    <p:nvPicPr>
                      <p:cNvPr id="28" name="Object 27" descr="Y Minus Delta 3 Minus Phi.&#10;">
                        <a:extLst>
                          <a:ext uri="{FF2B5EF4-FFF2-40B4-BE49-F238E27FC236}">
                            <a16:creationId xmlns:a16="http://schemas.microsoft.com/office/drawing/2014/main" id="{ADDD0761-36DE-4A6D-8E1E-DB66C9AE611C}"/>
                          </a:ext>
                        </a:extLst>
                      </p:cNvPr>
                      <p:cNvPicPr>
                        <a:picLocks noChangeAspect="1" noChangeArrowheads="1"/>
                      </p:cNvPicPr>
                      <p:nvPr/>
                    </p:nvPicPr>
                    <p:blipFill>
                      <a:blip r:embed="rId4"/>
                      <a:srcRect/>
                      <a:stretch>
                        <a:fillRect/>
                      </a:stretch>
                    </p:blipFill>
                    <p:spPr bwMode="auto">
                      <a:xfrm>
                        <a:off x="2690025" y="1525102"/>
                        <a:ext cx="8509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Content Placeholder 3">
            <a:extLst>
              <a:ext uri="{FF2B5EF4-FFF2-40B4-BE49-F238E27FC236}">
                <a16:creationId xmlns:a16="http://schemas.microsoft.com/office/drawing/2014/main" id="{A3884E90-209C-4BCB-9479-091F9364FF8E}"/>
              </a:ext>
            </a:extLst>
          </p:cNvPr>
          <p:cNvSpPr txBox="1">
            <a:spLocks/>
          </p:cNvSpPr>
          <p:nvPr/>
        </p:nvSpPr>
        <p:spPr>
          <a:xfrm>
            <a:off x="3576650" y="1467844"/>
            <a:ext cx="2542684"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a:t>circuit by replacing the</a:t>
            </a:r>
            <a:endParaRPr lang="en-US" sz="2000" kern="0" dirty="0"/>
          </a:p>
        </p:txBody>
      </p:sp>
      <p:graphicFrame>
        <p:nvGraphicFramePr>
          <p:cNvPr id="30" name="Object 29" descr="delta">
            <a:extLst>
              <a:ext uri="{FF2B5EF4-FFF2-40B4-BE49-F238E27FC236}">
                <a16:creationId xmlns:a16="http://schemas.microsoft.com/office/drawing/2014/main" id="{50EF38EC-4F1D-4706-9A16-E5D41788FB50}"/>
              </a:ext>
            </a:extLst>
          </p:cNvPr>
          <p:cNvGraphicFramePr>
            <a:graphicFrameLocks noChangeAspect="1"/>
          </p:cNvGraphicFramePr>
          <p:nvPr>
            <p:extLst>
              <p:ext uri="{D42A27DB-BD31-4B8C-83A1-F6EECF244321}">
                <p14:modId xmlns:p14="http://schemas.microsoft.com/office/powerpoint/2010/main" val="3457407247"/>
              </p:ext>
            </p:extLst>
          </p:nvPr>
        </p:nvGraphicFramePr>
        <p:xfrm>
          <a:off x="6221097" y="1525102"/>
          <a:ext cx="214312" cy="247650"/>
        </p:xfrm>
        <a:graphic>
          <a:graphicData uri="http://schemas.openxmlformats.org/presentationml/2006/ole">
            <mc:AlternateContent xmlns:mc="http://schemas.openxmlformats.org/markup-compatibility/2006">
              <mc:Choice xmlns:v="urn:schemas-microsoft-com:vml" Requires="v">
                <p:oleObj name="Equation" r:id="rId5" imgW="139680" imgH="164880" progId="Equation.DSMT4">
                  <p:embed/>
                </p:oleObj>
              </mc:Choice>
              <mc:Fallback>
                <p:oleObj name="Equation" r:id="rId5" imgW="139680" imgH="164880" progId="Equation.DSMT4">
                  <p:embed/>
                  <p:pic>
                    <p:nvPicPr>
                      <p:cNvPr id="30" name="Object 29" descr="delta">
                        <a:extLst>
                          <a:ext uri="{FF2B5EF4-FFF2-40B4-BE49-F238E27FC236}">
                            <a16:creationId xmlns:a16="http://schemas.microsoft.com/office/drawing/2014/main" id="{50EF38EC-4F1D-4706-9A16-E5D41788FB50}"/>
                          </a:ext>
                        </a:extLst>
                      </p:cNvPr>
                      <p:cNvPicPr>
                        <a:picLocks noChangeAspect="1" noChangeArrowheads="1"/>
                      </p:cNvPicPr>
                      <p:nvPr/>
                    </p:nvPicPr>
                    <p:blipFill>
                      <a:blip r:embed="rId6"/>
                      <a:srcRect/>
                      <a:stretch>
                        <a:fillRect/>
                      </a:stretch>
                    </p:blipFill>
                    <p:spPr bwMode="auto">
                      <a:xfrm>
                        <a:off x="6221097" y="1525102"/>
                        <a:ext cx="214312"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Content Placeholder 4">
            <a:extLst>
              <a:ext uri="{FF2B5EF4-FFF2-40B4-BE49-F238E27FC236}">
                <a16:creationId xmlns:a16="http://schemas.microsoft.com/office/drawing/2014/main" id="{A0CD60D1-5985-4F44-BF99-28DC4353CD89}"/>
              </a:ext>
            </a:extLst>
          </p:cNvPr>
          <p:cNvSpPr txBox="1">
            <a:spLocks/>
          </p:cNvSpPr>
          <p:nvPr/>
        </p:nvSpPr>
        <p:spPr>
          <a:xfrm>
            <a:off x="6500346" y="1468946"/>
            <a:ext cx="1950317"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a:t>
            </a:r>
            <a:r>
              <a:rPr lang="en-US" altLang="en-US" sz="2000" kern="0"/>
              <a:t>connected load</a:t>
            </a:r>
            <a:endParaRPr lang="en-US" sz="2000" kern="0" dirty="0"/>
          </a:p>
        </p:txBody>
      </p:sp>
      <p:sp>
        <p:nvSpPr>
          <p:cNvPr id="32" name="Content Placeholder 5">
            <a:extLst>
              <a:ext uri="{FF2B5EF4-FFF2-40B4-BE49-F238E27FC236}">
                <a16:creationId xmlns:a16="http://schemas.microsoft.com/office/drawing/2014/main" id="{C8FD2100-95FE-4AFD-BFEC-1B9013D7F4E4}"/>
              </a:ext>
            </a:extLst>
          </p:cNvPr>
          <p:cNvSpPr txBox="1">
            <a:spLocks/>
          </p:cNvSpPr>
          <p:nvPr/>
        </p:nvSpPr>
        <p:spPr>
          <a:xfrm>
            <a:off x="430304" y="1860552"/>
            <a:ext cx="5056096"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000" kern="0" dirty="0"/>
              <a:t>with an equivalent Y-connected load, using:</a:t>
            </a:r>
            <a:endParaRPr lang="en-US" sz="2000" kern="0" dirty="0"/>
          </a:p>
        </p:txBody>
      </p:sp>
      <p:graphicFrame>
        <p:nvGraphicFramePr>
          <p:cNvPr id="33" name="Object 32" descr="Z subscript y BaseLine equals Z subscript Delta BaseLine divided by 3.&#10;">
            <a:extLst>
              <a:ext uri="{FF2B5EF4-FFF2-40B4-BE49-F238E27FC236}">
                <a16:creationId xmlns:a16="http://schemas.microsoft.com/office/drawing/2014/main" id="{B10BCEA5-669B-4477-9754-B785EAF93EB0}"/>
              </a:ext>
            </a:extLst>
          </p:cNvPr>
          <p:cNvGraphicFramePr>
            <a:graphicFrameLocks noChangeAspect="1"/>
          </p:cNvGraphicFramePr>
          <p:nvPr>
            <p:extLst>
              <p:ext uri="{D42A27DB-BD31-4B8C-83A1-F6EECF244321}">
                <p14:modId xmlns:p14="http://schemas.microsoft.com/office/powerpoint/2010/main" val="766777517"/>
              </p:ext>
            </p:extLst>
          </p:nvPr>
        </p:nvGraphicFramePr>
        <p:xfrm>
          <a:off x="3765550" y="2308225"/>
          <a:ext cx="1606550" cy="342900"/>
        </p:xfrm>
        <a:graphic>
          <a:graphicData uri="http://schemas.openxmlformats.org/presentationml/2006/ole">
            <mc:AlternateContent xmlns:mc="http://schemas.openxmlformats.org/markup-compatibility/2006">
              <mc:Choice xmlns:v="urn:schemas-microsoft-com:vml" Requires="v">
                <p:oleObj name="Equation" r:id="rId7" imgW="1054080" imgH="228600" progId="Equation.DSMT4">
                  <p:embed/>
                </p:oleObj>
              </mc:Choice>
              <mc:Fallback>
                <p:oleObj name="Equation" r:id="rId7" imgW="1054080" imgH="228600" progId="Equation.DSMT4">
                  <p:embed/>
                  <p:pic>
                    <p:nvPicPr>
                      <p:cNvPr id="33" name="Object 32" descr="Z subscript y BaseLine equals Z subscript Delta BaseLine divided by 3.&#10;">
                        <a:extLst>
                          <a:ext uri="{FF2B5EF4-FFF2-40B4-BE49-F238E27FC236}">
                            <a16:creationId xmlns:a16="http://schemas.microsoft.com/office/drawing/2014/main" id="{B10BCEA5-669B-4477-9754-B785EAF93EB0}"/>
                          </a:ext>
                        </a:extLst>
                      </p:cNvPr>
                      <p:cNvPicPr>
                        <a:picLocks noChangeAspect="1" noChangeArrowheads="1"/>
                      </p:cNvPicPr>
                      <p:nvPr/>
                    </p:nvPicPr>
                    <p:blipFill>
                      <a:blip r:embed="rId8"/>
                      <a:srcRect/>
                      <a:stretch>
                        <a:fillRect/>
                      </a:stretch>
                    </p:blipFill>
                    <p:spPr bwMode="auto">
                      <a:xfrm>
                        <a:off x="3765550" y="2308225"/>
                        <a:ext cx="160655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Content Placeholder 6">
            <a:extLst>
              <a:ext uri="{FF2B5EF4-FFF2-40B4-BE49-F238E27FC236}">
                <a16:creationId xmlns:a16="http://schemas.microsoft.com/office/drawing/2014/main" id="{4BD48ED3-00D4-4BD5-9F89-51DAE3590E9D}"/>
              </a:ext>
            </a:extLst>
          </p:cNvPr>
          <p:cNvSpPr txBox="1">
            <a:spLocks/>
          </p:cNvSpPr>
          <p:nvPr/>
        </p:nvSpPr>
        <p:spPr>
          <a:xfrm>
            <a:off x="432828" y="2723297"/>
            <a:ext cx="5253318"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Then analyze just the a-phase, just like before!</a:t>
            </a:r>
            <a:endParaRPr lang="en-US" sz="2000" kern="0" dirty="0"/>
          </a:p>
        </p:txBody>
      </p:sp>
      <p:sp>
        <p:nvSpPr>
          <p:cNvPr id="35" name="Content Placeholder 7">
            <a:extLst>
              <a:ext uri="{FF2B5EF4-FFF2-40B4-BE49-F238E27FC236}">
                <a16:creationId xmlns:a16="http://schemas.microsoft.com/office/drawing/2014/main" id="{A4F23A75-E18A-481F-AEED-5C7ADFA5FC90}"/>
              </a:ext>
            </a:extLst>
          </p:cNvPr>
          <p:cNvSpPr txBox="1">
            <a:spLocks/>
          </p:cNvSpPr>
          <p:nvPr/>
        </p:nvSpPr>
        <p:spPr>
          <a:xfrm>
            <a:off x="432827" y="3163487"/>
            <a:ext cx="3896271"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From the a-phase circuit, calculate</a:t>
            </a:r>
            <a:endParaRPr lang="en-US" sz="2000" kern="0" dirty="0"/>
          </a:p>
        </p:txBody>
      </p:sp>
      <p:sp>
        <p:nvSpPr>
          <p:cNvPr id="36" name="Content Placeholder 8">
            <a:extLst>
              <a:ext uri="{FF2B5EF4-FFF2-40B4-BE49-F238E27FC236}">
                <a16:creationId xmlns:a16="http://schemas.microsoft.com/office/drawing/2014/main" id="{08A10CBC-9AAA-4ADF-8109-40F65EF95D2B}"/>
              </a:ext>
            </a:extLst>
          </p:cNvPr>
          <p:cNvSpPr txBox="1">
            <a:spLocks/>
          </p:cNvSpPr>
          <p:nvPr/>
        </p:nvSpPr>
        <p:spPr>
          <a:xfrm>
            <a:off x="430305" y="3586042"/>
            <a:ext cx="1603803"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sz="2000" kern="0"/>
              <a:t>line current</a:t>
            </a:r>
            <a:endParaRPr lang="en-US" sz="2000" kern="0" dirty="0"/>
          </a:p>
        </p:txBody>
      </p:sp>
      <p:graphicFrame>
        <p:nvGraphicFramePr>
          <p:cNvPr id="37" name="Object 36" descr="OpenParenthesis I subscript Lowercase-a UpperCase A BaseLine CloseParenthesis.&#10;">
            <a:extLst>
              <a:ext uri="{FF2B5EF4-FFF2-40B4-BE49-F238E27FC236}">
                <a16:creationId xmlns:a16="http://schemas.microsoft.com/office/drawing/2014/main" id="{F5D5050F-218B-40D7-80A2-D4879BBAF2E3}"/>
              </a:ext>
            </a:extLst>
          </p:cNvPr>
          <p:cNvGraphicFramePr>
            <a:graphicFrameLocks noChangeAspect="1"/>
          </p:cNvGraphicFramePr>
          <p:nvPr>
            <p:extLst>
              <p:ext uri="{D42A27DB-BD31-4B8C-83A1-F6EECF244321}">
                <p14:modId xmlns:p14="http://schemas.microsoft.com/office/powerpoint/2010/main" val="4168742560"/>
              </p:ext>
            </p:extLst>
          </p:nvPr>
        </p:nvGraphicFramePr>
        <p:xfrm>
          <a:off x="2068978" y="3630572"/>
          <a:ext cx="463550" cy="342900"/>
        </p:xfrm>
        <a:graphic>
          <a:graphicData uri="http://schemas.openxmlformats.org/presentationml/2006/ole">
            <mc:AlternateContent xmlns:mc="http://schemas.openxmlformats.org/markup-compatibility/2006">
              <mc:Choice xmlns:v="urn:schemas-microsoft-com:vml" Requires="v">
                <p:oleObj name="Equation" r:id="rId9" imgW="304560" imgH="228600" progId="Equation.DSMT4">
                  <p:embed/>
                </p:oleObj>
              </mc:Choice>
              <mc:Fallback>
                <p:oleObj name="Equation" r:id="rId9" imgW="304560" imgH="228600" progId="Equation.DSMT4">
                  <p:embed/>
                  <p:pic>
                    <p:nvPicPr>
                      <p:cNvPr id="37" name="Object 36" descr="OpenParenthesis I subscript Lowercase-a UpperCase A BaseLine CloseParenthesis.&#10;">
                        <a:extLst>
                          <a:ext uri="{FF2B5EF4-FFF2-40B4-BE49-F238E27FC236}">
                            <a16:creationId xmlns:a16="http://schemas.microsoft.com/office/drawing/2014/main" id="{F5D5050F-218B-40D7-80A2-D4879BBAF2E3}"/>
                          </a:ext>
                        </a:extLst>
                      </p:cNvPr>
                      <p:cNvPicPr>
                        <a:picLocks noChangeAspect="1" noChangeArrowheads="1"/>
                      </p:cNvPicPr>
                      <p:nvPr/>
                    </p:nvPicPr>
                    <p:blipFill>
                      <a:blip r:embed="rId10"/>
                      <a:srcRect/>
                      <a:stretch>
                        <a:fillRect/>
                      </a:stretch>
                    </p:blipFill>
                    <p:spPr bwMode="auto">
                      <a:xfrm>
                        <a:off x="2068978" y="3630572"/>
                        <a:ext cx="46355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Content Placeholder 9">
            <a:extLst>
              <a:ext uri="{FF2B5EF4-FFF2-40B4-BE49-F238E27FC236}">
                <a16:creationId xmlns:a16="http://schemas.microsoft.com/office/drawing/2014/main" id="{76D4908B-3B74-4985-B072-3B0590B76EA6}"/>
              </a:ext>
            </a:extLst>
          </p:cNvPr>
          <p:cNvSpPr txBox="1">
            <a:spLocks/>
          </p:cNvSpPr>
          <p:nvPr/>
        </p:nvSpPr>
        <p:spPr>
          <a:xfrm>
            <a:off x="430305" y="3992904"/>
            <a:ext cx="1162808"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r>
              <a:rPr lang="en-US" sz="2000" kern="0"/>
              <a:t>voltage</a:t>
            </a:r>
            <a:endParaRPr lang="en-US" sz="2000" kern="0" dirty="0"/>
          </a:p>
        </p:txBody>
      </p:sp>
      <p:graphicFrame>
        <p:nvGraphicFramePr>
          <p:cNvPr id="39" name="Object 38" descr="OpenParenthesis V subscript A N BaseLine CloseParenthesis.&#10;">
            <a:extLst>
              <a:ext uri="{FF2B5EF4-FFF2-40B4-BE49-F238E27FC236}">
                <a16:creationId xmlns:a16="http://schemas.microsoft.com/office/drawing/2014/main" id="{0230510E-DD67-4254-A8CD-A401CF962AE8}"/>
              </a:ext>
            </a:extLst>
          </p:cNvPr>
          <p:cNvGraphicFramePr>
            <a:graphicFrameLocks noChangeAspect="1"/>
          </p:cNvGraphicFramePr>
          <p:nvPr>
            <p:extLst>
              <p:ext uri="{D42A27DB-BD31-4B8C-83A1-F6EECF244321}">
                <p14:modId xmlns:p14="http://schemas.microsoft.com/office/powerpoint/2010/main" val="3450704417"/>
              </p:ext>
            </p:extLst>
          </p:nvPr>
        </p:nvGraphicFramePr>
        <p:xfrm>
          <a:off x="1636983" y="4031576"/>
          <a:ext cx="579437" cy="342900"/>
        </p:xfrm>
        <a:graphic>
          <a:graphicData uri="http://schemas.openxmlformats.org/presentationml/2006/ole">
            <mc:AlternateContent xmlns:mc="http://schemas.openxmlformats.org/markup-compatibility/2006">
              <mc:Choice xmlns:v="urn:schemas-microsoft-com:vml" Requires="v">
                <p:oleObj name="Equation" r:id="rId11" imgW="380880" imgH="228600" progId="Equation.DSMT4">
                  <p:embed/>
                </p:oleObj>
              </mc:Choice>
              <mc:Fallback>
                <p:oleObj name="Equation" r:id="rId11" imgW="380880" imgH="228600" progId="Equation.DSMT4">
                  <p:embed/>
                  <p:pic>
                    <p:nvPicPr>
                      <p:cNvPr id="39" name="Object 38" descr="OpenParenthesis V subscript A N BaseLine CloseParenthesis.&#10;">
                        <a:extLst>
                          <a:ext uri="{FF2B5EF4-FFF2-40B4-BE49-F238E27FC236}">
                            <a16:creationId xmlns:a16="http://schemas.microsoft.com/office/drawing/2014/main" id="{0230510E-DD67-4254-A8CD-A401CF962AE8}"/>
                          </a:ext>
                        </a:extLst>
                      </p:cNvPr>
                      <p:cNvPicPr>
                        <a:picLocks noChangeAspect="1" noChangeArrowheads="1"/>
                      </p:cNvPicPr>
                      <p:nvPr/>
                    </p:nvPicPr>
                    <p:blipFill>
                      <a:blip r:embed="rId12"/>
                      <a:srcRect/>
                      <a:stretch>
                        <a:fillRect/>
                      </a:stretch>
                    </p:blipFill>
                    <p:spPr bwMode="auto">
                      <a:xfrm>
                        <a:off x="1636983" y="4031576"/>
                        <a:ext cx="579437"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0" name="Picture 39" descr="A circuit diagram shows the positive terminal of a voltage source V sub a prime n connected to a terminal small a prime. This terminal a prime is connected to an impedance of Z sub g a that is connected to terminal small a on the other side. Terminal small a is connected to Z sun small I small a. This impedance Z sub small i small a is connected to another impedance of Z sub A through a terminal cap A. Z sub A is connected to terminal cap N that is connected to terminal small n. This terminal small n is connected to the negative terminal of V sub a prime n. Current I sub small a cap A flows through Z sub small i small a, to the right.">
            <a:extLst>
              <a:ext uri="{FF2B5EF4-FFF2-40B4-BE49-F238E27FC236}">
                <a16:creationId xmlns:a16="http://schemas.microsoft.com/office/drawing/2014/main" id="{2F68F29F-4AC9-45EA-8305-8F33213C9CE4}"/>
              </a:ext>
            </a:extLst>
          </p:cNvPr>
          <p:cNvPicPr>
            <a:picLocks noChangeAspect="1"/>
          </p:cNvPicPr>
          <p:nvPr/>
        </p:nvPicPr>
        <p:blipFill>
          <a:blip r:embed="rId13"/>
          <a:stretch>
            <a:fillRect/>
          </a:stretch>
        </p:blipFill>
        <p:spPr>
          <a:xfrm>
            <a:off x="5357536" y="3205407"/>
            <a:ext cx="3269871" cy="1223143"/>
          </a:xfrm>
          <a:prstGeom prst="rect">
            <a:avLst/>
          </a:prstGeom>
        </p:spPr>
      </p:pic>
      <p:sp>
        <p:nvSpPr>
          <p:cNvPr id="41" name="Content Placeholder 10">
            <a:extLst>
              <a:ext uri="{FF2B5EF4-FFF2-40B4-BE49-F238E27FC236}">
                <a16:creationId xmlns:a16="http://schemas.microsoft.com/office/drawing/2014/main" id="{2DC8B30C-7497-4AB9-ADDD-72C8A21F3950}"/>
              </a:ext>
            </a:extLst>
          </p:cNvPr>
          <p:cNvSpPr txBox="1">
            <a:spLocks/>
          </p:cNvSpPr>
          <p:nvPr/>
        </p:nvSpPr>
        <p:spPr>
          <a:xfrm>
            <a:off x="430305" y="4468796"/>
            <a:ext cx="4365813"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Calculate line and phase voltage using</a:t>
            </a:r>
            <a:endParaRPr lang="en-US" sz="2000" kern="0" dirty="0"/>
          </a:p>
        </p:txBody>
      </p:sp>
      <p:graphicFrame>
        <p:nvGraphicFramePr>
          <p:cNvPr id="42" name="Object 41" descr="V subscript A B BaseLine equals StartRoot 3 EndRoot V subscript A N BaseLine at an angle of V subscript A N BaseLine Plus or Minus 30 degrees.&#10;">
            <a:extLst>
              <a:ext uri="{FF2B5EF4-FFF2-40B4-BE49-F238E27FC236}">
                <a16:creationId xmlns:a16="http://schemas.microsoft.com/office/drawing/2014/main" id="{3CD04B91-541B-4AF0-A753-C5791E5C4C07}"/>
              </a:ext>
            </a:extLst>
          </p:cNvPr>
          <p:cNvGraphicFramePr>
            <a:graphicFrameLocks noChangeAspect="1"/>
          </p:cNvGraphicFramePr>
          <p:nvPr>
            <p:extLst>
              <p:ext uri="{D42A27DB-BD31-4B8C-83A1-F6EECF244321}">
                <p14:modId xmlns:p14="http://schemas.microsoft.com/office/powerpoint/2010/main" val="4117801498"/>
              </p:ext>
            </p:extLst>
          </p:nvPr>
        </p:nvGraphicFramePr>
        <p:xfrm>
          <a:off x="4823013" y="4473388"/>
          <a:ext cx="2471737" cy="381000"/>
        </p:xfrm>
        <a:graphic>
          <a:graphicData uri="http://schemas.openxmlformats.org/presentationml/2006/ole">
            <mc:AlternateContent xmlns:mc="http://schemas.openxmlformats.org/markup-compatibility/2006">
              <mc:Choice xmlns:v="urn:schemas-microsoft-com:vml" Requires="v">
                <p:oleObj name="Equation" r:id="rId14" imgW="1625400" imgH="253800" progId="Equation.DSMT4">
                  <p:embed/>
                </p:oleObj>
              </mc:Choice>
              <mc:Fallback>
                <p:oleObj name="Equation" r:id="rId14" imgW="1625400" imgH="253800" progId="Equation.DSMT4">
                  <p:embed/>
                  <p:pic>
                    <p:nvPicPr>
                      <p:cNvPr id="42" name="Object 41" descr="V subscript A B BaseLine equals StartRoot 3 EndRoot V subscript A N BaseLine at an angle of V subscript A N BaseLine Plus or Minus 30 degrees.&#10;">
                        <a:extLst>
                          <a:ext uri="{FF2B5EF4-FFF2-40B4-BE49-F238E27FC236}">
                            <a16:creationId xmlns:a16="http://schemas.microsoft.com/office/drawing/2014/main" id="{3CD04B91-541B-4AF0-A753-C5791E5C4C07}"/>
                          </a:ext>
                        </a:extLst>
                      </p:cNvPr>
                      <p:cNvPicPr>
                        <a:picLocks noChangeAspect="1" noChangeArrowheads="1"/>
                      </p:cNvPicPr>
                      <p:nvPr/>
                    </p:nvPicPr>
                    <p:blipFill>
                      <a:blip r:embed="rId15"/>
                      <a:srcRect/>
                      <a:stretch>
                        <a:fillRect/>
                      </a:stretch>
                    </p:blipFill>
                    <p:spPr bwMode="auto">
                      <a:xfrm>
                        <a:off x="4823013" y="4473388"/>
                        <a:ext cx="2471737"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Content Placeholder 11">
            <a:extLst>
              <a:ext uri="{FF2B5EF4-FFF2-40B4-BE49-F238E27FC236}">
                <a16:creationId xmlns:a16="http://schemas.microsoft.com/office/drawing/2014/main" id="{4F926D0A-5C0E-49CB-91E6-814589A860BC}"/>
              </a:ext>
            </a:extLst>
          </p:cNvPr>
          <p:cNvSpPr txBox="1">
            <a:spLocks/>
          </p:cNvSpPr>
          <p:nvPr/>
        </p:nvSpPr>
        <p:spPr>
          <a:xfrm>
            <a:off x="7338163" y="4468796"/>
            <a:ext cx="1332762"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(abc or</a:t>
            </a:r>
            <a:endParaRPr lang="en-US" sz="2000" kern="0" dirty="0"/>
          </a:p>
        </p:txBody>
      </p:sp>
      <p:sp>
        <p:nvSpPr>
          <p:cNvPr id="44" name="Content Placeholder 12">
            <a:extLst>
              <a:ext uri="{FF2B5EF4-FFF2-40B4-BE49-F238E27FC236}">
                <a16:creationId xmlns:a16="http://schemas.microsoft.com/office/drawing/2014/main" id="{D8FC1931-5A2A-4876-ADE6-3AC6E585AC72}"/>
              </a:ext>
            </a:extLst>
          </p:cNvPr>
          <p:cNvSpPr txBox="1">
            <a:spLocks/>
          </p:cNvSpPr>
          <p:nvPr/>
        </p:nvSpPr>
        <p:spPr>
          <a:xfrm>
            <a:off x="432827" y="4725305"/>
            <a:ext cx="8540517" cy="651905"/>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dirty="0" err="1"/>
              <a:t>acb</a:t>
            </a:r>
            <a:r>
              <a:rPr lang="en-US" sz="2000" kern="0" dirty="0"/>
              <a:t>).  Remember that the line and phase voltages are the same in a delta- connected load.  </a:t>
            </a:r>
          </a:p>
        </p:txBody>
      </p:sp>
      <p:sp>
        <p:nvSpPr>
          <p:cNvPr id="45" name="Content Placeholder 13">
            <a:extLst>
              <a:ext uri="{FF2B5EF4-FFF2-40B4-BE49-F238E27FC236}">
                <a16:creationId xmlns:a16="http://schemas.microsoft.com/office/drawing/2014/main" id="{EC7AC94F-160B-4D7C-9E26-8EED79871F36}"/>
              </a:ext>
            </a:extLst>
          </p:cNvPr>
          <p:cNvSpPr txBox="1">
            <a:spLocks/>
          </p:cNvSpPr>
          <p:nvPr/>
        </p:nvSpPr>
        <p:spPr>
          <a:xfrm>
            <a:off x="412986" y="5348438"/>
            <a:ext cx="3371480"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Calculate phase current using</a:t>
            </a:r>
            <a:endParaRPr lang="en-US" sz="2000" kern="0" dirty="0"/>
          </a:p>
        </p:txBody>
      </p:sp>
      <p:graphicFrame>
        <p:nvGraphicFramePr>
          <p:cNvPr id="46" name="Object 45" descr="I subscript Lowercase-a Uppercase A BaseLine equals StartRoot 3 EndRoot I subscript Uppercase A B BaseLine at an angle of I subscript Uppercase A B BaseLine Plus or Minus 30 degrees.&#10;">
            <a:extLst>
              <a:ext uri="{FF2B5EF4-FFF2-40B4-BE49-F238E27FC236}">
                <a16:creationId xmlns:a16="http://schemas.microsoft.com/office/drawing/2014/main" id="{6F453729-B34E-4317-9FA8-917E50C50B08}"/>
              </a:ext>
            </a:extLst>
          </p:cNvPr>
          <p:cNvGraphicFramePr>
            <a:graphicFrameLocks noChangeAspect="1"/>
          </p:cNvGraphicFramePr>
          <p:nvPr>
            <p:extLst>
              <p:ext uri="{D42A27DB-BD31-4B8C-83A1-F6EECF244321}">
                <p14:modId xmlns:p14="http://schemas.microsoft.com/office/powerpoint/2010/main" val="546463595"/>
              </p:ext>
            </p:extLst>
          </p:nvPr>
        </p:nvGraphicFramePr>
        <p:xfrm>
          <a:off x="3828155" y="5357403"/>
          <a:ext cx="2163762" cy="381000"/>
        </p:xfrm>
        <a:graphic>
          <a:graphicData uri="http://schemas.openxmlformats.org/presentationml/2006/ole">
            <mc:AlternateContent xmlns:mc="http://schemas.openxmlformats.org/markup-compatibility/2006">
              <mc:Choice xmlns:v="urn:schemas-microsoft-com:vml" Requires="v">
                <p:oleObj name="Equation" r:id="rId16" imgW="1422360" imgH="253800" progId="Equation.DSMT4">
                  <p:embed/>
                </p:oleObj>
              </mc:Choice>
              <mc:Fallback>
                <p:oleObj name="Equation" r:id="rId16" imgW="1422360" imgH="253800" progId="Equation.DSMT4">
                  <p:embed/>
                  <p:pic>
                    <p:nvPicPr>
                      <p:cNvPr id="46" name="Object 45" descr="I subscript Lowercase-a Uppercase A BaseLine equals StartRoot 3 EndRoot I subscript Uppercase A B BaseLine at an angle of I subscript Uppercase A B BaseLine Plus or Minus 30 degrees.&#10;">
                        <a:extLst>
                          <a:ext uri="{FF2B5EF4-FFF2-40B4-BE49-F238E27FC236}">
                            <a16:creationId xmlns:a16="http://schemas.microsoft.com/office/drawing/2014/main" id="{6F453729-B34E-4317-9FA8-917E50C50B08}"/>
                          </a:ext>
                        </a:extLst>
                      </p:cNvPr>
                      <p:cNvPicPr>
                        <a:picLocks noChangeAspect="1" noChangeArrowheads="1"/>
                      </p:cNvPicPr>
                      <p:nvPr/>
                    </p:nvPicPr>
                    <p:blipFill>
                      <a:blip r:embed="rId17"/>
                      <a:srcRect/>
                      <a:stretch>
                        <a:fillRect/>
                      </a:stretch>
                    </p:blipFill>
                    <p:spPr bwMode="auto">
                      <a:xfrm>
                        <a:off x="3828155" y="5357403"/>
                        <a:ext cx="216376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Content Placeholder 14">
            <a:extLst>
              <a:ext uri="{FF2B5EF4-FFF2-40B4-BE49-F238E27FC236}">
                <a16:creationId xmlns:a16="http://schemas.microsoft.com/office/drawing/2014/main" id="{82ACF1A5-AE67-4491-BD59-7585D2A3D6A3}"/>
              </a:ext>
            </a:extLst>
          </p:cNvPr>
          <p:cNvSpPr txBox="1">
            <a:spLocks/>
          </p:cNvSpPr>
          <p:nvPr/>
        </p:nvSpPr>
        <p:spPr>
          <a:xfrm>
            <a:off x="6026641" y="5348438"/>
            <a:ext cx="1352631"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(acb or abc)</a:t>
            </a:r>
            <a:endParaRPr lang="en-US" sz="2000" kern="0" dirty="0"/>
          </a:p>
        </p:txBody>
      </p:sp>
      <p:sp>
        <p:nvSpPr>
          <p:cNvPr id="48" name="Content Placeholder 15">
            <a:extLst>
              <a:ext uri="{FF2B5EF4-FFF2-40B4-BE49-F238E27FC236}">
                <a16:creationId xmlns:a16="http://schemas.microsoft.com/office/drawing/2014/main" id="{12E78F87-6B31-4478-9A35-00E9280FD3CE}"/>
              </a:ext>
            </a:extLst>
          </p:cNvPr>
          <p:cNvSpPr txBox="1">
            <a:spLocks/>
          </p:cNvSpPr>
          <p:nvPr/>
        </p:nvSpPr>
        <p:spPr>
          <a:xfrm>
            <a:off x="432998" y="5689127"/>
            <a:ext cx="750254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Calculate b-phase and c-phase voltages and currents by adding or</a:t>
            </a:r>
            <a:endParaRPr lang="en-US" sz="2000" kern="0" dirty="0"/>
          </a:p>
        </p:txBody>
      </p:sp>
      <p:sp>
        <p:nvSpPr>
          <p:cNvPr id="49" name="Content Placeholder 16">
            <a:extLst>
              <a:ext uri="{FF2B5EF4-FFF2-40B4-BE49-F238E27FC236}">
                <a16:creationId xmlns:a16="http://schemas.microsoft.com/office/drawing/2014/main" id="{6D36110B-083C-46AA-A97A-0CF44E298262}"/>
              </a:ext>
            </a:extLst>
          </p:cNvPr>
          <p:cNvSpPr txBox="1">
            <a:spLocks/>
          </p:cNvSpPr>
          <p:nvPr/>
        </p:nvSpPr>
        <p:spPr>
          <a:xfrm>
            <a:off x="431373" y="6070135"/>
            <a:ext cx="1249133"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subtracting</a:t>
            </a:r>
            <a:endParaRPr lang="en-US" sz="2000" kern="0" dirty="0"/>
          </a:p>
        </p:txBody>
      </p:sp>
      <p:graphicFrame>
        <p:nvGraphicFramePr>
          <p:cNvPr id="50" name="Object 49" descr="120 degrees.&#10;">
            <a:extLst>
              <a:ext uri="{FF2B5EF4-FFF2-40B4-BE49-F238E27FC236}">
                <a16:creationId xmlns:a16="http://schemas.microsoft.com/office/drawing/2014/main" id="{18FE12A3-100A-4166-8507-788FEAF25E7D}"/>
              </a:ext>
            </a:extLst>
          </p:cNvPr>
          <p:cNvGraphicFramePr>
            <a:graphicFrameLocks noChangeAspect="1"/>
          </p:cNvGraphicFramePr>
          <p:nvPr>
            <p:extLst>
              <p:ext uri="{D42A27DB-BD31-4B8C-83A1-F6EECF244321}">
                <p14:modId xmlns:p14="http://schemas.microsoft.com/office/powerpoint/2010/main" val="757398409"/>
              </p:ext>
            </p:extLst>
          </p:nvPr>
        </p:nvGraphicFramePr>
        <p:xfrm>
          <a:off x="1716364" y="6116030"/>
          <a:ext cx="541337" cy="285750"/>
        </p:xfrm>
        <a:graphic>
          <a:graphicData uri="http://schemas.openxmlformats.org/presentationml/2006/ole">
            <mc:AlternateContent xmlns:mc="http://schemas.openxmlformats.org/markup-compatibility/2006">
              <mc:Choice xmlns:v="urn:schemas-microsoft-com:vml" Requires="v">
                <p:oleObj name="Equation" r:id="rId18" imgW="355320" imgH="190440" progId="Equation.DSMT4">
                  <p:embed/>
                </p:oleObj>
              </mc:Choice>
              <mc:Fallback>
                <p:oleObj name="Equation" r:id="rId18" imgW="355320" imgH="190440" progId="Equation.DSMT4">
                  <p:embed/>
                  <p:pic>
                    <p:nvPicPr>
                      <p:cNvPr id="50" name="Object 49" descr="120 degrees.&#10;">
                        <a:extLst>
                          <a:ext uri="{FF2B5EF4-FFF2-40B4-BE49-F238E27FC236}">
                            <a16:creationId xmlns:a16="http://schemas.microsoft.com/office/drawing/2014/main" id="{18FE12A3-100A-4166-8507-788FEAF25E7D}"/>
                          </a:ext>
                        </a:extLst>
                      </p:cNvPr>
                      <p:cNvPicPr>
                        <a:picLocks noChangeAspect="1" noChangeArrowheads="1"/>
                      </p:cNvPicPr>
                      <p:nvPr/>
                    </p:nvPicPr>
                    <p:blipFill>
                      <a:blip r:embed="rId19"/>
                      <a:srcRect/>
                      <a:stretch>
                        <a:fillRect/>
                      </a:stretch>
                    </p:blipFill>
                    <p:spPr bwMode="auto">
                      <a:xfrm>
                        <a:off x="1716364" y="6116030"/>
                        <a:ext cx="541337"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 name="Content Placeholder 17">
            <a:extLst>
              <a:ext uri="{FF2B5EF4-FFF2-40B4-BE49-F238E27FC236}">
                <a16:creationId xmlns:a16="http://schemas.microsoft.com/office/drawing/2014/main" id="{F611C3BB-AB00-42C0-A9DC-6C38710FCE4E}"/>
              </a:ext>
            </a:extLst>
          </p:cNvPr>
          <p:cNvSpPr txBox="1">
            <a:spLocks/>
          </p:cNvSpPr>
          <p:nvPr/>
        </p:nvSpPr>
        <p:spPr>
          <a:xfrm>
            <a:off x="2287515" y="6075212"/>
            <a:ext cx="4887309" cy="344128"/>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2000" kern="0"/>
              <a:t>from the phase angle of the a-phase values</a:t>
            </a:r>
            <a:endParaRPr lang="en-US" sz="2000" kern="0" dirty="0"/>
          </a:p>
        </p:txBody>
      </p:sp>
    </p:spTree>
    <p:extLst>
      <p:ext uri="{BB962C8B-B14F-4D97-AF65-F5344CB8AC3E}">
        <p14:creationId xmlns:p14="http://schemas.microsoft.com/office/powerpoint/2010/main" val="25248257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2F39C-8A24-1165-4A8D-1157D2EB4C74}"/>
            </a:ext>
          </a:extLst>
        </p:cNvPr>
        <p:cNvGrpSpPr/>
        <p:nvPr/>
      </p:nvGrpSpPr>
      <p:grpSpPr>
        <a:xfrm>
          <a:off x="0" y="0"/>
          <a:ext cx="0" cy="0"/>
          <a:chOff x="0" y="0"/>
          <a:chExt cx="0" cy="0"/>
        </a:xfrm>
      </p:grpSpPr>
      <p:sp>
        <p:nvSpPr>
          <p:cNvPr id="26" name="Rectangle 6">
            <a:extLst>
              <a:ext uri="{FF2B5EF4-FFF2-40B4-BE49-F238E27FC236}">
                <a16:creationId xmlns:a16="http://schemas.microsoft.com/office/drawing/2014/main" id="{FC3EBA2D-590A-EDBA-5216-BA3BF0BF2C65}"/>
              </a:ext>
            </a:extLst>
          </p:cNvPr>
          <p:cNvSpPr>
            <a:spLocks noChangeArrowheads="1"/>
          </p:cNvSpPr>
          <p:nvPr/>
        </p:nvSpPr>
        <p:spPr bwMode="auto">
          <a:xfrm>
            <a:off x="3962400" y="1107734"/>
            <a:ext cx="5010944" cy="3769066"/>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r>
              <a:rPr lang="en-US" dirty="0"/>
              <a:t>  </a:t>
            </a:r>
          </a:p>
        </p:txBody>
      </p:sp>
      <p:sp>
        <p:nvSpPr>
          <p:cNvPr id="1119234" name="Rectangle 2">
            <a:extLst>
              <a:ext uri="{FF2B5EF4-FFF2-40B4-BE49-F238E27FC236}">
                <a16:creationId xmlns:a16="http://schemas.microsoft.com/office/drawing/2014/main" id="{EB99A6FF-C38F-809B-0CD8-BEFF279CAAD6}"/>
              </a:ext>
            </a:extLst>
          </p:cNvPr>
          <p:cNvSpPr>
            <a:spLocks noGrp="1" noChangeArrowheads="1"/>
          </p:cNvSpPr>
          <p:nvPr>
            <p:ph type="title"/>
          </p:nvPr>
        </p:nvSpPr>
        <p:spPr>
          <a:xfrm>
            <a:off x="2150161" y="108741"/>
            <a:ext cx="6858000" cy="998992"/>
          </a:xfrm>
        </p:spPr>
        <p:txBody>
          <a:bodyPr/>
          <a:lstStyle/>
          <a:p>
            <a:r>
              <a:rPr lang="en-US" sz="2800" dirty="0"/>
              <a:t>Power Calculations in Balanced Three-Phase Circuits</a:t>
            </a:r>
          </a:p>
        </p:txBody>
      </p:sp>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C5B21DF1-5E1C-30F3-9453-2C7C7548F50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circuit diagram shows current I sub small a cap A flowing to the right to a terminal A that is connected to an impedance of Z sub A. Z sub A is connected to terminal cap N. The voltage V sub A N across Z sub A is positive at the top and negative at the bottom. Current I sub small b cap B flowing to the right to a terminal B that is connected to an impedance of Z sub B. Z sub B is connected to terminal cap N. The voltage V sub B N across Z sub B is positive at the left and negative at the right. Current I sub small c cap C flowing to the right to a terminal C that is connected to an impedance of Z sub C. Z sub C is connected to terminal cap N. The voltage V sub C N across Z sub C is negative at the top and positive at the bottom.">
            <a:extLst>
              <a:ext uri="{FF2B5EF4-FFF2-40B4-BE49-F238E27FC236}">
                <a16:creationId xmlns:a16="http://schemas.microsoft.com/office/drawing/2014/main" id="{1E7F3423-6E21-49C6-81F7-DC634ABA321B}"/>
              </a:ext>
            </a:extLst>
          </p:cNvPr>
          <p:cNvPicPr>
            <a:picLocks noChangeAspect="1"/>
          </p:cNvPicPr>
          <p:nvPr/>
        </p:nvPicPr>
        <p:blipFill>
          <a:blip r:embed="rId3"/>
          <a:srcRect/>
          <a:stretch/>
        </p:blipFill>
        <p:spPr>
          <a:xfrm>
            <a:off x="381000" y="1059872"/>
            <a:ext cx="3429000" cy="3176041"/>
          </a:xfrm>
          <a:prstGeom prst="rect">
            <a:avLst/>
          </a:prstGeom>
        </p:spPr>
      </p:pic>
      <p:sp>
        <p:nvSpPr>
          <p:cNvPr id="6" name="Content Placeholder 2">
            <a:extLst>
              <a:ext uri="{FF2B5EF4-FFF2-40B4-BE49-F238E27FC236}">
                <a16:creationId xmlns:a16="http://schemas.microsoft.com/office/drawing/2014/main" id="{852C2F7E-0D13-4080-A846-C80142A3C077}"/>
              </a:ext>
            </a:extLst>
          </p:cNvPr>
          <p:cNvSpPr txBox="1">
            <a:spLocks/>
          </p:cNvSpPr>
          <p:nvPr/>
        </p:nvSpPr>
        <p:spPr bwMode="auto">
          <a:xfrm>
            <a:off x="4227886" y="1623828"/>
            <a:ext cx="4535113" cy="1144347"/>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r>
              <a:rPr lang="en-US" altLang="en-US" sz="1800" dirty="0"/>
              <a:t>We are going to find the average power delivered to a single phase of a balanced wye-connected load.  We begin by defining some variables we will use.  </a:t>
            </a:r>
            <a:endParaRPr lang="en-US" sz="1800" dirty="0"/>
          </a:p>
        </p:txBody>
      </p:sp>
      <p:sp>
        <p:nvSpPr>
          <p:cNvPr id="7" name="Content Placeholder 3">
            <a:extLst>
              <a:ext uri="{FF2B5EF4-FFF2-40B4-BE49-F238E27FC236}">
                <a16:creationId xmlns:a16="http://schemas.microsoft.com/office/drawing/2014/main" id="{474C6122-C0D5-46F1-B257-3F0D2E7AED28}"/>
              </a:ext>
            </a:extLst>
          </p:cNvPr>
          <p:cNvSpPr txBox="1">
            <a:spLocks/>
          </p:cNvSpPr>
          <p:nvPr/>
        </p:nvSpPr>
        <p:spPr>
          <a:xfrm>
            <a:off x="4218921" y="2736154"/>
            <a:ext cx="331694" cy="313350"/>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1800" kern="0" dirty="0"/>
              <a:t>Let</a:t>
            </a:r>
          </a:p>
        </p:txBody>
      </p:sp>
      <p:graphicFrame>
        <p:nvGraphicFramePr>
          <p:cNvPr id="8" name="Object 7" descr="V subscript Phi BaseLine equals StartAbsoluteValue V subscript A N BaseLine EndAbsoluteValue equals StartAbsoluteValue V subscript B N BaseLine EndAbsoluteValue equals StartAbsoluteValue V subscript C N BaseLine EndAbsoluteValue;&#10;">
            <a:extLst>
              <a:ext uri="{FF2B5EF4-FFF2-40B4-BE49-F238E27FC236}">
                <a16:creationId xmlns:a16="http://schemas.microsoft.com/office/drawing/2014/main" id="{405B938D-DD2B-45C4-8932-EE4464909275}"/>
              </a:ext>
            </a:extLst>
          </p:cNvPr>
          <p:cNvGraphicFramePr>
            <a:graphicFrameLocks noChangeAspect="1"/>
          </p:cNvGraphicFramePr>
          <p:nvPr>
            <p:extLst>
              <p:ext uri="{D42A27DB-BD31-4B8C-83A1-F6EECF244321}">
                <p14:modId xmlns:p14="http://schemas.microsoft.com/office/powerpoint/2010/main" val="3905788039"/>
              </p:ext>
            </p:extLst>
          </p:nvPr>
        </p:nvGraphicFramePr>
        <p:xfrm>
          <a:off x="4218921" y="3123748"/>
          <a:ext cx="3477279" cy="539810"/>
        </p:xfrm>
        <a:graphic>
          <a:graphicData uri="http://schemas.openxmlformats.org/presentationml/2006/ole">
            <mc:AlternateContent xmlns:mc="http://schemas.openxmlformats.org/markup-compatibility/2006">
              <mc:Choice xmlns:v="urn:schemas-microsoft-com:vml" Requires="v">
                <p:oleObj name="Equation" r:id="rId4" imgW="1612800" imgH="253800" progId="Equation.DSMT4">
                  <p:embed/>
                </p:oleObj>
              </mc:Choice>
              <mc:Fallback>
                <p:oleObj name="Equation" r:id="rId4" imgW="1612800" imgH="253800" progId="Equation.DSMT4">
                  <p:embed/>
                  <p:pic>
                    <p:nvPicPr>
                      <p:cNvPr id="8" name="Object 7" descr="V subscript Phi BaseLine equals StartAbsoluteValue V subscript A N BaseLine EndAbsoluteValue equals StartAbsoluteValue V subscript B N BaseLine EndAbsoluteValue equals StartAbsoluteValue V subscript C N BaseLine EndAbsoluteValue;&#10;">
                        <a:extLst>
                          <a:ext uri="{FF2B5EF4-FFF2-40B4-BE49-F238E27FC236}">
                            <a16:creationId xmlns:a16="http://schemas.microsoft.com/office/drawing/2014/main" id="{405B938D-DD2B-45C4-8932-EE4464909275}"/>
                          </a:ext>
                        </a:extLst>
                      </p:cNvPr>
                      <p:cNvPicPr>
                        <a:picLocks noChangeAspect="1" noChangeArrowheads="1"/>
                      </p:cNvPicPr>
                      <p:nvPr/>
                    </p:nvPicPr>
                    <p:blipFill>
                      <a:blip r:embed="rId5"/>
                      <a:srcRect/>
                      <a:stretch>
                        <a:fillRect/>
                      </a:stretch>
                    </p:blipFill>
                    <p:spPr bwMode="auto">
                      <a:xfrm>
                        <a:off x="4218921" y="3123748"/>
                        <a:ext cx="3477279" cy="539810"/>
                      </a:xfrm>
                      <a:prstGeom prst="rect">
                        <a:avLst/>
                      </a:prstGeom>
                      <a:noFill/>
                    </p:spPr>
                  </p:pic>
                </p:oleObj>
              </mc:Fallback>
            </mc:AlternateContent>
          </a:graphicData>
        </a:graphic>
      </p:graphicFrame>
      <p:graphicFrame>
        <p:nvGraphicFramePr>
          <p:cNvPr id="9" name="Object 8" descr="The figure illustrates the calculation of I subscript Phi.&#10;Long description is available in notes, press F6.">
            <a:extLst>
              <a:ext uri="{FF2B5EF4-FFF2-40B4-BE49-F238E27FC236}">
                <a16:creationId xmlns:a16="http://schemas.microsoft.com/office/drawing/2014/main" id="{9615E7C6-DABC-4098-9B12-71F9DFA59CA4}"/>
              </a:ext>
            </a:extLst>
          </p:cNvPr>
          <p:cNvGraphicFramePr>
            <a:graphicFrameLocks noChangeAspect="1"/>
          </p:cNvGraphicFramePr>
          <p:nvPr>
            <p:extLst>
              <p:ext uri="{D42A27DB-BD31-4B8C-83A1-F6EECF244321}">
                <p14:modId xmlns:p14="http://schemas.microsoft.com/office/powerpoint/2010/main" val="1057718281"/>
              </p:ext>
            </p:extLst>
          </p:nvPr>
        </p:nvGraphicFramePr>
        <p:xfrm>
          <a:off x="4578324" y="3649534"/>
          <a:ext cx="2816132" cy="544180"/>
        </p:xfrm>
        <a:graphic>
          <a:graphicData uri="http://schemas.openxmlformats.org/presentationml/2006/ole">
            <mc:AlternateContent xmlns:mc="http://schemas.openxmlformats.org/markup-compatibility/2006">
              <mc:Choice xmlns:v="urn:schemas-microsoft-com:vml" Requires="v">
                <p:oleObj name="Equation" r:id="rId6" imgW="1295280" imgH="253800" progId="Equation.DSMT4">
                  <p:embed/>
                </p:oleObj>
              </mc:Choice>
              <mc:Fallback>
                <p:oleObj name="Equation" r:id="rId6" imgW="1295280" imgH="253800" progId="Equation.DSMT4">
                  <p:embed/>
                  <p:pic>
                    <p:nvPicPr>
                      <p:cNvPr id="9" name="Object 8" descr="The figure illustrates the calculation of I subscript Phi.&#10;Long description is available in notes, press F6.">
                        <a:extLst>
                          <a:ext uri="{FF2B5EF4-FFF2-40B4-BE49-F238E27FC236}">
                            <a16:creationId xmlns:a16="http://schemas.microsoft.com/office/drawing/2014/main" id="{9615E7C6-DABC-4098-9B12-71F9DFA59CA4}"/>
                          </a:ext>
                        </a:extLst>
                      </p:cNvPr>
                      <p:cNvPicPr>
                        <a:picLocks noChangeAspect="1" noChangeArrowheads="1"/>
                      </p:cNvPicPr>
                      <p:nvPr/>
                    </p:nvPicPr>
                    <p:blipFill>
                      <a:blip r:embed="rId7"/>
                      <a:srcRect/>
                      <a:stretch>
                        <a:fillRect/>
                      </a:stretch>
                    </p:blipFill>
                    <p:spPr bwMode="auto">
                      <a:xfrm>
                        <a:off x="4578324" y="3649534"/>
                        <a:ext cx="2816132" cy="544180"/>
                      </a:xfrm>
                      <a:prstGeom prst="rect">
                        <a:avLst/>
                      </a:prstGeom>
                      <a:noFill/>
                    </p:spPr>
                  </p:pic>
                </p:oleObj>
              </mc:Fallback>
            </mc:AlternateContent>
          </a:graphicData>
        </a:graphic>
      </p:graphicFrame>
      <p:graphicFrame>
        <p:nvGraphicFramePr>
          <p:cNvPr id="10" name="Object 9" descr="Theta subscript Phi BaseLine equals theta subscript v A BaseLine Minus theta subscript i A BaseLine equals theta subscript v B BaseLine Minus theta subscript i B BaseLine equals theta subscript v C BaseLine Minus theta subscript i C BaseLine.&#10;">
            <a:extLst>
              <a:ext uri="{FF2B5EF4-FFF2-40B4-BE49-F238E27FC236}">
                <a16:creationId xmlns:a16="http://schemas.microsoft.com/office/drawing/2014/main" id="{115C2990-FC0A-42BB-A18B-C9EE583B5538}"/>
              </a:ext>
            </a:extLst>
          </p:cNvPr>
          <p:cNvGraphicFramePr>
            <a:graphicFrameLocks noChangeAspect="1"/>
          </p:cNvGraphicFramePr>
          <p:nvPr>
            <p:extLst>
              <p:ext uri="{D42A27DB-BD31-4B8C-83A1-F6EECF244321}">
                <p14:modId xmlns:p14="http://schemas.microsoft.com/office/powerpoint/2010/main" val="4187565603"/>
              </p:ext>
            </p:extLst>
          </p:nvPr>
        </p:nvGraphicFramePr>
        <p:xfrm>
          <a:off x="4114800" y="4188556"/>
          <a:ext cx="4627528" cy="489368"/>
        </p:xfrm>
        <a:graphic>
          <a:graphicData uri="http://schemas.openxmlformats.org/presentationml/2006/ole">
            <mc:AlternateContent xmlns:mc="http://schemas.openxmlformats.org/markup-compatibility/2006">
              <mc:Choice xmlns:v="urn:schemas-microsoft-com:vml" Requires="v">
                <p:oleObj name="Equation" r:id="rId8" imgW="2247840" imgH="241200" progId="Equation.DSMT4">
                  <p:embed/>
                </p:oleObj>
              </mc:Choice>
              <mc:Fallback>
                <p:oleObj name="Equation" r:id="rId8" imgW="2247840" imgH="241200" progId="Equation.DSMT4">
                  <p:embed/>
                  <p:pic>
                    <p:nvPicPr>
                      <p:cNvPr id="10" name="Object 9" descr="Theta subscript Phi BaseLine equals theta subscript v A BaseLine Minus theta subscript i A BaseLine equals theta subscript v B BaseLine Minus theta subscript i B BaseLine equals theta subscript v C BaseLine Minus theta subscript i C BaseLine.&#10;">
                        <a:extLst>
                          <a:ext uri="{FF2B5EF4-FFF2-40B4-BE49-F238E27FC236}">
                            <a16:creationId xmlns:a16="http://schemas.microsoft.com/office/drawing/2014/main" id="{115C2990-FC0A-42BB-A18B-C9EE583B5538}"/>
                          </a:ext>
                        </a:extLst>
                      </p:cNvPr>
                      <p:cNvPicPr>
                        <a:picLocks noChangeAspect="1" noChangeArrowheads="1"/>
                      </p:cNvPicPr>
                      <p:nvPr/>
                    </p:nvPicPr>
                    <p:blipFill>
                      <a:blip r:embed="rId9"/>
                      <a:srcRect/>
                      <a:stretch>
                        <a:fillRect/>
                      </a:stretch>
                    </p:blipFill>
                    <p:spPr bwMode="auto">
                      <a:xfrm>
                        <a:off x="4114800" y="4188556"/>
                        <a:ext cx="4627528" cy="489368"/>
                      </a:xfrm>
                      <a:prstGeom prst="rect">
                        <a:avLst/>
                      </a:prstGeom>
                      <a:noFill/>
                    </p:spPr>
                  </p:pic>
                </p:oleObj>
              </mc:Fallback>
            </mc:AlternateContent>
          </a:graphicData>
        </a:graphic>
      </p:graphicFrame>
      <p:sp>
        <p:nvSpPr>
          <p:cNvPr id="11" name="TextBox 10">
            <a:extLst>
              <a:ext uri="{FF2B5EF4-FFF2-40B4-BE49-F238E27FC236}">
                <a16:creationId xmlns:a16="http://schemas.microsoft.com/office/drawing/2014/main" id="{35171C82-C4A3-42FD-A5EE-CF109BF5FDB7}"/>
              </a:ext>
            </a:extLst>
          </p:cNvPr>
          <p:cNvSpPr txBox="1"/>
          <p:nvPr/>
        </p:nvSpPr>
        <p:spPr>
          <a:xfrm>
            <a:off x="517928" y="4724400"/>
            <a:ext cx="1691872" cy="1754326"/>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11.15 in the Nilsson and Reidel textbook, 12</a:t>
            </a:r>
            <a:r>
              <a:rPr lang="en-US" baseline="30000" dirty="0"/>
              <a:t>th</a:t>
            </a:r>
            <a:r>
              <a:rPr lang="en-US" dirty="0"/>
              <a:t>   Ed.  </a:t>
            </a:r>
          </a:p>
        </p:txBody>
      </p:sp>
    </p:spTree>
    <p:extLst>
      <p:ext uri="{BB962C8B-B14F-4D97-AF65-F5344CB8AC3E}">
        <p14:creationId xmlns:p14="http://schemas.microsoft.com/office/powerpoint/2010/main" val="35269671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2F39C-8A24-1165-4A8D-1157D2EB4C74}"/>
            </a:ext>
          </a:extLst>
        </p:cNvPr>
        <p:cNvGrpSpPr/>
        <p:nvPr/>
      </p:nvGrpSpPr>
      <p:grpSpPr>
        <a:xfrm>
          <a:off x="0" y="0"/>
          <a:ext cx="0" cy="0"/>
          <a:chOff x="0" y="0"/>
          <a:chExt cx="0" cy="0"/>
        </a:xfrm>
      </p:grpSpPr>
      <p:sp>
        <p:nvSpPr>
          <p:cNvPr id="26" name="Rectangle 6">
            <a:extLst>
              <a:ext uri="{FF2B5EF4-FFF2-40B4-BE49-F238E27FC236}">
                <a16:creationId xmlns:a16="http://schemas.microsoft.com/office/drawing/2014/main" id="{FC3EBA2D-590A-EDBA-5216-BA3BF0BF2C65}"/>
              </a:ext>
            </a:extLst>
          </p:cNvPr>
          <p:cNvSpPr>
            <a:spLocks noChangeArrowheads="1"/>
          </p:cNvSpPr>
          <p:nvPr/>
        </p:nvSpPr>
        <p:spPr bwMode="auto">
          <a:xfrm>
            <a:off x="2072872" y="1981200"/>
            <a:ext cx="6900472" cy="4768058"/>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r>
              <a:rPr lang="en-US" dirty="0"/>
              <a:t>  </a:t>
            </a:r>
          </a:p>
        </p:txBody>
      </p:sp>
      <p:sp>
        <p:nvSpPr>
          <p:cNvPr id="1119234" name="Rectangle 2">
            <a:extLst>
              <a:ext uri="{FF2B5EF4-FFF2-40B4-BE49-F238E27FC236}">
                <a16:creationId xmlns:a16="http://schemas.microsoft.com/office/drawing/2014/main" id="{EB99A6FF-C38F-809B-0CD8-BEFF279CAAD6}"/>
              </a:ext>
            </a:extLst>
          </p:cNvPr>
          <p:cNvSpPr>
            <a:spLocks noGrp="1" noChangeArrowheads="1"/>
          </p:cNvSpPr>
          <p:nvPr>
            <p:ph type="title"/>
          </p:nvPr>
        </p:nvSpPr>
        <p:spPr>
          <a:xfrm>
            <a:off x="2150161" y="108741"/>
            <a:ext cx="6858000" cy="998992"/>
          </a:xfrm>
        </p:spPr>
        <p:txBody>
          <a:bodyPr/>
          <a:lstStyle/>
          <a:p>
            <a:r>
              <a:rPr lang="en-US" sz="2800" dirty="0"/>
              <a:t>Power Calculations in Balanced Three-Phase Circuits</a:t>
            </a:r>
          </a:p>
        </p:txBody>
      </p:sp>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C5B21DF1-5E1C-30F3-9453-2C7C7548F50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circuit diagram shows current I sub small a cap A flowing to the right to a terminal A that is connected to an impedance of Z sub A. Z sub A is connected to terminal cap N. The voltage V sub A N across Z sub A is positive at the top and negative at the bottom. Current I sub small b cap B flowing to the right to a terminal B that is connected to an impedance of Z sub B. Z sub B is connected to terminal cap N. The voltage V sub B N across Z sub B is positive at the left and negative at the right. Current I sub small c cap C flowing to the right to a terminal C that is connected to an impedance of Z sub C. Z sub C is connected to terminal cap N. The voltage V sub C N across Z sub C is negative at the top and positive at the bottom.">
            <a:extLst>
              <a:ext uri="{FF2B5EF4-FFF2-40B4-BE49-F238E27FC236}">
                <a16:creationId xmlns:a16="http://schemas.microsoft.com/office/drawing/2014/main" id="{1E7F3423-6E21-49C6-81F7-DC634ABA321B}"/>
              </a:ext>
            </a:extLst>
          </p:cNvPr>
          <p:cNvPicPr>
            <a:picLocks noChangeAspect="1"/>
          </p:cNvPicPr>
          <p:nvPr/>
        </p:nvPicPr>
        <p:blipFill>
          <a:blip r:embed="rId3"/>
          <a:srcRect/>
          <a:stretch/>
        </p:blipFill>
        <p:spPr>
          <a:xfrm>
            <a:off x="381000" y="1059873"/>
            <a:ext cx="3048000" cy="2823148"/>
          </a:xfrm>
          <a:prstGeom prst="rect">
            <a:avLst/>
          </a:prstGeom>
        </p:spPr>
      </p:pic>
      <p:sp>
        <p:nvSpPr>
          <p:cNvPr id="11" name="TextBox 10">
            <a:extLst>
              <a:ext uri="{FF2B5EF4-FFF2-40B4-BE49-F238E27FC236}">
                <a16:creationId xmlns:a16="http://schemas.microsoft.com/office/drawing/2014/main" id="{35171C82-C4A3-42FD-A5EE-CF109BF5FDB7}"/>
              </a:ext>
            </a:extLst>
          </p:cNvPr>
          <p:cNvSpPr txBox="1"/>
          <p:nvPr/>
        </p:nvSpPr>
        <p:spPr>
          <a:xfrm>
            <a:off x="381000" y="3966874"/>
            <a:ext cx="1691872" cy="1754326"/>
          </a:xfrm>
          <a:prstGeom prst="rect">
            <a:avLst/>
          </a:prstGeom>
          <a:solidFill>
            <a:schemeClr val="accent1"/>
          </a:solidFill>
          <a:ln w="9525">
            <a:solidFill>
              <a:schemeClr val="tx1"/>
            </a:solidFill>
            <a:miter lim="800000"/>
            <a:headEnd/>
            <a:tailEnd/>
          </a:ln>
          <a:effectLst/>
        </p:spPr>
        <p:txBody>
          <a:bodyPr wrap="square">
            <a:spAutoFit/>
          </a:bodyPr>
          <a:lstStyle>
            <a:defPPr>
              <a:defRPr lang="en-US"/>
            </a:defPPr>
            <a:lvl1pPr eaLnBrk="0" hangingPunct="0">
              <a:defRPr sz="1800">
                <a:latin typeface="+mn-lt"/>
              </a:defRPr>
            </a:lvl1pPr>
          </a:lstStyle>
          <a:p>
            <a:r>
              <a:rPr lang="en-US" dirty="0"/>
              <a:t>The diagram is Figure 11.15 in the Nilsson and Reidel textbook, 12</a:t>
            </a:r>
            <a:r>
              <a:rPr lang="en-US" baseline="30000" dirty="0"/>
              <a:t>th</a:t>
            </a:r>
            <a:r>
              <a:rPr lang="en-US" dirty="0"/>
              <a:t>   Ed.  </a:t>
            </a:r>
          </a:p>
        </p:txBody>
      </p:sp>
      <p:sp>
        <p:nvSpPr>
          <p:cNvPr id="12" name="Content Placeholder 4">
            <a:extLst>
              <a:ext uri="{FF2B5EF4-FFF2-40B4-BE49-F238E27FC236}">
                <a16:creationId xmlns:a16="http://schemas.microsoft.com/office/drawing/2014/main" id="{FFF53BD5-D6AA-4A4A-A7AD-B7C20A34C975}"/>
              </a:ext>
            </a:extLst>
          </p:cNvPr>
          <p:cNvSpPr txBox="1">
            <a:spLocks/>
          </p:cNvSpPr>
          <p:nvPr/>
        </p:nvSpPr>
        <p:spPr>
          <a:xfrm>
            <a:off x="3859844" y="2148000"/>
            <a:ext cx="4724401" cy="1698345"/>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1800" kern="0" dirty="0"/>
              <a:t>The average power in a single phase of the load is the product of the phase voltage magnitude, the phase current magnitude, and the cosine of the difference between the phase voltage angle and the phase current angle.</a:t>
            </a:r>
          </a:p>
        </p:txBody>
      </p:sp>
      <p:graphicFrame>
        <p:nvGraphicFramePr>
          <p:cNvPr id="13" name="Object 12" descr="P subscript Phi BaseLine equals P subscript A BaseLine equals P subscript B BaseLine equals P subscript C BaseLine equals V subscript Phi BaseLine I subscript Phi BaseLine cosine theta subscript Phi.&#10;">
            <a:extLst>
              <a:ext uri="{FF2B5EF4-FFF2-40B4-BE49-F238E27FC236}">
                <a16:creationId xmlns:a16="http://schemas.microsoft.com/office/drawing/2014/main" id="{FF181C1B-D5F0-43FB-9A75-D3626C90CE18}"/>
              </a:ext>
            </a:extLst>
          </p:cNvPr>
          <p:cNvGraphicFramePr>
            <a:graphicFrameLocks noChangeAspect="1"/>
          </p:cNvGraphicFramePr>
          <p:nvPr>
            <p:extLst>
              <p:ext uri="{D42A27DB-BD31-4B8C-83A1-F6EECF244321}">
                <p14:modId xmlns:p14="http://schemas.microsoft.com/office/powerpoint/2010/main" val="1405232148"/>
              </p:ext>
            </p:extLst>
          </p:nvPr>
        </p:nvGraphicFramePr>
        <p:xfrm>
          <a:off x="2402877" y="3978934"/>
          <a:ext cx="6240462" cy="949325"/>
        </p:xfrm>
        <a:graphic>
          <a:graphicData uri="http://schemas.openxmlformats.org/presentationml/2006/ole">
            <mc:AlternateContent xmlns:mc="http://schemas.openxmlformats.org/markup-compatibility/2006">
              <mc:Choice xmlns:v="urn:schemas-microsoft-com:vml" Requires="v">
                <p:oleObj name="Equation" r:id="rId4" imgW="3124080" imgH="482400" progId="Equation.DSMT4">
                  <p:embed/>
                </p:oleObj>
              </mc:Choice>
              <mc:Fallback>
                <p:oleObj name="Equation" r:id="rId4" imgW="3124080" imgH="482400" progId="Equation.DSMT4">
                  <p:embed/>
                  <p:pic>
                    <p:nvPicPr>
                      <p:cNvPr id="13" name="Object 12" descr="P subscript Phi BaseLine equals P subscript A BaseLine equals P subscript B BaseLine equals P subscript C BaseLine equals V subscript Phi BaseLine I subscript Phi BaseLine cosine theta subscript Phi.&#10;">
                        <a:extLst>
                          <a:ext uri="{FF2B5EF4-FFF2-40B4-BE49-F238E27FC236}">
                            <a16:creationId xmlns:a16="http://schemas.microsoft.com/office/drawing/2014/main" id="{FF181C1B-D5F0-43FB-9A75-D3626C90CE18}"/>
                          </a:ext>
                        </a:extLst>
                      </p:cNvPr>
                      <p:cNvPicPr>
                        <a:picLocks noChangeAspect="1" noChangeArrowheads="1"/>
                      </p:cNvPicPr>
                      <p:nvPr/>
                    </p:nvPicPr>
                    <p:blipFill>
                      <a:blip r:embed="rId5"/>
                      <a:srcRect/>
                      <a:stretch>
                        <a:fillRect/>
                      </a:stretch>
                    </p:blipFill>
                    <p:spPr bwMode="auto">
                      <a:xfrm>
                        <a:off x="2402877" y="3978934"/>
                        <a:ext cx="6240462" cy="949325"/>
                      </a:xfrm>
                      <a:prstGeom prst="rect">
                        <a:avLst/>
                      </a:prstGeom>
                      <a:noFill/>
                    </p:spPr>
                  </p:pic>
                </p:oleObj>
              </mc:Fallback>
            </mc:AlternateContent>
          </a:graphicData>
        </a:graphic>
      </p:graphicFrame>
      <p:sp>
        <p:nvSpPr>
          <p:cNvPr id="14" name="Content Placeholder 5">
            <a:extLst>
              <a:ext uri="{FF2B5EF4-FFF2-40B4-BE49-F238E27FC236}">
                <a16:creationId xmlns:a16="http://schemas.microsoft.com/office/drawing/2014/main" id="{55BD04A7-D4EA-48EE-8266-531D98F67753}"/>
              </a:ext>
            </a:extLst>
          </p:cNvPr>
          <p:cNvSpPr txBox="1">
            <a:spLocks/>
          </p:cNvSpPr>
          <p:nvPr/>
        </p:nvSpPr>
        <p:spPr>
          <a:xfrm>
            <a:off x="2971800" y="4930779"/>
            <a:ext cx="4495800" cy="86734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sz="1800" kern="0" dirty="0"/>
              <a:t>Then, the total power delivered to the load is equal to the power absorbed by the three parts of the load, </a:t>
            </a:r>
          </a:p>
        </p:txBody>
      </p:sp>
      <p:graphicFrame>
        <p:nvGraphicFramePr>
          <p:cNvPr id="15" name="Object 14" descr="P subscript T BaseLine equals P subscript A BaseLine Plus P subscript B BaseLine Plus P subscript C BaseLine equals 3 P subscript Phi BaseLine equals 3 V subscript Phi BaseLine I subscript Phi BaseLine cosine theta subscript Phi.&#10;">
            <a:extLst>
              <a:ext uri="{FF2B5EF4-FFF2-40B4-BE49-F238E27FC236}">
                <a16:creationId xmlns:a16="http://schemas.microsoft.com/office/drawing/2014/main" id="{A2F781AE-1A2A-4393-86D2-6ABE32423E26}"/>
              </a:ext>
            </a:extLst>
          </p:cNvPr>
          <p:cNvGraphicFramePr>
            <a:graphicFrameLocks noChangeAspect="1"/>
          </p:cNvGraphicFramePr>
          <p:nvPr>
            <p:extLst>
              <p:ext uri="{D42A27DB-BD31-4B8C-83A1-F6EECF244321}">
                <p14:modId xmlns:p14="http://schemas.microsoft.com/office/powerpoint/2010/main" val="3846107722"/>
              </p:ext>
            </p:extLst>
          </p:nvPr>
        </p:nvGraphicFramePr>
        <p:xfrm>
          <a:off x="2213372" y="5892939"/>
          <a:ext cx="6780212" cy="793750"/>
        </p:xfrm>
        <a:graphic>
          <a:graphicData uri="http://schemas.openxmlformats.org/presentationml/2006/ole">
            <mc:AlternateContent xmlns:mc="http://schemas.openxmlformats.org/markup-compatibility/2006">
              <mc:Choice xmlns:v="urn:schemas-microsoft-com:vml" Requires="v">
                <p:oleObj name="Equation" r:id="rId6" imgW="4063680" imgH="482400" progId="Equation.DSMT4">
                  <p:embed/>
                </p:oleObj>
              </mc:Choice>
              <mc:Fallback>
                <p:oleObj name="Equation" r:id="rId6" imgW="4063680" imgH="482400" progId="Equation.DSMT4">
                  <p:embed/>
                  <p:pic>
                    <p:nvPicPr>
                      <p:cNvPr id="15" name="Object 14" descr="P subscript T BaseLine equals P subscript A BaseLine Plus P subscript B BaseLine Plus P subscript C BaseLine equals 3 P subscript Phi BaseLine equals 3 V subscript Phi BaseLine I subscript Phi BaseLine cosine theta subscript Phi.&#10;">
                        <a:extLst>
                          <a:ext uri="{FF2B5EF4-FFF2-40B4-BE49-F238E27FC236}">
                            <a16:creationId xmlns:a16="http://schemas.microsoft.com/office/drawing/2014/main" id="{A2F781AE-1A2A-4393-86D2-6ABE32423E26}"/>
                          </a:ext>
                        </a:extLst>
                      </p:cNvPr>
                      <p:cNvPicPr>
                        <a:picLocks noChangeAspect="1" noChangeArrowheads="1"/>
                      </p:cNvPicPr>
                      <p:nvPr/>
                    </p:nvPicPr>
                    <p:blipFill>
                      <a:blip r:embed="rId7"/>
                      <a:srcRect/>
                      <a:stretch>
                        <a:fillRect/>
                      </a:stretch>
                    </p:blipFill>
                    <p:spPr bwMode="auto">
                      <a:xfrm>
                        <a:off x="2213372" y="5892939"/>
                        <a:ext cx="6780212" cy="793750"/>
                      </a:xfrm>
                      <a:prstGeom prst="rect">
                        <a:avLst/>
                      </a:prstGeom>
                      <a:noFill/>
                    </p:spPr>
                  </p:pic>
                </p:oleObj>
              </mc:Fallback>
            </mc:AlternateContent>
          </a:graphicData>
        </a:graphic>
      </p:graphicFrame>
    </p:spTree>
    <p:extLst>
      <p:ext uri="{BB962C8B-B14F-4D97-AF65-F5344CB8AC3E}">
        <p14:creationId xmlns:p14="http://schemas.microsoft.com/office/powerpoint/2010/main" val="18244419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2F39C-8A24-1165-4A8D-1157D2EB4C74}"/>
            </a:ext>
          </a:extLst>
        </p:cNvPr>
        <p:cNvGrpSpPr/>
        <p:nvPr/>
      </p:nvGrpSpPr>
      <p:grpSpPr>
        <a:xfrm>
          <a:off x="0" y="0"/>
          <a:ext cx="0" cy="0"/>
          <a:chOff x="0" y="0"/>
          <a:chExt cx="0" cy="0"/>
        </a:xfrm>
      </p:grpSpPr>
      <p:sp>
        <p:nvSpPr>
          <p:cNvPr id="26" name="Rectangle 6">
            <a:extLst>
              <a:ext uri="{FF2B5EF4-FFF2-40B4-BE49-F238E27FC236}">
                <a16:creationId xmlns:a16="http://schemas.microsoft.com/office/drawing/2014/main" id="{FC3EBA2D-590A-EDBA-5216-BA3BF0BF2C65}"/>
              </a:ext>
            </a:extLst>
          </p:cNvPr>
          <p:cNvSpPr>
            <a:spLocks noChangeArrowheads="1"/>
          </p:cNvSpPr>
          <p:nvPr/>
        </p:nvSpPr>
        <p:spPr bwMode="auto">
          <a:xfrm>
            <a:off x="228600" y="1981200"/>
            <a:ext cx="8744744" cy="4768058"/>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r>
              <a:rPr lang="en-US" dirty="0"/>
              <a:t>  </a:t>
            </a:r>
          </a:p>
        </p:txBody>
      </p:sp>
      <p:sp>
        <p:nvSpPr>
          <p:cNvPr id="1119234" name="Rectangle 2">
            <a:extLst>
              <a:ext uri="{FF2B5EF4-FFF2-40B4-BE49-F238E27FC236}">
                <a16:creationId xmlns:a16="http://schemas.microsoft.com/office/drawing/2014/main" id="{EB99A6FF-C38F-809B-0CD8-BEFF279CAAD6}"/>
              </a:ext>
            </a:extLst>
          </p:cNvPr>
          <p:cNvSpPr>
            <a:spLocks noGrp="1" noChangeArrowheads="1"/>
          </p:cNvSpPr>
          <p:nvPr>
            <p:ph type="title"/>
          </p:nvPr>
        </p:nvSpPr>
        <p:spPr>
          <a:xfrm>
            <a:off x="2150161" y="108741"/>
            <a:ext cx="6858000" cy="998992"/>
          </a:xfrm>
        </p:spPr>
        <p:txBody>
          <a:bodyPr/>
          <a:lstStyle/>
          <a:p>
            <a:r>
              <a:rPr lang="en-US" sz="2800" dirty="0"/>
              <a:t>Power Calculations in Balanced Three-Phase Circuits</a:t>
            </a:r>
          </a:p>
        </p:txBody>
      </p:sp>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C5B21DF1-5E1C-30F3-9453-2C7C7548F50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Content Placeholder 2">
            <a:extLst>
              <a:ext uri="{FF2B5EF4-FFF2-40B4-BE49-F238E27FC236}">
                <a16:creationId xmlns:a16="http://schemas.microsoft.com/office/drawing/2014/main" id="{B716D996-B3DF-462B-84DE-AF99C401CBCC}"/>
              </a:ext>
            </a:extLst>
          </p:cNvPr>
          <p:cNvSpPr txBox="1">
            <a:spLocks/>
          </p:cNvSpPr>
          <p:nvPr/>
        </p:nvSpPr>
        <p:spPr bwMode="auto">
          <a:xfrm>
            <a:off x="522380" y="2243206"/>
            <a:ext cx="8240620" cy="405683"/>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2400" dirty="0"/>
              <a:t>We can also express the real power in terms of line voltages</a:t>
            </a:r>
            <a:endParaRPr lang="en-US" sz="2400" dirty="0"/>
          </a:p>
        </p:txBody>
      </p:sp>
      <p:sp>
        <p:nvSpPr>
          <p:cNvPr id="17" name="Content Placeholder 3">
            <a:extLst>
              <a:ext uri="{FF2B5EF4-FFF2-40B4-BE49-F238E27FC236}">
                <a16:creationId xmlns:a16="http://schemas.microsoft.com/office/drawing/2014/main" id="{F301B825-9C3D-4D13-AB15-A4C43FF27115}"/>
              </a:ext>
            </a:extLst>
          </p:cNvPr>
          <p:cNvSpPr txBox="1">
            <a:spLocks/>
          </p:cNvSpPr>
          <p:nvPr/>
        </p:nvSpPr>
        <p:spPr>
          <a:xfrm>
            <a:off x="524808" y="2681359"/>
            <a:ext cx="7234519"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400" kern="0"/>
              <a:t>and currents. Let the magnitude of the line voltage be</a:t>
            </a:r>
            <a:endParaRPr lang="en-US" sz="2400" kern="0" dirty="0"/>
          </a:p>
        </p:txBody>
      </p:sp>
      <p:graphicFrame>
        <p:nvGraphicFramePr>
          <p:cNvPr id="18" name="Object 17" descr="V subscript L BaseLine.&#10;">
            <a:extLst>
              <a:ext uri="{FF2B5EF4-FFF2-40B4-BE49-F238E27FC236}">
                <a16:creationId xmlns:a16="http://schemas.microsoft.com/office/drawing/2014/main" id="{F78BAEFE-4891-4BDC-86BE-4297B3DFF064}"/>
              </a:ext>
            </a:extLst>
          </p:cNvPr>
          <p:cNvGraphicFramePr>
            <a:graphicFrameLocks noChangeAspect="1"/>
          </p:cNvGraphicFramePr>
          <p:nvPr>
            <p:extLst>
              <p:ext uri="{D42A27DB-BD31-4B8C-83A1-F6EECF244321}">
                <p14:modId xmlns:p14="http://schemas.microsoft.com/office/powerpoint/2010/main" val="2163590107"/>
              </p:ext>
            </p:extLst>
          </p:nvPr>
        </p:nvGraphicFramePr>
        <p:xfrm>
          <a:off x="7793622" y="2731620"/>
          <a:ext cx="315864" cy="397637"/>
        </p:xfrm>
        <a:graphic>
          <a:graphicData uri="http://schemas.openxmlformats.org/presentationml/2006/ole">
            <mc:AlternateContent xmlns:mc="http://schemas.openxmlformats.org/markup-compatibility/2006">
              <mc:Choice xmlns:v="urn:schemas-microsoft-com:vml" Requires="v">
                <p:oleObj name="Equation" r:id="rId3" imgW="177480" imgH="228600" progId="Equation.DSMT4">
                  <p:embed/>
                </p:oleObj>
              </mc:Choice>
              <mc:Fallback>
                <p:oleObj name="Equation" r:id="rId3" imgW="177480" imgH="228600" progId="Equation.DSMT4">
                  <p:embed/>
                  <p:pic>
                    <p:nvPicPr>
                      <p:cNvPr id="18" name="Object 17" descr="V subscript L BaseLine.&#10;">
                        <a:extLst>
                          <a:ext uri="{FF2B5EF4-FFF2-40B4-BE49-F238E27FC236}">
                            <a16:creationId xmlns:a16="http://schemas.microsoft.com/office/drawing/2014/main" id="{F78BAEFE-4891-4BDC-86BE-4297B3DFF064}"/>
                          </a:ext>
                        </a:extLst>
                      </p:cNvPr>
                      <p:cNvPicPr>
                        <a:picLocks noChangeAspect="1" noChangeArrowheads="1"/>
                      </p:cNvPicPr>
                      <p:nvPr/>
                    </p:nvPicPr>
                    <p:blipFill>
                      <a:blip r:embed="rId4"/>
                      <a:srcRect/>
                      <a:stretch>
                        <a:fillRect/>
                      </a:stretch>
                    </p:blipFill>
                    <p:spPr bwMode="auto">
                      <a:xfrm>
                        <a:off x="7793622" y="2731620"/>
                        <a:ext cx="315864" cy="397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Content Placeholder 4">
            <a:extLst>
              <a:ext uri="{FF2B5EF4-FFF2-40B4-BE49-F238E27FC236}">
                <a16:creationId xmlns:a16="http://schemas.microsoft.com/office/drawing/2014/main" id="{FC79FAFA-2E1A-4D60-9DC6-55509CBCB1DD}"/>
              </a:ext>
            </a:extLst>
          </p:cNvPr>
          <p:cNvSpPr txBox="1">
            <a:spLocks/>
          </p:cNvSpPr>
          <p:nvPr/>
        </p:nvSpPr>
        <p:spPr>
          <a:xfrm>
            <a:off x="8152746" y="2681358"/>
            <a:ext cx="511020" cy="405683"/>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400" kern="0"/>
              <a:t>and</a:t>
            </a:r>
            <a:endParaRPr lang="en-US" sz="2400" kern="0" dirty="0"/>
          </a:p>
        </p:txBody>
      </p:sp>
      <p:sp>
        <p:nvSpPr>
          <p:cNvPr id="20" name="Content Placeholder 5">
            <a:extLst>
              <a:ext uri="{FF2B5EF4-FFF2-40B4-BE49-F238E27FC236}">
                <a16:creationId xmlns:a16="http://schemas.microsoft.com/office/drawing/2014/main" id="{C9DB3A3A-B070-432C-8547-056F3C97D5E3}"/>
              </a:ext>
            </a:extLst>
          </p:cNvPr>
          <p:cNvSpPr txBox="1">
            <a:spLocks/>
          </p:cNvSpPr>
          <p:nvPr/>
        </p:nvSpPr>
        <p:spPr>
          <a:xfrm>
            <a:off x="524809" y="3136316"/>
            <a:ext cx="4805083"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400" kern="0"/>
              <a:t>the magnitude of the line current be</a:t>
            </a:r>
            <a:endParaRPr lang="en-US" sz="2400" kern="0" dirty="0"/>
          </a:p>
        </p:txBody>
      </p:sp>
      <p:graphicFrame>
        <p:nvGraphicFramePr>
          <p:cNvPr id="21" name="Object 20" descr="I subscript L BaseLine.&#10;">
            <a:extLst>
              <a:ext uri="{FF2B5EF4-FFF2-40B4-BE49-F238E27FC236}">
                <a16:creationId xmlns:a16="http://schemas.microsoft.com/office/drawing/2014/main" id="{2F548CEB-4C15-4C5C-AE4E-54881444C257}"/>
              </a:ext>
            </a:extLst>
          </p:cNvPr>
          <p:cNvGraphicFramePr>
            <a:graphicFrameLocks noChangeAspect="1"/>
          </p:cNvGraphicFramePr>
          <p:nvPr>
            <p:extLst>
              <p:ext uri="{D42A27DB-BD31-4B8C-83A1-F6EECF244321}">
                <p14:modId xmlns:p14="http://schemas.microsoft.com/office/powerpoint/2010/main" val="2572620212"/>
              </p:ext>
            </p:extLst>
          </p:nvPr>
        </p:nvGraphicFramePr>
        <p:xfrm>
          <a:off x="5381088" y="3196200"/>
          <a:ext cx="315864" cy="397637"/>
        </p:xfrm>
        <a:graphic>
          <a:graphicData uri="http://schemas.openxmlformats.org/presentationml/2006/ole">
            <mc:AlternateContent xmlns:mc="http://schemas.openxmlformats.org/markup-compatibility/2006">
              <mc:Choice xmlns:v="urn:schemas-microsoft-com:vml" Requires="v">
                <p:oleObj name="Equation" r:id="rId5" imgW="177480" imgH="228600" progId="Equation.DSMT4">
                  <p:embed/>
                </p:oleObj>
              </mc:Choice>
              <mc:Fallback>
                <p:oleObj name="Equation" r:id="rId5" imgW="177480" imgH="228600" progId="Equation.DSMT4">
                  <p:embed/>
                  <p:pic>
                    <p:nvPicPr>
                      <p:cNvPr id="21" name="Object 20" descr="I subscript L BaseLine.&#10;">
                        <a:extLst>
                          <a:ext uri="{FF2B5EF4-FFF2-40B4-BE49-F238E27FC236}">
                            <a16:creationId xmlns:a16="http://schemas.microsoft.com/office/drawing/2014/main" id="{2F548CEB-4C15-4C5C-AE4E-54881444C257}"/>
                          </a:ext>
                        </a:extLst>
                      </p:cNvPr>
                      <p:cNvPicPr>
                        <a:picLocks noChangeAspect="1" noChangeArrowheads="1"/>
                      </p:cNvPicPr>
                      <p:nvPr/>
                    </p:nvPicPr>
                    <p:blipFill>
                      <a:blip r:embed="rId6"/>
                      <a:srcRect/>
                      <a:stretch>
                        <a:fillRect/>
                      </a:stretch>
                    </p:blipFill>
                    <p:spPr bwMode="auto">
                      <a:xfrm>
                        <a:off x="5381088" y="3196200"/>
                        <a:ext cx="315864" cy="397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Content Placeholder 6">
            <a:extLst>
              <a:ext uri="{FF2B5EF4-FFF2-40B4-BE49-F238E27FC236}">
                <a16:creationId xmlns:a16="http://schemas.microsoft.com/office/drawing/2014/main" id="{71E65B67-6420-4FC5-AAC4-0EA119903C0D}"/>
              </a:ext>
            </a:extLst>
          </p:cNvPr>
          <p:cNvSpPr txBox="1">
            <a:spLocks/>
          </p:cNvSpPr>
          <p:nvPr/>
        </p:nvSpPr>
        <p:spPr>
          <a:xfrm>
            <a:off x="5748148" y="3139741"/>
            <a:ext cx="786350" cy="405683"/>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400" kern="0"/>
              <a:t>Then,</a:t>
            </a:r>
            <a:endParaRPr lang="en-US" sz="2400" kern="0" dirty="0"/>
          </a:p>
        </p:txBody>
      </p:sp>
      <p:graphicFrame>
        <p:nvGraphicFramePr>
          <p:cNvPr id="23" name="Object 22" descr="The figure illustrates the calculation of P subscript T.&#10;Long description is available in notes, press F6.">
            <a:extLst>
              <a:ext uri="{FF2B5EF4-FFF2-40B4-BE49-F238E27FC236}">
                <a16:creationId xmlns:a16="http://schemas.microsoft.com/office/drawing/2014/main" id="{2BD65B78-6C9D-4D41-8A04-418CB7D35432}"/>
              </a:ext>
            </a:extLst>
          </p:cNvPr>
          <p:cNvGraphicFramePr>
            <a:graphicFrameLocks noChangeAspect="1"/>
          </p:cNvGraphicFramePr>
          <p:nvPr>
            <p:extLst>
              <p:ext uri="{D42A27DB-BD31-4B8C-83A1-F6EECF244321}">
                <p14:modId xmlns:p14="http://schemas.microsoft.com/office/powerpoint/2010/main" val="640723080"/>
              </p:ext>
            </p:extLst>
          </p:nvPr>
        </p:nvGraphicFramePr>
        <p:xfrm>
          <a:off x="1057275" y="3724275"/>
          <a:ext cx="7221538" cy="749300"/>
        </p:xfrm>
        <a:graphic>
          <a:graphicData uri="http://schemas.openxmlformats.org/presentationml/2006/ole">
            <mc:AlternateContent xmlns:mc="http://schemas.openxmlformats.org/markup-compatibility/2006">
              <mc:Choice xmlns:v="urn:schemas-microsoft-com:vml" Requires="v">
                <p:oleObj name="Equation" r:id="rId7" imgW="4063680" imgH="431640" progId="Equation.DSMT4">
                  <p:embed/>
                </p:oleObj>
              </mc:Choice>
              <mc:Fallback>
                <p:oleObj name="Equation" r:id="rId7" imgW="4063680" imgH="431640" progId="Equation.DSMT4">
                  <p:embed/>
                  <p:pic>
                    <p:nvPicPr>
                      <p:cNvPr id="23" name="Object 22" descr="The figure illustrates the calculation of P subscript T.&#10;Long description is available in notes, press F6.">
                        <a:extLst>
                          <a:ext uri="{FF2B5EF4-FFF2-40B4-BE49-F238E27FC236}">
                            <a16:creationId xmlns:a16="http://schemas.microsoft.com/office/drawing/2014/main" id="{2BD65B78-6C9D-4D41-8A04-418CB7D35432}"/>
                          </a:ext>
                        </a:extLst>
                      </p:cNvPr>
                      <p:cNvPicPr>
                        <a:picLocks noChangeAspect="1" noChangeArrowheads="1"/>
                      </p:cNvPicPr>
                      <p:nvPr/>
                    </p:nvPicPr>
                    <p:blipFill>
                      <a:blip r:embed="rId8"/>
                      <a:srcRect/>
                      <a:stretch>
                        <a:fillRect/>
                      </a:stretch>
                    </p:blipFill>
                    <p:spPr bwMode="auto">
                      <a:xfrm>
                        <a:off x="1057275" y="3724275"/>
                        <a:ext cx="7221538"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Content Placeholder 2">
            <a:extLst>
              <a:ext uri="{FF2B5EF4-FFF2-40B4-BE49-F238E27FC236}">
                <a16:creationId xmlns:a16="http://schemas.microsoft.com/office/drawing/2014/main" id="{2627B1F6-8B49-43DB-9E58-58474255C6F5}"/>
              </a:ext>
            </a:extLst>
          </p:cNvPr>
          <p:cNvSpPr txBox="1">
            <a:spLocks/>
          </p:cNvSpPr>
          <p:nvPr/>
        </p:nvSpPr>
        <p:spPr bwMode="auto">
          <a:xfrm>
            <a:off x="423146" y="4503207"/>
            <a:ext cx="8240620" cy="1883011"/>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r>
              <a:rPr lang="en-US" altLang="en-US" sz="2400" dirty="0"/>
              <a:t>This comes from the previous determination that the line voltage in a wye-connected load is equal to square-root of three times the phase voltage.  Remember also that in these expressions, the voltage and current terms are the rms magnitudes of the voltage and current, respectively.  </a:t>
            </a:r>
            <a:endParaRPr lang="en-US" sz="2400" dirty="0"/>
          </a:p>
        </p:txBody>
      </p:sp>
    </p:spTree>
    <p:extLst>
      <p:ext uri="{BB962C8B-B14F-4D97-AF65-F5344CB8AC3E}">
        <p14:creationId xmlns:p14="http://schemas.microsoft.com/office/powerpoint/2010/main" val="36928829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2F39C-8A24-1165-4A8D-1157D2EB4C74}"/>
            </a:ext>
          </a:extLst>
        </p:cNvPr>
        <p:cNvGrpSpPr/>
        <p:nvPr/>
      </p:nvGrpSpPr>
      <p:grpSpPr>
        <a:xfrm>
          <a:off x="0" y="0"/>
          <a:ext cx="0" cy="0"/>
          <a:chOff x="0" y="0"/>
          <a:chExt cx="0" cy="0"/>
        </a:xfrm>
      </p:grpSpPr>
      <p:sp>
        <p:nvSpPr>
          <p:cNvPr id="26" name="Rectangle 6">
            <a:extLst>
              <a:ext uri="{FF2B5EF4-FFF2-40B4-BE49-F238E27FC236}">
                <a16:creationId xmlns:a16="http://schemas.microsoft.com/office/drawing/2014/main" id="{FC3EBA2D-590A-EDBA-5216-BA3BF0BF2C65}"/>
              </a:ext>
            </a:extLst>
          </p:cNvPr>
          <p:cNvSpPr>
            <a:spLocks noChangeArrowheads="1"/>
          </p:cNvSpPr>
          <p:nvPr/>
        </p:nvSpPr>
        <p:spPr bwMode="auto">
          <a:xfrm>
            <a:off x="228600" y="1981200"/>
            <a:ext cx="8744744" cy="4768058"/>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r>
              <a:rPr lang="en-US" dirty="0"/>
              <a:t>  </a:t>
            </a:r>
          </a:p>
        </p:txBody>
      </p:sp>
      <p:sp>
        <p:nvSpPr>
          <p:cNvPr id="1119234" name="Rectangle 2">
            <a:extLst>
              <a:ext uri="{FF2B5EF4-FFF2-40B4-BE49-F238E27FC236}">
                <a16:creationId xmlns:a16="http://schemas.microsoft.com/office/drawing/2014/main" id="{EB99A6FF-C38F-809B-0CD8-BEFF279CAAD6}"/>
              </a:ext>
            </a:extLst>
          </p:cNvPr>
          <p:cNvSpPr>
            <a:spLocks noGrp="1" noChangeArrowheads="1"/>
          </p:cNvSpPr>
          <p:nvPr>
            <p:ph type="title"/>
          </p:nvPr>
        </p:nvSpPr>
        <p:spPr>
          <a:xfrm>
            <a:off x="2150161" y="108741"/>
            <a:ext cx="6858000" cy="998992"/>
          </a:xfrm>
        </p:spPr>
        <p:txBody>
          <a:bodyPr/>
          <a:lstStyle/>
          <a:p>
            <a:r>
              <a:rPr lang="en-US" sz="2800" dirty="0"/>
              <a:t>Power Calculations in Balanced Three-Phase Circuits</a:t>
            </a:r>
          </a:p>
        </p:txBody>
      </p:sp>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C5B21DF1-5E1C-30F3-9453-2C7C7548F50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Content Placeholder 2">
            <a:extLst>
              <a:ext uri="{FF2B5EF4-FFF2-40B4-BE49-F238E27FC236}">
                <a16:creationId xmlns:a16="http://schemas.microsoft.com/office/drawing/2014/main" id="{B716D996-B3DF-462B-84DE-AF99C401CBCC}"/>
              </a:ext>
            </a:extLst>
          </p:cNvPr>
          <p:cNvSpPr txBox="1">
            <a:spLocks/>
          </p:cNvSpPr>
          <p:nvPr/>
        </p:nvSpPr>
        <p:spPr bwMode="auto">
          <a:xfrm>
            <a:off x="522380" y="2243206"/>
            <a:ext cx="8240620" cy="405683"/>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altLang="en-US" sz="2400" dirty="0"/>
              <a:t>We can repeat this derivation for the delta-connected load. </a:t>
            </a:r>
            <a:endParaRPr lang="en-US" sz="2400" dirty="0"/>
          </a:p>
        </p:txBody>
      </p:sp>
      <p:sp>
        <p:nvSpPr>
          <p:cNvPr id="17" name="Content Placeholder 3">
            <a:extLst>
              <a:ext uri="{FF2B5EF4-FFF2-40B4-BE49-F238E27FC236}">
                <a16:creationId xmlns:a16="http://schemas.microsoft.com/office/drawing/2014/main" id="{F301B825-9C3D-4D13-AB15-A4C43FF27115}"/>
              </a:ext>
            </a:extLst>
          </p:cNvPr>
          <p:cNvSpPr txBox="1">
            <a:spLocks/>
          </p:cNvSpPr>
          <p:nvPr/>
        </p:nvSpPr>
        <p:spPr>
          <a:xfrm>
            <a:off x="524808" y="2681359"/>
            <a:ext cx="7234519"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400" kern="0" dirty="0"/>
              <a:t>Let the magnitude of the line voltage be</a:t>
            </a:r>
            <a:endParaRPr lang="en-US" sz="2400" kern="0" dirty="0"/>
          </a:p>
        </p:txBody>
      </p:sp>
      <p:graphicFrame>
        <p:nvGraphicFramePr>
          <p:cNvPr id="18" name="Object 17" descr="V subscript L BaseLine.&#10;">
            <a:extLst>
              <a:ext uri="{FF2B5EF4-FFF2-40B4-BE49-F238E27FC236}">
                <a16:creationId xmlns:a16="http://schemas.microsoft.com/office/drawing/2014/main" id="{F78BAEFE-4891-4BDC-86BE-4297B3DFF064}"/>
              </a:ext>
            </a:extLst>
          </p:cNvPr>
          <p:cNvGraphicFramePr>
            <a:graphicFrameLocks noChangeAspect="1"/>
          </p:cNvGraphicFramePr>
          <p:nvPr>
            <p:extLst>
              <p:ext uri="{D42A27DB-BD31-4B8C-83A1-F6EECF244321}">
                <p14:modId xmlns:p14="http://schemas.microsoft.com/office/powerpoint/2010/main" val="2727152633"/>
              </p:ext>
            </p:extLst>
          </p:nvPr>
        </p:nvGraphicFramePr>
        <p:xfrm>
          <a:off x="5983391" y="2721493"/>
          <a:ext cx="315864" cy="397637"/>
        </p:xfrm>
        <a:graphic>
          <a:graphicData uri="http://schemas.openxmlformats.org/presentationml/2006/ole">
            <mc:AlternateContent xmlns:mc="http://schemas.openxmlformats.org/markup-compatibility/2006">
              <mc:Choice xmlns:v="urn:schemas-microsoft-com:vml" Requires="v">
                <p:oleObj name="Equation" r:id="rId3" imgW="177480" imgH="228600" progId="Equation.DSMT4">
                  <p:embed/>
                </p:oleObj>
              </mc:Choice>
              <mc:Fallback>
                <p:oleObj name="Equation" r:id="rId3" imgW="177480" imgH="228600" progId="Equation.DSMT4">
                  <p:embed/>
                  <p:pic>
                    <p:nvPicPr>
                      <p:cNvPr id="18" name="Object 17" descr="V subscript L BaseLine.&#10;">
                        <a:extLst>
                          <a:ext uri="{FF2B5EF4-FFF2-40B4-BE49-F238E27FC236}">
                            <a16:creationId xmlns:a16="http://schemas.microsoft.com/office/drawing/2014/main" id="{F78BAEFE-4891-4BDC-86BE-4297B3DFF064}"/>
                          </a:ext>
                        </a:extLst>
                      </p:cNvPr>
                      <p:cNvPicPr>
                        <a:picLocks noChangeAspect="1" noChangeArrowheads="1"/>
                      </p:cNvPicPr>
                      <p:nvPr/>
                    </p:nvPicPr>
                    <p:blipFill>
                      <a:blip r:embed="rId4"/>
                      <a:srcRect/>
                      <a:stretch>
                        <a:fillRect/>
                      </a:stretch>
                    </p:blipFill>
                    <p:spPr bwMode="auto">
                      <a:xfrm>
                        <a:off x="5983391" y="2721493"/>
                        <a:ext cx="315864" cy="397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Content Placeholder 4">
            <a:extLst>
              <a:ext uri="{FF2B5EF4-FFF2-40B4-BE49-F238E27FC236}">
                <a16:creationId xmlns:a16="http://schemas.microsoft.com/office/drawing/2014/main" id="{FC79FAFA-2E1A-4D60-9DC6-55509CBCB1DD}"/>
              </a:ext>
            </a:extLst>
          </p:cNvPr>
          <p:cNvSpPr txBox="1">
            <a:spLocks/>
          </p:cNvSpPr>
          <p:nvPr/>
        </p:nvSpPr>
        <p:spPr>
          <a:xfrm>
            <a:off x="6395243" y="2660038"/>
            <a:ext cx="511020" cy="405683"/>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400" kern="0" dirty="0"/>
              <a:t>and</a:t>
            </a:r>
            <a:endParaRPr lang="en-US" sz="2400" kern="0" dirty="0"/>
          </a:p>
        </p:txBody>
      </p:sp>
      <p:sp>
        <p:nvSpPr>
          <p:cNvPr id="20" name="Content Placeholder 5">
            <a:extLst>
              <a:ext uri="{FF2B5EF4-FFF2-40B4-BE49-F238E27FC236}">
                <a16:creationId xmlns:a16="http://schemas.microsoft.com/office/drawing/2014/main" id="{C9DB3A3A-B070-432C-8547-056F3C97D5E3}"/>
              </a:ext>
            </a:extLst>
          </p:cNvPr>
          <p:cNvSpPr txBox="1">
            <a:spLocks/>
          </p:cNvSpPr>
          <p:nvPr/>
        </p:nvSpPr>
        <p:spPr>
          <a:xfrm>
            <a:off x="524809" y="3136316"/>
            <a:ext cx="4805083"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400" kern="0"/>
              <a:t>the magnitude of the line current be</a:t>
            </a:r>
            <a:endParaRPr lang="en-US" sz="2400" kern="0" dirty="0"/>
          </a:p>
        </p:txBody>
      </p:sp>
      <p:graphicFrame>
        <p:nvGraphicFramePr>
          <p:cNvPr id="21" name="Object 20" descr="I subscript L BaseLine.&#10;">
            <a:extLst>
              <a:ext uri="{FF2B5EF4-FFF2-40B4-BE49-F238E27FC236}">
                <a16:creationId xmlns:a16="http://schemas.microsoft.com/office/drawing/2014/main" id="{2F548CEB-4C15-4C5C-AE4E-54881444C257}"/>
              </a:ext>
            </a:extLst>
          </p:cNvPr>
          <p:cNvGraphicFramePr>
            <a:graphicFrameLocks noChangeAspect="1"/>
          </p:cNvGraphicFramePr>
          <p:nvPr/>
        </p:nvGraphicFramePr>
        <p:xfrm>
          <a:off x="5381088" y="3196200"/>
          <a:ext cx="315864" cy="397637"/>
        </p:xfrm>
        <a:graphic>
          <a:graphicData uri="http://schemas.openxmlformats.org/presentationml/2006/ole">
            <mc:AlternateContent xmlns:mc="http://schemas.openxmlformats.org/markup-compatibility/2006">
              <mc:Choice xmlns:v="urn:schemas-microsoft-com:vml" Requires="v">
                <p:oleObj name="Equation" r:id="rId5" imgW="177480" imgH="228600" progId="Equation.DSMT4">
                  <p:embed/>
                </p:oleObj>
              </mc:Choice>
              <mc:Fallback>
                <p:oleObj name="Equation" r:id="rId5" imgW="177480" imgH="228600" progId="Equation.DSMT4">
                  <p:embed/>
                  <p:pic>
                    <p:nvPicPr>
                      <p:cNvPr id="21" name="Object 20" descr="I subscript L BaseLine.&#10;">
                        <a:extLst>
                          <a:ext uri="{FF2B5EF4-FFF2-40B4-BE49-F238E27FC236}">
                            <a16:creationId xmlns:a16="http://schemas.microsoft.com/office/drawing/2014/main" id="{2F548CEB-4C15-4C5C-AE4E-54881444C257}"/>
                          </a:ext>
                        </a:extLst>
                      </p:cNvPr>
                      <p:cNvPicPr>
                        <a:picLocks noChangeAspect="1" noChangeArrowheads="1"/>
                      </p:cNvPicPr>
                      <p:nvPr/>
                    </p:nvPicPr>
                    <p:blipFill>
                      <a:blip r:embed="rId6"/>
                      <a:srcRect/>
                      <a:stretch>
                        <a:fillRect/>
                      </a:stretch>
                    </p:blipFill>
                    <p:spPr bwMode="auto">
                      <a:xfrm>
                        <a:off x="5381088" y="3196200"/>
                        <a:ext cx="315864" cy="397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Content Placeholder 6">
            <a:extLst>
              <a:ext uri="{FF2B5EF4-FFF2-40B4-BE49-F238E27FC236}">
                <a16:creationId xmlns:a16="http://schemas.microsoft.com/office/drawing/2014/main" id="{71E65B67-6420-4FC5-AAC4-0EA119903C0D}"/>
              </a:ext>
            </a:extLst>
          </p:cNvPr>
          <p:cNvSpPr txBox="1">
            <a:spLocks/>
          </p:cNvSpPr>
          <p:nvPr/>
        </p:nvSpPr>
        <p:spPr>
          <a:xfrm>
            <a:off x="5748148" y="3139741"/>
            <a:ext cx="786350" cy="405683"/>
          </a:xfrm>
          <a:prstGeom prst="rect">
            <a:avLst/>
          </a:prstGeom>
        </p:spPr>
        <p:txBody>
          <a:bodyPr lIns="0" tIns="18000" rIns="0" bIns="18000" anchor="ctr" anchorCtr="0">
            <a:spAutoFit/>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a:lstStyle>
          <a:p>
            <a:pPr marL="0" indent="0">
              <a:buFontTx/>
              <a:buNone/>
            </a:pPr>
            <a:r>
              <a:rPr lang="en-US" altLang="en-US" sz="2400" kern="0"/>
              <a:t>Then,</a:t>
            </a:r>
            <a:endParaRPr lang="en-US" sz="2400" kern="0" dirty="0"/>
          </a:p>
        </p:txBody>
      </p:sp>
      <p:graphicFrame>
        <p:nvGraphicFramePr>
          <p:cNvPr id="23" name="Object 22" descr="The figure illustrates the calculation of P subscript T.&#10;Long description is available in notes, press F6.">
            <a:extLst>
              <a:ext uri="{FF2B5EF4-FFF2-40B4-BE49-F238E27FC236}">
                <a16:creationId xmlns:a16="http://schemas.microsoft.com/office/drawing/2014/main" id="{2BD65B78-6C9D-4D41-8A04-418CB7D35432}"/>
              </a:ext>
            </a:extLst>
          </p:cNvPr>
          <p:cNvGraphicFramePr>
            <a:graphicFrameLocks noChangeAspect="1"/>
          </p:cNvGraphicFramePr>
          <p:nvPr>
            <p:extLst>
              <p:ext uri="{D42A27DB-BD31-4B8C-83A1-F6EECF244321}">
                <p14:modId xmlns:p14="http://schemas.microsoft.com/office/powerpoint/2010/main" val="553420105"/>
              </p:ext>
            </p:extLst>
          </p:nvPr>
        </p:nvGraphicFramePr>
        <p:xfrm>
          <a:off x="1035050" y="3724275"/>
          <a:ext cx="7267575" cy="749300"/>
        </p:xfrm>
        <a:graphic>
          <a:graphicData uri="http://schemas.openxmlformats.org/presentationml/2006/ole">
            <mc:AlternateContent xmlns:mc="http://schemas.openxmlformats.org/markup-compatibility/2006">
              <mc:Choice xmlns:v="urn:schemas-microsoft-com:vml" Requires="v">
                <p:oleObj name="Equation" r:id="rId7" imgW="4089240" imgH="431640" progId="Equation.DSMT4">
                  <p:embed/>
                </p:oleObj>
              </mc:Choice>
              <mc:Fallback>
                <p:oleObj name="Equation" r:id="rId7" imgW="4089240" imgH="431640" progId="Equation.DSMT4">
                  <p:embed/>
                  <p:pic>
                    <p:nvPicPr>
                      <p:cNvPr id="23" name="Object 22" descr="The figure illustrates the calculation of P subscript T.&#10;Long description is available in notes, press F6.">
                        <a:extLst>
                          <a:ext uri="{FF2B5EF4-FFF2-40B4-BE49-F238E27FC236}">
                            <a16:creationId xmlns:a16="http://schemas.microsoft.com/office/drawing/2014/main" id="{2BD65B78-6C9D-4D41-8A04-418CB7D35432}"/>
                          </a:ext>
                        </a:extLst>
                      </p:cNvPr>
                      <p:cNvPicPr>
                        <a:picLocks noChangeAspect="1" noChangeArrowheads="1"/>
                      </p:cNvPicPr>
                      <p:nvPr/>
                    </p:nvPicPr>
                    <p:blipFill>
                      <a:blip r:embed="rId8"/>
                      <a:srcRect/>
                      <a:stretch>
                        <a:fillRect/>
                      </a:stretch>
                    </p:blipFill>
                    <p:spPr bwMode="auto">
                      <a:xfrm>
                        <a:off x="1035050" y="3724275"/>
                        <a:ext cx="7267575"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Content Placeholder 2">
            <a:extLst>
              <a:ext uri="{FF2B5EF4-FFF2-40B4-BE49-F238E27FC236}">
                <a16:creationId xmlns:a16="http://schemas.microsoft.com/office/drawing/2014/main" id="{2627B1F6-8B49-43DB-9E58-58474255C6F5}"/>
              </a:ext>
            </a:extLst>
          </p:cNvPr>
          <p:cNvSpPr txBox="1">
            <a:spLocks/>
          </p:cNvSpPr>
          <p:nvPr/>
        </p:nvSpPr>
        <p:spPr bwMode="auto">
          <a:xfrm>
            <a:off x="423146" y="4503207"/>
            <a:ext cx="8240620" cy="1883011"/>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r>
              <a:rPr lang="en-US" altLang="en-US" sz="2400" dirty="0"/>
              <a:t>This comes from the previous determination that the line current in a delta-connected load is equal to square-root of three times the phase current.  The result is the same.  Remember that the voltage and current terms are the rms magnitudes of the voltage and current, respectively.  </a:t>
            </a:r>
            <a:endParaRPr lang="en-US" sz="2400" dirty="0"/>
          </a:p>
        </p:txBody>
      </p:sp>
    </p:spTree>
    <p:extLst>
      <p:ext uri="{BB962C8B-B14F-4D97-AF65-F5344CB8AC3E}">
        <p14:creationId xmlns:p14="http://schemas.microsoft.com/office/powerpoint/2010/main" val="10339622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2F39C-8A24-1165-4A8D-1157D2EB4C74}"/>
            </a:ext>
          </a:extLst>
        </p:cNvPr>
        <p:cNvGrpSpPr/>
        <p:nvPr/>
      </p:nvGrpSpPr>
      <p:grpSpPr>
        <a:xfrm>
          <a:off x="0" y="0"/>
          <a:ext cx="0" cy="0"/>
          <a:chOff x="0" y="0"/>
          <a:chExt cx="0" cy="0"/>
        </a:xfrm>
      </p:grpSpPr>
      <p:sp>
        <p:nvSpPr>
          <p:cNvPr id="26" name="Rectangle 6">
            <a:extLst>
              <a:ext uri="{FF2B5EF4-FFF2-40B4-BE49-F238E27FC236}">
                <a16:creationId xmlns:a16="http://schemas.microsoft.com/office/drawing/2014/main" id="{FC3EBA2D-590A-EDBA-5216-BA3BF0BF2C65}"/>
              </a:ext>
            </a:extLst>
          </p:cNvPr>
          <p:cNvSpPr>
            <a:spLocks noChangeArrowheads="1"/>
          </p:cNvSpPr>
          <p:nvPr/>
        </p:nvSpPr>
        <p:spPr bwMode="auto">
          <a:xfrm>
            <a:off x="263417" y="1948348"/>
            <a:ext cx="8744744" cy="4768058"/>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r>
              <a:rPr lang="en-US" dirty="0"/>
              <a:t>  </a:t>
            </a:r>
          </a:p>
        </p:txBody>
      </p:sp>
      <p:sp>
        <p:nvSpPr>
          <p:cNvPr id="1119234" name="Rectangle 2">
            <a:extLst>
              <a:ext uri="{FF2B5EF4-FFF2-40B4-BE49-F238E27FC236}">
                <a16:creationId xmlns:a16="http://schemas.microsoft.com/office/drawing/2014/main" id="{EB99A6FF-C38F-809B-0CD8-BEFF279CAAD6}"/>
              </a:ext>
            </a:extLst>
          </p:cNvPr>
          <p:cNvSpPr>
            <a:spLocks noGrp="1" noChangeArrowheads="1"/>
          </p:cNvSpPr>
          <p:nvPr>
            <p:ph type="title"/>
          </p:nvPr>
        </p:nvSpPr>
        <p:spPr>
          <a:xfrm>
            <a:off x="2150161" y="108741"/>
            <a:ext cx="6858000" cy="998992"/>
          </a:xfrm>
        </p:spPr>
        <p:txBody>
          <a:bodyPr/>
          <a:lstStyle/>
          <a:p>
            <a:r>
              <a:rPr lang="en-US" sz="2800" dirty="0"/>
              <a:t>Power Calculations in Balanced Three-Phase Circuits</a:t>
            </a:r>
          </a:p>
        </p:txBody>
      </p:sp>
      <p:sp>
        <p:nvSpPr>
          <p:cNvPr id="4" name="AutoShape 2" descr="&lt;p&gt;The generator consists of a rotor surrounded by a circular stator with an air gap between them. The rotor in the middle has a clockwise rotating electromagnet, padded with field winding S on two sides. The rotor undergoes N rotation in the clockwise direction. The surrounding stator consists of two sets of three separate windings distributed on its periphery, with these sets labeled &amp;#x201C;a&amp;#x201D;-phase winding, b-phase winding, and c-phase winding. Three dashed lines are drawn from the center of the rotor to the periphery of the stator, separated by an angle of 120 degrees. These lines represent axes of the &amp;#x201C;a&amp;#x201D;-phase winding, b-phase winding, and c-phase winding.&lt;/p&gt;">
            <a:extLst>
              <a:ext uri="{FF2B5EF4-FFF2-40B4-BE49-F238E27FC236}">
                <a16:creationId xmlns:a16="http://schemas.microsoft.com/office/drawing/2014/main" id="{C5B21DF1-5E1C-30F3-9453-2C7C7548F50F}"/>
              </a:ext>
            </a:extLst>
          </p:cNvPr>
          <p:cNvSpPr>
            <a:spLocks noChangeAspect="1" noChangeArrowheads="1"/>
          </p:cNvSpPr>
          <p:nvPr/>
        </p:nvSpPr>
        <p:spPr bwMode="auto">
          <a:xfrm>
            <a:off x="2209800" y="32766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3" name="Object 22" descr="The figure illustrates the calculation of P subscript T.&#10;Long description is available in notes, press F6.">
            <a:extLst>
              <a:ext uri="{FF2B5EF4-FFF2-40B4-BE49-F238E27FC236}">
                <a16:creationId xmlns:a16="http://schemas.microsoft.com/office/drawing/2014/main" id="{2BD65B78-6C9D-4D41-8A04-418CB7D35432}"/>
              </a:ext>
            </a:extLst>
          </p:cNvPr>
          <p:cNvGraphicFramePr>
            <a:graphicFrameLocks noChangeAspect="1"/>
          </p:cNvGraphicFramePr>
          <p:nvPr>
            <p:extLst>
              <p:ext uri="{D42A27DB-BD31-4B8C-83A1-F6EECF244321}">
                <p14:modId xmlns:p14="http://schemas.microsoft.com/office/powerpoint/2010/main" val="401514394"/>
              </p:ext>
            </p:extLst>
          </p:nvPr>
        </p:nvGraphicFramePr>
        <p:xfrm>
          <a:off x="1143000" y="3844039"/>
          <a:ext cx="6751436" cy="488338"/>
        </p:xfrm>
        <a:graphic>
          <a:graphicData uri="http://schemas.openxmlformats.org/presentationml/2006/ole">
            <mc:AlternateContent xmlns:mc="http://schemas.openxmlformats.org/markup-compatibility/2006">
              <mc:Choice xmlns:v="urn:schemas-microsoft-com:vml" Requires="v">
                <p:oleObj name="Equation" r:id="rId3" imgW="3606480" imgH="266400" progId="Equation.DSMT4">
                  <p:embed/>
                </p:oleObj>
              </mc:Choice>
              <mc:Fallback>
                <p:oleObj name="Equation" r:id="rId3" imgW="3606480" imgH="266400" progId="Equation.DSMT4">
                  <p:embed/>
                  <p:pic>
                    <p:nvPicPr>
                      <p:cNvPr id="23" name="Object 22" descr="The figure illustrates the calculation of P subscript T.&#10;Long description is available in notes, press F6.">
                        <a:extLst>
                          <a:ext uri="{FF2B5EF4-FFF2-40B4-BE49-F238E27FC236}">
                            <a16:creationId xmlns:a16="http://schemas.microsoft.com/office/drawing/2014/main" id="{2BD65B78-6C9D-4D41-8A04-418CB7D35432}"/>
                          </a:ext>
                        </a:extLst>
                      </p:cNvPr>
                      <p:cNvPicPr>
                        <a:picLocks noChangeAspect="1" noChangeArrowheads="1"/>
                      </p:cNvPicPr>
                      <p:nvPr/>
                    </p:nvPicPr>
                    <p:blipFill>
                      <a:blip r:embed="rId4"/>
                      <a:srcRect/>
                      <a:stretch>
                        <a:fillRect/>
                      </a:stretch>
                    </p:blipFill>
                    <p:spPr bwMode="auto">
                      <a:xfrm>
                        <a:off x="1143000" y="3844039"/>
                        <a:ext cx="6751436" cy="488338"/>
                      </a:xfrm>
                      <a:prstGeom prst="rect">
                        <a:avLst/>
                      </a:prstGeom>
                      <a:noFill/>
                    </p:spPr>
                  </p:pic>
                </p:oleObj>
              </mc:Fallback>
            </mc:AlternateContent>
          </a:graphicData>
        </a:graphic>
      </p:graphicFrame>
      <p:sp>
        <p:nvSpPr>
          <p:cNvPr id="24" name="Content Placeholder 2">
            <a:extLst>
              <a:ext uri="{FF2B5EF4-FFF2-40B4-BE49-F238E27FC236}">
                <a16:creationId xmlns:a16="http://schemas.microsoft.com/office/drawing/2014/main" id="{2627B1F6-8B49-43DB-9E58-58474255C6F5}"/>
              </a:ext>
            </a:extLst>
          </p:cNvPr>
          <p:cNvSpPr txBox="1">
            <a:spLocks/>
          </p:cNvSpPr>
          <p:nvPr/>
        </p:nvSpPr>
        <p:spPr bwMode="auto">
          <a:xfrm>
            <a:off x="480662" y="2642598"/>
            <a:ext cx="8240620" cy="775015"/>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r>
              <a:rPr lang="en-US" altLang="en-US" sz="2400" dirty="0"/>
              <a:t>These derivations also could have been done for complex power, and we would have</a:t>
            </a:r>
            <a:endParaRPr lang="en-US" sz="2400" dirty="0"/>
          </a:p>
        </p:txBody>
      </p:sp>
      <p:graphicFrame>
        <p:nvGraphicFramePr>
          <p:cNvPr id="2" name="Object 1">
            <a:extLst>
              <a:ext uri="{FF2B5EF4-FFF2-40B4-BE49-F238E27FC236}">
                <a16:creationId xmlns:a16="http://schemas.microsoft.com/office/drawing/2014/main" id="{4C4AF0FB-BFAE-4786-B3CC-663AC810D5B8}"/>
              </a:ext>
            </a:extLst>
          </p:cNvPr>
          <p:cNvGraphicFramePr>
            <a:graphicFrameLocks noChangeAspect="1"/>
          </p:cNvGraphicFramePr>
          <p:nvPr>
            <p:extLst>
              <p:ext uri="{D42A27DB-BD31-4B8C-83A1-F6EECF244321}">
                <p14:modId xmlns:p14="http://schemas.microsoft.com/office/powerpoint/2010/main" val="973470156"/>
              </p:ext>
            </p:extLst>
          </p:nvPr>
        </p:nvGraphicFramePr>
        <p:xfrm>
          <a:off x="1016049" y="5408611"/>
          <a:ext cx="7111901" cy="775014"/>
        </p:xfrm>
        <a:graphic>
          <a:graphicData uri="http://schemas.openxmlformats.org/presentationml/2006/ole">
            <mc:AlternateContent xmlns:mc="http://schemas.openxmlformats.org/markup-compatibility/2006">
              <mc:Choice xmlns:v="urn:schemas-microsoft-com:vml" Requires="v">
                <p:oleObj name="Equation" r:id="rId5" imgW="3962160" imgH="431640" progId="Equation.DSMT4">
                  <p:embed/>
                </p:oleObj>
              </mc:Choice>
              <mc:Fallback>
                <p:oleObj name="Equation" r:id="rId5" imgW="3962160" imgH="431640" progId="Equation.DSMT4">
                  <p:embed/>
                  <p:pic>
                    <p:nvPicPr>
                      <p:cNvPr id="2" name="Object 1">
                        <a:extLst>
                          <a:ext uri="{FF2B5EF4-FFF2-40B4-BE49-F238E27FC236}">
                            <a16:creationId xmlns:a16="http://schemas.microsoft.com/office/drawing/2014/main" id="{4C4AF0FB-BFAE-4786-B3CC-663AC810D5B8}"/>
                          </a:ext>
                        </a:extLst>
                      </p:cNvPr>
                      <p:cNvPicPr/>
                      <p:nvPr/>
                    </p:nvPicPr>
                    <p:blipFill>
                      <a:blip r:embed="rId6"/>
                      <a:stretch>
                        <a:fillRect/>
                      </a:stretch>
                    </p:blipFill>
                    <p:spPr>
                      <a:xfrm>
                        <a:off x="1016049" y="5408611"/>
                        <a:ext cx="7111901" cy="775014"/>
                      </a:xfrm>
                      <a:prstGeom prst="rect">
                        <a:avLst/>
                      </a:prstGeom>
                    </p:spPr>
                  </p:pic>
                </p:oleObj>
              </mc:Fallback>
            </mc:AlternateContent>
          </a:graphicData>
        </a:graphic>
      </p:graphicFrame>
      <p:sp>
        <p:nvSpPr>
          <p:cNvPr id="27" name="Content Placeholder 2">
            <a:extLst>
              <a:ext uri="{FF2B5EF4-FFF2-40B4-BE49-F238E27FC236}">
                <a16:creationId xmlns:a16="http://schemas.microsoft.com/office/drawing/2014/main" id="{F04311EF-EEC0-475F-A97C-D3706CDDE277}"/>
              </a:ext>
            </a:extLst>
          </p:cNvPr>
          <p:cNvSpPr txBox="1">
            <a:spLocks/>
          </p:cNvSpPr>
          <p:nvPr/>
        </p:nvSpPr>
        <p:spPr bwMode="auto">
          <a:xfrm>
            <a:off x="480662" y="4510116"/>
            <a:ext cx="8240620" cy="775015"/>
          </a:xfrm>
          <a:prstGeom prst="rect">
            <a:avLst/>
          </a:prstGeom>
          <a:noFill/>
          <a:ln w="9525">
            <a:noFill/>
            <a:miter lim="800000"/>
            <a:headEnd/>
            <a:tailEnd/>
          </a:ln>
          <a:effec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l"/>
            <a:r>
              <a:rPr lang="en-US" altLang="en-US" sz="2400" dirty="0"/>
              <a:t>The derivations also could have been done for reactive power, and we would have</a:t>
            </a:r>
            <a:endParaRPr lang="en-US" sz="2400" dirty="0"/>
          </a:p>
        </p:txBody>
      </p:sp>
    </p:spTree>
    <p:extLst>
      <p:ext uri="{BB962C8B-B14F-4D97-AF65-F5344CB8AC3E}">
        <p14:creationId xmlns:p14="http://schemas.microsoft.com/office/powerpoint/2010/main" val="31266105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6629400" y="5334000"/>
            <a:ext cx="1371600" cy="152400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34819" name="Rectangle 3"/>
          <p:cNvSpPr>
            <a:spLocks noGrp="1" noChangeArrowheads="1"/>
          </p:cNvSpPr>
          <p:nvPr>
            <p:ph type="title"/>
          </p:nvPr>
        </p:nvSpPr>
        <p:spPr>
          <a:xfrm>
            <a:off x="1371600" y="152400"/>
            <a:ext cx="7772400" cy="685800"/>
          </a:xfrm>
        </p:spPr>
        <p:txBody>
          <a:bodyPr/>
          <a:lstStyle/>
          <a:p>
            <a:pPr eaLnBrk="1" hangingPunct="1"/>
            <a:r>
              <a:rPr lang="en-US" altLang="en-US" sz="3600" dirty="0"/>
              <a:t>So what is the point of all this?</a:t>
            </a:r>
          </a:p>
        </p:txBody>
      </p:sp>
      <p:sp>
        <p:nvSpPr>
          <p:cNvPr id="34820" name="Rectangle 4"/>
          <p:cNvSpPr>
            <a:spLocks noGrp="1" noChangeArrowheads="1"/>
          </p:cNvSpPr>
          <p:nvPr>
            <p:ph type="body" idx="1"/>
          </p:nvPr>
        </p:nvSpPr>
        <p:spPr>
          <a:xfrm>
            <a:off x="381000" y="2286000"/>
            <a:ext cx="7924800" cy="4038600"/>
          </a:xfrm>
        </p:spPr>
        <p:txBody>
          <a:bodyPr/>
          <a:lstStyle/>
          <a:p>
            <a:pPr eaLnBrk="1" hangingPunct="1">
              <a:lnSpc>
                <a:spcPct val="90000"/>
              </a:lnSpc>
            </a:pPr>
            <a:r>
              <a:rPr lang="en-US" altLang="en-US" sz="2400" dirty="0"/>
              <a:t>This is a good question.  The choice has been made to have three phases in our sources, to trade off between complexity and even power delivery in sinusoidal power systems.  Having made that choice, we have determined the formulas that relate the various quantities of interest, and generated jargon to talk about the quantities clearly.  This is what we are learning about here.  </a:t>
            </a:r>
          </a:p>
        </p:txBody>
      </p:sp>
      <p:pic>
        <p:nvPicPr>
          <p:cNvPr id="34821" name="Picture 5" descr="E:\Program Files\Microsoft Office\Clipart\homeanim\ag00007_.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5429250"/>
            <a:ext cx="123507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Fireball">
  <a:themeElements>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fontScheme name="Firebal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clrMap bg1="dk2" tx1="lt1" bg2="dk1" tx2="lt2" accent1="accent1" accent2="accent2" accent3="accent3" accent4="accent4" accent5="accent5" accent6="accent6" hlink="hlink" folHlink="folHlink"/>
    </a:extraClrScheme>
    <a:extraClrScheme>
      <a:clrScheme name="Fireball 2">
        <a:dk1>
          <a:srgbClr val="000000"/>
        </a:dk1>
        <a:lt1>
          <a:srgbClr val="FFFFFF"/>
        </a:lt1>
        <a:dk2>
          <a:srgbClr val="FF9900"/>
        </a:dk2>
        <a:lt2>
          <a:srgbClr val="5F5F5F"/>
        </a:lt2>
        <a:accent1>
          <a:srgbClr val="FF9933"/>
        </a:accent1>
        <a:accent2>
          <a:srgbClr val="CC0066"/>
        </a:accent2>
        <a:accent3>
          <a:srgbClr val="FFFFFF"/>
        </a:accent3>
        <a:accent4>
          <a:srgbClr val="000000"/>
        </a:accent4>
        <a:accent5>
          <a:srgbClr val="FFCAAD"/>
        </a:accent5>
        <a:accent6>
          <a:srgbClr val="B9005C"/>
        </a:accent6>
        <a:hlink>
          <a:srgbClr val="CC00CC"/>
        </a:hlink>
        <a:folHlink>
          <a:srgbClr val="990099"/>
        </a:folHlink>
      </a:clrScheme>
      <a:clrMap bg1="lt1" tx1="dk1" bg2="lt2" tx2="dk2" accent1="accent1" accent2="accent2" accent3="accent3" accent4="accent4" accent5="accent5" accent6="accent6" hlink="hlink" folHlink="folHlink"/>
    </a:extraClrScheme>
    <a:extraClrScheme>
      <a:clrScheme name="Fireball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F26F08E-71A4-CB40-9993-8A0EC87D6394}">
  <we:reference id="4b785c87-866c-4bad-85d8-5d1ae467ac9a" version="3.16.1.0" store="EXCatalog" storeType="EXCatalog"/>
  <we:alternateReferences>
    <we:reference id="WA104381909" version="3.16.1.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E:\Program Files\Microsoft Office\Templates\Presentation Designs\Fireball.pot</Template>
  <TotalTime>27808</TotalTime>
  <Words>4527</Words>
  <Application>Microsoft Office PowerPoint</Application>
  <PresentationFormat>On-screen Show (4:3)</PresentationFormat>
  <Paragraphs>354</Paragraphs>
  <Slides>58</Slides>
  <Notes>57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58</vt:i4>
      </vt:variant>
    </vt:vector>
  </HeadingPairs>
  <TitlesOfParts>
    <vt:vector size="66" baseType="lpstr">
      <vt:lpstr>Arial</vt:lpstr>
      <vt:lpstr>Calibri</vt:lpstr>
      <vt:lpstr>Symbol</vt:lpstr>
      <vt:lpstr>Times New Roman</vt:lpstr>
      <vt:lpstr>Fireball</vt:lpstr>
      <vt:lpstr>VISIO</vt:lpstr>
      <vt:lpstr>Equation</vt:lpstr>
      <vt:lpstr>Chart</vt:lpstr>
      <vt:lpstr>ECE 3364  Circuits and Systems</vt:lpstr>
      <vt:lpstr>Overview of this Lecture Set  Balanced Three-Phase Circuits</vt:lpstr>
      <vt:lpstr>Textbook Coverage</vt:lpstr>
      <vt:lpstr>Copyright Notice</vt:lpstr>
      <vt:lpstr>Three-Phase Power Distribution</vt:lpstr>
      <vt:lpstr>Why Three-Phase Circuits?</vt:lpstr>
      <vt:lpstr>RMS Voltages and Currents</vt:lpstr>
      <vt:lpstr>Derivation of RMS – 1</vt:lpstr>
      <vt:lpstr>Derivation of RMS – 2</vt:lpstr>
      <vt:lpstr>Derivation of RMS – 3</vt:lpstr>
      <vt:lpstr>RMS Value of a Sinusoid</vt:lpstr>
      <vt:lpstr>Power with Sinusoids – 1</vt:lpstr>
      <vt:lpstr>Three-Phase Power Distribution</vt:lpstr>
      <vt:lpstr>Three-Phase Power Distribution</vt:lpstr>
      <vt:lpstr>Three-Phase Power Distribution</vt:lpstr>
      <vt:lpstr>Two Models for the Generator</vt:lpstr>
      <vt:lpstr>Two More Complicated Models for the Generator</vt:lpstr>
      <vt:lpstr>A Three Phase Y-Y System</vt:lpstr>
      <vt:lpstr>Balanced Three-Phase Voltages</vt:lpstr>
      <vt:lpstr>Balanced Three-Phase Voltages</vt:lpstr>
      <vt:lpstr>Balanced Three-Phase Voltages</vt:lpstr>
      <vt:lpstr>Balanced Three-Phase Circuits</vt:lpstr>
      <vt:lpstr>Balanced Three-Phase Circuits</vt:lpstr>
      <vt:lpstr>PowerPoint Presentation</vt:lpstr>
      <vt:lpstr>Other Useful Terminology</vt:lpstr>
      <vt:lpstr>Other Useful Terminology</vt:lpstr>
      <vt:lpstr>Other Useful Terminology</vt:lpstr>
      <vt:lpstr>Other Useful Terminology</vt:lpstr>
      <vt:lpstr>Other Useful Terminology</vt:lpstr>
      <vt:lpstr>Other Useful Terminology</vt:lpstr>
      <vt:lpstr>Other Useful Terminology</vt:lpstr>
      <vt:lpstr>Single-Phase Equivalent Circuit</vt:lpstr>
      <vt:lpstr>Line and Phase Voltages</vt:lpstr>
      <vt:lpstr>Line and Phase Voltages</vt:lpstr>
      <vt:lpstr>Line and Phase Voltages</vt:lpstr>
      <vt:lpstr>Y-Y Balanced Three Phase Circuits</vt:lpstr>
      <vt:lpstr>Does the Single-phase Equivalent Circuit Work?</vt:lpstr>
      <vt:lpstr>Does the Single-phase Equivalent Circuit Work?</vt:lpstr>
      <vt:lpstr>Does the Single-phase Equivalent Circuit Work?</vt:lpstr>
      <vt:lpstr>Does the Single-phase Equivalent Circuit Work?</vt:lpstr>
      <vt:lpstr>Does the Single-phase Equivalent Circuit Work?</vt:lpstr>
      <vt:lpstr>Sample Problem 1</vt:lpstr>
      <vt:lpstr>Sample Problem 1</vt:lpstr>
      <vt:lpstr>Sample Problem 1</vt:lpstr>
      <vt:lpstr>Sample Problem 1</vt:lpstr>
      <vt:lpstr>A Balanced Three Phase Y-D System</vt:lpstr>
      <vt:lpstr>Terminology for Three Phase Y-D Systems</vt:lpstr>
      <vt:lpstr>Line Currents and Phase Currents  for Three Phase Y-D Systems</vt:lpstr>
      <vt:lpstr>Review of Wye-to-Delta and  Delta-to-Wye Transformations</vt:lpstr>
      <vt:lpstr>Wye-to-Delta and Delta-to-Wye Transformations for Balanced Loads</vt:lpstr>
      <vt:lpstr>Wye-to-Delta and Delta-to-Wye Transformations for Balanced Loads</vt:lpstr>
      <vt:lpstr>Solving Three-Phase Y-D Systems</vt:lpstr>
      <vt:lpstr>Power Calculations in Balanced Three-Phase Circuits</vt:lpstr>
      <vt:lpstr>Power Calculations in Balanced Three-Phase Circuits</vt:lpstr>
      <vt:lpstr>Power Calculations in Balanced Three-Phase Circuits</vt:lpstr>
      <vt:lpstr>Power Calculations in Balanced Three-Phase Circuits</vt:lpstr>
      <vt:lpstr>Power Calculations in Balanced Three-Phase Circuits</vt:lpstr>
      <vt:lpstr>So what is the point of all this?</vt:lpstr>
    </vt:vector>
  </TitlesOfParts>
  <Company>UH ECE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Phase Power, Lecture Set 2</dc:title>
  <dc:subject>Sinusoidal Steady State Analysis, Chapter 9</dc:subject>
  <dc:creator>Dave Shattuck</dc:creator>
  <cp:lastModifiedBy>Shattuck, David P</cp:lastModifiedBy>
  <cp:revision>317</cp:revision>
  <cp:lastPrinted>1999-08-25T18:07:04Z</cp:lastPrinted>
  <dcterms:created xsi:type="dcterms:W3CDTF">1999-08-24T13:57:19Z</dcterms:created>
  <dcterms:modified xsi:type="dcterms:W3CDTF">2025-10-07T21:48:49Z</dcterms:modified>
</cp:coreProperties>
</file>